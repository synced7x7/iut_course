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23"/>
  </p:notesMasterIdLst>
  <p:handoutMasterIdLst>
    <p:handoutMasterId r:id="rId24"/>
  </p:handoutMasterIdLst>
  <p:sldIdLst>
    <p:sldId id="256" r:id="rId3"/>
    <p:sldId id="347" r:id="rId4"/>
    <p:sldId id="276" r:id="rId5"/>
    <p:sldId id="348" r:id="rId6"/>
    <p:sldId id="349" r:id="rId7"/>
    <p:sldId id="357" r:id="rId8"/>
    <p:sldId id="358" r:id="rId9"/>
    <p:sldId id="363" r:id="rId10"/>
    <p:sldId id="359" r:id="rId11"/>
    <p:sldId id="364" r:id="rId12"/>
    <p:sldId id="275" r:id="rId13"/>
    <p:sldId id="278" r:id="rId14"/>
    <p:sldId id="260" r:id="rId15"/>
    <p:sldId id="280" r:id="rId16"/>
    <p:sldId id="281" r:id="rId17"/>
    <p:sldId id="279" r:id="rId18"/>
    <p:sldId id="272" r:id="rId19"/>
    <p:sldId id="28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65" autoAdjust="0"/>
    <p:restoredTop sz="82456" autoAdjust="0"/>
  </p:normalViewPr>
  <p:slideViewPr>
    <p:cSldViewPr snapToGrid="0">
      <p:cViewPr varScale="1">
        <p:scale>
          <a:sx n="94" d="100"/>
          <a:sy n="94" d="100"/>
        </p:scale>
        <p:origin x="16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C1B9E-036F-4426-B1FE-095181F8A776}" type="datetimeFigureOut">
              <a:rPr lang="en-US" smtClean="0"/>
              <a:t>01-Mar-22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4AD7F4-E4FF-401B-A654-C6B99FAB5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3367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1416C-0C94-4347-BEE5-16334176E4E3}" type="datetimeFigureOut">
              <a:rPr lang="en-US" smtClean="0"/>
              <a:t>01-Mar-22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DAB20-FECD-48F0-A350-11C52BC51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86870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49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digital computer?</a:t>
            </a:r>
            <a:r>
              <a:rPr lang="en-US" baseline="0" dirty="0"/>
              <a:t> Examples where we can use this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E03ABA-567C-4E7A-9095-3D9C26910D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0993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685272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519165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311208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600470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747516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796718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071481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407471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7714134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2274175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328534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8435317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3248272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Edge detector: </a:t>
            </a:r>
            <a:r>
              <a:rPr lang="en-US" dirty="0"/>
              <a:t>Detects Rising Edge, Falling Edge, or Either Edge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/>
              <a:t>General Description: </a:t>
            </a:r>
            <a:r>
              <a:rPr lang="en-US" dirty="0"/>
              <a:t>The Edge Detector component samples (</a:t>
            </a:r>
            <a:r>
              <a:rPr lang="en-US" u="sng" dirty="0"/>
              <a:t>inspects</a:t>
            </a:r>
            <a:r>
              <a:rPr lang="en-US" dirty="0"/>
              <a:t>) the connected signal and produces a pulse when the selected edge occurs. 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/>
              <a:t>Usage: </a:t>
            </a:r>
            <a:r>
              <a:rPr lang="en-US" dirty="0"/>
              <a:t>Use the Edge Detector when a circuit needs to respond to a state change on a signal.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2781318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2528125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can see, the outputs are fixed with current state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8966953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1479087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848420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1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1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5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03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47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98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1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2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37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42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43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95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5222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12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81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097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3074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494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681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550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753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6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Lecture SC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70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685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4124" y="2751674"/>
            <a:ext cx="10060675" cy="916888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+mn-lt"/>
              </a:rPr>
              <a:t>Sequential </a:t>
            </a:r>
            <a:r>
              <a:rPr lang="en-US" b="1">
                <a:latin typeface="+mn-lt"/>
              </a:rPr>
              <a:t>Circuit Model</a:t>
            </a:r>
            <a:endParaRPr lang="en-US" b="1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4125" y="4707506"/>
            <a:ext cx="9144000" cy="1655762"/>
          </a:xfrm>
        </p:spPr>
        <p:txBody>
          <a:bodyPr/>
          <a:lstStyle/>
          <a:p>
            <a:pPr algn="l"/>
            <a:r>
              <a:rPr lang="en-US" b="1" dirty="0"/>
              <a:t>Course Teacher: Md. Hamjajul Ashmafee</a:t>
            </a:r>
          </a:p>
          <a:p>
            <a:pPr algn="l"/>
            <a:r>
              <a:rPr lang="en-US" b="1" dirty="0"/>
              <a:t>Lecturer, CSE, IUT</a:t>
            </a:r>
          </a:p>
          <a:p>
            <a:pPr algn="l"/>
            <a:r>
              <a:rPr lang="en-US" b="1" dirty="0"/>
              <a:t>Email: ashmafee@iut-dhaka.edu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573" y="109679"/>
            <a:ext cx="731108" cy="118872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4125" y="704039"/>
            <a:ext cx="9144000" cy="13908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500" b="1" dirty="0"/>
              <a:t>CSE 4205</a:t>
            </a:r>
            <a:br>
              <a:rPr lang="en-US" sz="4500" b="1" dirty="0"/>
            </a:br>
            <a:r>
              <a:rPr lang="en-US" sz="4500" b="1" dirty="0"/>
              <a:t>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1015783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573" y="109679"/>
            <a:ext cx="731108" cy="118872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3FC56E42-0C73-470E-AC06-355EB3188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Remaining to Add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8C1F6F8-7666-4B8F-A967-DD26827AE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other books and internet resources</a:t>
            </a:r>
          </a:p>
          <a:p>
            <a:r>
              <a:rPr lang="en-US" dirty="0"/>
              <a:t>Mealy and Moore FSM </a:t>
            </a:r>
            <a:r>
              <a:rPr lang="en-US" b="1" dirty="0"/>
              <a:t>conversion</a:t>
            </a:r>
          </a:p>
          <a:p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1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7011D-92ED-4732-AC78-E5139C3602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308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Sequential Circuit Model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1111144" cy="453072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present state of the circuit is stored in the memory element </a:t>
            </a:r>
          </a:p>
          <a:p>
            <a:pPr lvl="1"/>
            <a:r>
              <a:rPr lang="en-US" dirty="0"/>
              <a:t>This memory element can be any device to store enough information to specify the state of the circuit </a:t>
            </a:r>
          </a:p>
          <a:p>
            <a:r>
              <a:rPr lang="en-US" dirty="0"/>
              <a:t>There are </a:t>
            </a:r>
            <a:r>
              <a:rPr lang="en-US" b="1" dirty="0"/>
              <a:t>two</a:t>
            </a:r>
            <a:r>
              <a:rPr lang="en-US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logic circuits </a:t>
            </a:r>
            <a:r>
              <a:rPr lang="en-US" dirty="0"/>
              <a:t>in the SC model: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Next state decoder:</a:t>
            </a:r>
          </a:p>
          <a:p>
            <a:pPr lvl="2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To determine the next state of the circuit using the present state and the current input(s)</a:t>
            </a:r>
          </a:p>
          <a:p>
            <a:pPr lvl="2"/>
            <a:r>
              <a:rPr lang="en-US" dirty="0"/>
              <a:t>This next state will be the present state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when</a:t>
            </a:r>
            <a:r>
              <a:rPr lang="en-US" dirty="0"/>
              <a:t> the memory elements load them</a:t>
            </a:r>
          </a:p>
          <a:p>
            <a:pPr lvl="3"/>
            <a:r>
              <a:rPr lang="en-US" dirty="0"/>
              <a:t>This process is called </a:t>
            </a:r>
            <a:r>
              <a:rPr lang="en-US" b="1" dirty="0"/>
              <a:t>state change </a:t>
            </a:r>
          </a:p>
          <a:p>
            <a:pPr lvl="3"/>
            <a:r>
              <a:rPr lang="en-US" dirty="0"/>
              <a:t>Also, this process is </a:t>
            </a:r>
            <a:r>
              <a:rPr lang="en-US" b="1" dirty="0"/>
              <a:t>clocked </a:t>
            </a:r>
            <a:r>
              <a:rPr lang="en-US" dirty="0"/>
              <a:t>in synchronous SC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Output decoder:</a:t>
            </a:r>
          </a:p>
          <a:p>
            <a:pPr lvl="2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To determine the output of the circuit using the present state and the current input(s)</a:t>
            </a:r>
          </a:p>
          <a:p>
            <a:pPr lvl="3"/>
            <a:r>
              <a:rPr lang="en-US" dirty="0"/>
              <a:t>This process to generate output(s) is </a:t>
            </a:r>
            <a:r>
              <a:rPr lang="en-US" b="1" dirty="0"/>
              <a:t>clocked </a:t>
            </a:r>
            <a:r>
              <a:rPr lang="en-US" dirty="0"/>
              <a:t>in synchronous SC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33249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Sequential Circuit Model: Block Diagram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</a:t>
            </a:fld>
            <a:endParaRPr lang="en-US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AB433C-6261-452B-963A-6BFFF05A9F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4920" y="1439471"/>
            <a:ext cx="5184640" cy="5282004"/>
          </a:xfrm>
        </p:spPr>
      </p:pic>
    </p:spTree>
    <p:extLst>
      <p:ext uri="{BB962C8B-B14F-4D97-AF65-F5344CB8AC3E}">
        <p14:creationId xmlns:p14="http://schemas.microsoft.com/office/powerpoint/2010/main" val="181780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Classification of SC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Generally </a:t>
            </a:r>
            <a:r>
              <a:rPr lang="en-US" b="1" dirty="0"/>
              <a:t>5</a:t>
            </a:r>
            <a:r>
              <a:rPr lang="en-US" dirty="0"/>
              <a:t> different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classes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Class A circuits </a:t>
            </a:r>
          </a:p>
          <a:p>
            <a:pPr lvl="1"/>
            <a:r>
              <a:rPr lang="en-US" dirty="0"/>
              <a:t>Class B circuits</a:t>
            </a:r>
          </a:p>
          <a:p>
            <a:pPr lvl="1"/>
            <a:r>
              <a:rPr lang="en-US" dirty="0"/>
              <a:t>Class C circuits</a:t>
            </a:r>
          </a:p>
          <a:p>
            <a:pPr lvl="1"/>
            <a:r>
              <a:rPr lang="en-US" dirty="0"/>
              <a:t>Class D circuits</a:t>
            </a:r>
          </a:p>
          <a:p>
            <a:pPr lvl="1"/>
            <a:r>
              <a:rPr lang="en-US" dirty="0"/>
              <a:t>Class E circuits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26271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Classification of SC: Class A circuits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6672309" cy="4351338"/>
          </a:xfrm>
        </p:spPr>
        <p:txBody>
          <a:bodyPr/>
          <a:lstStyle/>
          <a:p>
            <a:r>
              <a:rPr lang="en-US" dirty="0"/>
              <a:t>Defined as </a:t>
            </a:r>
            <a:r>
              <a:rPr lang="en-US" b="1" i="1" dirty="0">
                <a:solidFill>
                  <a:srgbClr val="FF0000"/>
                </a:solidFill>
              </a:rPr>
              <a:t>Mealy Machine </a:t>
            </a:r>
          </a:p>
          <a:p>
            <a:pPr lvl="1"/>
            <a:r>
              <a:rPr lang="en-US" sz="2000" dirty="0"/>
              <a:t>Named after G.H. Mealy</a:t>
            </a:r>
          </a:p>
          <a:p>
            <a:r>
              <a:rPr lang="en-US" b="1" dirty="0"/>
              <a:t>Basic property:</a:t>
            </a:r>
          </a:p>
          <a:p>
            <a:pPr lvl="1"/>
            <a:r>
              <a:rPr lang="en-US" sz="2000" dirty="0"/>
              <a:t>The </a:t>
            </a:r>
            <a:r>
              <a:rPr lang="en-US" sz="2000" b="1" i="1" dirty="0"/>
              <a:t>output decoder</a:t>
            </a:r>
            <a:r>
              <a:rPr lang="en-US" sz="2000" i="1" dirty="0"/>
              <a:t> </a:t>
            </a:r>
            <a:r>
              <a:rPr lang="en-US" sz="2000" dirty="0"/>
              <a:t>is a function of the present input(s) and the present state(s) of the circuit </a:t>
            </a:r>
          </a:p>
          <a:p>
            <a:pPr lvl="1"/>
            <a:r>
              <a:rPr lang="en-US" sz="2000" dirty="0"/>
              <a:t>The </a:t>
            </a:r>
            <a:r>
              <a:rPr lang="en-US" sz="2000" b="1" i="1" dirty="0"/>
              <a:t>next state decoder </a:t>
            </a:r>
            <a:r>
              <a:rPr lang="en-US" sz="2000" dirty="0"/>
              <a:t>is a function of present state(s) and present input(s)</a:t>
            </a:r>
          </a:p>
          <a:p>
            <a:pPr lvl="1"/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</a:t>
            </a:fld>
            <a:endParaRPr lang="en-US" sz="1800" dirty="0"/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646606A8-E3D0-46F2-8CD2-6D65A1A009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674" y="1690688"/>
            <a:ext cx="3791469" cy="419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812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F57CBB-1339-4E8B-959A-11E5D02B6E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543" y="1953086"/>
            <a:ext cx="3451898" cy="38795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Classification of SC: Class B circuits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995082" cy="4351338"/>
          </a:xfrm>
        </p:spPr>
        <p:txBody>
          <a:bodyPr/>
          <a:lstStyle/>
          <a:p>
            <a:r>
              <a:rPr lang="en-US" dirty="0"/>
              <a:t>Defined as </a:t>
            </a:r>
            <a:r>
              <a:rPr lang="en-US" b="1" i="1" dirty="0">
                <a:solidFill>
                  <a:srgbClr val="00B050"/>
                </a:solidFill>
              </a:rPr>
              <a:t>Moore Machine </a:t>
            </a:r>
          </a:p>
          <a:p>
            <a:pPr lvl="1"/>
            <a:r>
              <a:rPr lang="en-US" sz="2000" dirty="0"/>
              <a:t>Named after E.F. Moore </a:t>
            </a:r>
          </a:p>
          <a:p>
            <a:r>
              <a:rPr lang="en-US" b="1" dirty="0"/>
              <a:t>Basic property:</a:t>
            </a:r>
          </a:p>
          <a:p>
            <a:pPr lvl="1"/>
            <a:r>
              <a:rPr lang="en-US" sz="2000" dirty="0"/>
              <a:t>The </a:t>
            </a:r>
            <a:r>
              <a:rPr lang="en-US" sz="2000" b="1" i="1" dirty="0"/>
              <a:t>output decoder </a:t>
            </a:r>
            <a:r>
              <a:rPr lang="en-US" sz="2000" dirty="0"/>
              <a:t>is a function of the present state(s) only</a:t>
            </a:r>
          </a:p>
          <a:p>
            <a:pPr lvl="2"/>
            <a:r>
              <a:rPr lang="en-US" sz="1600" dirty="0"/>
              <a:t>It’s a MOORE machine </a:t>
            </a:r>
            <a:r>
              <a:rPr lang="en-US" sz="1600" b="1" i="1" dirty="0">
                <a:solidFill>
                  <a:srgbClr val="0070C0"/>
                </a:solidFill>
              </a:rPr>
              <a:t>with</a:t>
            </a:r>
            <a:r>
              <a:rPr lang="en-US" sz="1600" dirty="0"/>
              <a:t> an output decoder</a:t>
            </a:r>
          </a:p>
          <a:p>
            <a:pPr lvl="1"/>
            <a:r>
              <a:rPr lang="en-US" sz="2000" dirty="0"/>
              <a:t>The </a:t>
            </a:r>
            <a:r>
              <a:rPr lang="en-US" sz="2000" b="1" i="1" dirty="0"/>
              <a:t>next state decoder </a:t>
            </a:r>
            <a:r>
              <a:rPr lang="en-US" sz="2000" dirty="0"/>
              <a:t>is a function of present state(s) and present input(s)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7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48377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Classification of SC: Class C circuits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502923" cy="4351338"/>
          </a:xfrm>
        </p:spPr>
        <p:txBody>
          <a:bodyPr/>
          <a:lstStyle/>
          <a:p>
            <a:r>
              <a:rPr lang="en-US" dirty="0"/>
              <a:t>Also, defined as </a:t>
            </a:r>
            <a:r>
              <a:rPr lang="en-US" b="1" i="1" dirty="0">
                <a:solidFill>
                  <a:srgbClr val="00B050"/>
                </a:solidFill>
              </a:rPr>
              <a:t>Moore Machine </a:t>
            </a:r>
            <a:endParaRPr lang="en-US" dirty="0"/>
          </a:p>
          <a:p>
            <a:r>
              <a:rPr lang="en-US" b="1" dirty="0"/>
              <a:t>Basic property:</a:t>
            </a:r>
          </a:p>
          <a:p>
            <a:pPr lvl="1"/>
            <a:r>
              <a:rPr lang="en-US" sz="2000" dirty="0"/>
              <a:t>The </a:t>
            </a:r>
            <a:r>
              <a:rPr lang="en-US" sz="2000" b="1" i="1" dirty="0"/>
              <a:t>output decoder </a:t>
            </a:r>
            <a:r>
              <a:rPr lang="en-US" sz="2000" dirty="0"/>
              <a:t>is not included in this circuit </a:t>
            </a:r>
          </a:p>
          <a:p>
            <a:pPr lvl="2"/>
            <a:r>
              <a:rPr lang="en-US" sz="1600" dirty="0"/>
              <a:t>It’s a MOORE machine </a:t>
            </a:r>
            <a:r>
              <a:rPr lang="en-US" sz="1600" b="1" i="1" dirty="0">
                <a:solidFill>
                  <a:srgbClr val="0070C0"/>
                </a:solidFill>
              </a:rPr>
              <a:t>without </a:t>
            </a:r>
            <a:r>
              <a:rPr lang="en-US" sz="1600" dirty="0"/>
              <a:t>an output decoder</a:t>
            </a:r>
          </a:p>
          <a:p>
            <a:pPr lvl="2"/>
            <a:r>
              <a:rPr lang="en-US" sz="1600" b="1" i="1" dirty="0"/>
              <a:t>Contents of memory elements </a:t>
            </a:r>
            <a:r>
              <a:rPr lang="en-US" sz="1600" dirty="0"/>
              <a:t>are considered as the output directly</a:t>
            </a:r>
          </a:p>
          <a:p>
            <a:pPr lvl="1"/>
            <a:r>
              <a:rPr lang="en-US" sz="2000" dirty="0"/>
              <a:t>The </a:t>
            </a:r>
            <a:r>
              <a:rPr lang="en-US" sz="2000" b="1" i="1" dirty="0"/>
              <a:t>next state decoder </a:t>
            </a:r>
            <a:r>
              <a:rPr lang="en-US" sz="2000" dirty="0"/>
              <a:t>is a function of present state(s) and present input(s)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8</a:t>
            </a:fld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8812C0-ABA9-43DF-83CF-CFA2D4D035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123" y="2232797"/>
            <a:ext cx="3012677" cy="294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54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Classification of SC: Class D circuits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039470" cy="4351338"/>
          </a:xfrm>
        </p:spPr>
        <p:txBody>
          <a:bodyPr/>
          <a:lstStyle/>
          <a:p>
            <a:r>
              <a:rPr lang="en-US" b="1" dirty="0"/>
              <a:t>Basic property:</a:t>
            </a:r>
          </a:p>
          <a:p>
            <a:pPr lvl="1"/>
            <a:r>
              <a:rPr lang="en-US" sz="2000" dirty="0"/>
              <a:t>The </a:t>
            </a:r>
            <a:r>
              <a:rPr lang="en-US" sz="2000" b="1" i="1" dirty="0"/>
              <a:t>next state decoder </a:t>
            </a:r>
            <a:r>
              <a:rPr lang="en-US" sz="2000" dirty="0"/>
              <a:t>is a function of present input(s) only</a:t>
            </a:r>
          </a:p>
          <a:p>
            <a:pPr lvl="1"/>
            <a:r>
              <a:rPr lang="en-US" sz="2000" dirty="0"/>
              <a:t>No </a:t>
            </a:r>
            <a:r>
              <a:rPr lang="en-US" sz="2000" b="1" i="1" dirty="0"/>
              <a:t>output decoder</a:t>
            </a:r>
          </a:p>
          <a:p>
            <a:pPr lvl="2"/>
            <a:r>
              <a:rPr lang="en-US" sz="1600" dirty="0"/>
              <a:t>Contents of memory elements are considered as the output directly</a:t>
            </a:r>
          </a:p>
          <a:p>
            <a:pPr lvl="1"/>
            <a:endParaRPr lang="en-US" sz="2000" b="1" i="1" dirty="0"/>
          </a:p>
          <a:p>
            <a:pPr lvl="1"/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9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D6B876-8697-4F65-B669-851C7C7A22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070849"/>
            <a:ext cx="2600688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504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Classification of SC: Class E circuits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039470" cy="4351338"/>
          </a:xfrm>
        </p:spPr>
        <p:txBody>
          <a:bodyPr/>
          <a:lstStyle/>
          <a:p>
            <a:r>
              <a:rPr lang="en-US" b="1" dirty="0"/>
              <a:t>Basic property:</a:t>
            </a:r>
          </a:p>
          <a:p>
            <a:pPr lvl="1"/>
            <a:r>
              <a:rPr lang="en-US" sz="2000" dirty="0"/>
              <a:t>The </a:t>
            </a:r>
            <a:r>
              <a:rPr lang="en-US" sz="2000" b="1" i="1" dirty="0"/>
              <a:t>next state decoder </a:t>
            </a:r>
            <a:r>
              <a:rPr lang="en-US" sz="2000" dirty="0"/>
              <a:t>is not included in this circuit </a:t>
            </a:r>
          </a:p>
          <a:p>
            <a:pPr lvl="2"/>
            <a:r>
              <a:rPr lang="en-US" sz="1600" dirty="0"/>
              <a:t>Inputs are directly inserted into the memory element </a:t>
            </a:r>
          </a:p>
          <a:p>
            <a:pPr lvl="1"/>
            <a:r>
              <a:rPr lang="en-US" sz="2000" dirty="0"/>
              <a:t>No </a:t>
            </a:r>
            <a:r>
              <a:rPr lang="en-US" sz="2000" b="1" i="1" dirty="0"/>
              <a:t>output decoder</a:t>
            </a:r>
          </a:p>
          <a:p>
            <a:pPr lvl="2"/>
            <a:r>
              <a:rPr lang="en-US" sz="1600" dirty="0"/>
              <a:t>Contents of memory elements are considered as the output directly</a:t>
            </a:r>
          </a:p>
          <a:p>
            <a:pPr lvl="1"/>
            <a:endParaRPr lang="en-US" sz="2000" b="1" i="1" dirty="0"/>
          </a:p>
          <a:p>
            <a:pPr lvl="1"/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10</a:t>
            </a:fld>
            <a:endParaRPr lang="en-US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20D1AD-9BF4-491C-8D9A-2C24739B3B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793062"/>
            <a:ext cx="2859751" cy="188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449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960" y="2563018"/>
            <a:ext cx="108458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+mn-lt"/>
              </a:rPr>
              <a:t>State Diagram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or </a:t>
            </a:r>
            <a:r>
              <a:rPr lang="en-US" b="1" i="1" dirty="0">
                <a:solidFill>
                  <a:srgbClr val="FF0000"/>
                </a:solidFill>
                <a:latin typeface="+mn-lt"/>
              </a:rPr>
              <a:t>State Machine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to Represent a Sequential Circuit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11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21367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State Diagram or State Machine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089640" cy="435133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transitional diagram </a:t>
            </a:r>
            <a:r>
              <a:rPr lang="en-US" dirty="0"/>
              <a:t>from one state to another</a:t>
            </a:r>
          </a:p>
          <a:p>
            <a:pPr lvl="1"/>
            <a:r>
              <a:rPr lang="en-US" sz="2000" dirty="0"/>
              <a:t>Also called as finite automata (or machine)</a:t>
            </a:r>
          </a:p>
          <a:p>
            <a:pPr lvl="1"/>
            <a:r>
              <a:rPr lang="en-US" sz="2000" b="1" i="1" dirty="0"/>
              <a:t>Alternatively, </a:t>
            </a:r>
            <a:r>
              <a:rPr lang="en-US" sz="2000" dirty="0"/>
              <a:t>Finite state machine (FSM)</a:t>
            </a:r>
          </a:p>
          <a:p>
            <a:r>
              <a:rPr lang="en-US" dirty="0"/>
              <a:t>This topic will also be covered in </a:t>
            </a:r>
            <a:r>
              <a:rPr lang="en-US" b="1" i="1" dirty="0">
                <a:solidFill>
                  <a:srgbClr val="FF0000"/>
                </a:solidFill>
              </a:rPr>
              <a:t>TOC</a:t>
            </a:r>
            <a:r>
              <a:rPr lang="en-US" dirty="0"/>
              <a:t> explained in details</a:t>
            </a:r>
          </a:p>
          <a:p>
            <a:pPr lvl="1"/>
            <a:r>
              <a:rPr lang="en-US" sz="2000" dirty="0"/>
              <a:t>But, here we will explore them in </a:t>
            </a:r>
            <a:r>
              <a:rPr lang="en-US" sz="2000" b="1" i="1" dirty="0"/>
              <a:t>digital logic design</a:t>
            </a:r>
            <a:r>
              <a:rPr lang="en-US" sz="2000" dirty="0"/>
              <a:t>, specially in sequential circuit design.</a:t>
            </a:r>
          </a:p>
          <a:p>
            <a:r>
              <a:rPr lang="en-US" sz="2400" b="1" dirty="0"/>
              <a:t>Types of FSM:</a:t>
            </a:r>
          </a:p>
          <a:p>
            <a:pPr lvl="1"/>
            <a:r>
              <a:rPr lang="en-US" sz="2000" dirty="0"/>
              <a:t>Mealy FSM</a:t>
            </a:r>
          </a:p>
          <a:p>
            <a:pPr lvl="1"/>
            <a:r>
              <a:rPr lang="en-US" sz="2000" dirty="0"/>
              <a:t>Moore FSM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12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93133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Mealy State Machine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</a:t>
            </a:r>
            <a:r>
              <a:rPr lang="en-US" b="1" dirty="0"/>
              <a:t>output</a:t>
            </a:r>
            <a:r>
              <a:rPr lang="en-US" dirty="0"/>
              <a:t> depends on </a:t>
            </a:r>
            <a:r>
              <a:rPr lang="en-US" b="1" i="1" dirty="0">
                <a:solidFill>
                  <a:srgbClr val="FF0000"/>
                </a:solidFill>
              </a:rPr>
              <a:t>current state </a:t>
            </a:r>
            <a:r>
              <a:rPr lang="en-US" dirty="0"/>
              <a:t>and </a:t>
            </a:r>
            <a:r>
              <a:rPr lang="en-US" b="1" i="1" dirty="0">
                <a:solidFill>
                  <a:srgbClr val="FF0000"/>
                </a:solidFill>
              </a:rPr>
              <a:t>current input</a:t>
            </a:r>
          </a:p>
          <a:p>
            <a:pPr lvl="1"/>
            <a:r>
              <a:rPr lang="en-US" sz="2000" b="1" i="1" dirty="0"/>
              <a:t>Output</a:t>
            </a:r>
            <a:r>
              <a:rPr lang="en-US" sz="2000" dirty="0"/>
              <a:t> is a function of current states and inputs</a:t>
            </a:r>
          </a:p>
          <a:p>
            <a:pPr lvl="1"/>
            <a:r>
              <a:rPr lang="en-US" sz="2000" dirty="0"/>
              <a:t>Basically, </a:t>
            </a:r>
            <a:r>
              <a:rPr lang="en-US" sz="2000" b="1" i="1" dirty="0"/>
              <a:t>asynchronous </a:t>
            </a:r>
            <a:r>
              <a:rPr lang="en-US" sz="2000" dirty="0"/>
              <a:t>to input changes 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Application: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Cipher machine, Vending machine, Traffic light, Bar code scanner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13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62791C-9E1F-4256-8180-3C806428633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25" t="1965" r="1489" b="46119"/>
          <a:stretch/>
        </p:blipFill>
        <p:spPr>
          <a:xfrm>
            <a:off x="2053589" y="3964209"/>
            <a:ext cx="8595361" cy="2757266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8CB9A095-7545-46B4-8D31-D1B904D3AC83}"/>
              </a:ext>
            </a:extLst>
          </p:cNvPr>
          <p:cNvSpPr/>
          <p:nvPr/>
        </p:nvSpPr>
        <p:spPr>
          <a:xfrm>
            <a:off x="6421120" y="3964209"/>
            <a:ext cx="1178560" cy="264995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481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Mealy State Machine: Circuit Diagram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000" b="1" i="1" dirty="0">
                <a:solidFill>
                  <a:srgbClr val="FF0000"/>
                </a:solidFill>
                <a:latin typeface="+mn-lt"/>
              </a:rPr>
              <a:t>Random example</a:t>
            </a:r>
            <a:endParaRPr lang="en-US" sz="20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14</a:t>
            </a:fld>
            <a:endParaRPr lang="en-US" sz="1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25AA2A7-B17D-45F1-B0F6-5FDFA33901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91" t="7554" r="5542" b="9586"/>
          <a:stretch/>
        </p:blipFill>
        <p:spPr>
          <a:xfrm>
            <a:off x="2937802" y="1913840"/>
            <a:ext cx="6316395" cy="3362179"/>
          </a:xfrm>
        </p:spPr>
      </p:pic>
    </p:spTree>
    <p:extLst>
      <p:ext uri="{BB962C8B-B14F-4D97-AF65-F5344CB8AC3E}">
        <p14:creationId xmlns:p14="http://schemas.microsoft.com/office/powerpoint/2010/main" val="4130990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Mealy State Machine: State Diagram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000" b="1" i="1" dirty="0">
                <a:solidFill>
                  <a:srgbClr val="FF0000"/>
                </a:solidFill>
                <a:latin typeface="+mn-lt"/>
              </a:rPr>
              <a:t>Random example</a:t>
            </a:r>
            <a:endParaRPr lang="en-US" sz="20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15</a:t>
            </a:fld>
            <a:endParaRPr lang="en-US" sz="1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0159824-52A2-4576-810A-83FD0BF5CA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496" y="2482258"/>
            <a:ext cx="4887007" cy="4239217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7DB53FE-D290-4D97-953C-142C8DE7169B}"/>
              </a:ext>
            </a:extLst>
          </p:cNvPr>
          <p:cNvSpPr txBox="1"/>
          <p:nvPr/>
        </p:nvSpPr>
        <p:spPr>
          <a:xfrm>
            <a:off x="838200" y="1894903"/>
            <a:ext cx="9111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Outputs are represented along with </a:t>
            </a:r>
            <a:r>
              <a:rPr lang="en-US" sz="2400" b="1" i="1" dirty="0">
                <a:solidFill>
                  <a:srgbClr val="FF0000"/>
                </a:solidFill>
              </a:rPr>
              <a:t>current input(s)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/>
              <a:t>separated by /</a:t>
            </a:r>
          </a:p>
        </p:txBody>
      </p:sp>
    </p:spTree>
    <p:extLst>
      <p:ext uri="{BB962C8B-B14F-4D97-AF65-F5344CB8AC3E}">
        <p14:creationId xmlns:p14="http://schemas.microsoft.com/office/powerpoint/2010/main" val="4137088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Moore State Machine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output depends on only current state, </a:t>
            </a:r>
            <a:r>
              <a:rPr lang="en-US" b="1" i="1" dirty="0"/>
              <a:t>i.e.</a:t>
            </a:r>
            <a:r>
              <a:rPr lang="en-US" dirty="0"/>
              <a:t> output is solely related (</a:t>
            </a:r>
            <a:r>
              <a:rPr lang="en-US" b="1" dirty="0">
                <a:solidFill>
                  <a:srgbClr val="FF0000"/>
                </a:solidFill>
              </a:rPr>
              <a:t>paired</a:t>
            </a:r>
            <a:r>
              <a:rPr lang="en-US" dirty="0"/>
              <a:t>) to current state.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But, </a:t>
            </a:r>
            <a:r>
              <a:rPr lang="en-US" b="1" dirty="0"/>
              <a:t>states</a:t>
            </a:r>
            <a:r>
              <a:rPr lang="en-US" dirty="0"/>
              <a:t> change based on </a:t>
            </a:r>
            <a:r>
              <a:rPr lang="en-US" i="1" dirty="0">
                <a:solidFill>
                  <a:srgbClr val="FF0000"/>
                </a:solidFill>
              </a:rPr>
              <a:t>current input(s) </a:t>
            </a:r>
            <a:r>
              <a:rPr lang="en-US" dirty="0"/>
              <a:t>and </a:t>
            </a:r>
            <a:r>
              <a:rPr lang="en-US" i="1" dirty="0">
                <a:solidFill>
                  <a:srgbClr val="FF0000"/>
                </a:solidFill>
              </a:rPr>
              <a:t>current state(s) </a:t>
            </a:r>
          </a:p>
          <a:p>
            <a:pPr lvl="1"/>
            <a:r>
              <a:rPr lang="en-US" sz="2000" b="1" i="1" dirty="0"/>
              <a:t>Output </a:t>
            </a:r>
            <a:r>
              <a:rPr lang="en-US" sz="2000" dirty="0"/>
              <a:t>is a function of current states</a:t>
            </a:r>
          </a:p>
          <a:p>
            <a:pPr lvl="1"/>
            <a:r>
              <a:rPr lang="en-US" sz="2000" dirty="0"/>
              <a:t>Basically, </a:t>
            </a:r>
            <a:r>
              <a:rPr lang="en-US" sz="2000" b="1" i="1" dirty="0"/>
              <a:t>synchronous </a:t>
            </a:r>
            <a:r>
              <a:rPr lang="en-US" sz="2000" dirty="0"/>
              <a:t>to state changes 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Application: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Edge detector of clock pulses, Elevator (Loop), Binary adder in FSM, Clocked sequential circuit 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16</a:t>
            </a:fld>
            <a:endParaRPr lang="en-US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CEBCA46-E75A-4B3C-A186-2AF5C50C93B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1" t="53461" r="1599" b="385"/>
          <a:stretch/>
        </p:blipFill>
        <p:spPr>
          <a:xfrm>
            <a:off x="2209800" y="4372170"/>
            <a:ext cx="8358145" cy="2349305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65ABFFA-861B-4573-93C5-50FEF12E5F2D}"/>
              </a:ext>
            </a:extLst>
          </p:cNvPr>
          <p:cNvSpPr/>
          <p:nvPr/>
        </p:nvSpPr>
        <p:spPr>
          <a:xfrm>
            <a:off x="6512560" y="4460240"/>
            <a:ext cx="1178560" cy="223075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15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Moore State Machine: Circuit Diagram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000" b="1" i="1" dirty="0">
                <a:solidFill>
                  <a:srgbClr val="FF0000"/>
                </a:solidFill>
                <a:latin typeface="+mn-lt"/>
              </a:rPr>
              <a:t>Random example</a:t>
            </a:r>
            <a:endParaRPr lang="en-US" sz="20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17</a:t>
            </a:fld>
            <a:endParaRPr lang="en-US" sz="1800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65EB027-9715-45AE-9610-D432178C2F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8" b="37854"/>
          <a:stretch/>
        </p:blipFill>
        <p:spPr>
          <a:xfrm>
            <a:off x="3349913" y="2152357"/>
            <a:ext cx="6632287" cy="315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078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Moore State Machine: State Diagram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000" b="1" i="1" dirty="0">
                <a:solidFill>
                  <a:srgbClr val="FF0000"/>
                </a:solidFill>
                <a:latin typeface="+mn-lt"/>
              </a:rPr>
              <a:t>Random example</a:t>
            </a:r>
            <a:endParaRPr lang="en-US" sz="20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18</a:t>
            </a:fld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BD4F87-2537-42CF-9535-2A30875606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342" y="2396553"/>
            <a:ext cx="6649378" cy="40963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F0D019-F619-4864-B7C5-CC0474586DCF}"/>
              </a:ext>
            </a:extLst>
          </p:cNvPr>
          <p:cNvSpPr txBox="1"/>
          <p:nvPr/>
        </p:nvSpPr>
        <p:spPr>
          <a:xfrm>
            <a:off x="838200" y="1894903"/>
            <a:ext cx="8651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Outputs are represented along with </a:t>
            </a:r>
            <a:r>
              <a:rPr lang="en-US" sz="2400" b="1" i="1" dirty="0">
                <a:solidFill>
                  <a:srgbClr val="FF0000"/>
                </a:solidFill>
              </a:rPr>
              <a:t>current state </a:t>
            </a:r>
            <a:r>
              <a:rPr lang="en-US" sz="2400" b="1" dirty="0"/>
              <a:t>separated by /</a:t>
            </a:r>
          </a:p>
        </p:txBody>
      </p:sp>
    </p:spTree>
    <p:extLst>
      <p:ext uri="{BB962C8B-B14F-4D97-AF65-F5344CB8AC3E}">
        <p14:creationId xmlns:p14="http://schemas.microsoft.com/office/powerpoint/2010/main" val="3316073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Comparison between Mealy and Moore FSM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Mealy FSM tends to have </a:t>
            </a:r>
            <a:r>
              <a:rPr lang="en-US" b="1" dirty="0"/>
              <a:t>less states</a:t>
            </a:r>
          </a:p>
          <a:p>
            <a:pPr lvl="1"/>
            <a:r>
              <a:rPr lang="en-US" dirty="0"/>
              <a:t>Rather it has different outputs on different arcs than states </a:t>
            </a:r>
          </a:p>
          <a:p>
            <a:r>
              <a:rPr lang="en-US" dirty="0"/>
              <a:t>Moore FSM is </a:t>
            </a:r>
            <a:r>
              <a:rPr lang="en-US" b="1" dirty="0"/>
              <a:t>safer</a:t>
            </a:r>
            <a:r>
              <a:rPr lang="en-US" dirty="0"/>
              <a:t> to use </a:t>
            </a:r>
          </a:p>
          <a:p>
            <a:pPr lvl="1"/>
            <a:r>
              <a:rPr lang="en-US" dirty="0"/>
              <a:t>In Mealy FSM, if input changes, instantly output will be changed</a:t>
            </a:r>
          </a:p>
          <a:p>
            <a:pPr lvl="2"/>
            <a:r>
              <a:rPr lang="en-US" dirty="0"/>
              <a:t>This kind of problem is basically occurred for asynchronous circuit </a:t>
            </a:r>
          </a:p>
          <a:p>
            <a:r>
              <a:rPr lang="en-US" dirty="0"/>
              <a:t>Mealy FSM reacts </a:t>
            </a:r>
            <a:r>
              <a:rPr lang="en-US" b="1" dirty="0"/>
              <a:t>faster</a:t>
            </a:r>
            <a:r>
              <a:rPr lang="en-US" dirty="0"/>
              <a:t> to inputs </a:t>
            </a:r>
          </a:p>
          <a:p>
            <a:pPr lvl="1"/>
            <a:r>
              <a:rPr lang="en-US" dirty="0"/>
              <a:t>In same clock cycle, outputs could be changed based on the change of inputs </a:t>
            </a:r>
          </a:p>
          <a:p>
            <a:pPr lvl="1"/>
            <a:r>
              <a:rPr lang="en-US" dirty="0"/>
              <a:t>Sometimes Synchronous (or registered) Mealy FSM could be used to avoid glitchy output </a:t>
            </a:r>
          </a:p>
          <a:p>
            <a:r>
              <a:rPr lang="en-US" dirty="0"/>
              <a:t>As Mealy FSM </a:t>
            </a:r>
            <a:r>
              <a:rPr lang="en-US" b="1" dirty="0"/>
              <a:t>considers more information </a:t>
            </a:r>
            <a:r>
              <a:rPr lang="en-US" dirty="0"/>
              <a:t>(</a:t>
            </a:r>
            <a:r>
              <a:rPr lang="en-US" b="1" i="1" dirty="0"/>
              <a:t>i.e., </a:t>
            </a:r>
            <a:r>
              <a:rPr lang="en-US" dirty="0"/>
              <a:t>inputs) than Moore FSM, it is possible to require one less state than Moore FSM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19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328127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Mealy and Moore </a:t>
            </a:r>
            <a:r>
              <a:rPr lang="en-US" b="1" i="1">
                <a:solidFill>
                  <a:schemeClr val="accent5">
                    <a:lumMod val="75000"/>
                  </a:schemeClr>
                </a:solidFill>
                <a:latin typeface="+mn-lt"/>
              </a:rPr>
              <a:t>FSM Conversion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Moore to Mealy conversion: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https://www.geeksforgeeks.org/conversion-of-moore-to-mealy-machine-set-4/?ref=rp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SC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20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89498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1168</Words>
  <Application>Microsoft Office PowerPoint</Application>
  <PresentationFormat>Widescreen</PresentationFormat>
  <Paragraphs>202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1_Office Theme</vt:lpstr>
      <vt:lpstr>Sequential Circuit Model</vt:lpstr>
      <vt:lpstr>Remaining to Add</vt:lpstr>
      <vt:lpstr>Sequential Circuit Model</vt:lpstr>
      <vt:lpstr>Sequential Circuit Model: Block Diagram</vt:lpstr>
      <vt:lpstr>Classification of SC</vt:lpstr>
      <vt:lpstr>Classification of SC: Class A circuits </vt:lpstr>
      <vt:lpstr>Classification of SC: Class B circuits</vt:lpstr>
      <vt:lpstr>Classification of SC: Class C circuits</vt:lpstr>
      <vt:lpstr>Classification of SC: Class D circuits</vt:lpstr>
      <vt:lpstr>Classification of SC: Class E circuits</vt:lpstr>
      <vt:lpstr>State Diagram or State Machine to Represent a Sequential Circuit </vt:lpstr>
      <vt:lpstr>State Diagram or State Machine</vt:lpstr>
      <vt:lpstr>Mealy State Machine</vt:lpstr>
      <vt:lpstr>Mealy State Machine: Circuit Diagram Random example</vt:lpstr>
      <vt:lpstr>Mealy State Machine: State Diagram Random example</vt:lpstr>
      <vt:lpstr>Moore State Machine</vt:lpstr>
      <vt:lpstr>Moore State Machine: Circuit Diagram Random example</vt:lpstr>
      <vt:lpstr>Moore State Machine: State Diagram Random example</vt:lpstr>
      <vt:lpstr>Comparison between Mealy and Moore FSM</vt:lpstr>
      <vt:lpstr>Mealy and Moore FSM Conversion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4205 Digital Logic Design</dc:title>
  <dc:creator>Admin</dc:creator>
  <cp:lastModifiedBy>Md. Hamjajul Ashmafee , Lecturer,CSE</cp:lastModifiedBy>
  <cp:revision>48</cp:revision>
  <dcterms:created xsi:type="dcterms:W3CDTF">2018-06-27T14:59:12Z</dcterms:created>
  <dcterms:modified xsi:type="dcterms:W3CDTF">2022-03-01T16:47:11Z</dcterms:modified>
</cp:coreProperties>
</file>