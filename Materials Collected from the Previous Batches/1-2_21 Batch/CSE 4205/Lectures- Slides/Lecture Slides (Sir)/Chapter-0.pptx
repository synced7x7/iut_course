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60" r:id="rId3"/>
    <p:sldId id="269" r:id="rId4"/>
    <p:sldId id="262" r:id="rId5"/>
    <p:sldId id="283" r:id="rId6"/>
    <p:sldId id="284" r:id="rId7"/>
    <p:sldId id="259" r:id="rId8"/>
    <p:sldId id="270" r:id="rId9"/>
    <p:sldId id="271" r:id="rId10"/>
    <p:sldId id="282" r:id="rId11"/>
    <p:sldId id="273" r:id="rId12"/>
    <p:sldId id="276" r:id="rId13"/>
    <p:sldId id="275" r:id="rId14"/>
    <p:sldId id="277" r:id="rId15"/>
    <p:sldId id="278" r:id="rId16"/>
    <p:sldId id="279" r:id="rId17"/>
    <p:sldId id="280" r:id="rId18"/>
    <p:sldId id="28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65" autoAdjust="0"/>
    <p:restoredTop sz="86359" autoAdjust="0"/>
  </p:normalViewPr>
  <p:slideViewPr>
    <p:cSldViewPr snapToGrid="0">
      <p:cViewPr varScale="1">
        <p:scale>
          <a:sx n="63" d="100"/>
          <a:sy n="63" d="100"/>
        </p:scale>
        <p:origin x="13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C1B9E-036F-4426-B1FE-095181F8A776}" type="datetimeFigureOut">
              <a:rPr lang="en-US" smtClean="0"/>
              <a:t>27-Dec-22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4AD7F4-E4FF-401B-A654-C6B99FAB5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3367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1416C-0C94-4347-BEE5-16334176E4E3}" type="datetimeFigureOut">
              <a:rPr lang="en-US" smtClean="0"/>
              <a:t>27-Dec-22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DAB20-FECD-48F0-A350-11C52BC51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86870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689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328534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754140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Semiconductor:</a:t>
            </a:r>
            <a:r>
              <a:rPr lang="en-US" b="1" baseline="0" dirty="0"/>
              <a:t>  </a:t>
            </a:r>
            <a:r>
              <a:rPr lang="en-US" baseline="0" dirty="0"/>
              <a:t>a material having conductivity falling between conductor and insulator. Basis of any 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61498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Semiconductor:</a:t>
            </a:r>
            <a:r>
              <a:rPr lang="en-US" b="1" baseline="0" dirty="0"/>
              <a:t>  </a:t>
            </a:r>
            <a:r>
              <a:rPr lang="en-US" baseline="0" dirty="0"/>
              <a:t>a material having conductivity falling between conductor and insulator. Basis of any 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99404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Semiconductor:</a:t>
            </a:r>
            <a:r>
              <a:rPr lang="en-US" b="1" baseline="0" dirty="0"/>
              <a:t>  </a:t>
            </a:r>
            <a:r>
              <a:rPr lang="en-US" baseline="0" dirty="0"/>
              <a:t>a material having conductivity falling between conductor and insulator. Basis of any 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562089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18187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7456278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Semiconductor:</a:t>
            </a:r>
            <a:r>
              <a:rPr lang="en-US" baseline="0" dirty="0"/>
              <a:t>  a material having conductivity falling between conductor and insulator. Basis of any 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62925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Semiconductor:</a:t>
            </a:r>
            <a:r>
              <a:rPr lang="en-US" baseline="0" dirty="0"/>
              <a:t>  a material having conductivity falling between conductor and insulator. Basis of any 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8983588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Semiconductor:</a:t>
            </a:r>
            <a:r>
              <a:rPr lang="en-US" baseline="0" dirty="0"/>
              <a:t>  a material having conductivity falling between conductor and insulator. Basis of any 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5506210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Semiconductor:</a:t>
            </a:r>
            <a:r>
              <a:rPr lang="en-US" baseline="0" dirty="0"/>
              <a:t>  a material having conductivity falling between conductor and insulator. Basis of any 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4862692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Semiconductor:</a:t>
            </a:r>
            <a:r>
              <a:rPr lang="en-US" baseline="0" dirty="0"/>
              <a:t>  a material having conductivity falling between conductor and insulator. Basis of any 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8636911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Semiconductor:</a:t>
            </a:r>
            <a:r>
              <a:rPr lang="en-US" baseline="0" dirty="0"/>
              <a:t>  a material having conductivity falling between conductor and insulator. Basis of any 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6568674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Semiconductor:</a:t>
            </a:r>
            <a:r>
              <a:rPr lang="en-US" baseline="0" dirty="0"/>
              <a:t>  a material having conductivity falling between conductor and insulator. Basis of any 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9492843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Semiconductor:</a:t>
            </a:r>
            <a:r>
              <a:rPr lang="en-US" baseline="0" dirty="0"/>
              <a:t>  a material having conductivity falling between conductor and insulator. Basis of any 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101096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1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1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5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03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47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98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1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2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37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42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43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Lecture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70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fif"/><Relationship Id="rId4" Type="http://schemas.openxmlformats.org/officeDocument/2006/relationships/image" Target="../media/image2.jf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fif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4125" y="2751674"/>
            <a:ext cx="9144000" cy="916888"/>
          </a:xfrm>
        </p:spPr>
        <p:txBody>
          <a:bodyPr/>
          <a:lstStyle/>
          <a:p>
            <a:pPr algn="l"/>
            <a:r>
              <a:rPr lang="en-US" b="1" dirty="0">
                <a:latin typeface="+mn-lt"/>
              </a:rP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4125" y="4707506"/>
            <a:ext cx="9144000" cy="1655762"/>
          </a:xfrm>
        </p:spPr>
        <p:txBody>
          <a:bodyPr/>
          <a:lstStyle/>
          <a:p>
            <a:pPr algn="l"/>
            <a:r>
              <a:rPr lang="en-US" b="1" dirty="0"/>
              <a:t>Course Teacher: Md. Hamjajul Ashmafee</a:t>
            </a:r>
          </a:p>
          <a:p>
            <a:pPr algn="l"/>
            <a:r>
              <a:rPr lang="en-US" b="1" dirty="0"/>
              <a:t>Assistant Professor, CSE, IUT</a:t>
            </a:r>
          </a:p>
          <a:p>
            <a:pPr algn="l"/>
            <a:r>
              <a:rPr lang="en-US" b="1" dirty="0"/>
              <a:t>Email: ashmafee@iut-dhaka.edu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573" y="109679"/>
            <a:ext cx="731108" cy="118872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4125" y="704039"/>
            <a:ext cx="9144000" cy="13908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500" b="1" dirty="0"/>
              <a:t>CSE 4205</a:t>
            </a:r>
            <a:br>
              <a:rPr lang="en-US" sz="4500" b="1" dirty="0"/>
            </a:br>
            <a:r>
              <a:rPr lang="en-US" sz="4500" b="1" dirty="0"/>
              <a:t>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1015783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Administration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Course Credit: </a:t>
            </a:r>
            <a:r>
              <a:rPr lang="en-US" dirty="0"/>
              <a:t>3 (Total marks 300)</a:t>
            </a:r>
          </a:p>
          <a:p>
            <a:r>
              <a:rPr lang="en-US" b="1" dirty="0"/>
              <a:t>Lectures: </a:t>
            </a:r>
            <a:r>
              <a:rPr lang="en-US" dirty="0"/>
              <a:t>Tuesday and Wednesday</a:t>
            </a:r>
          </a:p>
          <a:p>
            <a:r>
              <a:rPr lang="en-US" b="1" dirty="0"/>
              <a:t>Sessional Works: </a:t>
            </a:r>
            <a:r>
              <a:rPr lang="en-US" dirty="0"/>
              <a:t>Thursday – Lab 6</a:t>
            </a:r>
          </a:p>
          <a:p>
            <a:r>
              <a:rPr lang="en-US" b="1" dirty="0"/>
              <a:t>Discussion: </a:t>
            </a:r>
            <a:r>
              <a:rPr lang="en-US" dirty="0"/>
              <a:t>Based on prior appointment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  <a:t>2</a:t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 dirty="0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726481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Administration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Textbooks:</a:t>
            </a:r>
          </a:p>
          <a:p>
            <a:pPr lvl="1"/>
            <a:r>
              <a:rPr lang="en-US" dirty="0"/>
              <a:t>Digital Logic and Computer Design – M. Morris Mano - 4E  </a:t>
            </a:r>
          </a:p>
          <a:p>
            <a:pPr lvl="1"/>
            <a:r>
              <a:rPr lang="en-US" dirty="0"/>
              <a:t>Digital Fundamental – Thomas L. Floyd – 8E</a:t>
            </a:r>
          </a:p>
          <a:p>
            <a:r>
              <a:rPr lang="en-US" b="1" dirty="0"/>
              <a:t>Grading:</a:t>
            </a:r>
          </a:p>
          <a:p>
            <a:pPr lvl="1"/>
            <a:r>
              <a:rPr lang="en-US" dirty="0"/>
              <a:t>Quiz/Assignment/Class performance: 15%</a:t>
            </a:r>
          </a:p>
          <a:p>
            <a:pPr lvl="1"/>
            <a:r>
              <a:rPr lang="en-US" dirty="0"/>
              <a:t>Mid term examination: 25%</a:t>
            </a:r>
          </a:p>
          <a:p>
            <a:pPr lvl="1"/>
            <a:r>
              <a:rPr lang="en-US" dirty="0"/>
              <a:t>Final examination: 50%</a:t>
            </a:r>
          </a:p>
          <a:p>
            <a:pPr lvl="1"/>
            <a:r>
              <a:rPr lang="en-US" dirty="0"/>
              <a:t>Attendance: 10% </a:t>
            </a:r>
          </a:p>
          <a:p>
            <a:r>
              <a:rPr lang="en-US" b="1" dirty="0"/>
              <a:t>LMS:</a:t>
            </a:r>
          </a:p>
          <a:p>
            <a:pPr lvl="1"/>
            <a:r>
              <a:rPr lang="en-US" dirty="0"/>
              <a:t>Google Classroom, Zoom/ Google meet</a:t>
            </a:r>
          </a:p>
          <a:p>
            <a:pPr marL="457200" lvl="1" indent="0">
              <a:buNone/>
            </a:pPr>
            <a:r>
              <a:rPr lang="en-US" b="1" dirty="0"/>
              <a:t>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  <a:t>3</a:t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 dirty="0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88461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Motivation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Revolution of </a:t>
            </a:r>
            <a:r>
              <a:rPr lang="en-US" b="1" dirty="0"/>
              <a:t>Microprocessor</a:t>
            </a:r>
            <a:r>
              <a:rPr lang="en-US" dirty="0"/>
              <a:t> and </a:t>
            </a:r>
            <a:r>
              <a:rPr lang="en-US" b="1" dirty="0"/>
              <a:t>Semiconductor</a:t>
            </a:r>
            <a:r>
              <a:rPr lang="en-US" dirty="0"/>
              <a:t> (Transistor)</a:t>
            </a:r>
          </a:p>
          <a:p>
            <a:r>
              <a:rPr lang="en-US" b="1" dirty="0"/>
              <a:t>Robert Noyce </a:t>
            </a:r>
            <a:r>
              <a:rPr lang="en-US" dirty="0"/>
              <a:t>(1927-1990) </a:t>
            </a:r>
          </a:p>
          <a:p>
            <a:pPr lvl="1"/>
            <a:r>
              <a:rPr lang="en-US" dirty="0"/>
              <a:t>“Mayor of Silicon Valley”</a:t>
            </a:r>
          </a:p>
          <a:p>
            <a:pPr lvl="1"/>
            <a:r>
              <a:rPr lang="en-US" dirty="0"/>
              <a:t>Confounder of Semiconductor</a:t>
            </a:r>
          </a:p>
          <a:p>
            <a:pPr lvl="1"/>
            <a:r>
              <a:rPr lang="en-US" dirty="0"/>
              <a:t>Confounder of INTEL</a:t>
            </a:r>
          </a:p>
          <a:p>
            <a:pPr lvl="1"/>
            <a:r>
              <a:rPr lang="en-US" dirty="0"/>
              <a:t>Co-inventor of IC</a:t>
            </a:r>
          </a:p>
          <a:p>
            <a:r>
              <a:rPr lang="en-US" b="1" dirty="0"/>
              <a:t>Gordon Moore</a:t>
            </a:r>
          </a:p>
          <a:p>
            <a:pPr lvl="1"/>
            <a:r>
              <a:rPr lang="en-US" dirty="0"/>
              <a:t>Confounder of INTEL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b="1" dirty="0">
                <a:solidFill>
                  <a:schemeClr val="accent2"/>
                </a:solidFill>
              </a:rPr>
              <a:t>Moore’s Law: </a:t>
            </a:r>
            <a:r>
              <a:rPr lang="en-US" dirty="0"/>
              <a:t>the number of transistors on a computer </a:t>
            </a:r>
          </a:p>
          <a:p>
            <a:pPr marL="457200" lvl="1" indent="0">
              <a:spcBef>
                <a:spcPct val="20000"/>
              </a:spcBef>
              <a:buNone/>
            </a:pPr>
            <a:r>
              <a:rPr lang="en-US" dirty="0"/>
              <a:t>     chip </a:t>
            </a:r>
            <a:r>
              <a:rPr lang="en-US" b="1" dirty="0"/>
              <a:t>doubles</a:t>
            </a:r>
            <a:r>
              <a:rPr lang="en-US" dirty="0"/>
              <a:t> every year (observed in 1965)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dirty="0"/>
              <a:t>Since 1975, transistor counts have doubled every two years.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  <a:t>4</a:t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 dirty="0"/>
              <a:t>Lecture 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FBEE14-71A2-5A06-1482-1F9D455ED5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320" y="4728163"/>
            <a:ext cx="1448800" cy="1448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91431F-88AA-8582-2D4B-79E7B7275E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437" y="2552494"/>
            <a:ext cx="1555683" cy="155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00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Semiconductor and Transistor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86160" cy="4351338"/>
          </a:xfrm>
        </p:spPr>
        <p:txBody>
          <a:bodyPr>
            <a:normAutofit/>
          </a:bodyPr>
          <a:lstStyle/>
          <a:p>
            <a:r>
              <a:rPr lang="en-US" dirty="0"/>
              <a:t>A transistor is a semiconductor device used to </a:t>
            </a:r>
            <a:r>
              <a:rPr lang="en-US" b="1" dirty="0"/>
              <a:t>amplify or switch </a:t>
            </a:r>
            <a:r>
              <a:rPr lang="en-US" dirty="0"/>
              <a:t>electrical signals and power.</a:t>
            </a:r>
          </a:p>
          <a:p>
            <a:pPr lvl="1"/>
            <a:r>
              <a:rPr lang="en-US" dirty="0"/>
              <a:t>One of the basic </a:t>
            </a:r>
            <a:r>
              <a:rPr lang="en-US" b="1" dirty="0"/>
              <a:t>building blocks </a:t>
            </a:r>
            <a:r>
              <a:rPr lang="en-US" dirty="0"/>
              <a:t>of modern electronics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  <a:t>5</a:t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 dirty="0"/>
              <a:t>Lecture 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333E16-02E4-A5FD-142D-15241C626B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8280" y="3254693"/>
            <a:ext cx="2952750" cy="2647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0FF1FE-C0C8-26AC-2E0B-679C2288DA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0971" y="3806190"/>
            <a:ext cx="3177431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48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900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RTL diagram – AND </a:t>
            </a:r>
            <a:r>
              <a:rPr lang="en-US" sz="3900" b="1" i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and</a:t>
            </a:r>
            <a:r>
              <a:rPr lang="en-US" sz="3900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OR gate</a:t>
            </a:r>
            <a:endParaRPr lang="en-US" sz="3900" dirty="0">
              <a:latin typeface="+mn-lt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0504686-3207-23CE-C007-60890D524C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898" y="1801018"/>
            <a:ext cx="2781687" cy="4013163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  <a:t>6</a:t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 dirty="0"/>
              <a:t>Lecture 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AD6D036-F0CE-6800-F15E-3FACDCCF3B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176" y="1801018"/>
            <a:ext cx="2829424" cy="401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903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Prospect of this Course</a:t>
            </a:r>
            <a:endParaRPr lang="en-US" dirty="0">
              <a:latin typeface="+mn-lt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28549" y="1761327"/>
            <a:ext cx="8831079" cy="358965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  <a:t>7</a:t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 dirty="0"/>
              <a:t>Lecture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763022" y="3876730"/>
            <a:ext cx="3181066" cy="2251115"/>
            <a:chOff x="2763022" y="3876730"/>
            <a:chExt cx="3181066" cy="2251115"/>
          </a:xfrm>
        </p:grpSpPr>
        <p:pic>
          <p:nvPicPr>
            <p:cNvPr id="10" name="Picture 10" descr="http://www.aviorlando.com/wp-content/uploads/2012/08/Security-Camera-300x225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1816" y="3876730"/>
              <a:ext cx="2550295" cy="19093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" name="Group 10"/>
            <p:cNvGrpSpPr/>
            <p:nvPr/>
          </p:nvGrpSpPr>
          <p:grpSpPr>
            <a:xfrm>
              <a:off x="2763022" y="3935284"/>
              <a:ext cx="3181066" cy="2192561"/>
              <a:chOff x="2180363" y="3919485"/>
              <a:chExt cx="3564253" cy="2460948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2388850" y="3919485"/>
                <a:ext cx="3108960" cy="2011680"/>
              </a:xfrm>
              <a:prstGeom prst="rect">
                <a:avLst/>
              </a:prstGeom>
              <a:noFill/>
              <a:ln w="381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2180363" y="5885601"/>
                <a:ext cx="3564253" cy="494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Bookman Old Style" panose="02050604050505020204" pitchFamily="18" charset="0"/>
                  </a:rPr>
                  <a:t>Intelligent Security Control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49692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Prospect of this Course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  <a:t>8</a:t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 dirty="0"/>
              <a:t>Lecture 1</a:t>
            </a:r>
          </a:p>
        </p:txBody>
      </p:sp>
      <p:pic>
        <p:nvPicPr>
          <p:cNvPr id="14" name="Content Placeholder 1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541893" y="2189509"/>
            <a:ext cx="9108213" cy="265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834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9" name="Group 3"/>
          <p:cNvGrpSpPr>
            <a:grpSpLocks/>
          </p:cNvGrpSpPr>
          <p:nvPr/>
        </p:nvGrpSpPr>
        <p:grpSpPr bwMode="auto">
          <a:xfrm>
            <a:off x="1552575" y="4973638"/>
            <a:ext cx="795338" cy="1308100"/>
            <a:chOff x="18" y="3133"/>
            <a:chExt cx="501" cy="824"/>
          </a:xfrm>
        </p:grpSpPr>
        <p:sp>
          <p:nvSpPr>
            <p:cNvPr id="29788" name="Freeform 4"/>
            <p:cNvSpPr>
              <a:spLocks/>
            </p:cNvSpPr>
            <p:nvPr/>
          </p:nvSpPr>
          <p:spPr bwMode="auto">
            <a:xfrm>
              <a:off x="19" y="3207"/>
              <a:ext cx="126" cy="325"/>
            </a:xfrm>
            <a:custGeom>
              <a:avLst/>
              <a:gdLst>
                <a:gd name="T0" fmla="*/ 0 w 126"/>
                <a:gd name="T1" fmla="*/ 63 h 325"/>
                <a:gd name="T2" fmla="*/ 0 w 126"/>
                <a:gd name="T3" fmla="*/ 262 h 325"/>
                <a:gd name="T4" fmla="*/ 62 w 126"/>
                <a:gd name="T5" fmla="*/ 324 h 325"/>
                <a:gd name="T6" fmla="*/ 125 w 126"/>
                <a:gd name="T7" fmla="*/ 261 h 325"/>
                <a:gd name="T8" fmla="*/ 125 w 126"/>
                <a:gd name="T9" fmla="*/ 62 h 325"/>
                <a:gd name="T10" fmla="*/ 63 w 126"/>
                <a:gd name="T11" fmla="*/ 0 h 325"/>
                <a:gd name="T12" fmla="*/ 0 w 126"/>
                <a:gd name="T13" fmla="*/ 63 h 3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5"/>
                <a:gd name="T23" fmla="*/ 126 w 126"/>
                <a:gd name="T24" fmla="*/ 325 h 3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5">
                  <a:moveTo>
                    <a:pt x="0" y="63"/>
                  </a:moveTo>
                  <a:lnTo>
                    <a:pt x="0" y="262"/>
                  </a:lnTo>
                  <a:lnTo>
                    <a:pt x="62" y="324"/>
                  </a:lnTo>
                  <a:lnTo>
                    <a:pt x="125" y="261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89" name="Freeform 5"/>
            <p:cNvSpPr>
              <a:spLocks/>
            </p:cNvSpPr>
            <p:nvPr/>
          </p:nvSpPr>
          <p:spPr bwMode="auto">
            <a:xfrm>
              <a:off x="18" y="3560"/>
              <a:ext cx="126" cy="325"/>
            </a:xfrm>
            <a:custGeom>
              <a:avLst/>
              <a:gdLst>
                <a:gd name="T0" fmla="*/ 0 w 126"/>
                <a:gd name="T1" fmla="*/ 63 h 325"/>
                <a:gd name="T2" fmla="*/ 0 w 126"/>
                <a:gd name="T3" fmla="*/ 262 h 325"/>
                <a:gd name="T4" fmla="*/ 62 w 126"/>
                <a:gd name="T5" fmla="*/ 324 h 325"/>
                <a:gd name="T6" fmla="*/ 125 w 126"/>
                <a:gd name="T7" fmla="*/ 261 h 325"/>
                <a:gd name="T8" fmla="*/ 125 w 126"/>
                <a:gd name="T9" fmla="*/ 62 h 325"/>
                <a:gd name="T10" fmla="*/ 63 w 126"/>
                <a:gd name="T11" fmla="*/ 0 h 325"/>
                <a:gd name="T12" fmla="*/ 0 w 126"/>
                <a:gd name="T13" fmla="*/ 63 h 3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5"/>
                <a:gd name="T23" fmla="*/ 126 w 126"/>
                <a:gd name="T24" fmla="*/ 325 h 3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5">
                  <a:moveTo>
                    <a:pt x="0" y="63"/>
                  </a:moveTo>
                  <a:lnTo>
                    <a:pt x="0" y="262"/>
                  </a:lnTo>
                  <a:lnTo>
                    <a:pt x="62" y="324"/>
                  </a:lnTo>
                  <a:lnTo>
                    <a:pt x="125" y="261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90" name="Freeform 6"/>
            <p:cNvSpPr>
              <a:spLocks/>
            </p:cNvSpPr>
            <p:nvPr/>
          </p:nvSpPr>
          <p:spPr bwMode="auto">
            <a:xfrm>
              <a:off x="104" y="3484"/>
              <a:ext cx="326" cy="127"/>
            </a:xfrm>
            <a:custGeom>
              <a:avLst/>
              <a:gdLst>
                <a:gd name="T0" fmla="*/ 262 w 326"/>
                <a:gd name="T1" fmla="*/ 0 h 127"/>
                <a:gd name="T2" fmla="*/ 62 w 326"/>
                <a:gd name="T3" fmla="*/ 0 h 127"/>
                <a:gd name="T4" fmla="*/ 0 w 326"/>
                <a:gd name="T5" fmla="*/ 63 h 127"/>
                <a:gd name="T6" fmla="*/ 63 w 326"/>
                <a:gd name="T7" fmla="*/ 126 h 127"/>
                <a:gd name="T8" fmla="*/ 263 w 326"/>
                <a:gd name="T9" fmla="*/ 126 h 127"/>
                <a:gd name="T10" fmla="*/ 325 w 326"/>
                <a:gd name="T11" fmla="*/ 63 h 127"/>
                <a:gd name="T12" fmla="*/ 262 w 326"/>
                <a:gd name="T13" fmla="*/ 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6"/>
                <a:gd name="T22" fmla="*/ 0 h 127"/>
                <a:gd name="T23" fmla="*/ 326 w 326"/>
                <a:gd name="T24" fmla="*/ 127 h 12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6" h="127">
                  <a:moveTo>
                    <a:pt x="262" y="0"/>
                  </a:moveTo>
                  <a:lnTo>
                    <a:pt x="62" y="0"/>
                  </a:lnTo>
                  <a:lnTo>
                    <a:pt x="0" y="63"/>
                  </a:lnTo>
                  <a:lnTo>
                    <a:pt x="63" y="126"/>
                  </a:lnTo>
                  <a:lnTo>
                    <a:pt x="263" y="126"/>
                  </a:lnTo>
                  <a:lnTo>
                    <a:pt x="325" y="63"/>
                  </a:lnTo>
                  <a:lnTo>
                    <a:pt x="262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91" name="Freeform 7"/>
            <p:cNvSpPr>
              <a:spLocks/>
            </p:cNvSpPr>
            <p:nvPr/>
          </p:nvSpPr>
          <p:spPr bwMode="auto">
            <a:xfrm>
              <a:off x="104" y="3831"/>
              <a:ext cx="325" cy="126"/>
            </a:xfrm>
            <a:custGeom>
              <a:avLst/>
              <a:gdLst>
                <a:gd name="T0" fmla="*/ 261 w 325"/>
                <a:gd name="T1" fmla="*/ 0 h 126"/>
                <a:gd name="T2" fmla="*/ 62 w 325"/>
                <a:gd name="T3" fmla="*/ 0 h 126"/>
                <a:gd name="T4" fmla="*/ 0 w 325"/>
                <a:gd name="T5" fmla="*/ 62 h 126"/>
                <a:gd name="T6" fmla="*/ 63 w 325"/>
                <a:gd name="T7" fmla="*/ 125 h 126"/>
                <a:gd name="T8" fmla="*/ 262 w 325"/>
                <a:gd name="T9" fmla="*/ 125 h 126"/>
                <a:gd name="T10" fmla="*/ 324 w 325"/>
                <a:gd name="T11" fmla="*/ 63 h 126"/>
                <a:gd name="T12" fmla="*/ 261 w 325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5"/>
                <a:gd name="T22" fmla="*/ 0 h 126"/>
                <a:gd name="T23" fmla="*/ 325 w 325"/>
                <a:gd name="T24" fmla="*/ 126 h 1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5" h="126">
                  <a:moveTo>
                    <a:pt x="261" y="0"/>
                  </a:moveTo>
                  <a:lnTo>
                    <a:pt x="62" y="0"/>
                  </a:lnTo>
                  <a:lnTo>
                    <a:pt x="0" y="62"/>
                  </a:lnTo>
                  <a:lnTo>
                    <a:pt x="63" y="125"/>
                  </a:lnTo>
                  <a:lnTo>
                    <a:pt x="262" y="125"/>
                  </a:lnTo>
                  <a:lnTo>
                    <a:pt x="324" y="63"/>
                  </a:lnTo>
                  <a:lnTo>
                    <a:pt x="261" y="0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92" name="Freeform 8"/>
            <p:cNvSpPr>
              <a:spLocks/>
            </p:cNvSpPr>
            <p:nvPr/>
          </p:nvSpPr>
          <p:spPr bwMode="auto">
            <a:xfrm>
              <a:off x="104" y="3133"/>
              <a:ext cx="325" cy="126"/>
            </a:xfrm>
            <a:custGeom>
              <a:avLst/>
              <a:gdLst>
                <a:gd name="T0" fmla="*/ 261 w 325"/>
                <a:gd name="T1" fmla="*/ 0 h 126"/>
                <a:gd name="T2" fmla="*/ 62 w 325"/>
                <a:gd name="T3" fmla="*/ 0 h 126"/>
                <a:gd name="T4" fmla="*/ 0 w 325"/>
                <a:gd name="T5" fmla="*/ 62 h 126"/>
                <a:gd name="T6" fmla="*/ 63 w 325"/>
                <a:gd name="T7" fmla="*/ 125 h 126"/>
                <a:gd name="T8" fmla="*/ 262 w 325"/>
                <a:gd name="T9" fmla="*/ 125 h 126"/>
                <a:gd name="T10" fmla="*/ 324 w 325"/>
                <a:gd name="T11" fmla="*/ 63 h 126"/>
                <a:gd name="T12" fmla="*/ 261 w 325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5"/>
                <a:gd name="T22" fmla="*/ 0 h 126"/>
                <a:gd name="T23" fmla="*/ 325 w 325"/>
                <a:gd name="T24" fmla="*/ 126 h 1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5" h="126">
                  <a:moveTo>
                    <a:pt x="261" y="0"/>
                  </a:moveTo>
                  <a:lnTo>
                    <a:pt x="62" y="0"/>
                  </a:lnTo>
                  <a:lnTo>
                    <a:pt x="0" y="62"/>
                  </a:lnTo>
                  <a:lnTo>
                    <a:pt x="63" y="125"/>
                  </a:lnTo>
                  <a:lnTo>
                    <a:pt x="262" y="125"/>
                  </a:lnTo>
                  <a:lnTo>
                    <a:pt x="324" y="63"/>
                  </a:lnTo>
                  <a:lnTo>
                    <a:pt x="261" y="0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93" name="Freeform 9"/>
            <p:cNvSpPr>
              <a:spLocks/>
            </p:cNvSpPr>
            <p:nvPr/>
          </p:nvSpPr>
          <p:spPr bwMode="auto">
            <a:xfrm>
              <a:off x="393" y="3207"/>
              <a:ext cx="126" cy="324"/>
            </a:xfrm>
            <a:custGeom>
              <a:avLst/>
              <a:gdLst>
                <a:gd name="T0" fmla="*/ 0 w 126"/>
                <a:gd name="T1" fmla="*/ 63 h 324"/>
                <a:gd name="T2" fmla="*/ 0 w 126"/>
                <a:gd name="T3" fmla="*/ 261 h 324"/>
                <a:gd name="T4" fmla="*/ 62 w 126"/>
                <a:gd name="T5" fmla="*/ 323 h 324"/>
                <a:gd name="T6" fmla="*/ 125 w 126"/>
                <a:gd name="T7" fmla="*/ 260 h 324"/>
                <a:gd name="T8" fmla="*/ 125 w 126"/>
                <a:gd name="T9" fmla="*/ 62 h 324"/>
                <a:gd name="T10" fmla="*/ 63 w 126"/>
                <a:gd name="T11" fmla="*/ 0 h 324"/>
                <a:gd name="T12" fmla="*/ 0 w 126"/>
                <a:gd name="T13" fmla="*/ 63 h 3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4"/>
                <a:gd name="T23" fmla="*/ 126 w 126"/>
                <a:gd name="T24" fmla="*/ 324 h 3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4">
                  <a:moveTo>
                    <a:pt x="0" y="63"/>
                  </a:moveTo>
                  <a:lnTo>
                    <a:pt x="0" y="261"/>
                  </a:lnTo>
                  <a:lnTo>
                    <a:pt x="62" y="323"/>
                  </a:lnTo>
                  <a:lnTo>
                    <a:pt x="125" y="260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94" name="Freeform 10"/>
            <p:cNvSpPr>
              <a:spLocks/>
            </p:cNvSpPr>
            <p:nvPr/>
          </p:nvSpPr>
          <p:spPr bwMode="auto">
            <a:xfrm>
              <a:off x="392" y="3560"/>
              <a:ext cx="126" cy="324"/>
            </a:xfrm>
            <a:custGeom>
              <a:avLst/>
              <a:gdLst>
                <a:gd name="T0" fmla="*/ 0 w 126"/>
                <a:gd name="T1" fmla="*/ 63 h 324"/>
                <a:gd name="T2" fmla="*/ 0 w 126"/>
                <a:gd name="T3" fmla="*/ 261 h 324"/>
                <a:gd name="T4" fmla="*/ 62 w 126"/>
                <a:gd name="T5" fmla="*/ 323 h 324"/>
                <a:gd name="T6" fmla="*/ 125 w 126"/>
                <a:gd name="T7" fmla="*/ 260 h 324"/>
                <a:gd name="T8" fmla="*/ 125 w 126"/>
                <a:gd name="T9" fmla="*/ 62 h 324"/>
                <a:gd name="T10" fmla="*/ 63 w 126"/>
                <a:gd name="T11" fmla="*/ 0 h 324"/>
                <a:gd name="T12" fmla="*/ 0 w 126"/>
                <a:gd name="T13" fmla="*/ 63 h 3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4"/>
                <a:gd name="T23" fmla="*/ 126 w 126"/>
                <a:gd name="T24" fmla="*/ 324 h 3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4">
                  <a:moveTo>
                    <a:pt x="0" y="63"/>
                  </a:moveTo>
                  <a:lnTo>
                    <a:pt x="0" y="261"/>
                  </a:lnTo>
                  <a:lnTo>
                    <a:pt x="62" y="323"/>
                  </a:lnTo>
                  <a:lnTo>
                    <a:pt x="125" y="260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29700" name="Group 11"/>
          <p:cNvGrpSpPr>
            <a:grpSpLocks/>
          </p:cNvGrpSpPr>
          <p:nvPr/>
        </p:nvGrpSpPr>
        <p:grpSpPr bwMode="auto">
          <a:xfrm>
            <a:off x="2466975" y="4973638"/>
            <a:ext cx="795338" cy="1308100"/>
            <a:chOff x="594" y="3133"/>
            <a:chExt cx="501" cy="824"/>
          </a:xfrm>
        </p:grpSpPr>
        <p:sp>
          <p:nvSpPr>
            <p:cNvPr id="29781" name="Freeform 12"/>
            <p:cNvSpPr>
              <a:spLocks/>
            </p:cNvSpPr>
            <p:nvPr/>
          </p:nvSpPr>
          <p:spPr bwMode="auto">
            <a:xfrm>
              <a:off x="595" y="3207"/>
              <a:ext cx="126" cy="325"/>
            </a:xfrm>
            <a:custGeom>
              <a:avLst/>
              <a:gdLst>
                <a:gd name="T0" fmla="*/ 0 w 126"/>
                <a:gd name="T1" fmla="*/ 63 h 325"/>
                <a:gd name="T2" fmla="*/ 0 w 126"/>
                <a:gd name="T3" fmla="*/ 262 h 325"/>
                <a:gd name="T4" fmla="*/ 62 w 126"/>
                <a:gd name="T5" fmla="*/ 324 h 325"/>
                <a:gd name="T6" fmla="*/ 125 w 126"/>
                <a:gd name="T7" fmla="*/ 261 h 325"/>
                <a:gd name="T8" fmla="*/ 125 w 126"/>
                <a:gd name="T9" fmla="*/ 62 h 325"/>
                <a:gd name="T10" fmla="*/ 63 w 126"/>
                <a:gd name="T11" fmla="*/ 0 h 325"/>
                <a:gd name="T12" fmla="*/ 0 w 126"/>
                <a:gd name="T13" fmla="*/ 63 h 3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5"/>
                <a:gd name="T23" fmla="*/ 126 w 126"/>
                <a:gd name="T24" fmla="*/ 325 h 3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5">
                  <a:moveTo>
                    <a:pt x="0" y="63"/>
                  </a:moveTo>
                  <a:lnTo>
                    <a:pt x="0" y="262"/>
                  </a:lnTo>
                  <a:lnTo>
                    <a:pt x="62" y="324"/>
                  </a:lnTo>
                  <a:lnTo>
                    <a:pt x="125" y="261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82" name="Freeform 13"/>
            <p:cNvSpPr>
              <a:spLocks/>
            </p:cNvSpPr>
            <p:nvPr/>
          </p:nvSpPr>
          <p:spPr bwMode="auto">
            <a:xfrm>
              <a:off x="594" y="3560"/>
              <a:ext cx="126" cy="325"/>
            </a:xfrm>
            <a:custGeom>
              <a:avLst/>
              <a:gdLst>
                <a:gd name="T0" fmla="*/ 0 w 126"/>
                <a:gd name="T1" fmla="*/ 63 h 325"/>
                <a:gd name="T2" fmla="*/ 0 w 126"/>
                <a:gd name="T3" fmla="*/ 262 h 325"/>
                <a:gd name="T4" fmla="*/ 62 w 126"/>
                <a:gd name="T5" fmla="*/ 324 h 325"/>
                <a:gd name="T6" fmla="*/ 125 w 126"/>
                <a:gd name="T7" fmla="*/ 261 h 325"/>
                <a:gd name="T8" fmla="*/ 125 w 126"/>
                <a:gd name="T9" fmla="*/ 62 h 325"/>
                <a:gd name="T10" fmla="*/ 63 w 126"/>
                <a:gd name="T11" fmla="*/ 0 h 325"/>
                <a:gd name="T12" fmla="*/ 0 w 126"/>
                <a:gd name="T13" fmla="*/ 63 h 3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5"/>
                <a:gd name="T23" fmla="*/ 126 w 126"/>
                <a:gd name="T24" fmla="*/ 325 h 3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5">
                  <a:moveTo>
                    <a:pt x="0" y="63"/>
                  </a:moveTo>
                  <a:lnTo>
                    <a:pt x="0" y="262"/>
                  </a:lnTo>
                  <a:lnTo>
                    <a:pt x="62" y="324"/>
                  </a:lnTo>
                  <a:lnTo>
                    <a:pt x="125" y="261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83" name="Freeform 14"/>
            <p:cNvSpPr>
              <a:spLocks/>
            </p:cNvSpPr>
            <p:nvPr/>
          </p:nvSpPr>
          <p:spPr bwMode="auto">
            <a:xfrm>
              <a:off x="680" y="3484"/>
              <a:ext cx="326" cy="127"/>
            </a:xfrm>
            <a:custGeom>
              <a:avLst/>
              <a:gdLst>
                <a:gd name="T0" fmla="*/ 262 w 326"/>
                <a:gd name="T1" fmla="*/ 0 h 127"/>
                <a:gd name="T2" fmla="*/ 62 w 326"/>
                <a:gd name="T3" fmla="*/ 0 h 127"/>
                <a:gd name="T4" fmla="*/ 0 w 326"/>
                <a:gd name="T5" fmla="*/ 63 h 127"/>
                <a:gd name="T6" fmla="*/ 63 w 326"/>
                <a:gd name="T7" fmla="*/ 126 h 127"/>
                <a:gd name="T8" fmla="*/ 263 w 326"/>
                <a:gd name="T9" fmla="*/ 126 h 127"/>
                <a:gd name="T10" fmla="*/ 325 w 326"/>
                <a:gd name="T11" fmla="*/ 63 h 127"/>
                <a:gd name="T12" fmla="*/ 262 w 326"/>
                <a:gd name="T13" fmla="*/ 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6"/>
                <a:gd name="T22" fmla="*/ 0 h 127"/>
                <a:gd name="T23" fmla="*/ 326 w 326"/>
                <a:gd name="T24" fmla="*/ 127 h 12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6" h="127">
                  <a:moveTo>
                    <a:pt x="262" y="0"/>
                  </a:moveTo>
                  <a:lnTo>
                    <a:pt x="62" y="0"/>
                  </a:lnTo>
                  <a:lnTo>
                    <a:pt x="0" y="63"/>
                  </a:lnTo>
                  <a:lnTo>
                    <a:pt x="63" y="126"/>
                  </a:lnTo>
                  <a:lnTo>
                    <a:pt x="263" y="126"/>
                  </a:lnTo>
                  <a:lnTo>
                    <a:pt x="325" y="63"/>
                  </a:lnTo>
                  <a:lnTo>
                    <a:pt x="262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84" name="Freeform 15"/>
            <p:cNvSpPr>
              <a:spLocks/>
            </p:cNvSpPr>
            <p:nvPr/>
          </p:nvSpPr>
          <p:spPr bwMode="auto">
            <a:xfrm>
              <a:off x="680" y="3831"/>
              <a:ext cx="325" cy="126"/>
            </a:xfrm>
            <a:custGeom>
              <a:avLst/>
              <a:gdLst>
                <a:gd name="T0" fmla="*/ 261 w 325"/>
                <a:gd name="T1" fmla="*/ 0 h 126"/>
                <a:gd name="T2" fmla="*/ 62 w 325"/>
                <a:gd name="T3" fmla="*/ 0 h 126"/>
                <a:gd name="T4" fmla="*/ 0 w 325"/>
                <a:gd name="T5" fmla="*/ 62 h 126"/>
                <a:gd name="T6" fmla="*/ 63 w 325"/>
                <a:gd name="T7" fmla="*/ 125 h 126"/>
                <a:gd name="T8" fmla="*/ 262 w 325"/>
                <a:gd name="T9" fmla="*/ 125 h 126"/>
                <a:gd name="T10" fmla="*/ 324 w 325"/>
                <a:gd name="T11" fmla="*/ 63 h 126"/>
                <a:gd name="T12" fmla="*/ 261 w 325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5"/>
                <a:gd name="T22" fmla="*/ 0 h 126"/>
                <a:gd name="T23" fmla="*/ 325 w 325"/>
                <a:gd name="T24" fmla="*/ 126 h 1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5" h="126">
                  <a:moveTo>
                    <a:pt x="261" y="0"/>
                  </a:moveTo>
                  <a:lnTo>
                    <a:pt x="62" y="0"/>
                  </a:lnTo>
                  <a:lnTo>
                    <a:pt x="0" y="62"/>
                  </a:lnTo>
                  <a:lnTo>
                    <a:pt x="63" y="125"/>
                  </a:lnTo>
                  <a:lnTo>
                    <a:pt x="262" y="125"/>
                  </a:lnTo>
                  <a:lnTo>
                    <a:pt x="324" y="63"/>
                  </a:lnTo>
                  <a:lnTo>
                    <a:pt x="261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85" name="Freeform 16"/>
            <p:cNvSpPr>
              <a:spLocks/>
            </p:cNvSpPr>
            <p:nvPr/>
          </p:nvSpPr>
          <p:spPr bwMode="auto">
            <a:xfrm>
              <a:off x="680" y="3133"/>
              <a:ext cx="325" cy="126"/>
            </a:xfrm>
            <a:custGeom>
              <a:avLst/>
              <a:gdLst>
                <a:gd name="T0" fmla="*/ 261 w 325"/>
                <a:gd name="T1" fmla="*/ 0 h 126"/>
                <a:gd name="T2" fmla="*/ 62 w 325"/>
                <a:gd name="T3" fmla="*/ 0 h 126"/>
                <a:gd name="T4" fmla="*/ 0 w 325"/>
                <a:gd name="T5" fmla="*/ 62 h 126"/>
                <a:gd name="T6" fmla="*/ 63 w 325"/>
                <a:gd name="T7" fmla="*/ 125 h 126"/>
                <a:gd name="T8" fmla="*/ 262 w 325"/>
                <a:gd name="T9" fmla="*/ 125 h 126"/>
                <a:gd name="T10" fmla="*/ 324 w 325"/>
                <a:gd name="T11" fmla="*/ 63 h 126"/>
                <a:gd name="T12" fmla="*/ 261 w 325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5"/>
                <a:gd name="T22" fmla="*/ 0 h 126"/>
                <a:gd name="T23" fmla="*/ 325 w 325"/>
                <a:gd name="T24" fmla="*/ 126 h 1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5" h="126">
                  <a:moveTo>
                    <a:pt x="261" y="0"/>
                  </a:moveTo>
                  <a:lnTo>
                    <a:pt x="62" y="0"/>
                  </a:lnTo>
                  <a:lnTo>
                    <a:pt x="0" y="62"/>
                  </a:lnTo>
                  <a:lnTo>
                    <a:pt x="63" y="125"/>
                  </a:lnTo>
                  <a:lnTo>
                    <a:pt x="262" y="125"/>
                  </a:lnTo>
                  <a:lnTo>
                    <a:pt x="324" y="63"/>
                  </a:lnTo>
                  <a:lnTo>
                    <a:pt x="261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86" name="Freeform 17"/>
            <p:cNvSpPr>
              <a:spLocks/>
            </p:cNvSpPr>
            <p:nvPr/>
          </p:nvSpPr>
          <p:spPr bwMode="auto">
            <a:xfrm>
              <a:off x="969" y="3207"/>
              <a:ext cx="126" cy="324"/>
            </a:xfrm>
            <a:custGeom>
              <a:avLst/>
              <a:gdLst>
                <a:gd name="T0" fmla="*/ 0 w 126"/>
                <a:gd name="T1" fmla="*/ 63 h 324"/>
                <a:gd name="T2" fmla="*/ 0 w 126"/>
                <a:gd name="T3" fmla="*/ 261 h 324"/>
                <a:gd name="T4" fmla="*/ 62 w 126"/>
                <a:gd name="T5" fmla="*/ 323 h 324"/>
                <a:gd name="T6" fmla="*/ 125 w 126"/>
                <a:gd name="T7" fmla="*/ 260 h 324"/>
                <a:gd name="T8" fmla="*/ 125 w 126"/>
                <a:gd name="T9" fmla="*/ 62 h 324"/>
                <a:gd name="T10" fmla="*/ 63 w 126"/>
                <a:gd name="T11" fmla="*/ 0 h 324"/>
                <a:gd name="T12" fmla="*/ 0 w 126"/>
                <a:gd name="T13" fmla="*/ 63 h 3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4"/>
                <a:gd name="T23" fmla="*/ 126 w 126"/>
                <a:gd name="T24" fmla="*/ 324 h 3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4">
                  <a:moveTo>
                    <a:pt x="0" y="63"/>
                  </a:moveTo>
                  <a:lnTo>
                    <a:pt x="0" y="261"/>
                  </a:lnTo>
                  <a:lnTo>
                    <a:pt x="62" y="323"/>
                  </a:lnTo>
                  <a:lnTo>
                    <a:pt x="125" y="260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87" name="Freeform 18"/>
            <p:cNvSpPr>
              <a:spLocks/>
            </p:cNvSpPr>
            <p:nvPr/>
          </p:nvSpPr>
          <p:spPr bwMode="auto">
            <a:xfrm>
              <a:off x="968" y="3560"/>
              <a:ext cx="126" cy="324"/>
            </a:xfrm>
            <a:custGeom>
              <a:avLst/>
              <a:gdLst>
                <a:gd name="T0" fmla="*/ 0 w 126"/>
                <a:gd name="T1" fmla="*/ 63 h 324"/>
                <a:gd name="T2" fmla="*/ 0 w 126"/>
                <a:gd name="T3" fmla="*/ 261 h 324"/>
                <a:gd name="T4" fmla="*/ 62 w 126"/>
                <a:gd name="T5" fmla="*/ 323 h 324"/>
                <a:gd name="T6" fmla="*/ 125 w 126"/>
                <a:gd name="T7" fmla="*/ 260 h 324"/>
                <a:gd name="T8" fmla="*/ 125 w 126"/>
                <a:gd name="T9" fmla="*/ 62 h 324"/>
                <a:gd name="T10" fmla="*/ 63 w 126"/>
                <a:gd name="T11" fmla="*/ 0 h 324"/>
                <a:gd name="T12" fmla="*/ 0 w 126"/>
                <a:gd name="T13" fmla="*/ 63 h 3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4"/>
                <a:gd name="T23" fmla="*/ 126 w 126"/>
                <a:gd name="T24" fmla="*/ 324 h 3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4">
                  <a:moveTo>
                    <a:pt x="0" y="63"/>
                  </a:moveTo>
                  <a:lnTo>
                    <a:pt x="0" y="261"/>
                  </a:lnTo>
                  <a:lnTo>
                    <a:pt x="62" y="323"/>
                  </a:lnTo>
                  <a:lnTo>
                    <a:pt x="125" y="260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29701" name="Group 19"/>
          <p:cNvGrpSpPr>
            <a:grpSpLocks/>
          </p:cNvGrpSpPr>
          <p:nvPr/>
        </p:nvGrpSpPr>
        <p:grpSpPr bwMode="auto">
          <a:xfrm>
            <a:off x="3384550" y="4973638"/>
            <a:ext cx="795338" cy="1308100"/>
            <a:chOff x="1172" y="3133"/>
            <a:chExt cx="501" cy="824"/>
          </a:xfrm>
        </p:grpSpPr>
        <p:sp>
          <p:nvSpPr>
            <p:cNvPr id="29774" name="Freeform 20"/>
            <p:cNvSpPr>
              <a:spLocks/>
            </p:cNvSpPr>
            <p:nvPr/>
          </p:nvSpPr>
          <p:spPr bwMode="auto">
            <a:xfrm>
              <a:off x="1173" y="3207"/>
              <a:ext cx="126" cy="325"/>
            </a:xfrm>
            <a:custGeom>
              <a:avLst/>
              <a:gdLst>
                <a:gd name="T0" fmla="*/ 0 w 126"/>
                <a:gd name="T1" fmla="*/ 63 h 325"/>
                <a:gd name="T2" fmla="*/ 0 w 126"/>
                <a:gd name="T3" fmla="*/ 262 h 325"/>
                <a:gd name="T4" fmla="*/ 62 w 126"/>
                <a:gd name="T5" fmla="*/ 324 h 325"/>
                <a:gd name="T6" fmla="*/ 125 w 126"/>
                <a:gd name="T7" fmla="*/ 261 h 325"/>
                <a:gd name="T8" fmla="*/ 125 w 126"/>
                <a:gd name="T9" fmla="*/ 62 h 325"/>
                <a:gd name="T10" fmla="*/ 63 w 126"/>
                <a:gd name="T11" fmla="*/ 0 h 325"/>
                <a:gd name="T12" fmla="*/ 0 w 126"/>
                <a:gd name="T13" fmla="*/ 63 h 3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5"/>
                <a:gd name="T23" fmla="*/ 126 w 126"/>
                <a:gd name="T24" fmla="*/ 325 h 3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5">
                  <a:moveTo>
                    <a:pt x="0" y="63"/>
                  </a:moveTo>
                  <a:lnTo>
                    <a:pt x="0" y="262"/>
                  </a:lnTo>
                  <a:lnTo>
                    <a:pt x="62" y="324"/>
                  </a:lnTo>
                  <a:lnTo>
                    <a:pt x="125" y="261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75" name="Freeform 21"/>
            <p:cNvSpPr>
              <a:spLocks/>
            </p:cNvSpPr>
            <p:nvPr/>
          </p:nvSpPr>
          <p:spPr bwMode="auto">
            <a:xfrm>
              <a:off x="1172" y="3560"/>
              <a:ext cx="126" cy="325"/>
            </a:xfrm>
            <a:custGeom>
              <a:avLst/>
              <a:gdLst>
                <a:gd name="T0" fmla="*/ 0 w 126"/>
                <a:gd name="T1" fmla="*/ 63 h 325"/>
                <a:gd name="T2" fmla="*/ 0 w 126"/>
                <a:gd name="T3" fmla="*/ 262 h 325"/>
                <a:gd name="T4" fmla="*/ 62 w 126"/>
                <a:gd name="T5" fmla="*/ 324 h 325"/>
                <a:gd name="T6" fmla="*/ 125 w 126"/>
                <a:gd name="T7" fmla="*/ 261 h 325"/>
                <a:gd name="T8" fmla="*/ 125 w 126"/>
                <a:gd name="T9" fmla="*/ 62 h 325"/>
                <a:gd name="T10" fmla="*/ 63 w 126"/>
                <a:gd name="T11" fmla="*/ 0 h 325"/>
                <a:gd name="T12" fmla="*/ 0 w 126"/>
                <a:gd name="T13" fmla="*/ 63 h 3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5"/>
                <a:gd name="T23" fmla="*/ 126 w 126"/>
                <a:gd name="T24" fmla="*/ 325 h 3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5">
                  <a:moveTo>
                    <a:pt x="0" y="63"/>
                  </a:moveTo>
                  <a:lnTo>
                    <a:pt x="0" y="262"/>
                  </a:lnTo>
                  <a:lnTo>
                    <a:pt x="62" y="324"/>
                  </a:lnTo>
                  <a:lnTo>
                    <a:pt x="125" y="261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76" name="Freeform 22"/>
            <p:cNvSpPr>
              <a:spLocks/>
            </p:cNvSpPr>
            <p:nvPr/>
          </p:nvSpPr>
          <p:spPr bwMode="auto">
            <a:xfrm>
              <a:off x="1258" y="3484"/>
              <a:ext cx="326" cy="127"/>
            </a:xfrm>
            <a:custGeom>
              <a:avLst/>
              <a:gdLst>
                <a:gd name="T0" fmla="*/ 262 w 326"/>
                <a:gd name="T1" fmla="*/ 0 h 127"/>
                <a:gd name="T2" fmla="*/ 62 w 326"/>
                <a:gd name="T3" fmla="*/ 0 h 127"/>
                <a:gd name="T4" fmla="*/ 0 w 326"/>
                <a:gd name="T5" fmla="*/ 63 h 127"/>
                <a:gd name="T6" fmla="*/ 63 w 326"/>
                <a:gd name="T7" fmla="*/ 126 h 127"/>
                <a:gd name="T8" fmla="*/ 263 w 326"/>
                <a:gd name="T9" fmla="*/ 126 h 127"/>
                <a:gd name="T10" fmla="*/ 325 w 326"/>
                <a:gd name="T11" fmla="*/ 63 h 127"/>
                <a:gd name="T12" fmla="*/ 262 w 326"/>
                <a:gd name="T13" fmla="*/ 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6"/>
                <a:gd name="T22" fmla="*/ 0 h 127"/>
                <a:gd name="T23" fmla="*/ 326 w 326"/>
                <a:gd name="T24" fmla="*/ 127 h 12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6" h="127">
                  <a:moveTo>
                    <a:pt x="262" y="0"/>
                  </a:moveTo>
                  <a:lnTo>
                    <a:pt x="62" y="0"/>
                  </a:lnTo>
                  <a:lnTo>
                    <a:pt x="0" y="63"/>
                  </a:lnTo>
                  <a:lnTo>
                    <a:pt x="63" y="126"/>
                  </a:lnTo>
                  <a:lnTo>
                    <a:pt x="263" y="126"/>
                  </a:lnTo>
                  <a:lnTo>
                    <a:pt x="325" y="63"/>
                  </a:lnTo>
                  <a:lnTo>
                    <a:pt x="262" y="0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77" name="Freeform 23"/>
            <p:cNvSpPr>
              <a:spLocks/>
            </p:cNvSpPr>
            <p:nvPr/>
          </p:nvSpPr>
          <p:spPr bwMode="auto">
            <a:xfrm>
              <a:off x="1258" y="3831"/>
              <a:ext cx="325" cy="126"/>
            </a:xfrm>
            <a:custGeom>
              <a:avLst/>
              <a:gdLst>
                <a:gd name="T0" fmla="*/ 261 w 325"/>
                <a:gd name="T1" fmla="*/ 0 h 126"/>
                <a:gd name="T2" fmla="*/ 62 w 325"/>
                <a:gd name="T3" fmla="*/ 0 h 126"/>
                <a:gd name="T4" fmla="*/ 0 w 325"/>
                <a:gd name="T5" fmla="*/ 62 h 126"/>
                <a:gd name="T6" fmla="*/ 63 w 325"/>
                <a:gd name="T7" fmla="*/ 125 h 126"/>
                <a:gd name="T8" fmla="*/ 262 w 325"/>
                <a:gd name="T9" fmla="*/ 125 h 126"/>
                <a:gd name="T10" fmla="*/ 324 w 325"/>
                <a:gd name="T11" fmla="*/ 63 h 126"/>
                <a:gd name="T12" fmla="*/ 261 w 325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5"/>
                <a:gd name="T22" fmla="*/ 0 h 126"/>
                <a:gd name="T23" fmla="*/ 325 w 325"/>
                <a:gd name="T24" fmla="*/ 126 h 1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5" h="126">
                  <a:moveTo>
                    <a:pt x="261" y="0"/>
                  </a:moveTo>
                  <a:lnTo>
                    <a:pt x="62" y="0"/>
                  </a:lnTo>
                  <a:lnTo>
                    <a:pt x="0" y="62"/>
                  </a:lnTo>
                  <a:lnTo>
                    <a:pt x="63" y="125"/>
                  </a:lnTo>
                  <a:lnTo>
                    <a:pt x="262" y="125"/>
                  </a:lnTo>
                  <a:lnTo>
                    <a:pt x="324" y="63"/>
                  </a:lnTo>
                  <a:lnTo>
                    <a:pt x="261" y="0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78" name="Freeform 24"/>
            <p:cNvSpPr>
              <a:spLocks/>
            </p:cNvSpPr>
            <p:nvPr/>
          </p:nvSpPr>
          <p:spPr bwMode="auto">
            <a:xfrm>
              <a:off x="1258" y="3133"/>
              <a:ext cx="325" cy="126"/>
            </a:xfrm>
            <a:custGeom>
              <a:avLst/>
              <a:gdLst>
                <a:gd name="T0" fmla="*/ 261 w 325"/>
                <a:gd name="T1" fmla="*/ 0 h 126"/>
                <a:gd name="T2" fmla="*/ 62 w 325"/>
                <a:gd name="T3" fmla="*/ 0 h 126"/>
                <a:gd name="T4" fmla="*/ 0 w 325"/>
                <a:gd name="T5" fmla="*/ 62 h 126"/>
                <a:gd name="T6" fmla="*/ 63 w 325"/>
                <a:gd name="T7" fmla="*/ 125 h 126"/>
                <a:gd name="T8" fmla="*/ 262 w 325"/>
                <a:gd name="T9" fmla="*/ 125 h 126"/>
                <a:gd name="T10" fmla="*/ 324 w 325"/>
                <a:gd name="T11" fmla="*/ 63 h 126"/>
                <a:gd name="T12" fmla="*/ 261 w 325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5"/>
                <a:gd name="T22" fmla="*/ 0 h 126"/>
                <a:gd name="T23" fmla="*/ 325 w 325"/>
                <a:gd name="T24" fmla="*/ 126 h 1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5" h="126">
                  <a:moveTo>
                    <a:pt x="261" y="0"/>
                  </a:moveTo>
                  <a:lnTo>
                    <a:pt x="62" y="0"/>
                  </a:lnTo>
                  <a:lnTo>
                    <a:pt x="0" y="62"/>
                  </a:lnTo>
                  <a:lnTo>
                    <a:pt x="63" y="125"/>
                  </a:lnTo>
                  <a:lnTo>
                    <a:pt x="262" y="125"/>
                  </a:lnTo>
                  <a:lnTo>
                    <a:pt x="324" y="63"/>
                  </a:lnTo>
                  <a:lnTo>
                    <a:pt x="261" y="0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79" name="Freeform 25"/>
            <p:cNvSpPr>
              <a:spLocks/>
            </p:cNvSpPr>
            <p:nvPr/>
          </p:nvSpPr>
          <p:spPr bwMode="auto">
            <a:xfrm>
              <a:off x="1547" y="3207"/>
              <a:ext cx="126" cy="324"/>
            </a:xfrm>
            <a:custGeom>
              <a:avLst/>
              <a:gdLst>
                <a:gd name="T0" fmla="*/ 0 w 126"/>
                <a:gd name="T1" fmla="*/ 63 h 324"/>
                <a:gd name="T2" fmla="*/ 0 w 126"/>
                <a:gd name="T3" fmla="*/ 261 h 324"/>
                <a:gd name="T4" fmla="*/ 62 w 126"/>
                <a:gd name="T5" fmla="*/ 323 h 324"/>
                <a:gd name="T6" fmla="*/ 125 w 126"/>
                <a:gd name="T7" fmla="*/ 260 h 324"/>
                <a:gd name="T8" fmla="*/ 125 w 126"/>
                <a:gd name="T9" fmla="*/ 62 h 324"/>
                <a:gd name="T10" fmla="*/ 63 w 126"/>
                <a:gd name="T11" fmla="*/ 0 h 324"/>
                <a:gd name="T12" fmla="*/ 0 w 126"/>
                <a:gd name="T13" fmla="*/ 63 h 3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4"/>
                <a:gd name="T23" fmla="*/ 126 w 126"/>
                <a:gd name="T24" fmla="*/ 324 h 3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4">
                  <a:moveTo>
                    <a:pt x="0" y="63"/>
                  </a:moveTo>
                  <a:lnTo>
                    <a:pt x="0" y="261"/>
                  </a:lnTo>
                  <a:lnTo>
                    <a:pt x="62" y="323"/>
                  </a:lnTo>
                  <a:lnTo>
                    <a:pt x="125" y="260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80" name="Freeform 26"/>
            <p:cNvSpPr>
              <a:spLocks/>
            </p:cNvSpPr>
            <p:nvPr/>
          </p:nvSpPr>
          <p:spPr bwMode="auto">
            <a:xfrm>
              <a:off x="1546" y="3560"/>
              <a:ext cx="126" cy="324"/>
            </a:xfrm>
            <a:custGeom>
              <a:avLst/>
              <a:gdLst>
                <a:gd name="T0" fmla="*/ 0 w 126"/>
                <a:gd name="T1" fmla="*/ 63 h 324"/>
                <a:gd name="T2" fmla="*/ 0 w 126"/>
                <a:gd name="T3" fmla="*/ 261 h 324"/>
                <a:gd name="T4" fmla="*/ 62 w 126"/>
                <a:gd name="T5" fmla="*/ 323 h 324"/>
                <a:gd name="T6" fmla="*/ 125 w 126"/>
                <a:gd name="T7" fmla="*/ 260 h 324"/>
                <a:gd name="T8" fmla="*/ 125 w 126"/>
                <a:gd name="T9" fmla="*/ 62 h 324"/>
                <a:gd name="T10" fmla="*/ 63 w 126"/>
                <a:gd name="T11" fmla="*/ 0 h 324"/>
                <a:gd name="T12" fmla="*/ 0 w 126"/>
                <a:gd name="T13" fmla="*/ 63 h 3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4"/>
                <a:gd name="T23" fmla="*/ 126 w 126"/>
                <a:gd name="T24" fmla="*/ 324 h 3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4">
                  <a:moveTo>
                    <a:pt x="0" y="63"/>
                  </a:moveTo>
                  <a:lnTo>
                    <a:pt x="0" y="261"/>
                  </a:lnTo>
                  <a:lnTo>
                    <a:pt x="62" y="323"/>
                  </a:lnTo>
                  <a:lnTo>
                    <a:pt x="125" y="260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29702" name="Group 27"/>
          <p:cNvGrpSpPr>
            <a:grpSpLocks/>
          </p:cNvGrpSpPr>
          <p:nvPr/>
        </p:nvGrpSpPr>
        <p:grpSpPr bwMode="auto">
          <a:xfrm>
            <a:off x="4298950" y="4973638"/>
            <a:ext cx="795338" cy="1308100"/>
            <a:chOff x="1748" y="3133"/>
            <a:chExt cx="501" cy="824"/>
          </a:xfrm>
        </p:grpSpPr>
        <p:sp>
          <p:nvSpPr>
            <p:cNvPr id="29767" name="Freeform 28"/>
            <p:cNvSpPr>
              <a:spLocks/>
            </p:cNvSpPr>
            <p:nvPr/>
          </p:nvSpPr>
          <p:spPr bwMode="auto">
            <a:xfrm>
              <a:off x="1749" y="3207"/>
              <a:ext cx="126" cy="325"/>
            </a:xfrm>
            <a:custGeom>
              <a:avLst/>
              <a:gdLst>
                <a:gd name="T0" fmla="*/ 0 w 126"/>
                <a:gd name="T1" fmla="*/ 63 h 325"/>
                <a:gd name="T2" fmla="*/ 0 w 126"/>
                <a:gd name="T3" fmla="*/ 262 h 325"/>
                <a:gd name="T4" fmla="*/ 62 w 126"/>
                <a:gd name="T5" fmla="*/ 324 h 325"/>
                <a:gd name="T6" fmla="*/ 125 w 126"/>
                <a:gd name="T7" fmla="*/ 261 h 325"/>
                <a:gd name="T8" fmla="*/ 125 w 126"/>
                <a:gd name="T9" fmla="*/ 62 h 325"/>
                <a:gd name="T10" fmla="*/ 63 w 126"/>
                <a:gd name="T11" fmla="*/ 0 h 325"/>
                <a:gd name="T12" fmla="*/ 0 w 126"/>
                <a:gd name="T13" fmla="*/ 63 h 3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5"/>
                <a:gd name="T23" fmla="*/ 126 w 126"/>
                <a:gd name="T24" fmla="*/ 325 h 3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5">
                  <a:moveTo>
                    <a:pt x="0" y="63"/>
                  </a:moveTo>
                  <a:lnTo>
                    <a:pt x="0" y="262"/>
                  </a:lnTo>
                  <a:lnTo>
                    <a:pt x="62" y="324"/>
                  </a:lnTo>
                  <a:lnTo>
                    <a:pt x="125" y="261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68" name="Freeform 29"/>
            <p:cNvSpPr>
              <a:spLocks/>
            </p:cNvSpPr>
            <p:nvPr/>
          </p:nvSpPr>
          <p:spPr bwMode="auto">
            <a:xfrm>
              <a:off x="1748" y="3560"/>
              <a:ext cx="126" cy="325"/>
            </a:xfrm>
            <a:custGeom>
              <a:avLst/>
              <a:gdLst>
                <a:gd name="T0" fmla="*/ 0 w 126"/>
                <a:gd name="T1" fmla="*/ 63 h 325"/>
                <a:gd name="T2" fmla="*/ 0 w 126"/>
                <a:gd name="T3" fmla="*/ 262 h 325"/>
                <a:gd name="T4" fmla="*/ 62 w 126"/>
                <a:gd name="T5" fmla="*/ 324 h 325"/>
                <a:gd name="T6" fmla="*/ 125 w 126"/>
                <a:gd name="T7" fmla="*/ 261 h 325"/>
                <a:gd name="T8" fmla="*/ 125 w 126"/>
                <a:gd name="T9" fmla="*/ 62 h 325"/>
                <a:gd name="T10" fmla="*/ 63 w 126"/>
                <a:gd name="T11" fmla="*/ 0 h 325"/>
                <a:gd name="T12" fmla="*/ 0 w 126"/>
                <a:gd name="T13" fmla="*/ 63 h 3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5"/>
                <a:gd name="T23" fmla="*/ 126 w 126"/>
                <a:gd name="T24" fmla="*/ 325 h 3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5">
                  <a:moveTo>
                    <a:pt x="0" y="63"/>
                  </a:moveTo>
                  <a:lnTo>
                    <a:pt x="0" y="262"/>
                  </a:lnTo>
                  <a:lnTo>
                    <a:pt x="62" y="324"/>
                  </a:lnTo>
                  <a:lnTo>
                    <a:pt x="125" y="261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69" name="Freeform 30"/>
            <p:cNvSpPr>
              <a:spLocks/>
            </p:cNvSpPr>
            <p:nvPr/>
          </p:nvSpPr>
          <p:spPr bwMode="auto">
            <a:xfrm>
              <a:off x="1834" y="3484"/>
              <a:ext cx="326" cy="127"/>
            </a:xfrm>
            <a:custGeom>
              <a:avLst/>
              <a:gdLst>
                <a:gd name="T0" fmla="*/ 262 w 326"/>
                <a:gd name="T1" fmla="*/ 0 h 127"/>
                <a:gd name="T2" fmla="*/ 62 w 326"/>
                <a:gd name="T3" fmla="*/ 0 h 127"/>
                <a:gd name="T4" fmla="*/ 0 w 326"/>
                <a:gd name="T5" fmla="*/ 63 h 127"/>
                <a:gd name="T6" fmla="*/ 63 w 326"/>
                <a:gd name="T7" fmla="*/ 126 h 127"/>
                <a:gd name="T8" fmla="*/ 263 w 326"/>
                <a:gd name="T9" fmla="*/ 126 h 127"/>
                <a:gd name="T10" fmla="*/ 325 w 326"/>
                <a:gd name="T11" fmla="*/ 63 h 127"/>
                <a:gd name="T12" fmla="*/ 262 w 326"/>
                <a:gd name="T13" fmla="*/ 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6"/>
                <a:gd name="T22" fmla="*/ 0 h 127"/>
                <a:gd name="T23" fmla="*/ 326 w 326"/>
                <a:gd name="T24" fmla="*/ 127 h 12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6" h="127">
                  <a:moveTo>
                    <a:pt x="262" y="0"/>
                  </a:moveTo>
                  <a:lnTo>
                    <a:pt x="62" y="0"/>
                  </a:lnTo>
                  <a:lnTo>
                    <a:pt x="0" y="63"/>
                  </a:lnTo>
                  <a:lnTo>
                    <a:pt x="63" y="126"/>
                  </a:lnTo>
                  <a:lnTo>
                    <a:pt x="263" y="126"/>
                  </a:lnTo>
                  <a:lnTo>
                    <a:pt x="325" y="63"/>
                  </a:lnTo>
                  <a:lnTo>
                    <a:pt x="262" y="0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70" name="Freeform 31"/>
            <p:cNvSpPr>
              <a:spLocks/>
            </p:cNvSpPr>
            <p:nvPr/>
          </p:nvSpPr>
          <p:spPr bwMode="auto">
            <a:xfrm>
              <a:off x="1834" y="3831"/>
              <a:ext cx="325" cy="126"/>
            </a:xfrm>
            <a:custGeom>
              <a:avLst/>
              <a:gdLst>
                <a:gd name="T0" fmla="*/ 261 w 325"/>
                <a:gd name="T1" fmla="*/ 0 h 126"/>
                <a:gd name="T2" fmla="*/ 62 w 325"/>
                <a:gd name="T3" fmla="*/ 0 h 126"/>
                <a:gd name="T4" fmla="*/ 0 w 325"/>
                <a:gd name="T5" fmla="*/ 62 h 126"/>
                <a:gd name="T6" fmla="*/ 63 w 325"/>
                <a:gd name="T7" fmla="*/ 125 h 126"/>
                <a:gd name="T8" fmla="*/ 262 w 325"/>
                <a:gd name="T9" fmla="*/ 125 h 126"/>
                <a:gd name="T10" fmla="*/ 324 w 325"/>
                <a:gd name="T11" fmla="*/ 63 h 126"/>
                <a:gd name="T12" fmla="*/ 261 w 325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5"/>
                <a:gd name="T22" fmla="*/ 0 h 126"/>
                <a:gd name="T23" fmla="*/ 325 w 325"/>
                <a:gd name="T24" fmla="*/ 126 h 1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5" h="126">
                  <a:moveTo>
                    <a:pt x="261" y="0"/>
                  </a:moveTo>
                  <a:lnTo>
                    <a:pt x="62" y="0"/>
                  </a:lnTo>
                  <a:lnTo>
                    <a:pt x="0" y="62"/>
                  </a:lnTo>
                  <a:lnTo>
                    <a:pt x="63" y="125"/>
                  </a:lnTo>
                  <a:lnTo>
                    <a:pt x="262" y="125"/>
                  </a:lnTo>
                  <a:lnTo>
                    <a:pt x="324" y="63"/>
                  </a:lnTo>
                  <a:lnTo>
                    <a:pt x="261" y="0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71" name="Freeform 32"/>
            <p:cNvSpPr>
              <a:spLocks/>
            </p:cNvSpPr>
            <p:nvPr/>
          </p:nvSpPr>
          <p:spPr bwMode="auto">
            <a:xfrm>
              <a:off x="1834" y="3133"/>
              <a:ext cx="325" cy="126"/>
            </a:xfrm>
            <a:custGeom>
              <a:avLst/>
              <a:gdLst>
                <a:gd name="T0" fmla="*/ 261 w 325"/>
                <a:gd name="T1" fmla="*/ 0 h 126"/>
                <a:gd name="T2" fmla="*/ 62 w 325"/>
                <a:gd name="T3" fmla="*/ 0 h 126"/>
                <a:gd name="T4" fmla="*/ 0 w 325"/>
                <a:gd name="T5" fmla="*/ 62 h 126"/>
                <a:gd name="T6" fmla="*/ 63 w 325"/>
                <a:gd name="T7" fmla="*/ 125 h 126"/>
                <a:gd name="T8" fmla="*/ 262 w 325"/>
                <a:gd name="T9" fmla="*/ 125 h 126"/>
                <a:gd name="T10" fmla="*/ 324 w 325"/>
                <a:gd name="T11" fmla="*/ 63 h 126"/>
                <a:gd name="T12" fmla="*/ 261 w 325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5"/>
                <a:gd name="T22" fmla="*/ 0 h 126"/>
                <a:gd name="T23" fmla="*/ 325 w 325"/>
                <a:gd name="T24" fmla="*/ 126 h 1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5" h="126">
                  <a:moveTo>
                    <a:pt x="261" y="0"/>
                  </a:moveTo>
                  <a:lnTo>
                    <a:pt x="62" y="0"/>
                  </a:lnTo>
                  <a:lnTo>
                    <a:pt x="0" y="62"/>
                  </a:lnTo>
                  <a:lnTo>
                    <a:pt x="63" y="125"/>
                  </a:lnTo>
                  <a:lnTo>
                    <a:pt x="262" y="125"/>
                  </a:lnTo>
                  <a:lnTo>
                    <a:pt x="324" y="63"/>
                  </a:lnTo>
                  <a:lnTo>
                    <a:pt x="261" y="0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72" name="Freeform 33"/>
            <p:cNvSpPr>
              <a:spLocks/>
            </p:cNvSpPr>
            <p:nvPr/>
          </p:nvSpPr>
          <p:spPr bwMode="auto">
            <a:xfrm>
              <a:off x="2123" y="3207"/>
              <a:ext cx="126" cy="324"/>
            </a:xfrm>
            <a:custGeom>
              <a:avLst/>
              <a:gdLst>
                <a:gd name="T0" fmla="*/ 0 w 126"/>
                <a:gd name="T1" fmla="*/ 63 h 324"/>
                <a:gd name="T2" fmla="*/ 0 w 126"/>
                <a:gd name="T3" fmla="*/ 261 h 324"/>
                <a:gd name="T4" fmla="*/ 62 w 126"/>
                <a:gd name="T5" fmla="*/ 323 h 324"/>
                <a:gd name="T6" fmla="*/ 125 w 126"/>
                <a:gd name="T7" fmla="*/ 260 h 324"/>
                <a:gd name="T8" fmla="*/ 125 w 126"/>
                <a:gd name="T9" fmla="*/ 62 h 324"/>
                <a:gd name="T10" fmla="*/ 63 w 126"/>
                <a:gd name="T11" fmla="*/ 0 h 324"/>
                <a:gd name="T12" fmla="*/ 0 w 126"/>
                <a:gd name="T13" fmla="*/ 63 h 3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4"/>
                <a:gd name="T23" fmla="*/ 126 w 126"/>
                <a:gd name="T24" fmla="*/ 324 h 3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4">
                  <a:moveTo>
                    <a:pt x="0" y="63"/>
                  </a:moveTo>
                  <a:lnTo>
                    <a:pt x="0" y="261"/>
                  </a:lnTo>
                  <a:lnTo>
                    <a:pt x="62" y="323"/>
                  </a:lnTo>
                  <a:lnTo>
                    <a:pt x="125" y="260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73" name="Freeform 34"/>
            <p:cNvSpPr>
              <a:spLocks/>
            </p:cNvSpPr>
            <p:nvPr/>
          </p:nvSpPr>
          <p:spPr bwMode="auto">
            <a:xfrm>
              <a:off x="2122" y="3560"/>
              <a:ext cx="126" cy="324"/>
            </a:xfrm>
            <a:custGeom>
              <a:avLst/>
              <a:gdLst>
                <a:gd name="T0" fmla="*/ 0 w 126"/>
                <a:gd name="T1" fmla="*/ 63 h 324"/>
                <a:gd name="T2" fmla="*/ 0 w 126"/>
                <a:gd name="T3" fmla="*/ 261 h 324"/>
                <a:gd name="T4" fmla="*/ 62 w 126"/>
                <a:gd name="T5" fmla="*/ 323 h 324"/>
                <a:gd name="T6" fmla="*/ 125 w 126"/>
                <a:gd name="T7" fmla="*/ 260 h 324"/>
                <a:gd name="T8" fmla="*/ 125 w 126"/>
                <a:gd name="T9" fmla="*/ 62 h 324"/>
                <a:gd name="T10" fmla="*/ 63 w 126"/>
                <a:gd name="T11" fmla="*/ 0 h 324"/>
                <a:gd name="T12" fmla="*/ 0 w 126"/>
                <a:gd name="T13" fmla="*/ 63 h 3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4"/>
                <a:gd name="T23" fmla="*/ 126 w 126"/>
                <a:gd name="T24" fmla="*/ 324 h 3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4">
                  <a:moveTo>
                    <a:pt x="0" y="63"/>
                  </a:moveTo>
                  <a:lnTo>
                    <a:pt x="0" y="261"/>
                  </a:lnTo>
                  <a:lnTo>
                    <a:pt x="62" y="323"/>
                  </a:lnTo>
                  <a:lnTo>
                    <a:pt x="125" y="260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29703" name="Group 35"/>
          <p:cNvGrpSpPr>
            <a:grpSpLocks/>
          </p:cNvGrpSpPr>
          <p:nvPr/>
        </p:nvGrpSpPr>
        <p:grpSpPr bwMode="auto">
          <a:xfrm>
            <a:off x="5218114" y="4973638"/>
            <a:ext cx="795337" cy="1308100"/>
            <a:chOff x="2327" y="3133"/>
            <a:chExt cx="501" cy="824"/>
          </a:xfrm>
        </p:grpSpPr>
        <p:sp>
          <p:nvSpPr>
            <p:cNvPr id="29760" name="Freeform 36"/>
            <p:cNvSpPr>
              <a:spLocks/>
            </p:cNvSpPr>
            <p:nvPr/>
          </p:nvSpPr>
          <p:spPr bwMode="auto">
            <a:xfrm>
              <a:off x="2328" y="3207"/>
              <a:ext cx="126" cy="325"/>
            </a:xfrm>
            <a:custGeom>
              <a:avLst/>
              <a:gdLst>
                <a:gd name="T0" fmla="*/ 0 w 126"/>
                <a:gd name="T1" fmla="*/ 63 h 325"/>
                <a:gd name="T2" fmla="*/ 0 w 126"/>
                <a:gd name="T3" fmla="*/ 262 h 325"/>
                <a:gd name="T4" fmla="*/ 62 w 126"/>
                <a:gd name="T5" fmla="*/ 324 h 325"/>
                <a:gd name="T6" fmla="*/ 125 w 126"/>
                <a:gd name="T7" fmla="*/ 261 h 325"/>
                <a:gd name="T8" fmla="*/ 125 w 126"/>
                <a:gd name="T9" fmla="*/ 62 h 325"/>
                <a:gd name="T10" fmla="*/ 63 w 126"/>
                <a:gd name="T11" fmla="*/ 0 h 325"/>
                <a:gd name="T12" fmla="*/ 0 w 126"/>
                <a:gd name="T13" fmla="*/ 63 h 3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5"/>
                <a:gd name="T23" fmla="*/ 126 w 126"/>
                <a:gd name="T24" fmla="*/ 325 h 3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5">
                  <a:moveTo>
                    <a:pt x="0" y="63"/>
                  </a:moveTo>
                  <a:lnTo>
                    <a:pt x="0" y="262"/>
                  </a:lnTo>
                  <a:lnTo>
                    <a:pt x="62" y="324"/>
                  </a:lnTo>
                  <a:lnTo>
                    <a:pt x="125" y="261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61" name="Freeform 37"/>
            <p:cNvSpPr>
              <a:spLocks/>
            </p:cNvSpPr>
            <p:nvPr/>
          </p:nvSpPr>
          <p:spPr bwMode="auto">
            <a:xfrm>
              <a:off x="2327" y="3560"/>
              <a:ext cx="126" cy="325"/>
            </a:xfrm>
            <a:custGeom>
              <a:avLst/>
              <a:gdLst>
                <a:gd name="T0" fmla="*/ 0 w 126"/>
                <a:gd name="T1" fmla="*/ 63 h 325"/>
                <a:gd name="T2" fmla="*/ 0 w 126"/>
                <a:gd name="T3" fmla="*/ 262 h 325"/>
                <a:gd name="T4" fmla="*/ 62 w 126"/>
                <a:gd name="T5" fmla="*/ 324 h 325"/>
                <a:gd name="T6" fmla="*/ 125 w 126"/>
                <a:gd name="T7" fmla="*/ 261 h 325"/>
                <a:gd name="T8" fmla="*/ 125 w 126"/>
                <a:gd name="T9" fmla="*/ 62 h 325"/>
                <a:gd name="T10" fmla="*/ 63 w 126"/>
                <a:gd name="T11" fmla="*/ 0 h 325"/>
                <a:gd name="T12" fmla="*/ 0 w 126"/>
                <a:gd name="T13" fmla="*/ 63 h 3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5"/>
                <a:gd name="T23" fmla="*/ 126 w 126"/>
                <a:gd name="T24" fmla="*/ 325 h 3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5">
                  <a:moveTo>
                    <a:pt x="0" y="63"/>
                  </a:moveTo>
                  <a:lnTo>
                    <a:pt x="0" y="262"/>
                  </a:lnTo>
                  <a:lnTo>
                    <a:pt x="62" y="324"/>
                  </a:lnTo>
                  <a:lnTo>
                    <a:pt x="125" y="261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62" name="Freeform 38"/>
            <p:cNvSpPr>
              <a:spLocks/>
            </p:cNvSpPr>
            <p:nvPr/>
          </p:nvSpPr>
          <p:spPr bwMode="auto">
            <a:xfrm>
              <a:off x="2413" y="3484"/>
              <a:ext cx="326" cy="127"/>
            </a:xfrm>
            <a:custGeom>
              <a:avLst/>
              <a:gdLst>
                <a:gd name="T0" fmla="*/ 262 w 326"/>
                <a:gd name="T1" fmla="*/ 0 h 127"/>
                <a:gd name="T2" fmla="*/ 62 w 326"/>
                <a:gd name="T3" fmla="*/ 0 h 127"/>
                <a:gd name="T4" fmla="*/ 0 w 326"/>
                <a:gd name="T5" fmla="*/ 63 h 127"/>
                <a:gd name="T6" fmla="*/ 63 w 326"/>
                <a:gd name="T7" fmla="*/ 126 h 127"/>
                <a:gd name="T8" fmla="*/ 263 w 326"/>
                <a:gd name="T9" fmla="*/ 126 h 127"/>
                <a:gd name="T10" fmla="*/ 325 w 326"/>
                <a:gd name="T11" fmla="*/ 63 h 127"/>
                <a:gd name="T12" fmla="*/ 262 w 326"/>
                <a:gd name="T13" fmla="*/ 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6"/>
                <a:gd name="T22" fmla="*/ 0 h 127"/>
                <a:gd name="T23" fmla="*/ 326 w 326"/>
                <a:gd name="T24" fmla="*/ 127 h 12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6" h="127">
                  <a:moveTo>
                    <a:pt x="262" y="0"/>
                  </a:moveTo>
                  <a:lnTo>
                    <a:pt x="62" y="0"/>
                  </a:lnTo>
                  <a:lnTo>
                    <a:pt x="0" y="63"/>
                  </a:lnTo>
                  <a:lnTo>
                    <a:pt x="63" y="126"/>
                  </a:lnTo>
                  <a:lnTo>
                    <a:pt x="263" y="126"/>
                  </a:lnTo>
                  <a:lnTo>
                    <a:pt x="325" y="63"/>
                  </a:lnTo>
                  <a:lnTo>
                    <a:pt x="262" y="0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63" name="Freeform 39"/>
            <p:cNvSpPr>
              <a:spLocks/>
            </p:cNvSpPr>
            <p:nvPr/>
          </p:nvSpPr>
          <p:spPr bwMode="auto">
            <a:xfrm>
              <a:off x="2413" y="3831"/>
              <a:ext cx="325" cy="126"/>
            </a:xfrm>
            <a:custGeom>
              <a:avLst/>
              <a:gdLst>
                <a:gd name="T0" fmla="*/ 261 w 325"/>
                <a:gd name="T1" fmla="*/ 0 h 126"/>
                <a:gd name="T2" fmla="*/ 62 w 325"/>
                <a:gd name="T3" fmla="*/ 0 h 126"/>
                <a:gd name="T4" fmla="*/ 0 w 325"/>
                <a:gd name="T5" fmla="*/ 62 h 126"/>
                <a:gd name="T6" fmla="*/ 63 w 325"/>
                <a:gd name="T7" fmla="*/ 125 h 126"/>
                <a:gd name="T8" fmla="*/ 262 w 325"/>
                <a:gd name="T9" fmla="*/ 125 h 126"/>
                <a:gd name="T10" fmla="*/ 324 w 325"/>
                <a:gd name="T11" fmla="*/ 63 h 126"/>
                <a:gd name="T12" fmla="*/ 261 w 325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5"/>
                <a:gd name="T22" fmla="*/ 0 h 126"/>
                <a:gd name="T23" fmla="*/ 325 w 325"/>
                <a:gd name="T24" fmla="*/ 126 h 1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5" h="126">
                  <a:moveTo>
                    <a:pt x="261" y="0"/>
                  </a:moveTo>
                  <a:lnTo>
                    <a:pt x="62" y="0"/>
                  </a:lnTo>
                  <a:lnTo>
                    <a:pt x="0" y="62"/>
                  </a:lnTo>
                  <a:lnTo>
                    <a:pt x="63" y="125"/>
                  </a:lnTo>
                  <a:lnTo>
                    <a:pt x="262" y="125"/>
                  </a:lnTo>
                  <a:lnTo>
                    <a:pt x="324" y="63"/>
                  </a:lnTo>
                  <a:lnTo>
                    <a:pt x="261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64" name="Freeform 40"/>
            <p:cNvSpPr>
              <a:spLocks/>
            </p:cNvSpPr>
            <p:nvPr/>
          </p:nvSpPr>
          <p:spPr bwMode="auto">
            <a:xfrm>
              <a:off x="2413" y="3133"/>
              <a:ext cx="325" cy="126"/>
            </a:xfrm>
            <a:custGeom>
              <a:avLst/>
              <a:gdLst>
                <a:gd name="T0" fmla="*/ 261 w 325"/>
                <a:gd name="T1" fmla="*/ 0 h 126"/>
                <a:gd name="T2" fmla="*/ 62 w 325"/>
                <a:gd name="T3" fmla="*/ 0 h 126"/>
                <a:gd name="T4" fmla="*/ 0 w 325"/>
                <a:gd name="T5" fmla="*/ 62 h 126"/>
                <a:gd name="T6" fmla="*/ 63 w 325"/>
                <a:gd name="T7" fmla="*/ 125 h 126"/>
                <a:gd name="T8" fmla="*/ 262 w 325"/>
                <a:gd name="T9" fmla="*/ 125 h 126"/>
                <a:gd name="T10" fmla="*/ 324 w 325"/>
                <a:gd name="T11" fmla="*/ 63 h 126"/>
                <a:gd name="T12" fmla="*/ 261 w 325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5"/>
                <a:gd name="T22" fmla="*/ 0 h 126"/>
                <a:gd name="T23" fmla="*/ 325 w 325"/>
                <a:gd name="T24" fmla="*/ 126 h 1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5" h="126">
                  <a:moveTo>
                    <a:pt x="261" y="0"/>
                  </a:moveTo>
                  <a:lnTo>
                    <a:pt x="62" y="0"/>
                  </a:lnTo>
                  <a:lnTo>
                    <a:pt x="0" y="62"/>
                  </a:lnTo>
                  <a:lnTo>
                    <a:pt x="63" y="125"/>
                  </a:lnTo>
                  <a:lnTo>
                    <a:pt x="262" y="125"/>
                  </a:lnTo>
                  <a:lnTo>
                    <a:pt x="324" y="63"/>
                  </a:lnTo>
                  <a:lnTo>
                    <a:pt x="261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65" name="Freeform 41"/>
            <p:cNvSpPr>
              <a:spLocks/>
            </p:cNvSpPr>
            <p:nvPr/>
          </p:nvSpPr>
          <p:spPr bwMode="auto">
            <a:xfrm>
              <a:off x="2702" y="3207"/>
              <a:ext cx="126" cy="324"/>
            </a:xfrm>
            <a:custGeom>
              <a:avLst/>
              <a:gdLst>
                <a:gd name="T0" fmla="*/ 0 w 126"/>
                <a:gd name="T1" fmla="*/ 63 h 324"/>
                <a:gd name="T2" fmla="*/ 0 w 126"/>
                <a:gd name="T3" fmla="*/ 261 h 324"/>
                <a:gd name="T4" fmla="*/ 62 w 126"/>
                <a:gd name="T5" fmla="*/ 323 h 324"/>
                <a:gd name="T6" fmla="*/ 125 w 126"/>
                <a:gd name="T7" fmla="*/ 260 h 324"/>
                <a:gd name="T8" fmla="*/ 125 w 126"/>
                <a:gd name="T9" fmla="*/ 62 h 324"/>
                <a:gd name="T10" fmla="*/ 63 w 126"/>
                <a:gd name="T11" fmla="*/ 0 h 324"/>
                <a:gd name="T12" fmla="*/ 0 w 126"/>
                <a:gd name="T13" fmla="*/ 63 h 3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4"/>
                <a:gd name="T23" fmla="*/ 126 w 126"/>
                <a:gd name="T24" fmla="*/ 324 h 3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4">
                  <a:moveTo>
                    <a:pt x="0" y="63"/>
                  </a:moveTo>
                  <a:lnTo>
                    <a:pt x="0" y="261"/>
                  </a:lnTo>
                  <a:lnTo>
                    <a:pt x="62" y="323"/>
                  </a:lnTo>
                  <a:lnTo>
                    <a:pt x="125" y="260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66" name="Freeform 42"/>
            <p:cNvSpPr>
              <a:spLocks/>
            </p:cNvSpPr>
            <p:nvPr/>
          </p:nvSpPr>
          <p:spPr bwMode="auto">
            <a:xfrm>
              <a:off x="2701" y="3560"/>
              <a:ext cx="126" cy="324"/>
            </a:xfrm>
            <a:custGeom>
              <a:avLst/>
              <a:gdLst>
                <a:gd name="T0" fmla="*/ 0 w 126"/>
                <a:gd name="T1" fmla="*/ 63 h 324"/>
                <a:gd name="T2" fmla="*/ 0 w 126"/>
                <a:gd name="T3" fmla="*/ 261 h 324"/>
                <a:gd name="T4" fmla="*/ 62 w 126"/>
                <a:gd name="T5" fmla="*/ 323 h 324"/>
                <a:gd name="T6" fmla="*/ 125 w 126"/>
                <a:gd name="T7" fmla="*/ 260 h 324"/>
                <a:gd name="T8" fmla="*/ 125 w 126"/>
                <a:gd name="T9" fmla="*/ 62 h 324"/>
                <a:gd name="T10" fmla="*/ 63 w 126"/>
                <a:gd name="T11" fmla="*/ 0 h 324"/>
                <a:gd name="T12" fmla="*/ 0 w 126"/>
                <a:gd name="T13" fmla="*/ 63 h 3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4"/>
                <a:gd name="T23" fmla="*/ 126 w 126"/>
                <a:gd name="T24" fmla="*/ 324 h 3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4">
                  <a:moveTo>
                    <a:pt x="0" y="63"/>
                  </a:moveTo>
                  <a:lnTo>
                    <a:pt x="0" y="261"/>
                  </a:lnTo>
                  <a:lnTo>
                    <a:pt x="62" y="323"/>
                  </a:lnTo>
                  <a:lnTo>
                    <a:pt x="125" y="260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29704" name="Group 43"/>
          <p:cNvGrpSpPr>
            <a:grpSpLocks/>
          </p:cNvGrpSpPr>
          <p:nvPr/>
        </p:nvGrpSpPr>
        <p:grpSpPr bwMode="auto">
          <a:xfrm>
            <a:off x="6132514" y="4973638"/>
            <a:ext cx="795337" cy="1308100"/>
            <a:chOff x="2903" y="3133"/>
            <a:chExt cx="501" cy="824"/>
          </a:xfrm>
        </p:grpSpPr>
        <p:sp>
          <p:nvSpPr>
            <p:cNvPr id="29753" name="Freeform 44"/>
            <p:cNvSpPr>
              <a:spLocks/>
            </p:cNvSpPr>
            <p:nvPr/>
          </p:nvSpPr>
          <p:spPr bwMode="auto">
            <a:xfrm>
              <a:off x="2904" y="3207"/>
              <a:ext cx="126" cy="325"/>
            </a:xfrm>
            <a:custGeom>
              <a:avLst/>
              <a:gdLst>
                <a:gd name="T0" fmla="*/ 0 w 126"/>
                <a:gd name="T1" fmla="*/ 63 h 325"/>
                <a:gd name="T2" fmla="*/ 0 w 126"/>
                <a:gd name="T3" fmla="*/ 262 h 325"/>
                <a:gd name="T4" fmla="*/ 62 w 126"/>
                <a:gd name="T5" fmla="*/ 324 h 325"/>
                <a:gd name="T6" fmla="*/ 125 w 126"/>
                <a:gd name="T7" fmla="*/ 261 h 325"/>
                <a:gd name="T8" fmla="*/ 125 w 126"/>
                <a:gd name="T9" fmla="*/ 62 h 325"/>
                <a:gd name="T10" fmla="*/ 63 w 126"/>
                <a:gd name="T11" fmla="*/ 0 h 325"/>
                <a:gd name="T12" fmla="*/ 0 w 126"/>
                <a:gd name="T13" fmla="*/ 63 h 3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5"/>
                <a:gd name="T23" fmla="*/ 126 w 126"/>
                <a:gd name="T24" fmla="*/ 325 h 3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5">
                  <a:moveTo>
                    <a:pt x="0" y="63"/>
                  </a:moveTo>
                  <a:lnTo>
                    <a:pt x="0" y="262"/>
                  </a:lnTo>
                  <a:lnTo>
                    <a:pt x="62" y="324"/>
                  </a:lnTo>
                  <a:lnTo>
                    <a:pt x="125" y="261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54" name="Freeform 45"/>
            <p:cNvSpPr>
              <a:spLocks/>
            </p:cNvSpPr>
            <p:nvPr/>
          </p:nvSpPr>
          <p:spPr bwMode="auto">
            <a:xfrm>
              <a:off x="2903" y="3560"/>
              <a:ext cx="126" cy="325"/>
            </a:xfrm>
            <a:custGeom>
              <a:avLst/>
              <a:gdLst>
                <a:gd name="T0" fmla="*/ 0 w 126"/>
                <a:gd name="T1" fmla="*/ 63 h 325"/>
                <a:gd name="T2" fmla="*/ 0 w 126"/>
                <a:gd name="T3" fmla="*/ 262 h 325"/>
                <a:gd name="T4" fmla="*/ 62 w 126"/>
                <a:gd name="T5" fmla="*/ 324 h 325"/>
                <a:gd name="T6" fmla="*/ 125 w 126"/>
                <a:gd name="T7" fmla="*/ 261 h 325"/>
                <a:gd name="T8" fmla="*/ 125 w 126"/>
                <a:gd name="T9" fmla="*/ 62 h 325"/>
                <a:gd name="T10" fmla="*/ 63 w 126"/>
                <a:gd name="T11" fmla="*/ 0 h 325"/>
                <a:gd name="T12" fmla="*/ 0 w 126"/>
                <a:gd name="T13" fmla="*/ 63 h 3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5"/>
                <a:gd name="T23" fmla="*/ 126 w 126"/>
                <a:gd name="T24" fmla="*/ 325 h 3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5">
                  <a:moveTo>
                    <a:pt x="0" y="63"/>
                  </a:moveTo>
                  <a:lnTo>
                    <a:pt x="0" y="262"/>
                  </a:lnTo>
                  <a:lnTo>
                    <a:pt x="62" y="324"/>
                  </a:lnTo>
                  <a:lnTo>
                    <a:pt x="125" y="261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55" name="Freeform 46"/>
            <p:cNvSpPr>
              <a:spLocks/>
            </p:cNvSpPr>
            <p:nvPr/>
          </p:nvSpPr>
          <p:spPr bwMode="auto">
            <a:xfrm>
              <a:off x="2989" y="3484"/>
              <a:ext cx="326" cy="127"/>
            </a:xfrm>
            <a:custGeom>
              <a:avLst/>
              <a:gdLst>
                <a:gd name="T0" fmla="*/ 262 w 326"/>
                <a:gd name="T1" fmla="*/ 0 h 127"/>
                <a:gd name="T2" fmla="*/ 62 w 326"/>
                <a:gd name="T3" fmla="*/ 0 h 127"/>
                <a:gd name="T4" fmla="*/ 0 w 326"/>
                <a:gd name="T5" fmla="*/ 63 h 127"/>
                <a:gd name="T6" fmla="*/ 63 w 326"/>
                <a:gd name="T7" fmla="*/ 126 h 127"/>
                <a:gd name="T8" fmla="*/ 263 w 326"/>
                <a:gd name="T9" fmla="*/ 126 h 127"/>
                <a:gd name="T10" fmla="*/ 325 w 326"/>
                <a:gd name="T11" fmla="*/ 63 h 127"/>
                <a:gd name="T12" fmla="*/ 262 w 326"/>
                <a:gd name="T13" fmla="*/ 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6"/>
                <a:gd name="T22" fmla="*/ 0 h 127"/>
                <a:gd name="T23" fmla="*/ 326 w 326"/>
                <a:gd name="T24" fmla="*/ 127 h 12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6" h="127">
                  <a:moveTo>
                    <a:pt x="262" y="0"/>
                  </a:moveTo>
                  <a:lnTo>
                    <a:pt x="62" y="0"/>
                  </a:lnTo>
                  <a:lnTo>
                    <a:pt x="0" y="63"/>
                  </a:lnTo>
                  <a:lnTo>
                    <a:pt x="63" y="126"/>
                  </a:lnTo>
                  <a:lnTo>
                    <a:pt x="263" y="126"/>
                  </a:lnTo>
                  <a:lnTo>
                    <a:pt x="325" y="63"/>
                  </a:lnTo>
                  <a:lnTo>
                    <a:pt x="262" y="0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56" name="Freeform 47"/>
            <p:cNvSpPr>
              <a:spLocks/>
            </p:cNvSpPr>
            <p:nvPr/>
          </p:nvSpPr>
          <p:spPr bwMode="auto">
            <a:xfrm>
              <a:off x="2989" y="3831"/>
              <a:ext cx="325" cy="126"/>
            </a:xfrm>
            <a:custGeom>
              <a:avLst/>
              <a:gdLst>
                <a:gd name="T0" fmla="*/ 261 w 325"/>
                <a:gd name="T1" fmla="*/ 0 h 126"/>
                <a:gd name="T2" fmla="*/ 62 w 325"/>
                <a:gd name="T3" fmla="*/ 0 h 126"/>
                <a:gd name="T4" fmla="*/ 0 w 325"/>
                <a:gd name="T5" fmla="*/ 62 h 126"/>
                <a:gd name="T6" fmla="*/ 63 w 325"/>
                <a:gd name="T7" fmla="*/ 125 h 126"/>
                <a:gd name="T8" fmla="*/ 262 w 325"/>
                <a:gd name="T9" fmla="*/ 125 h 126"/>
                <a:gd name="T10" fmla="*/ 324 w 325"/>
                <a:gd name="T11" fmla="*/ 63 h 126"/>
                <a:gd name="T12" fmla="*/ 261 w 325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5"/>
                <a:gd name="T22" fmla="*/ 0 h 126"/>
                <a:gd name="T23" fmla="*/ 325 w 325"/>
                <a:gd name="T24" fmla="*/ 126 h 1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5" h="126">
                  <a:moveTo>
                    <a:pt x="261" y="0"/>
                  </a:moveTo>
                  <a:lnTo>
                    <a:pt x="62" y="0"/>
                  </a:lnTo>
                  <a:lnTo>
                    <a:pt x="0" y="62"/>
                  </a:lnTo>
                  <a:lnTo>
                    <a:pt x="63" y="125"/>
                  </a:lnTo>
                  <a:lnTo>
                    <a:pt x="262" y="125"/>
                  </a:lnTo>
                  <a:lnTo>
                    <a:pt x="324" y="63"/>
                  </a:lnTo>
                  <a:lnTo>
                    <a:pt x="261" y="0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57" name="Freeform 48"/>
            <p:cNvSpPr>
              <a:spLocks/>
            </p:cNvSpPr>
            <p:nvPr/>
          </p:nvSpPr>
          <p:spPr bwMode="auto">
            <a:xfrm>
              <a:off x="2989" y="3133"/>
              <a:ext cx="325" cy="126"/>
            </a:xfrm>
            <a:custGeom>
              <a:avLst/>
              <a:gdLst>
                <a:gd name="T0" fmla="*/ 261 w 325"/>
                <a:gd name="T1" fmla="*/ 0 h 126"/>
                <a:gd name="T2" fmla="*/ 62 w 325"/>
                <a:gd name="T3" fmla="*/ 0 h 126"/>
                <a:gd name="T4" fmla="*/ 0 w 325"/>
                <a:gd name="T5" fmla="*/ 62 h 126"/>
                <a:gd name="T6" fmla="*/ 63 w 325"/>
                <a:gd name="T7" fmla="*/ 125 h 126"/>
                <a:gd name="T8" fmla="*/ 262 w 325"/>
                <a:gd name="T9" fmla="*/ 125 h 126"/>
                <a:gd name="T10" fmla="*/ 324 w 325"/>
                <a:gd name="T11" fmla="*/ 63 h 126"/>
                <a:gd name="T12" fmla="*/ 261 w 325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5"/>
                <a:gd name="T22" fmla="*/ 0 h 126"/>
                <a:gd name="T23" fmla="*/ 325 w 325"/>
                <a:gd name="T24" fmla="*/ 126 h 1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5" h="126">
                  <a:moveTo>
                    <a:pt x="261" y="0"/>
                  </a:moveTo>
                  <a:lnTo>
                    <a:pt x="62" y="0"/>
                  </a:lnTo>
                  <a:lnTo>
                    <a:pt x="0" y="62"/>
                  </a:lnTo>
                  <a:lnTo>
                    <a:pt x="63" y="125"/>
                  </a:lnTo>
                  <a:lnTo>
                    <a:pt x="262" y="125"/>
                  </a:lnTo>
                  <a:lnTo>
                    <a:pt x="324" y="63"/>
                  </a:lnTo>
                  <a:lnTo>
                    <a:pt x="261" y="0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58" name="Freeform 49"/>
            <p:cNvSpPr>
              <a:spLocks/>
            </p:cNvSpPr>
            <p:nvPr/>
          </p:nvSpPr>
          <p:spPr bwMode="auto">
            <a:xfrm>
              <a:off x="3278" y="3207"/>
              <a:ext cx="126" cy="324"/>
            </a:xfrm>
            <a:custGeom>
              <a:avLst/>
              <a:gdLst>
                <a:gd name="T0" fmla="*/ 0 w 126"/>
                <a:gd name="T1" fmla="*/ 63 h 324"/>
                <a:gd name="T2" fmla="*/ 0 w 126"/>
                <a:gd name="T3" fmla="*/ 261 h 324"/>
                <a:gd name="T4" fmla="*/ 62 w 126"/>
                <a:gd name="T5" fmla="*/ 323 h 324"/>
                <a:gd name="T6" fmla="*/ 125 w 126"/>
                <a:gd name="T7" fmla="*/ 260 h 324"/>
                <a:gd name="T8" fmla="*/ 125 w 126"/>
                <a:gd name="T9" fmla="*/ 62 h 324"/>
                <a:gd name="T10" fmla="*/ 63 w 126"/>
                <a:gd name="T11" fmla="*/ 0 h 324"/>
                <a:gd name="T12" fmla="*/ 0 w 126"/>
                <a:gd name="T13" fmla="*/ 63 h 3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4"/>
                <a:gd name="T23" fmla="*/ 126 w 126"/>
                <a:gd name="T24" fmla="*/ 324 h 3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4">
                  <a:moveTo>
                    <a:pt x="0" y="63"/>
                  </a:moveTo>
                  <a:lnTo>
                    <a:pt x="0" y="261"/>
                  </a:lnTo>
                  <a:lnTo>
                    <a:pt x="62" y="323"/>
                  </a:lnTo>
                  <a:lnTo>
                    <a:pt x="125" y="260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59" name="Freeform 50"/>
            <p:cNvSpPr>
              <a:spLocks/>
            </p:cNvSpPr>
            <p:nvPr/>
          </p:nvSpPr>
          <p:spPr bwMode="auto">
            <a:xfrm>
              <a:off x="3277" y="3560"/>
              <a:ext cx="126" cy="324"/>
            </a:xfrm>
            <a:custGeom>
              <a:avLst/>
              <a:gdLst>
                <a:gd name="T0" fmla="*/ 0 w 126"/>
                <a:gd name="T1" fmla="*/ 63 h 324"/>
                <a:gd name="T2" fmla="*/ 0 w 126"/>
                <a:gd name="T3" fmla="*/ 261 h 324"/>
                <a:gd name="T4" fmla="*/ 62 w 126"/>
                <a:gd name="T5" fmla="*/ 323 h 324"/>
                <a:gd name="T6" fmla="*/ 125 w 126"/>
                <a:gd name="T7" fmla="*/ 260 h 324"/>
                <a:gd name="T8" fmla="*/ 125 w 126"/>
                <a:gd name="T9" fmla="*/ 62 h 324"/>
                <a:gd name="T10" fmla="*/ 63 w 126"/>
                <a:gd name="T11" fmla="*/ 0 h 324"/>
                <a:gd name="T12" fmla="*/ 0 w 126"/>
                <a:gd name="T13" fmla="*/ 63 h 3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4"/>
                <a:gd name="T23" fmla="*/ 126 w 126"/>
                <a:gd name="T24" fmla="*/ 324 h 3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4">
                  <a:moveTo>
                    <a:pt x="0" y="63"/>
                  </a:moveTo>
                  <a:lnTo>
                    <a:pt x="0" y="261"/>
                  </a:lnTo>
                  <a:lnTo>
                    <a:pt x="62" y="323"/>
                  </a:lnTo>
                  <a:lnTo>
                    <a:pt x="125" y="260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29705" name="Group 51"/>
          <p:cNvGrpSpPr>
            <a:grpSpLocks/>
          </p:cNvGrpSpPr>
          <p:nvPr/>
        </p:nvGrpSpPr>
        <p:grpSpPr bwMode="auto">
          <a:xfrm>
            <a:off x="7050089" y="4973638"/>
            <a:ext cx="795337" cy="1308100"/>
            <a:chOff x="3481" y="3133"/>
            <a:chExt cx="501" cy="824"/>
          </a:xfrm>
        </p:grpSpPr>
        <p:sp>
          <p:nvSpPr>
            <p:cNvPr id="29746" name="Freeform 52"/>
            <p:cNvSpPr>
              <a:spLocks/>
            </p:cNvSpPr>
            <p:nvPr/>
          </p:nvSpPr>
          <p:spPr bwMode="auto">
            <a:xfrm>
              <a:off x="3482" y="3207"/>
              <a:ext cx="126" cy="325"/>
            </a:xfrm>
            <a:custGeom>
              <a:avLst/>
              <a:gdLst>
                <a:gd name="T0" fmla="*/ 0 w 126"/>
                <a:gd name="T1" fmla="*/ 63 h 325"/>
                <a:gd name="T2" fmla="*/ 0 w 126"/>
                <a:gd name="T3" fmla="*/ 262 h 325"/>
                <a:gd name="T4" fmla="*/ 62 w 126"/>
                <a:gd name="T5" fmla="*/ 324 h 325"/>
                <a:gd name="T6" fmla="*/ 125 w 126"/>
                <a:gd name="T7" fmla="*/ 261 h 325"/>
                <a:gd name="T8" fmla="*/ 125 w 126"/>
                <a:gd name="T9" fmla="*/ 62 h 325"/>
                <a:gd name="T10" fmla="*/ 63 w 126"/>
                <a:gd name="T11" fmla="*/ 0 h 325"/>
                <a:gd name="T12" fmla="*/ 0 w 126"/>
                <a:gd name="T13" fmla="*/ 63 h 3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5"/>
                <a:gd name="T23" fmla="*/ 126 w 126"/>
                <a:gd name="T24" fmla="*/ 325 h 3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5">
                  <a:moveTo>
                    <a:pt x="0" y="63"/>
                  </a:moveTo>
                  <a:lnTo>
                    <a:pt x="0" y="262"/>
                  </a:lnTo>
                  <a:lnTo>
                    <a:pt x="62" y="324"/>
                  </a:lnTo>
                  <a:lnTo>
                    <a:pt x="125" y="261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47" name="Freeform 53"/>
            <p:cNvSpPr>
              <a:spLocks/>
            </p:cNvSpPr>
            <p:nvPr/>
          </p:nvSpPr>
          <p:spPr bwMode="auto">
            <a:xfrm>
              <a:off x="3481" y="3560"/>
              <a:ext cx="126" cy="325"/>
            </a:xfrm>
            <a:custGeom>
              <a:avLst/>
              <a:gdLst>
                <a:gd name="T0" fmla="*/ 0 w 126"/>
                <a:gd name="T1" fmla="*/ 63 h 325"/>
                <a:gd name="T2" fmla="*/ 0 w 126"/>
                <a:gd name="T3" fmla="*/ 262 h 325"/>
                <a:gd name="T4" fmla="*/ 62 w 126"/>
                <a:gd name="T5" fmla="*/ 324 h 325"/>
                <a:gd name="T6" fmla="*/ 125 w 126"/>
                <a:gd name="T7" fmla="*/ 261 h 325"/>
                <a:gd name="T8" fmla="*/ 125 w 126"/>
                <a:gd name="T9" fmla="*/ 62 h 325"/>
                <a:gd name="T10" fmla="*/ 63 w 126"/>
                <a:gd name="T11" fmla="*/ 0 h 325"/>
                <a:gd name="T12" fmla="*/ 0 w 126"/>
                <a:gd name="T13" fmla="*/ 63 h 3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5"/>
                <a:gd name="T23" fmla="*/ 126 w 126"/>
                <a:gd name="T24" fmla="*/ 325 h 3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5">
                  <a:moveTo>
                    <a:pt x="0" y="63"/>
                  </a:moveTo>
                  <a:lnTo>
                    <a:pt x="0" y="262"/>
                  </a:lnTo>
                  <a:lnTo>
                    <a:pt x="62" y="324"/>
                  </a:lnTo>
                  <a:lnTo>
                    <a:pt x="125" y="261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48" name="Freeform 54"/>
            <p:cNvSpPr>
              <a:spLocks/>
            </p:cNvSpPr>
            <p:nvPr/>
          </p:nvSpPr>
          <p:spPr bwMode="auto">
            <a:xfrm>
              <a:off x="3567" y="3484"/>
              <a:ext cx="326" cy="127"/>
            </a:xfrm>
            <a:custGeom>
              <a:avLst/>
              <a:gdLst>
                <a:gd name="T0" fmla="*/ 262 w 326"/>
                <a:gd name="T1" fmla="*/ 0 h 127"/>
                <a:gd name="T2" fmla="*/ 62 w 326"/>
                <a:gd name="T3" fmla="*/ 0 h 127"/>
                <a:gd name="T4" fmla="*/ 0 w 326"/>
                <a:gd name="T5" fmla="*/ 63 h 127"/>
                <a:gd name="T6" fmla="*/ 63 w 326"/>
                <a:gd name="T7" fmla="*/ 126 h 127"/>
                <a:gd name="T8" fmla="*/ 263 w 326"/>
                <a:gd name="T9" fmla="*/ 126 h 127"/>
                <a:gd name="T10" fmla="*/ 325 w 326"/>
                <a:gd name="T11" fmla="*/ 63 h 127"/>
                <a:gd name="T12" fmla="*/ 262 w 326"/>
                <a:gd name="T13" fmla="*/ 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6"/>
                <a:gd name="T22" fmla="*/ 0 h 127"/>
                <a:gd name="T23" fmla="*/ 326 w 326"/>
                <a:gd name="T24" fmla="*/ 127 h 12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6" h="127">
                  <a:moveTo>
                    <a:pt x="262" y="0"/>
                  </a:moveTo>
                  <a:lnTo>
                    <a:pt x="62" y="0"/>
                  </a:lnTo>
                  <a:lnTo>
                    <a:pt x="0" y="63"/>
                  </a:lnTo>
                  <a:lnTo>
                    <a:pt x="63" y="126"/>
                  </a:lnTo>
                  <a:lnTo>
                    <a:pt x="263" y="126"/>
                  </a:lnTo>
                  <a:lnTo>
                    <a:pt x="325" y="63"/>
                  </a:lnTo>
                  <a:lnTo>
                    <a:pt x="262" y="0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49" name="Freeform 55"/>
            <p:cNvSpPr>
              <a:spLocks/>
            </p:cNvSpPr>
            <p:nvPr/>
          </p:nvSpPr>
          <p:spPr bwMode="auto">
            <a:xfrm>
              <a:off x="3567" y="3831"/>
              <a:ext cx="325" cy="126"/>
            </a:xfrm>
            <a:custGeom>
              <a:avLst/>
              <a:gdLst>
                <a:gd name="T0" fmla="*/ 261 w 325"/>
                <a:gd name="T1" fmla="*/ 0 h 126"/>
                <a:gd name="T2" fmla="*/ 62 w 325"/>
                <a:gd name="T3" fmla="*/ 0 h 126"/>
                <a:gd name="T4" fmla="*/ 0 w 325"/>
                <a:gd name="T5" fmla="*/ 62 h 126"/>
                <a:gd name="T6" fmla="*/ 63 w 325"/>
                <a:gd name="T7" fmla="*/ 125 h 126"/>
                <a:gd name="T8" fmla="*/ 262 w 325"/>
                <a:gd name="T9" fmla="*/ 125 h 126"/>
                <a:gd name="T10" fmla="*/ 324 w 325"/>
                <a:gd name="T11" fmla="*/ 63 h 126"/>
                <a:gd name="T12" fmla="*/ 261 w 325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5"/>
                <a:gd name="T22" fmla="*/ 0 h 126"/>
                <a:gd name="T23" fmla="*/ 325 w 325"/>
                <a:gd name="T24" fmla="*/ 126 h 1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5" h="126">
                  <a:moveTo>
                    <a:pt x="261" y="0"/>
                  </a:moveTo>
                  <a:lnTo>
                    <a:pt x="62" y="0"/>
                  </a:lnTo>
                  <a:lnTo>
                    <a:pt x="0" y="62"/>
                  </a:lnTo>
                  <a:lnTo>
                    <a:pt x="63" y="125"/>
                  </a:lnTo>
                  <a:lnTo>
                    <a:pt x="262" y="125"/>
                  </a:lnTo>
                  <a:lnTo>
                    <a:pt x="324" y="63"/>
                  </a:lnTo>
                  <a:lnTo>
                    <a:pt x="261" y="0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50" name="Freeform 56"/>
            <p:cNvSpPr>
              <a:spLocks/>
            </p:cNvSpPr>
            <p:nvPr/>
          </p:nvSpPr>
          <p:spPr bwMode="auto">
            <a:xfrm>
              <a:off x="3567" y="3133"/>
              <a:ext cx="325" cy="126"/>
            </a:xfrm>
            <a:custGeom>
              <a:avLst/>
              <a:gdLst>
                <a:gd name="T0" fmla="*/ 261 w 325"/>
                <a:gd name="T1" fmla="*/ 0 h 126"/>
                <a:gd name="T2" fmla="*/ 62 w 325"/>
                <a:gd name="T3" fmla="*/ 0 h 126"/>
                <a:gd name="T4" fmla="*/ 0 w 325"/>
                <a:gd name="T5" fmla="*/ 62 h 126"/>
                <a:gd name="T6" fmla="*/ 63 w 325"/>
                <a:gd name="T7" fmla="*/ 125 h 126"/>
                <a:gd name="T8" fmla="*/ 262 w 325"/>
                <a:gd name="T9" fmla="*/ 125 h 126"/>
                <a:gd name="T10" fmla="*/ 324 w 325"/>
                <a:gd name="T11" fmla="*/ 63 h 126"/>
                <a:gd name="T12" fmla="*/ 261 w 325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5"/>
                <a:gd name="T22" fmla="*/ 0 h 126"/>
                <a:gd name="T23" fmla="*/ 325 w 325"/>
                <a:gd name="T24" fmla="*/ 126 h 1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5" h="126">
                  <a:moveTo>
                    <a:pt x="261" y="0"/>
                  </a:moveTo>
                  <a:lnTo>
                    <a:pt x="62" y="0"/>
                  </a:lnTo>
                  <a:lnTo>
                    <a:pt x="0" y="62"/>
                  </a:lnTo>
                  <a:lnTo>
                    <a:pt x="63" y="125"/>
                  </a:lnTo>
                  <a:lnTo>
                    <a:pt x="262" y="125"/>
                  </a:lnTo>
                  <a:lnTo>
                    <a:pt x="324" y="63"/>
                  </a:lnTo>
                  <a:lnTo>
                    <a:pt x="261" y="0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51" name="Freeform 57"/>
            <p:cNvSpPr>
              <a:spLocks/>
            </p:cNvSpPr>
            <p:nvPr/>
          </p:nvSpPr>
          <p:spPr bwMode="auto">
            <a:xfrm>
              <a:off x="3856" y="3207"/>
              <a:ext cx="126" cy="324"/>
            </a:xfrm>
            <a:custGeom>
              <a:avLst/>
              <a:gdLst>
                <a:gd name="T0" fmla="*/ 0 w 126"/>
                <a:gd name="T1" fmla="*/ 63 h 324"/>
                <a:gd name="T2" fmla="*/ 0 w 126"/>
                <a:gd name="T3" fmla="*/ 261 h 324"/>
                <a:gd name="T4" fmla="*/ 62 w 126"/>
                <a:gd name="T5" fmla="*/ 323 h 324"/>
                <a:gd name="T6" fmla="*/ 125 w 126"/>
                <a:gd name="T7" fmla="*/ 260 h 324"/>
                <a:gd name="T8" fmla="*/ 125 w 126"/>
                <a:gd name="T9" fmla="*/ 62 h 324"/>
                <a:gd name="T10" fmla="*/ 63 w 126"/>
                <a:gd name="T11" fmla="*/ 0 h 324"/>
                <a:gd name="T12" fmla="*/ 0 w 126"/>
                <a:gd name="T13" fmla="*/ 63 h 3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4"/>
                <a:gd name="T23" fmla="*/ 126 w 126"/>
                <a:gd name="T24" fmla="*/ 324 h 3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4">
                  <a:moveTo>
                    <a:pt x="0" y="63"/>
                  </a:moveTo>
                  <a:lnTo>
                    <a:pt x="0" y="261"/>
                  </a:lnTo>
                  <a:lnTo>
                    <a:pt x="62" y="323"/>
                  </a:lnTo>
                  <a:lnTo>
                    <a:pt x="125" y="260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52" name="Freeform 58"/>
            <p:cNvSpPr>
              <a:spLocks/>
            </p:cNvSpPr>
            <p:nvPr/>
          </p:nvSpPr>
          <p:spPr bwMode="auto">
            <a:xfrm>
              <a:off x="3855" y="3560"/>
              <a:ext cx="126" cy="324"/>
            </a:xfrm>
            <a:custGeom>
              <a:avLst/>
              <a:gdLst>
                <a:gd name="T0" fmla="*/ 0 w 126"/>
                <a:gd name="T1" fmla="*/ 63 h 324"/>
                <a:gd name="T2" fmla="*/ 0 w 126"/>
                <a:gd name="T3" fmla="*/ 261 h 324"/>
                <a:gd name="T4" fmla="*/ 62 w 126"/>
                <a:gd name="T5" fmla="*/ 323 h 324"/>
                <a:gd name="T6" fmla="*/ 125 w 126"/>
                <a:gd name="T7" fmla="*/ 260 h 324"/>
                <a:gd name="T8" fmla="*/ 125 w 126"/>
                <a:gd name="T9" fmla="*/ 62 h 324"/>
                <a:gd name="T10" fmla="*/ 63 w 126"/>
                <a:gd name="T11" fmla="*/ 0 h 324"/>
                <a:gd name="T12" fmla="*/ 0 w 126"/>
                <a:gd name="T13" fmla="*/ 63 h 3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4"/>
                <a:gd name="T23" fmla="*/ 126 w 126"/>
                <a:gd name="T24" fmla="*/ 324 h 3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4">
                  <a:moveTo>
                    <a:pt x="0" y="63"/>
                  </a:moveTo>
                  <a:lnTo>
                    <a:pt x="0" y="261"/>
                  </a:lnTo>
                  <a:lnTo>
                    <a:pt x="62" y="323"/>
                  </a:lnTo>
                  <a:lnTo>
                    <a:pt x="125" y="260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29706" name="Group 59"/>
          <p:cNvGrpSpPr>
            <a:grpSpLocks/>
          </p:cNvGrpSpPr>
          <p:nvPr/>
        </p:nvGrpSpPr>
        <p:grpSpPr bwMode="auto">
          <a:xfrm>
            <a:off x="7964489" y="4973638"/>
            <a:ext cx="795337" cy="1308100"/>
            <a:chOff x="4057" y="3133"/>
            <a:chExt cx="501" cy="824"/>
          </a:xfrm>
        </p:grpSpPr>
        <p:sp>
          <p:nvSpPr>
            <p:cNvPr id="29739" name="Freeform 60"/>
            <p:cNvSpPr>
              <a:spLocks/>
            </p:cNvSpPr>
            <p:nvPr/>
          </p:nvSpPr>
          <p:spPr bwMode="auto">
            <a:xfrm>
              <a:off x="4058" y="3207"/>
              <a:ext cx="126" cy="325"/>
            </a:xfrm>
            <a:custGeom>
              <a:avLst/>
              <a:gdLst>
                <a:gd name="T0" fmla="*/ 0 w 126"/>
                <a:gd name="T1" fmla="*/ 63 h 325"/>
                <a:gd name="T2" fmla="*/ 0 w 126"/>
                <a:gd name="T3" fmla="*/ 262 h 325"/>
                <a:gd name="T4" fmla="*/ 62 w 126"/>
                <a:gd name="T5" fmla="*/ 324 h 325"/>
                <a:gd name="T6" fmla="*/ 125 w 126"/>
                <a:gd name="T7" fmla="*/ 261 h 325"/>
                <a:gd name="T8" fmla="*/ 125 w 126"/>
                <a:gd name="T9" fmla="*/ 62 h 325"/>
                <a:gd name="T10" fmla="*/ 63 w 126"/>
                <a:gd name="T11" fmla="*/ 0 h 325"/>
                <a:gd name="T12" fmla="*/ 0 w 126"/>
                <a:gd name="T13" fmla="*/ 63 h 3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5"/>
                <a:gd name="T23" fmla="*/ 126 w 126"/>
                <a:gd name="T24" fmla="*/ 325 h 3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5">
                  <a:moveTo>
                    <a:pt x="0" y="63"/>
                  </a:moveTo>
                  <a:lnTo>
                    <a:pt x="0" y="262"/>
                  </a:lnTo>
                  <a:lnTo>
                    <a:pt x="62" y="324"/>
                  </a:lnTo>
                  <a:lnTo>
                    <a:pt x="125" y="261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40" name="Freeform 61"/>
            <p:cNvSpPr>
              <a:spLocks/>
            </p:cNvSpPr>
            <p:nvPr/>
          </p:nvSpPr>
          <p:spPr bwMode="auto">
            <a:xfrm>
              <a:off x="4057" y="3560"/>
              <a:ext cx="126" cy="325"/>
            </a:xfrm>
            <a:custGeom>
              <a:avLst/>
              <a:gdLst>
                <a:gd name="T0" fmla="*/ 0 w 126"/>
                <a:gd name="T1" fmla="*/ 63 h 325"/>
                <a:gd name="T2" fmla="*/ 0 w 126"/>
                <a:gd name="T3" fmla="*/ 262 h 325"/>
                <a:gd name="T4" fmla="*/ 62 w 126"/>
                <a:gd name="T5" fmla="*/ 324 h 325"/>
                <a:gd name="T6" fmla="*/ 125 w 126"/>
                <a:gd name="T7" fmla="*/ 261 h 325"/>
                <a:gd name="T8" fmla="*/ 125 w 126"/>
                <a:gd name="T9" fmla="*/ 62 h 325"/>
                <a:gd name="T10" fmla="*/ 63 w 126"/>
                <a:gd name="T11" fmla="*/ 0 h 325"/>
                <a:gd name="T12" fmla="*/ 0 w 126"/>
                <a:gd name="T13" fmla="*/ 63 h 3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5"/>
                <a:gd name="T23" fmla="*/ 126 w 126"/>
                <a:gd name="T24" fmla="*/ 325 h 3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5">
                  <a:moveTo>
                    <a:pt x="0" y="63"/>
                  </a:moveTo>
                  <a:lnTo>
                    <a:pt x="0" y="262"/>
                  </a:lnTo>
                  <a:lnTo>
                    <a:pt x="62" y="324"/>
                  </a:lnTo>
                  <a:lnTo>
                    <a:pt x="125" y="261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41" name="Freeform 62"/>
            <p:cNvSpPr>
              <a:spLocks/>
            </p:cNvSpPr>
            <p:nvPr/>
          </p:nvSpPr>
          <p:spPr bwMode="auto">
            <a:xfrm>
              <a:off x="4143" y="3484"/>
              <a:ext cx="326" cy="127"/>
            </a:xfrm>
            <a:custGeom>
              <a:avLst/>
              <a:gdLst>
                <a:gd name="T0" fmla="*/ 262 w 326"/>
                <a:gd name="T1" fmla="*/ 0 h 127"/>
                <a:gd name="T2" fmla="*/ 62 w 326"/>
                <a:gd name="T3" fmla="*/ 0 h 127"/>
                <a:gd name="T4" fmla="*/ 0 w 326"/>
                <a:gd name="T5" fmla="*/ 63 h 127"/>
                <a:gd name="T6" fmla="*/ 63 w 326"/>
                <a:gd name="T7" fmla="*/ 126 h 127"/>
                <a:gd name="T8" fmla="*/ 263 w 326"/>
                <a:gd name="T9" fmla="*/ 126 h 127"/>
                <a:gd name="T10" fmla="*/ 325 w 326"/>
                <a:gd name="T11" fmla="*/ 63 h 127"/>
                <a:gd name="T12" fmla="*/ 262 w 326"/>
                <a:gd name="T13" fmla="*/ 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6"/>
                <a:gd name="T22" fmla="*/ 0 h 127"/>
                <a:gd name="T23" fmla="*/ 326 w 326"/>
                <a:gd name="T24" fmla="*/ 127 h 12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6" h="127">
                  <a:moveTo>
                    <a:pt x="262" y="0"/>
                  </a:moveTo>
                  <a:lnTo>
                    <a:pt x="62" y="0"/>
                  </a:lnTo>
                  <a:lnTo>
                    <a:pt x="0" y="63"/>
                  </a:lnTo>
                  <a:lnTo>
                    <a:pt x="63" y="126"/>
                  </a:lnTo>
                  <a:lnTo>
                    <a:pt x="263" y="126"/>
                  </a:lnTo>
                  <a:lnTo>
                    <a:pt x="325" y="63"/>
                  </a:lnTo>
                  <a:lnTo>
                    <a:pt x="262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42" name="Freeform 63"/>
            <p:cNvSpPr>
              <a:spLocks/>
            </p:cNvSpPr>
            <p:nvPr/>
          </p:nvSpPr>
          <p:spPr bwMode="auto">
            <a:xfrm>
              <a:off x="4143" y="3831"/>
              <a:ext cx="325" cy="126"/>
            </a:xfrm>
            <a:custGeom>
              <a:avLst/>
              <a:gdLst>
                <a:gd name="T0" fmla="*/ 261 w 325"/>
                <a:gd name="T1" fmla="*/ 0 h 126"/>
                <a:gd name="T2" fmla="*/ 62 w 325"/>
                <a:gd name="T3" fmla="*/ 0 h 126"/>
                <a:gd name="T4" fmla="*/ 0 w 325"/>
                <a:gd name="T5" fmla="*/ 62 h 126"/>
                <a:gd name="T6" fmla="*/ 63 w 325"/>
                <a:gd name="T7" fmla="*/ 125 h 126"/>
                <a:gd name="T8" fmla="*/ 262 w 325"/>
                <a:gd name="T9" fmla="*/ 125 h 126"/>
                <a:gd name="T10" fmla="*/ 324 w 325"/>
                <a:gd name="T11" fmla="*/ 63 h 126"/>
                <a:gd name="T12" fmla="*/ 261 w 325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5"/>
                <a:gd name="T22" fmla="*/ 0 h 126"/>
                <a:gd name="T23" fmla="*/ 325 w 325"/>
                <a:gd name="T24" fmla="*/ 126 h 1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5" h="126">
                  <a:moveTo>
                    <a:pt x="261" y="0"/>
                  </a:moveTo>
                  <a:lnTo>
                    <a:pt x="62" y="0"/>
                  </a:lnTo>
                  <a:lnTo>
                    <a:pt x="0" y="62"/>
                  </a:lnTo>
                  <a:lnTo>
                    <a:pt x="63" y="125"/>
                  </a:lnTo>
                  <a:lnTo>
                    <a:pt x="262" y="125"/>
                  </a:lnTo>
                  <a:lnTo>
                    <a:pt x="324" y="63"/>
                  </a:lnTo>
                  <a:lnTo>
                    <a:pt x="261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43" name="Freeform 64"/>
            <p:cNvSpPr>
              <a:spLocks/>
            </p:cNvSpPr>
            <p:nvPr/>
          </p:nvSpPr>
          <p:spPr bwMode="auto">
            <a:xfrm>
              <a:off x="4143" y="3133"/>
              <a:ext cx="325" cy="126"/>
            </a:xfrm>
            <a:custGeom>
              <a:avLst/>
              <a:gdLst>
                <a:gd name="T0" fmla="*/ 261 w 325"/>
                <a:gd name="T1" fmla="*/ 0 h 126"/>
                <a:gd name="T2" fmla="*/ 62 w 325"/>
                <a:gd name="T3" fmla="*/ 0 h 126"/>
                <a:gd name="T4" fmla="*/ 0 w 325"/>
                <a:gd name="T5" fmla="*/ 62 h 126"/>
                <a:gd name="T6" fmla="*/ 63 w 325"/>
                <a:gd name="T7" fmla="*/ 125 h 126"/>
                <a:gd name="T8" fmla="*/ 262 w 325"/>
                <a:gd name="T9" fmla="*/ 125 h 126"/>
                <a:gd name="T10" fmla="*/ 324 w 325"/>
                <a:gd name="T11" fmla="*/ 63 h 126"/>
                <a:gd name="T12" fmla="*/ 261 w 325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5"/>
                <a:gd name="T22" fmla="*/ 0 h 126"/>
                <a:gd name="T23" fmla="*/ 325 w 325"/>
                <a:gd name="T24" fmla="*/ 126 h 1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5" h="126">
                  <a:moveTo>
                    <a:pt x="261" y="0"/>
                  </a:moveTo>
                  <a:lnTo>
                    <a:pt x="62" y="0"/>
                  </a:lnTo>
                  <a:lnTo>
                    <a:pt x="0" y="62"/>
                  </a:lnTo>
                  <a:lnTo>
                    <a:pt x="63" y="125"/>
                  </a:lnTo>
                  <a:lnTo>
                    <a:pt x="262" y="125"/>
                  </a:lnTo>
                  <a:lnTo>
                    <a:pt x="324" y="63"/>
                  </a:lnTo>
                  <a:lnTo>
                    <a:pt x="261" y="0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44" name="Freeform 65"/>
            <p:cNvSpPr>
              <a:spLocks/>
            </p:cNvSpPr>
            <p:nvPr/>
          </p:nvSpPr>
          <p:spPr bwMode="auto">
            <a:xfrm>
              <a:off x="4432" y="3207"/>
              <a:ext cx="126" cy="324"/>
            </a:xfrm>
            <a:custGeom>
              <a:avLst/>
              <a:gdLst>
                <a:gd name="T0" fmla="*/ 0 w 126"/>
                <a:gd name="T1" fmla="*/ 63 h 324"/>
                <a:gd name="T2" fmla="*/ 0 w 126"/>
                <a:gd name="T3" fmla="*/ 261 h 324"/>
                <a:gd name="T4" fmla="*/ 62 w 126"/>
                <a:gd name="T5" fmla="*/ 323 h 324"/>
                <a:gd name="T6" fmla="*/ 125 w 126"/>
                <a:gd name="T7" fmla="*/ 260 h 324"/>
                <a:gd name="T8" fmla="*/ 125 w 126"/>
                <a:gd name="T9" fmla="*/ 62 h 324"/>
                <a:gd name="T10" fmla="*/ 63 w 126"/>
                <a:gd name="T11" fmla="*/ 0 h 324"/>
                <a:gd name="T12" fmla="*/ 0 w 126"/>
                <a:gd name="T13" fmla="*/ 63 h 3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4"/>
                <a:gd name="T23" fmla="*/ 126 w 126"/>
                <a:gd name="T24" fmla="*/ 324 h 3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4">
                  <a:moveTo>
                    <a:pt x="0" y="63"/>
                  </a:moveTo>
                  <a:lnTo>
                    <a:pt x="0" y="261"/>
                  </a:lnTo>
                  <a:lnTo>
                    <a:pt x="62" y="323"/>
                  </a:lnTo>
                  <a:lnTo>
                    <a:pt x="125" y="260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45" name="Freeform 66"/>
            <p:cNvSpPr>
              <a:spLocks/>
            </p:cNvSpPr>
            <p:nvPr/>
          </p:nvSpPr>
          <p:spPr bwMode="auto">
            <a:xfrm>
              <a:off x="4431" y="3560"/>
              <a:ext cx="126" cy="324"/>
            </a:xfrm>
            <a:custGeom>
              <a:avLst/>
              <a:gdLst>
                <a:gd name="T0" fmla="*/ 0 w 126"/>
                <a:gd name="T1" fmla="*/ 63 h 324"/>
                <a:gd name="T2" fmla="*/ 0 w 126"/>
                <a:gd name="T3" fmla="*/ 261 h 324"/>
                <a:gd name="T4" fmla="*/ 62 w 126"/>
                <a:gd name="T5" fmla="*/ 323 h 324"/>
                <a:gd name="T6" fmla="*/ 125 w 126"/>
                <a:gd name="T7" fmla="*/ 260 h 324"/>
                <a:gd name="T8" fmla="*/ 125 w 126"/>
                <a:gd name="T9" fmla="*/ 62 h 324"/>
                <a:gd name="T10" fmla="*/ 63 w 126"/>
                <a:gd name="T11" fmla="*/ 0 h 324"/>
                <a:gd name="T12" fmla="*/ 0 w 126"/>
                <a:gd name="T13" fmla="*/ 63 h 3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4"/>
                <a:gd name="T23" fmla="*/ 126 w 126"/>
                <a:gd name="T24" fmla="*/ 324 h 3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4">
                  <a:moveTo>
                    <a:pt x="0" y="63"/>
                  </a:moveTo>
                  <a:lnTo>
                    <a:pt x="0" y="261"/>
                  </a:lnTo>
                  <a:lnTo>
                    <a:pt x="62" y="323"/>
                  </a:lnTo>
                  <a:lnTo>
                    <a:pt x="125" y="260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29707" name="Group 67"/>
          <p:cNvGrpSpPr>
            <a:grpSpLocks/>
          </p:cNvGrpSpPr>
          <p:nvPr/>
        </p:nvGrpSpPr>
        <p:grpSpPr bwMode="auto">
          <a:xfrm>
            <a:off x="8886825" y="4973638"/>
            <a:ext cx="795338" cy="1308100"/>
            <a:chOff x="4638" y="3133"/>
            <a:chExt cx="501" cy="824"/>
          </a:xfrm>
        </p:grpSpPr>
        <p:sp>
          <p:nvSpPr>
            <p:cNvPr id="29732" name="Freeform 68"/>
            <p:cNvSpPr>
              <a:spLocks/>
            </p:cNvSpPr>
            <p:nvPr/>
          </p:nvSpPr>
          <p:spPr bwMode="auto">
            <a:xfrm>
              <a:off x="4639" y="3207"/>
              <a:ext cx="126" cy="325"/>
            </a:xfrm>
            <a:custGeom>
              <a:avLst/>
              <a:gdLst>
                <a:gd name="T0" fmla="*/ 0 w 126"/>
                <a:gd name="T1" fmla="*/ 63 h 325"/>
                <a:gd name="T2" fmla="*/ 0 w 126"/>
                <a:gd name="T3" fmla="*/ 262 h 325"/>
                <a:gd name="T4" fmla="*/ 62 w 126"/>
                <a:gd name="T5" fmla="*/ 324 h 325"/>
                <a:gd name="T6" fmla="*/ 125 w 126"/>
                <a:gd name="T7" fmla="*/ 261 h 325"/>
                <a:gd name="T8" fmla="*/ 125 w 126"/>
                <a:gd name="T9" fmla="*/ 62 h 325"/>
                <a:gd name="T10" fmla="*/ 63 w 126"/>
                <a:gd name="T11" fmla="*/ 0 h 325"/>
                <a:gd name="T12" fmla="*/ 0 w 126"/>
                <a:gd name="T13" fmla="*/ 63 h 3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5"/>
                <a:gd name="T23" fmla="*/ 126 w 126"/>
                <a:gd name="T24" fmla="*/ 325 h 3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5">
                  <a:moveTo>
                    <a:pt x="0" y="63"/>
                  </a:moveTo>
                  <a:lnTo>
                    <a:pt x="0" y="262"/>
                  </a:lnTo>
                  <a:lnTo>
                    <a:pt x="62" y="324"/>
                  </a:lnTo>
                  <a:lnTo>
                    <a:pt x="125" y="261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33" name="Freeform 69"/>
            <p:cNvSpPr>
              <a:spLocks/>
            </p:cNvSpPr>
            <p:nvPr/>
          </p:nvSpPr>
          <p:spPr bwMode="auto">
            <a:xfrm>
              <a:off x="4638" y="3560"/>
              <a:ext cx="126" cy="325"/>
            </a:xfrm>
            <a:custGeom>
              <a:avLst/>
              <a:gdLst>
                <a:gd name="T0" fmla="*/ 0 w 126"/>
                <a:gd name="T1" fmla="*/ 63 h 325"/>
                <a:gd name="T2" fmla="*/ 0 w 126"/>
                <a:gd name="T3" fmla="*/ 262 h 325"/>
                <a:gd name="T4" fmla="*/ 62 w 126"/>
                <a:gd name="T5" fmla="*/ 324 h 325"/>
                <a:gd name="T6" fmla="*/ 125 w 126"/>
                <a:gd name="T7" fmla="*/ 261 h 325"/>
                <a:gd name="T8" fmla="*/ 125 w 126"/>
                <a:gd name="T9" fmla="*/ 62 h 325"/>
                <a:gd name="T10" fmla="*/ 63 w 126"/>
                <a:gd name="T11" fmla="*/ 0 h 325"/>
                <a:gd name="T12" fmla="*/ 0 w 126"/>
                <a:gd name="T13" fmla="*/ 63 h 3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5"/>
                <a:gd name="T23" fmla="*/ 126 w 126"/>
                <a:gd name="T24" fmla="*/ 325 h 3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5">
                  <a:moveTo>
                    <a:pt x="0" y="63"/>
                  </a:moveTo>
                  <a:lnTo>
                    <a:pt x="0" y="262"/>
                  </a:lnTo>
                  <a:lnTo>
                    <a:pt x="62" y="324"/>
                  </a:lnTo>
                  <a:lnTo>
                    <a:pt x="125" y="261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34" name="Freeform 70"/>
            <p:cNvSpPr>
              <a:spLocks/>
            </p:cNvSpPr>
            <p:nvPr/>
          </p:nvSpPr>
          <p:spPr bwMode="auto">
            <a:xfrm>
              <a:off x="4724" y="3484"/>
              <a:ext cx="326" cy="127"/>
            </a:xfrm>
            <a:custGeom>
              <a:avLst/>
              <a:gdLst>
                <a:gd name="T0" fmla="*/ 262 w 326"/>
                <a:gd name="T1" fmla="*/ 0 h 127"/>
                <a:gd name="T2" fmla="*/ 62 w 326"/>
                <a:gd name="T3" fmla="*/ 0 h 127"/>
                <a:gd name="T4" fmla="*/ 0 w 326"/>
                <a:gd name="T5" fmla="*/ 63 h 127"/>
                <a:gd name="T6" fmla="*/ 63 w 326"/>
                <a:gd name="T7" fmla="*/ 126 h 127"/>
                <a:gd name="T8" fmla="*/ 263 w 326"/>
                <a:gd name="T9" fmla="*/ 126 h 127"/>
                <a:gd name="T10" fmla="*/ 325 w 326"/>
                <a:gd name="T11" fmla="*/ 63 h 127"/>
                <a:gd name="T12" fmla="*/ 262 w 326"/>
                <a:gd name="T13" fmla="*/ 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6"/>
                <a:gd name="T22" fmla="*/ 0 h 127"/>
                <a:gd name="T23" fmla="*/ 326 w 326"/>
                <a:gd name="T24" fmla="*/ 127 h 12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6" h="127">
                  <a:moveTo>
                    <a:pt x="262" y="0"/>
                  </a:moveTo>
                  <a:lnTo>
                    <a:pt x="62" y="0"/>
                  </a:lnTo>
                  <a:lnTo>
                    <a:pt x="0" y="63"/>
                  </a:lnTo>
                  <a:lnTo>
                    <a:pt x="63" y="126"/>
                  </a:lnTo>
                  <a:lnTo>
                    <a:pt x="263" y="126"/>
                  </a:lnTo>
                  <a:lnTo>
                    <a:pt x="325" y="63"/>
                  </a:lnTo>
                  <a:lnTo>
                    <a:pt x="262" y="0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35" name="Freeform 71"/>
            <p:cNvSpPr>
              <a:spLocks/>
            </p:cNvSpPr>
            <p:nvPr/>
          </p:nvSpPr>
          <p:spPr bwMode="auto">
            <a:xfrm>
              <a:off x="4724" y="3831"/>
              <a:ext cx="325" cy="126"/>
            </a:xfrm>
            <a:custGeom>
              <a:avLst/>
              <a:gdLst>
                <a:gd name="T0" fmla="*/ 261 w 325"/>
                <a:gd name="T1" fmla="*/ 0 h 126"/>
                <a:gd name="T2" fmla="*/ 62 w 325"/>
                <a:gd name="T3" fmla="*/ 0 h 126"/>
                <a:gd name="T4" fmla="*/ 0 w 325"/>
                <a:gd name="T5" fmla="*/ 62 h 126"/>
                <a:gd name="T6" fmla="*/ 63 w 325"/>
                <a:gd name="T7" fmla="*/ 125 h 126"/>
                <a:gd name="T8" fmla="*/ 262 w 325"/>
                <a:gd name="T9" fmla="*/ 125 h 126"/>
                <a:gd name="T10" fmla="*/ 324 w 325"/>
                <a:gd name="T11" fmla="*/ 63 h 126"/>
                <a:gd name="T12" fmla="*/ 261 w 325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5"/>
                <a:gd name="T22" fmla="*/ 0 h 126"/>
                <a:gd name="T23" fmla="*/ 325 w 325"/>
                <a:gd name="T24" fmla="*/ 126 h 1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5" h="126">
                  <a:moveTo>
                    <a:pt x="261" y="0"/>
                  </a:moveTo>
                  <a:lnTo>
                    <a:pt x="62" y="0"/>
                  </a:lnTo>
                  <a:lnTo>
                    <a:pt x="0" y="62"/>
                  </a:lnTo>
                  <a:lnTo>
                    <a:pt x="63" y="125"/>
                  </a:lnTo>
                  <a:lnTo>
                    <a:pt x="262" y="125"/>
                  </a:lnTo>
                  <a:lnTo>
                    <a:pt x="324" y="63"/>
                  </a:lnTo>
                  <a:lnTo>
                    <a:pt x="261" y="0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36" name="Freeform 72"/>
            <p:cNvSpPr>
              <a:spLocks/>
            </p:cNvSpPr>
            <p:nvPr/>
          </p:nvSpPr>
          <p:spPr bwMode="auto">
            <a:xfrm>
              <a:off x="4724" y="3133"/>
              <a:ext cx="325" cy="126"/>
            </a:xfrm>
            <a:custGeom>
              <a:avLst/>
              <a:gdLst>
                <a:gd name="T0" fmla="*/ 261 w 325"/>
                <a:gd name="T1" fmla="*/ 0 h 126"/>
                <a:gd name="T2" fmla="*/ 62 w 325"/>
                <a:gd name="T3" fmla="*/ 0 h 126"/>
                <a:gd name="T4" fmla="*/ 0 w 325"/>
                <a:gd name="T5" fmla="*/ 62 h 126"/>
                <a:gd name="T6" fmla="*/ 63 w 325"/>
                <a:gd name="T7" fmla="*/ 125 h 126"/>
                <a:gd name="T8" fmla="*/ 262 w 325"/>
                <a:gd name="T9" fmla="*/ 125 h 126"/>
                <a:gd name="T10" fmla="*/ 324 w 325"/>
                <a:gd name="T11" fmla="*/ 63 h 126"/>
                <a:gd name="T12" fmla="*/ 261 w 325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5"/>
                <a:gd name="T22" fmla="*/ 0 h 126"/>
                <a:gd name="T23" fmla="*/ 325 w 325"/>
                <a:gd name="T24" fmla="*/ 126 h 1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5" h="126">
                  <a:moveTo>
                    <a:pt x="261" y="0"/>
                  </a:moveTo>
                  <a:lnTo>
                    <a:pt x="62" y="0"/>
                  </a:lnTo>
                  <a:lnTo>
                    <a:pt x="0" y="62"/>
                  </a:lnTo>
                  <a:lnTo>
                    <a:pt x="63" y="125"/>
                  </a:lnTo>
                  <a:lnTo>
                    <a:pt x="262" y="125"/>
                  </a:lnTo>
                  <a:lnTo>
                    <a:pt x="324" y="63"/>
                  </a:lnTo>
                  <a:lnTo>
                    <a:pt x="261" y="0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37" name="Freeform 73"/>
            <p:cNvSpPr>
              <a:spLocks/>
            </p:cNvSpPr>
            <p:nvPr/>
          </p:nvSpPr>
          <p:spPr bwMode="auto">
            <a:xfrm>
              <a:off x="5013" y="3207"/>
              <a:ext cx="126" cy="324"/>
            </a:xfrm>
            <a:custGeom>
              <a:avLst/>
              <a:gdLst>
                <a:gd name="T0" fmla="*/ 0 w 126"/>
                <a:gd name="T1" fmla="*/ 63 h 324"/>
                <a:gd name="T2" fmla="*/ 0 w 126"/>
                <a:gd name="T3" fmla="*/ 261 h 324"/>
                <a:gd name="T4" fmla="*/ 62 w 126"/>
                <a:gd name="T5" fmla="*/ 323 h 324"/>
                <a:gd name="T6" fmla="*/ 125 w 126"/>
                <a:gd name="T7" fmla="*/ 260 h 324"/>
                <a:gd name="T8" fmla="*/ 125 w 126"/>
                <a:gd name="T9" fmla="*/ 62 h 324"/>
                <a:gd name="T10" fmla="*/ 63 w 126"/>
                <a:gd name="T11" fmla="*/ 0 h 324"/>
                <a:gd name="T12" fmla="*/ 0 w 126"/>
                <a:gd name="T13" fmla="*/ 63 h 3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4"/>
                <a:gd name="T23" fmla="*/ 126 w 126"/>
                <a:gd name="T24" fmla="*/ 324 h 3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4">
                  <a:moveTo>
                    <a:pt x="0" y="63"/>
                  </a:moveTo>
                  <a:lnTo>
                    <a:pt x="0" y="261"/>
                  </a:lnTo>
                  <a:lnTo>
                    <a:pt x="62" y="323"/>
                  </a:lnTo>
                  <a:lnTo>
                    <a:pt x="125" y="260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38" name="Freeform 74"/>
            <p:cNvSpPr>
              <a:spLocks/>
            </p:cNvSpPr>
            <p:nvPr/>
          </p:nvSpPr>
          <p:spPr bwMode="auto">
            <a:xfrm>
              <a:off x="5012" y="3560"/>
              <a:ext cx="126" cy="324"/>
            </a:xfrm>
            <a:custGeom>
              <a:avLst/>
              <a:gdLst>
                <a:gd name="T0" fmla="*/ 0 w 126"/>
                <a:gd name="T1" fmla="*/ 63 h 324"/>
                <a:gd name="T2" fmla="*/ 0 w 126"/>
                <a:gd name="T3" fmla="*/ 261 h 324"/>
                <a:gd name="T4" fmla="*/ 62 w 126"/>
                <a:gd name="T5" fmla="*/ 323 h 324"/>
                <a:gd name="T6" fmla="*/ 125 w 126"/>
                <a:gd name="T7" fmla="*/ 260 h 324"/>
                <a:gd name="T8" fmla="*/ 125 w 126"/>
                <a:gd name="T9" fmla="*/ 62 h 324"/>
                <a:gd name="T10" fmla="*/ 63 w 126"/>
                <a:gd name="T11" fmla="*/ 0 h 324"/>
                <a:gd name="T12" fmla="*/ 0 w 126"/>
                <a:gd name="T13" fmla="*/ 63 h 3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4"/>
                <a:gd name="T23" fmla="*/ 126 w 126"/>
                <a:gd name="T24" fmla="*/ 324 h 3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4">
                  <a:moveTo>
                    <a:pt x="0" y="63"/>
                  </a:moveTo>
                  <a:lnTo>
                    <a:pt x="0" y="261"/>
                  </a:lnTo>
                  <a:lnTo>
                    <a:pt x="62" y="323"/>
                  </a:lnTo>
                  <a:lnTo>
                    <a:pt x="125" y="260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</p:grpSp>
      <p:grpSp>
        <p:nvGrpSpPr>
          <p:cNvPr id="29708" name="Group 75"/>
          <p:cNvGrpSpPr>
            <a:grpSpLocks/>
          </p:cNvGrpSpPr>
          <p:nvPr/>
        </p:nvGrpSpPr>
        <p:grpSpPr bwMode="auto">
          <a:xfrm>
            <a:off x="9801225" y="4973638"/>
            <a:ext cx="795338" cy="1308100"/>
            <a:chOff x="5214" y="3133"/>
            <a:chExt cx="501" cy="824"/>
          </a:xfrm>
        </p:grpSpPr>
        <p:sp>
          <p:nvSpPr>
            <p:cNvPr id="29725" name="Freeform 76"/>
            <p:cNvSpPr>
              <a:spLocks/>
            </p:cNvSpPr>
            <p:nvPr/>
          </p:nvSpPr>
          <p:spPr bwMode="auto">
            <a:xfrm>
              <a:off x="5215" y="3207"/>
              <a:ext cx="126" cy="325"/>
            </a:xfrm>
            <a:custGeom>
              <a:avLst/>
              <a:gdLst>
                <a:gd name="T0" fmla="*/ 0 w 126"/>
                <a:gd name="T1" fmla="*/ 63 h 325"/>
                <a:gd name="T2" fmla="*/ 0 w 126"/>
                <a:gd name="T3" fmla="*/ 262 h 325"/>
                <a:gd name="T4" fmla="*/ 62 w 126"/>
                <a:gd name="T5" fmla="*/ 324 h 325"/>
                <a:gd name="T6" fmla="*/ 125 w 126"/>
                <a:gd name="T7" fmla="*/ 261 h 325"/>
                <a:gd name="T8" fmla="*/ 125 w 126"/>
                <a:gd name="T9" fmla="*/ 62 h 325"/>
                <a:gd name="T10" fmla="*/ 63 w 126"/>
                <a:gd name="T11" fmla="*/ 0 h 325"/>
                <a:gd name="T12" fmla="*/ 0 w 126"/>
                <a:gd name="T13" fmla="*/ 63 h 3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5"/>
                <a:gd name="T23" fmla="*/ 126 w 126"/>
                <a:gd name="T24" fmla="*/ 325 h 3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5">
                  <a:moveTo>
                    <a:pt x="0" y="63"/>
                  </a:moveTo>
                  <a:lnTo>
                    <a:pt x="0" y="262"/>
                  </a:lnTo>
                  <a:lnTo>
                    <a:pt x="62" y="324"/>
                  </a:lnTo>
                  <a:lnTo>
                    <a:pt x="125" y="261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26" name="Freeform 77"/>
            <p:cNvSpPr>
              <a:spLocks/>
            </p:cNvSpPr>
            <p:nvPr/>
          </p:nvSpPr>
          <p:spPr bwMode="auto">
            <a:xfrm>
              <a:off x="5214" y="3560"/>
              <a:ext cx="126" cy="325"/>
            </a:xfrm>
            <a:custGeom>
              <a:avLst/>
              <a:gdLst>
                <a:gd name="T0" fmla="*/ 0 w 126"/>
                <a:gd name="T1" fmla="*/ 63 h 325"/>
                <a:gd name="T2" fmla="*/ 0 w 126"/>
                <a:gd name="T3" fmla="*/ 262 h 325"/>
                <a:gd name="T4" fmla="*/ 62 w 126"/>
                <a:gd name="T5" fmla="*/ 324 h 325"/>
                <a:gd name="T6" fmla="*/ 125 w 126"/>
                <a:gd name="T7" fmla="*/ 261 h 325"/>
                <a:gd name="T8" fmla="*/ 125 w 126"/>
                <a:gd name="T9" fmla="*/ 62 h 325"/>
                <a:gd name="T10" fmla="*/ 63 w 126"/>
                <a:gd name="T11" fmla="*/ 0 h 325"/>
                <a:gd name="T12" fmla="*/ 0 w 126"/>
                <a:gd name="T13" fmla="*/ 63 h 3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5"/>
                <a:gd name="T23" fmla="*/ 126 w 126"/>
                <a:gd name="T24" fmla="*/ 325 h 3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5">
                  <a:moveTo>
                    <a:pt x="0" y="63"/>
                  </a:moveTo>
                  <a:lnTo>
                    <a:pt x="0" y="262"/>
                  </a:lnTo>
                  <a:lnTo>
                    <a:pt x="62" y="324"/>
                  </a:lnTo>
                  <a:lnTo>
                    <a:pt x="125" y="261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27" name="Freeform 78"/>
            <p:cNvSpPr>
              <a:spLocks/>
            </p:cNvSpPr>
            <p:nvPr/>
          </p:nvSpPr>
          <p:spPr bwMode="auto">
            <a:xfrm>
              <a:off x="5300" y="3484"/>
              <a:ext cx="326" cy="127"/>
            </a:xfrm>
            <a:custGeom>
              <a:avLst/>
              <a:gdLst>
                <a:gd name="T0" fmla="*/ 262 w 326"/>
                <a:gd name="T1" fmla="*/ 0 h 127"/>
                <a:gd name="T2" fmla="*/ 62 w 326"/>
                <a:gd name="T3" fmla="*/ 0 h 127"/>
                <a:gd name="T4" fmla="*/ 0 w 326"/>
                <a:gd name="T5" fmla="*/ 63 h 127"/>
                <a:gd name="T6" fmla="*/ 63 w 326"/>
                <a:gd name="T7" fmla="*/ 126 h 127"/>
                <a:gd name="T8" fmla="*/ 263 w 326"/>
                <a:gd name="T9" fmla="*/ 126 h 127"/>
                <a:gd name="T10" fmla="*/ 325 w 326"/>
                <a:gd name="T11" fmla="*/ 63 h 127"/>
                <a:gd name="T12" fmla="*/ 262 w 326"/>
                <a:gd name="T13" fmla="*/ 0 h 1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6"/>
                <a:gd name="T22" fmla="*/ 0 h 127"/>
                <a:gd name="T23" fmla="*/ 326 w 326"/>
                <a:gd name="T24" fmla="*/ 127 h 12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6" h="127">
                  <a:moveTo>
                    <a:pt x="262" y="0"/>
                  </a:moveTo>
                  <a:lnTo>
                    <a:pt x="62" y="0"/>
                  </a:lnTo>
                  <a:lnTo>
                    <a:pt x="0" y="63"/>
                  </a:lnTo>
                  <a:lnTo>
                    <a:pt x="63" y="126"/>
                  </a:lnTo>
                  <a:lnTo>
                    <a:pt x="263" y="126"/>
                  </a:lnTo>
                  <a:lnTo>
                    <a:pt x="325" y="63"/>
                  </a:lnTo>
                  <a:lnTo>
                    <a:pt x="262" y="0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28" name="Freeform 79"/>
            <p:cNvSpPr>
              <a:spLocks/>
            </p:cNvSpPr>
            <p:nvPr/>
          </p:nvSpPr>
          <p:spPr bwMode="auto">
            <a:xfrm>
              <a:off x="5300" y="3831"/>
              <a:ext cx="325" cy="126"/>
            </a:xfrm>
            <a:custGeom>
              <a:avLst/>
              <a:gdLst>
                <a:gd name="T0" fmla="*/ 261 w 325"/>
                <a:gd name="T1" fmla="*/ 0 h 126"/>
                <a:gd name="T2" fmla="*/ 62 w 325"/>
                <a:gd name="T3" fmla="*/ 0 h 126"/>
                <a:gd name="T4" fmla="*/ 0 w 325"/>
                <a:gd name="T5" fmla="*/ 62 h 126"/>
                <a:gd name="T6" fmla="*/ 63 w 325"/>
                <a:gd name="T7" fmla="*/ 125 h 126"/>
                <a:gd name="T8" fmla="*/ 262 w 325"/>
                <a:gd name="T9" fmla="*/ 125 h 126"/>
                <a:gd name="T10" fmla="*/ 324 w 325"/>
                <a:gd name="T11" fmla="*/ 63 h 126"/>
                <a:gd name="T12" fmla="*/ 261 w 325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5"/>
                <a:gd name="T22" fmla="*/ 0 h 126"/>
                <a:gd name="T23" fmla="*/ 325 w 325"/>
                <a:gd name="T24" fmla="*/ 126 h 1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5" h="126">
                  <a:moveTo>
                    <a:pt x="261" y="0"/>
                  </a:moveTo>
                  <a:lnTo>
                    <a:pt x="62" y="0"/>
                  </a:lnTo>
                  <a:lnTo>
                    <a:pt x="0" y="62"/>
                  </a:lnTo>
                  <a:lnTo>
                    <a:pt x="63" y="125"/>
                  </a:lnTo>
                  <a:lnTo>
                    <a:pt x="262" y="125"/>
                  </a:lnTo>
                  <a:lnTo>
                    <a:pt x="324" y="63"/>
                  </a:lnTo>
                  <a:lnTo>
                    <a:pt x="261" y="0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29" name="Freeform 80"/>
            <p:cNvSpPr>
              <a:spLocks/>
            </p:cNvSpPr>
            <p:nvPr/>
          </p:nvSpPr>
          <p:spPr bwMode="auto">
            <a:xfrm>
              <a:off x="5300" y="3133"/>
              <a:ext cx="325" cy="126"/>
            </a:xfrm>
            <a:custGeom>
              <a:avLst/>
              <a:gdLst>
                <a:gd name="T0" fmla="*/ 261 w 325"/>
                <a:gd name="T1" fmla="*/ 0 h 126"/>
                <a:gd name="T2" fmla="*/ 62 w 325"/>
                <a:gd name="T3" fmla="*/ 0 h 126"/>
                <a:gd name="T4" fmla="*/ 0 w 325"/>
                <a:gd name="T5" fmla="*/ 62 h 126"/>
                <a:gd name="T6" fmla="*/ 63 w 325"/>
                <a:gd name="T7" fmla="*/ 125 h 126"/>
                <a:gd name="T8" fmla="*/ 262 w 325"/>
                <a:gd name="T9" fmla="*/ 125 h 126"/>
                <a:gd name="T10" fmla="*/ 324 w 325"/>
                <a:gd name="T11" fmla="*/ 63 h 126"/>
                <a:gd name="T12" fmla="*/ 261 w 325"/>
                <a:gd name="T13" fmla="*/ 0 h 1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5"/>
                <a:gd name="T22" fmla="*/ 0 h 126"/>
                <a:gd name="T23" fmla="*/ 325 w 325"/>
                <a:gd name="T24" fmla="*/ 126 h 12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5" h="126">
                  <a:moveTo>
                    <a:pt x="261" y="0"/>
                  </a:moveTo>
                  <a:lnTo>
                    <a:pt x="62" y="0"/>
                  </a:lnTo>
                  <a:lnTo>
                    <a:pt x="0" y="62"/>
                  </a:lnTo>
                  <a:lnTo>
                    <a:pt x="63" y="125"/>
                  </a:lnTo>
                  <a:lnTo>
                    <a:pt x="262" y="125"/>
                  </a:lnTo>
                  <a:lnTo>
                    <a:pt x="324" y="63"/>
                  </a:lnTo>
                  <a:lnTo>
                    <a:pt x="261" y="0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30" name="Freeform 81"/>
            <p:cNvSpPr>
              <a:spLocks/>
            </p:cNvSpPr>
            <p:nvPr/>
          </p:nvSpPr>
          <p:spPr bwMode="auto">
            <a:xfrm>
              <a:off x="5589" y="3207"/>
              <a:ext cx="126" cy="324"/>
            </a:xfrm>
            <a:custGeom>
              <a:avLst/>
              <a:gdLst>
                <a:gd name="T0" fmla="*/ 0 w 126"/>
                <a:gd name="T1" fmla="*/ 63 h 324"/>
                <a:gd name="T2" fmla="*/ 0 w 126"/>
                <a:gd name="T3" fmla="*/ 261 h 324"/>
                <a:gd name="T4" fmla="*/ 62 w 126"/>
                <a:gd name="T5" fmla="*/ 323 h 324"/>
                <a:gd name="T6" fmla="*/ 125 w 126"/>
                <a:gd name="T7" fmla="*/ 260 h 324"/>
                <a:gd name="T8" fmla="*/ 125 w 126"/>
                <a:gd name="T9" fmla="*/ 62 h 324"/>
                <a:gd name="T10" fmla="*/ 63 w 126"/>
                <a:gd name="T11" fmla="*/ 0 h 324"/>
                <a:gd name="T12" fmla="*/ 0 w 126"/>
                <a:gd name="T13" fmla="*/ 63 h 3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4"/>
                <a:gd name="T23" fmla="*/ 126 w 126"/>
                <a:gd name="T24" fmla="*/ 324 h 3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4">
                  <a:moveTo>
                    <a:pt x="0" y="63"/>
                  </a:moveTo>
                  <a:lnTo>
                    <a:pt x="0" y="261"/>
                  </a:lnTo>
                  <a:lnTo>
                    <a:pt x="62" y="323"/>
                  </a:lnTo>
                  <a:lnTo>
                    <a:pt x="125" y="260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31" name="Freeform 82"/>
            <p:cNvSpPr>
              <a:spLocks/>
            </p:cNvSpPr>
            <p:nvPr/>
          </p:nvSpPr>
          <p:spPr bwMode="auto">
            <a:xfrm>
              <a:off x="5588" y="3560"/>
              <a:ext cx="126" cy="324"/>
            </a:xfrm>
            <a:custGeom>
              <a:avLst/>
              <a:gdLst>
                <a:gd name="T0" fmla="*/ 0 w 126"/>
                <a:gd name="T1" fmla="*/ 63 h 324"/>
                <a:gd name="T2" fmla="*/ 0 w 126"/>
                <a:gd name="T3" fmla="*/ 261 h 324"/>
                <a:gd name="T4" fmla="*/ 62 w 126"/>
                <a:gd name="T5" fmla="*/ 323 h 324"/>
                <a:gd name="T6" fmla="*/ 125 w 126"/>
                <a:gd name="T7" fmla="*/ 260 h 324"/>
                <a:gd name="T8" fmla="*/ 125 w 126"/>
                <a:gd name="T9" fmla="*/ 62 h 324"/>
                <a:gd name="T10" fmla="*/ 63 w 126"/>
                <a:gd name="T11" fmla="*/ 0 h 324"/>
                <a:gd name="T12" fmla="*/ 0 w 126"/>
                <a:gd name="T13" fmla="*/ 63 h 3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324"/>
                <a:gd name="T23" fmla="*/ 126 w 126"/>
                <a:gd name="T24" fmla="*/ 324 h 32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324">
                  <a:moveTo>
                    <a:pt x="0" y="63"/>
                  </a:moveTo>
                  <a:lnTo>
                    <a:pt x="0" y="261"/>
                  </a:lnTo>
                  <a:lnTo>
                    <a:pt x="62" y="323"/>
                  </a:lnTo>
                  <a:lnTo>
                    <a:pt x="125" y="260"/>
                  </a:lnTo>
                  <a:lnTo>
                    <a:pt x="125" y="62"/>
                  </a:lnTo>
                  <a:lnTo>
                    <a:pt x="63" y="0"/>
                  </a:lnTo>
                  <a:lnTo>
                    <a:pt x="0" y="63"/>
                  </a:lnTo>
                </a:path>
              </a:pathLst>
            </a:custGeom>
            <a:solidFill>
              <a:schemeClr val="tx1"/>
            </a:solidFill>
            <a:ln w="127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</p:grpSp>
      <p:graphicFrame>
        <p:nvGraphicFramePr>
          <p:cNvPr id="29698" name="Object 2"/>
          <p:cNvGraphicFramePr>
            <a:graphicFrameLocks/>
          </p:cNvGraphicFramePr>
          <p:nvPr/>
        </p:nvGraphicFramePr>
        <p:xfrm>
          <a:off x="4202113" y="1262063"/>
          <a:ext cx="6083300" cy="353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095880" imgH="3543120" progId="Word.Document.6">
                  <p:embed/>
                </p:oleObj>
              </mc:Choice>
              <mc:Fallback>
                <p:oleObj name="Document" r:id="rId2" imgW="6095880" imgH="3543120" progId="Word.Document.6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2113" y="1262063"/>
                        <a:ext cx="6083300" cy="353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09" name="Group 84"/>
          <p:cNvGrpSpPr>
            <a:grpSpLocks/>
          </p:cNvGrpSpPr>
          <p:nvPr/>
        </p:nvGrpSpPr>
        <p:grpSpPr bwMode="auto">
          <a:xfrm>
            <a:off x="1754189" y="1093788"/>
            <a:ext cx="2092325" cy="3446462"/>
            <a:chOff x="145" y="689"/>
            <a:chExt cx="1318" cy="2171"/>
          </a:xfrm>
        </p:grpSpPr>
        <p:sp>
          <p:nvSpPr>
            <p:cNvPr id="29711" name="Freeform 85"/>
            <p:cNvSpPr>
              <a:spLocks/>
            </p:cNvSpPr>
            <p:nvPr/>
          </p:nvSpPr>
          <p:spPr bwMode="auto">
            <a:xfrm>
              <a:off x="147" y="884"/>
              <a:ext cx="331" cy="855"/>
            </a:xfrm>
            <a:custGeom>
              <a:avLst/>
              <a:gdLst>
                <a:gd name="T0" fmla="*/ 0 w 331"/>
                <a:gd name="T1" fmla="*/ 166 h 855"/>
                <a:gd name="T2" fmla="*/ 0 w 331"/>
                <a:gd name="T3" fmla="*/ 690 h 855"/>
                <a:gd name="T4" fmla="*/ 164 w 331"/>
                <a:gd name="T5" fmla="*/ 854 h 855"/>
                <a:gd name="T6" fmla="*/ 330 w 331"/>
                <a:gd name="T7" fmla="*/ 688 h 855"/>
                <a:gd name="T8" fmla="*/ 330 w 331"/>
                <a:gd name="T9" fmla="*/ 164 h 855"/>
                <a:gd name="T10" fmla="*/ 166 w 331"/>
                <a:gd name="T11" fmla="*/ 0 h 855"/>
                <a:gd name="T12" fmla="*/ 0 w 331"/>
                <a:gd name="T13" fmla="*/ 166 h 8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1"/>
                <a:gd name="T22" fmla="*/ 0 h 855"/>
                <a:gd name="T23" fmla="*/ 331 w 331"/>
                <a:gd name="T24" fmla="*/ 855 h 85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1" h="855">
                  <a:moveTo>
                    <a:pt x="0" y="166"/>
                  </a:moveTo>
                  <a:lnTo>
                    <a:pt x="0" y="690"/>
                  </a:lnTo>
                  <a:lnTo>
                    <a:pt x="164" y="854"/>
                  </a:lnTo>
                  <a:lnTo>
                    <a:pt x="330" y="688"/>
                  </a:lnTo>
                  <a:lnTo>
                    <a:pt x="330" y="164"/>
                  </a:lnTo>
                  <a:lnTo>
                    <a:pt x="166" y="0"/>
                  </a:lnTo>
                  <a:lnTo>
                    <a:pt x="0" y="166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12" name="Freeform 86"/>
            <p:cNvSpPr>
              <a:spLocks/>
            </p:cNvSpPr>
            <p:nvPr/>
          </p:nvSpPr>
          <p:spPr bwMode="auto">
            <a:xfrm>
              <a:off x="145" y="1815"/>
              <a:ext cx="331" cy="855"/>
            </a:xfrm>
            <a:custGeom>
              <a:avLst/>
              <a:gdLst>
                <a:gd name="T0" fmla="*/ 0 w 331"/>
                <a:gd name="T1" fmla="*/ 166 h 855"/>
                <a:gd name="T2" fmla="*/ 0 w 331"/>
                <a:gd name="T3" fmla="*/ 690 h 855"/>
                <a:gd name="T4" fmla="*/ 164 w 331"/>
                <a:gd name="T5" fmla="*/ 854 h 855"/>
                <a:gd name="T6" fmla="*/ 330 w 331"/>
                <a:gd name="T7" fmla="*/ 688 h 855"/>
                <a:gd name="T8" fmla="*/ 330 w 331"/>
                <a:gd name="T9" fmla="*/ 164 h 855"/>
                <a:gd name="T10" fmla="*/ 166 w 331"/>
                <a:gd name="T11" fmla="*/ 0 h 855"/>
                <a:gd name="T12" fmla="*/ 0 w 331"/>
                <a:gd name="T13" fmla="*/ 166 h 8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1"/>
                <a:gd name="T22" fmla="*/ 0 h 855"/>
                <a:gd name="T23" fmla="*/ 331 w 331"/>
                <a:gd name="T24" fmla="*/ 855 h 85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1" h="855">
                  <a:moveTo>
                    <a:pt x="0" y="166"/>
                  </a:moveTo>
                  <a:lnTo>
                    <a:pt x="0" y="690"/>
                  </a:lnTo>
                  <a:lnTo>
                    <a:pt x="164" y="854"/>
                  </a:lnTo>
                  <a:lnTo>
                    <a:pt x="330" y="688"/>
                  </a:lnTo>
                  <a:lnTo>
                    <a:pt x="330" y="164"/>
                  </a:lnTo>
                  <a:lnTo>
                    <a:pt x="166" y="0"/>
                  </a:lnTo>
                  <a:lnTo>
                    <a:pt x="0" y="166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13" name="Freeform 87"/>
            <p:cNvSpPr>
              <a:spLocks/>
            </p:cNvSpPr>
            <p:nvPr/>
          </p:nvSpPr>
          <p:spPr bwMode="auto">
            <a:xfrm>
              <a:off x="372" y="1615"/>
              <a:ext cx="855" cy="331"/>
            </a:xfrm>
            <a:custGeom>
              <a:avLst/>
              <a:gdLst>
                <a:gd name="T0" fmla="*/ 688 w 855"/>
                <a:gd name="T1" fmla="*/ 0 h 331"/>
                <a:gd name="T2" fmla="*/ 164 w 855"/>
                <a:gd name="T3" fmla="*/ 0 h 331"/>
                <a:gd name="T4" fmla="*/ 0 w 855"/>
                <a:gd name="T5" fmla="*/ 164 h 331"/>
                <a:gd name="T6" fmla="*/ 166 w 855"/>
                <a:gd name="T7" fmla="*/ 330 h 331"/>
                <a:gd name="T8" fmla="*/ 690 w 855"/>
                <a:gd name="T9" fmla="*/ 330 h 331"/>
                <a:gd name="T10" fmla="*/ 854 w 855"/>
                <a:gd name="T11" fmla="*/ 166 h 331"/>
                <a:gd name="T12" fmla="*/ 688 w 855"/>
                <a:gd name="T13" fmla="*/ 0 h 3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55"/>
                <a:gd name="T22" fmla="*/ 0 h 331"/>
                <a:gd name="T23" fmla="*/ 855 w 855"/>
                <a:gd name="T24" fmla="*/ 331 h 33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55" h="331">
                  <a:moveTo>
                    <a:pt x="688" y="0"/>
                  </a:moveTo>
                  <a:lnTo>
                    <a:pt x="164" y="0"/>
                  </a:lnTo>
                  <a:lnTo>
                    <a:pt x="0" y="164"/>
                  </a:lnTo>
                  <a:lnTo>
                    <a:pt x="166" y="330"/>
                  </a:lnTo>
                  <a:lnTo>
                    <a:pt x="690" y="330"/>
                  </a:lnTo>
                  <a:lnTo>
                    <a:pt x="854" y="166"/>
                  </a:lnTo>
                  <a:lnTo>
                    <a:pt x="688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14" name="Freeform 88"/>
            <p:cNvSpPr>
              <a:spLocks/>
            </p:cNvSpPr>
            <p:nvPr/>
          </p:nvSpPr>
          <p:spPr bwMode="auto">
            <a:xfrm>
              <a:off x="370" y="2529"/>
              <a:ext cx="855" cy="331"/>
            </a:xfrm>
            <a:custGeom>
              <a:avLst/>
              <a:gdLst>
                <a:gd name="T0" fmla="*/ 688 w 855"/>
                <a:gd name="T1" fmla="*/ 0 h 331"/>
                <a:gd name="T2" fmla="*/ 164 w 855"/>
                <a:gd name="T3" fmla="*/ 0 h 331"/>
                <a:gd name="T4" fmla="*/ 0 w 855"/>
                <a:gd name="T5" fmla="*/ 164 h 331"/>
                <a:gd name="T6" fmla="*/ 166 w 855"/>
                <a:gd name="T7" fmla="*/ 330 h 331"/>
                <a:gd name="T8" fmla="*/ 690 w 855"/>
                <a:gd name="T9" fmla="*/ 330 h 331"/>
                <a:gd name="T10" fmla="*/ 854 w 855"/>
                <a:gd name="T11" fmla="*/ 166 h 331"/>
                <a:gd name="T12" fmla="*/ 688 w 855"/>
                <a:gd name="T13" fmla="*/ 0 h 3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55"/>
                <a:gd name="T22" fmla="*/ 0 h 331"/>
                <a:gd name="T23" fmla="*/ 855 w 855"/>
                <a:gd name="T24" fmla="*/ 331 h 33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55" h="331">
                  <a:moveTo>
                    <a:pt x="688" y="0"/>
                  </a:moveTo>
                  <a:lnTo>
                    <a:pt x="164" y="0"/>
                  </a:lnTo>
                  <a:lnTo>
                    <a:pt x="0" y="164"/>
                  </a:lnTo>
                  <a:lnTo>
                    <a:pt x="166" y="330"/>
                  </a:lnTo>
                  <a:lnTo>
                    <a:pt x="690" y="330"/>
                  </a:lnTo>
                  <a:lnTo>
                    <a:pt x="854" y="166"/>
                  </a:lnTo>
                  <a:lnTo>
                    <a:pt x="688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15" name="Freeform 89"/>
            <p:cNvSpPr>
              <a:spLocks/>
            </p:cNvSpPr>
            <p:nvPr/>
          </p:nvSpPr>
          <p:spPr bwMode="auto">
            <a:xfrm>
              <a:off x="370" y="689"/>
              <a:ext cx="855" cy="331"/>
            </a:xfrm>
            <a:custGeom>
              <a:avLst/>
              <a:gdLst>
                <a:gd name="T0" fmla="*/ 688 w 855"/>
                <a:gd name="T1" fmla="*/ 0 h 331"/>
                <a:gd name="T2" fmla="*/ 164 w 855"/>
                <a:gd name="T3" fmla="*/ 0 h 331"/>
                <a:gd name="T4" fmla="*/ 0 w 855"/>
                <a:gd name="T5" fmla="*/ 164 h 331"/>
                <a:gd name="T6" fmla="*/ 166 w 855"/>
                <a:gd name="T7" fmla="*/ 330 h 331"/>
                <a:gd name="T8" fmla="*/ 690 w 855"/>
                <a:gd name="T9" fmla="*/ 330 h 331"/>
                <a:gd name="T10" fmla="*/ 854 w 855"/>
                <a:gd name="T11" fmla="*/ 166 h 331"/>
                <a:gd name="T12" fmla="*/ 688 w 855"/>
                <a:gd name="T13" fmla="*/ 0 h 3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55"/>
                <a:gd name="T22" fmla="*/ 0 h 331"/>
                <a:gd name="T23" fmla="*/ 855 w 855"/>
                <a:gd name="T24" fmla="*/ 331 h 33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55" h="331">
                  <a:moveTo>
                    <a:pt x="688" y="0"/>
                  </a:moveTo>
                  <a:lnTo>
                    <a:pt x="164" y="0"/>
                  </a:lnTo>
                  <a:lnTo>
                    <a:pt x="0" y="164"/>
                  </a:lnTo>
                  <a:lnTo>
                    <a:pt x="166" y="330"/>
                  </a:lnTo>
                  <a:lnTo>
                    <a:pt x="690" y="330"/>
                  </a:lnTo>
                  <a:lnTo>
                    <a:pt x="854" y="166"/>
                  </a:lnTo>
                  <a:lnTo>
                    <a:pt x="688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16" name="Freeform 90"/>
            <p:cNvSpPr>
              <a:spLocks/>
            </p:cNvSpPr>
            <p:nvPr/>
          </p:nvSpPr>
          <p:spPr bwMode="auto">
            <a:xfrm>
              <a:off x="1132" y="882"/>
              <a:ext cx="331" cy="855"/>
            </a:xfrm>
            <a:custGeom>
              <a:avLst/>
              <a:gdLst>
                <a:gd name="T0" fmla="*/ 0 w 331"/>
                <a:gd name="T1" fmla="*/ 166 h 855"/>
                <a:gd name="T2" fmla="*/ 0 w 331"/>
                <a:gd name="T3" fmla="*/ 690 h 855"/>
                <a:gd name="T4" fmla="*/ 164 w 331"/>
                <a:gd name="T5" fmla="*/ 854 h 855"/>
                <a:gd name="T6" fmla="*/ 330 w 331"/>
                <a:gd name="T7" fmla="*/ 688 h 855"/>
                <a:gd name="T8" fmla="*/ 330 w 331"/>
                <a:gd name="T9" fmla="*/ 164 h 855"/>
                <a:gd name="T10" fmla="*/ 166 w 331"/>
                <a:gd name="T11" fmla="*/ 0 h 855"/>
                <a:gd name="T12" fmla="*/ 0 w 331"/>
                <a:gd name="T13" fmla="*/ 166 h 8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1"/>
                <a:gd name="T22" fmla="*/ 0 h 855"/>
                <a:gd name="T23" fmla="*/ 331 w 331"/>
                <a:gd name="T24" fmla="*/ 855 h 85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1" h="855">
                  <a:moveTo>
                    <a:pt x="0" y="166"/>
                  </a:moveTo>
                  <a:lnTo>
                    <a:pt x="0" y="690"/>
                  </a:lnTo>
                  <a:lnTo>
                    <a:pt x="164" y="854"/>
                  </a:lnTo>
                  <a:lnTo>
                    <a:pt x="330" y="688"/>
                  </a:lnTo>
                  <a:lnTo>
                    <a:pt x="330" y="164"/>
                  </a:lnTo>
                  <a:lnTo>
                    <a:pt x="166" y="0"/>
                  </a:lnTo>
                  <a:lnTo>
                    <a:pt x="0" y="166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17" name="Freeform 91"/>
            <p:cNvSpPr>
              <a:spLocks/>
            </p:cNvSpPr>
            <p:nvPr/>
          </p:nvSpPr>
          <p:spPr bwMode="auto">
            <a:xfrm>
              <a:off x="1130" y="1813"/>
              <a:ext cx="331" cy="855"/>
            </a:xfrm>
            <a:custGeom>
              <a:avLst/>
              <a:gdLst>
                <a:gd name="T0" fmla="*/ 0 w 331"/>
                <a:gd name="T1" fmla="*/ 166 h 855"/>
                <a:gd name="T2" fmla="*/ 0 w 331"/>
                <a:gd name="T3" fmla="*/ 690 h 855"/>
                <a:gd name="T4" fmla="*/ 164 w 331"/>
                <a:gd name="T5" fmla="*/ 854 h 855"/>
                <a:gd name="T6" fmla="*/ 330 w 331"/>
                <a:gd name="T7" fmla="*/ 688 h 855"/>
                <a:gd name="T8" fmla="*/ 330 w 331"/>
                <a:gd name="T9" fmla="*/ 164 h 855"/>
                <a:gd name="T10" fmla="*/ 166 w 331"/>
                <a:gd name="T11" fmla="*/ 0 h 855"/>
                <a:gd name="T12" fmla="*/ 0 w 331"/>
                <a:gd name="T13" fmla="*/ 166 h 8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1"/>
                <a:gd name="T22" fmla="*/ 0 h 855"/>
                <a:gd name="T23" fmla="*/ 331 w 331"/>
                <a:gd name="T24" fmla="*/ 855 h 85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1" h="855">
                  <a:moveTo>
                    <a:pt x="0" y="166"/>
                  </a:moveTo>
                  <a:lnTo>
                    <a:pt x="0" y="690"/>
                  </a:lnTo>
                  <a:lnTo>
                    <a:pt x="164" y="854"/>
                  </a:lnTo>
                  <a:lnTo>
                    <a:pt x="330" y="688"/>
                  </a:lnTo>
                  <a:lnTo>
                    <a:pt x="330" y="164"/>
                  </a:lnTo>
                  <a:lnTo>
                    <a:pt x="166" y="0"/>
                  </a:lnTo>
                  <a:lnTo>
                    <a:pt x="0" y="166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/>
            </a:p>
          </p:txBody>
        </p:sp>
        <p:sp>
          <p:nvSpPr>
            <p:cNvPr id="29718" name="Rectangle 92"/>
            <p:cNvSpPr>
              <a:spLocks noChangeArrowheads="1"/>
            </p:cNvSpPr>
            <p:nvPr/>
          </p:nvSpPr>
          <p:spPr bwMode="auto">
            <a:xfrm>
              <a:off x="373" y="713"/>
              <a:ext cx="85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/>
                <a:t>L1</a:t>
              </a:r>
            </a:p>
          </p:txBody>
        </p:sp>
        <p:sp>
          <p:nvSpPr>
            <p:cNvPr id="29719" name="Rectangle 93"/>
            <p:cNvSpPr>
              <a:spLocks noChangeArrowheads="1"/>
            </p:cNvSpPr>
            <p:nvPr/>
          </p:nvSpPr>
          <p:spPr bwMode="auto">
            <a:xfrm>
              <a:off x="1129" y="1067"/>
              <a:ext cx="329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dirty="0"/>
                <a:t>L</a:t>
              </a:r>
              <a:br>
                <a:rPr lang="en-US" dirty="0"/>
              </a:br>
              <a:r>
                <a:rPr lang="en-US" dirty="0"/>
                <a:t>6</a:t>
              </a:r>
            </a:p>
          </p:txBody>
        </p:sp>
        <p:sp>
          <p:nvSpPr>
            <p:cNvPr id="29720" name="Rectangle 94"/>
            <p:cNvSpPr>
              <a:spLocks noChangeArrowheads="1"/>
            </p:cNvSpPr>
            <p:nvPr/>
          </p:nvSpPr>
          <p:spPr bwMode="auto">
            <a:xfrm>
              <a:off x="371" y="1645"/>
              <a:ext cx="85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/>
                <a:t>L2</a:t>
              </a:r>
            </a:p>
          </p:txBody>
        </p:sp>
        <p:sp>
          <p:nvSpPr>
            <p:cNvPr id="29721" name="Rectangle 95"/>
            <p:cNvSpPr>
              <a:spLocks noChangeArrowheads="1"/>
            </p:cNvSpPr>
            <p:nvPr/>
          </p:nvSpPr>
          <p:spPr bwMode="auto">
            <a:xfrm>
              <a:off x="371" y="2542"/>
              <a:ext cx="85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/>
                <a:t>L3</a:t>
              </a:r>
            </a:p>
          </p:txBody>
        </p:sp>
        <p:sp>
          <p:nvSpPr>
            <p:cNvPr id="29722" name="Rectangle 96"/>
            <p:cNvSpPr>
              <a:spLocks noChangeArrowheads="1"/>
            </p:cNvSpPr>
            <p:nvPr/>
          </p:nvSpPr>
          <p:spPr bwMode="auto">
            <a:xfrm>
              <a:off x="1127" y="1998"/>
              <a:ext cx="329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/>
                <a:t>L</a:t>
              </a:r>
              <a:br>
                <a:rPr lang="en-US"/>
              </a:br>
              <a:r>
                <a:rPr lang="en-US"/>
                <a:t>7</a:t>
              </a:r>
            </a:p>
          </p:txBody>
        </p:sp>
        <p:sp>
          <p:nvSpPr>
            <p:cNvPr id="29723" name="Rectangle 97"/>
            <p:cNvSpPr>
              <a:spLocks noChangeArrowheads="1"/>
            </p:cNvSpPr>
            <p:nvPr/>
          </p:nvSpPr>
          <p:spPr bwMode="auto">
            <a:xfrm>
              <a:off x="149" y="1048"/>
              <a:ext cx="329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/>
                <a:t>L</a:t>
              </a:r>
              <a:br>
                <a:rPr lang="en-US"/>
              </a:br>
              <a:r>
                <a:rPr lang="en-US"/>
                <a:t>4</a:t>
              </a:r>
            </a:p>
          </p:txBody>
        </p:sp>
        <p:sp>
          <p:nvSpPr>
            <p:cNvPr id="29724" name="Rectangle 98"/>
            <p:cNvSpPr>
              <a:spLocks noChangeArrowheads="1"/>
            </p:cNvSpPr>
            <p:nvPr/>
          </p:nvSpPr>
          <p:spPr bwMode="auto">
            <a:xfrm>
              <a:off x="147" y="1979"/>
              <a:ext cx="329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/>
                <a:t>L</a:t>
              </a:r>
              <a:br>
                <a:rPr lang="en-US"/>
              </a:br>
              <a:r>
                <a:rPr lang="en-US"/>
                <a:t>5</a:t>
              </a:r>
            </a:p>
          </p:txBody>
        </p:sp>
      </p:grpSp>
      <p:sp>
        <p:nvSpPr>
          <p:cNvPr id="29710" name="Rectangle 99"/>
          <p:cNvSpPr>
            <a:spLocks noGrp="1" noChangeArrowheads="1"/>
          </p:cNvSpPr>
          <p:nvPr>
            <p:ph type="title"/>
          </p:nvPr>
        </p:nvSpPr>
        <p:spPr>
          <a:xfrm>
            <a:off x="554039" y="24605"/>
            <a:ext cx="10515600" cy="1325563"/>
          </a:xfrm>
        </p:spPr>
        <p:txBody>
          <a:bodyPr/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  <a:ea typeface="ＭＳ Ｐゴシック" panose="020B0600070205080204" pitchFamily="34" charset="-128"/>
              </a:rPr>
              <a:t>Case Study - 1</a:t>
            </a:r>
          </a:p>
        </p:txBody>
      </p:sp>
    </p:spTree>
    <p:extLst>
      <p:ext uri="{BB962C8B-B14F-4D97-AF65-F5344CB8AC3E}">
        <p14:creationId xmlns:p14="http://schemas.microsoft.com/office/powerpoint/2010/main" val="120939393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0" name="Rectangle 9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  <a:ea typeface="ＭＳ Ｐゴシック" panose="020B0600070205080204" pitchFamily="34" charset="-128"/>
              </a:rPr>
              <a:t>Case Study - 2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29BFDE-7FA7-420A-BCA3-ADD15C9AC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two 1-bit binary numbers</a:t>
            </a:r>
          </a:p>
          <a:p>
            <a:pPr lvl="1"/>
            <a:r>
              <a:rPr lang="en-US" b="1" dirty="0"/>
              <a:t>Input: </a:t>
            </a:r>
            <a:r>
              <a:rPr lang="en-US" dirty="0"/>
              <a:t>1 bit augend and 1 bit addend</a:t>
            </a:r>
          </a:p>
          <a:p>
            <a:pPr lvl="1"/>
            <a:r>
              <a:rPr lang="en-US" b="1" dirty="0"/>
              <a:t>Output: </a:t>
            </a:r>
            <a:r>
              <a:rPr lang="en-US" dirty="0"/>
              <a:t>1 bit carry and 1 bit sum </a:t>
            </a:r>
          </a:p>
        </p:txBody>
      </p:sp>
    </p:spTree>
    <p:extLst>
      <p:ext uri="{BB962C8B-B14F-4D97-AF65-F5344CB8AC3E}">
        <p14:creationId xmlns:p14="http://schemas.microsoft.com/office/powerpoint/2010/main" val="29151305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900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Evolution of Computer </a:t>
            </a:r>
            <a:endParaRPr lang="en-US" sz="3900" dirty="0">
              <a:latin typeface="+mn-lt"/>
            </a:endParaRPr>
          </a:p>
        </p:txBody>
      </p:sp>
      <p:pic>
        <p:nvPicPr>
          <p:cNvPr id="9" name="Content Placeholder 8" descr="Chart, scatter chart&#10;&#10;Description automatically generated">
            <a:extLst>
              <a:ext uri="{FF2B5EF4-FFF2-40B4-BE49-F238E27FC236}">
                <a16:creationId xmlns:a16="http://schemas.microsoft.com/office/drawing/2014/main" id="{573FDF85-6077-4568-9104-61D4DC1C2D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681" y="1199073"/>
            <a:ext cx="7146638" cy="5522402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  <a:t>11</a:t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 dirty="0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937410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Basic Idea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0042"/>
            <a:ext cx="10515600" cy="463692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Logic gate [basic relationship] to build complex relationship</a:t>
            </a:r>
          </a:p>
          <a:p>
            <a:pPr lvl="1"/>
            <a:r>
              <a:rPr lang="en-US" dirty="0"/>
              <a:t>AND, OR, NOT</a:t>
            </a:r>
          </a:p>
          <a:p>
            <a:pPr lvl="2"/>
            <a:r>
              <a:rPr lang="en-US" dirty="0"/>
              <a:t>Definition</a:t>
            </a:r>
          </a:p>
          <a:p>
            <a:pPr lvl="2"/>
            <a:r>
              <a:rPr lang="en-US" dirty="0"/>
              <a:t>Symbol</a:t>
            </a:r>
          </a:p>
          <a:p>
            <a:pPr lvl="2"/>
            <a:r>
              <a:rPr lang="en-US" dirty="0"/>
              <a:t>Signals in waveform as INPUT</a:t>
            </a:r>
          </a:p>
          <a:p>
            <a:r>
              <a:rPr lang="en-US" dirty="0"/>
              <a:t>Truth Table to formulate the relationship</a:t>
            </a:r>
          </a:p>
          <a:p>
            <a:r>
              <a:rPr lang="en-US" dirty="0"/>
              <a:t>Logic expression: another way to re-express</a:t>
            </a:r>
          </a:p>
          <a:p>
            <a:pPr lvl="1"/>
            <a:r>
              <a:rPr lang="en-US" dirty="0"/>
              <a:t>Algebra and circuit</a:t>
            </a:r>
          </a:p>
          <a:p>
            <a:r>
              <a:rPr lang="en-US" dirty="0"/>
              <a:t>Prepackaged Building block – IC</a:t>
            </a:r>
          </a:p>
          <a:p>
            <a:r>
              <a:rPr lang="en-US" dirty="0"/>
              <a:t>Implementation of logic gates – Transistors </a:t>
            </a:r>
          </a:p>
          <a:p>
            <a:r>
              <a:rPr lang="en-US" dirty="0"/>
              <a:t>Signals </a:t>
            </a:r>
          </a:p>
          <a:p>
            <a:pPr lvl="2"/>
            <a:r>
              <a:rPr lang="en-US" dirty="0"/>
              <a:t>Analog – turning on (switch on) lights</a:t>
            </a:r>
          </a:p>
          <a:p>
            <a:pPr lvl="2"/>
            <a:r>
              <a:rPr lang="en-US" dirty="0"/>
              <a:t>Digital – Calculator </a:t>
            </a:r>
          </a:p>
          <a:p>
            <a:pPr lvl="1"/>
            <a:r>
              <a:rPr lang="en-US" dirty="0"/>
              <a:t>In real-life a threshold value is considered to convert an analog system to a digital one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  <a:t>12</a:t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 dirty="0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716928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Circuit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Relationship among signals </a:t>
            </a:r>
          </a:p>
          <a:p>
            <a:pPr lvl="1"/>
            <a:r>
              <a:rPr lang="en-US" dirty="0"/>
              <a:t>Where the signals are provided in waveforms in time</a:t>
            </a:r>
          </a:p>
          <a:p>
            <a:r>
              <a:rPr lang="en-US" dirty="0"/>
              <a:t>Types:</a:t>
            </a:r>
          </a:p>
          <a:p>
            <a:pPr lvl="1"/>
            <a:r>
              <a:rPr lang="en-US" dirty="0"/>
              <a:t>Analog</a:t>
            </a:r>
          </a:p>
          <a:p>
            <a:pPr lvl="2"/>
            <a:r>
              <a:rPr lang="en-US" dirty="0"/>
              <a:t>Continuous values </a:t>
            </a:r>
          </a:p>
          <a:p>
            <a:pPr lvl="2"/>
            <a:r>
              <a:rPr lang="en-US" dirty="0"/>
              <a:t>Low accuracy and susceptible to noise </a:t>
            </a:r>
          </a:p>
          <a:p>
            <a:pPr lvl="1"/>
            <a:r>
              <a:rPr lang="en-US" dirty="0"/>
              <a:t>Digital </a:t>
            </a:r>
          </a:p>
          <a:p>
            <a:pPr lvl="2"/>
            <a:r>
              <a:rPr lang="en-US" dirty="0"/>
              <a:t>Discrete values </a:t>
            </a:r>
          </a:p>
          <a:p>
            <a:pPr lvl="2"/>
            <a:r>
              <a:rPr lang="en-US" dirty="0"/>
              <a:t>High accuracy and less susceptible to noise </a:t>
            </a:r>
          </a:p>
          <a:p>
            <a:pPr lvl="2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  <a:t>13</a:t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 dirty="0"/>
              <a:t>Lecture 1</a:t>
            </a:r>
          </a:p>
        </p:txBody>
      </p:sp>
      <p:pic>
        <p:nvPicPr>
          <p:cNvPr id="9" name="Picture 8" descr="A picture containing text, gauge, different, device&#10;&#10;Description automatically generated">
            <a:extLst>
              <a:ext uri="{FF2B5EF4-FFF2-40B4-BE49-F238E27FC236}">
                <a16:creationId xmlns:a16="http://schemas.microsoft.com/office/drawing/2014/main" id="{6B38F359-00B0-4459-9F47-88A1242E0B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856" y="3127699"/>
            <a:ext cx="4136687" cy="226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857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ABC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ABC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  <a:t>14</a:t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 dirty="0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734374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ABC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ABC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  <a:t>15</a:t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 dirty="0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97916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ABC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ABC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  <a:t>16</a:t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 dirty="0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209095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ABC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ABC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  <a:t>17</a:t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 dirty="0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926153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ABC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ABC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600" smtClean="0"/>
              <a:t>18</a:t>
            </a:fld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1600" dirty="0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813590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3074</TotalTime>
  <Words>758</Words>
  <Application>Microsoft Office PowerPoint</Application>
  <PresentationFormat>Widescreen</PresentationFormat>
  <Paragraphs>178</Paragraphs>
  <Slides>18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Bookman Old Style</vt:lpstr>
      <vt:lpstr>Calibri</vt:lpstr>
      <vt:lpstr>Calibri Light</vt:lpstr>
      <vt:lpstr>Times New Roman</vt:lpstr>
      <vt:lpstr>Office Theme</vt:lpstr>
      <vt:lpstr>Document</vt:lpstr>
      <vt:lpstr>Introduction</vt:lpstr>
      <vt:lpstr>Administration</vt:lpstr>
      <vt:lpstr>Administration</vt:lpstr>
      <vt:lpstr>Motivation</vt:lpstr>
      <vt:lpstr>Semiconductor and Transistor</vt:lpstr>
      <vt:lpstr>RTL diagram – AND and OR gate</vt:lpstr>
      <vt:lpstr>Prospect of this Course</vt:lpstr>
      <vt:lpstr>Prospect of this Course</vt:lpstr>
      <vt:lpstr>Case Study - 1</vt:lpstr>
      <vt:lpstr>Case Study - 2</vt:lpstr>
      <vt:lpstr>Evolution of Computer </vt:lpstr>
      <vt:lpstr>Basic Idea </vt:lpstr>
      <vt:lpstr>Circuit </vt:lpstr>
      <vt:lpstr>ABC</vt:lpstr>
      <vt:lpstr>ABC</vt:lpstr>
      <vt:lpstr>ABC</vt:lpstr>
      <vt:lpstr>ABC</vt:lpstr>
      <vt:lpstr>ABC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4205 Digital Logic Design</dc:title>
  <dc:creator>Admin</dc:creator>
  <cp:lastModifiedBy>Md. Hamjajul Ashmafee , Lecturer,CSE</cp:lastModifiedBy>
  <cp:revision>20</cp:revision>
  <dcterms:created xsi:type="dcterms:W3CDTF">2018-06-27T14:59:12Z</dcterms:created>
  <dcterms:modified xsi:type="dcterms:W3CDTF">2022-12-27T04:46:48Z</dcterms:modified>
</cp:coreProperties>
</file>