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media/image53.jpg" ContentType="image/png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77"/>
  </p:notesMasterIdLst>
  <p:handoutMasterIdLst>
    <p:handoutMasterId r:id="rId78"/>
  </p:handoutMasterIdLst>
  <p:sldIdLst>
    <p:sldId id="256" r:id="rId3"/>
    <p:sldId id="347" r:id="rId4"/>
    <p:sldId id="339" r:id="rId5"/>
    <p:sldId id="273" r:id="rId6"/>
    <p:sldId id="260" r:id="rId7"/>
    <p:sldId id="302" r:id="rId8"/>
    <p:sldId id="303" r:id="rId9"/>
    <p:sldId id="293" r:id="rId10"/>
    <p:sldId id="304" r:id="rId11"/>
    <p:sldId id="290" r:id="rId12"/>
    <p:sldId id="291" r:id="rId13"/>
    <p:sldId id="287" r:id="rId14"/>
    <p:sldId id="305" r:id="rId15"/>
    <p:sldId id="292" r:id="rId16"/>
    <p:sldId id="300" r:id="rId17"/>
    <p:sldId id="306" r:id="rId18"/>
    <p:sldId id="272" r:id="rId19"/>
    <p:sldId id="288" r:id="rId20"/>
    <p:sldId id="301" r:id="rId21"/>
    <p:sldId id="307" r:id="rId22"/>
    <p:sldId id="308" r:id="rId23"/>
    <p:sldId id="309" r:id="rId24"/>
    <p:sldId id="276" r:id="rId25"/>
    <p:sldId id="311" r:id="rId26"/>
    <p:sldId id="310" r:id="rId27"/>
    <p:sldId id="274" r:id="rId28"/>
    <p:sldId id="294" r:id="rId29"/>
    <p:sldId id="275" r:id="rId30"/>
    <p:sldId id="313" r:id="rId31"/>
    <p:sldId id="318" r:id="rId32"/>
    <p:sldId id="314" r:id="rId33"/>
    <p:sldId id="312" r:id="rId34"/>
    <p:sldId id="323" r:id="rId35"/>
    <p:sldId id="324" r:id="rId36"/>
    <p:sldId id="325" r:id="rId37"/>
    <p:sldId id="326" r:id="rId38"/>
    <p:sldId id="327" r:id="rId39"/>
    <p:sldId id="315" r:id="rId40"/>
    <p:sldId id="321" r:id="rId41"/>
    <p:sldId id="319" r:id="rId42"/>
    <p:sldId id="320" r:id="rId43"/>
    <p:sldId id="322" r:id="rId44"/>
    <p:sldId id="328" r:id="rId45"/>
    <p:sldId id="329" r:id="rId46"/>
    <p:sldId id="330" r:id="rId47"/>
    <p:sldId id="316" r:id="rId48"/>
    <p:sldId id="331" r:id="rId49"/>
    <p:sldId id="332" r:id="rId50"/>
    <p:sldId id="317" r:id="rId51"/>
    <p:sldId id="336" r:id="rId52"/>
    <p:sldId id="333" r:id="rId53"/>
    <p:sldId id="334" r:id="rId54"/>
    <p:sldId id="337" r:id="rId55"/>
    <p:sldId id="338" r:id="rId56"/>
    <p:sldId id="335" r:id="rId57"/>
    <p:sldId id="289" r:id="rId58"/>
    <p:sldId id="342" r:id="rId59"/>
    <p:sldId id="340" r:id="rId60"/>
    <p:sldId id="341" r:id="rId61"/>
    <p:sldId id="277" r:id="rId62"/>
    <p:sldId id="297" r:id="rId63"/>
    <p:sldId id="295" r:id="rId64"/>
    <p:sldId id="296" r:id="rId65"/>
    <p:sldId id="298" r:id="rId66"/>
    <p:sldId id="299" r:id="rId67"/>
    <p:sldId id="278" r:id="rId68"/>
    <p:sldId id="279" r:id="rId69"/>
    <p:sldId id="280" r:id="rId70"/>
    <p:sldId id="281" r:id="rId71"/>
    <p:sldId id="282" r:id="rId72"/>
    <p:sldId id="283" r:id="rId73"/>
    <p:sldId id="284" r:id="rId74"/>
    <p:sldId id="285" r:id="rId75"/>
    <p:sldId id="286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01" autoAdjust="0"/>
    <p:restoredTop sz="71264" autoAdjust="0"/>
  </p:normalViewPr>
  <p:slideViewPr>
    <p:cSldViewPr snapToGrid="0">
      <p:cViewPr varScale="1">
        <p:scale>
          <a:sx n="52" d="100"/>
          <a:sy n="52" d="100"/>
        </p:scale>
        <p:origin x="15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4C1B9E-036F-4426-B1FE-095181F8A776}" type="datetimeFigureOut">
              <a:rPr lang="en-US" smtClean="0"/>
              <a:t>29-Jan-22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AD7F4-E4FF-401B-A654-C6B99FAB5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336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10-26T06:25:3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796 415 0 0 0,'0'0'11601'0'0,"21"-27"-10159"0"0,61-84-119 0 0,-60 77-357 0 0,-22 24-50 0 0,-1 3-383 0 0,2-9 744 0 0,-1 12-1131 0 0,1 0 1 0 0,-1 0-1 0 0,0 0 1 0 0,0 0-1 0 0,0 0 1 0 0,0 0 0 0 0,-1 0-1 0 0,1 0 1 0 0,-1 1-1 0 0,0-1 1 0 0,-1 0 0 0 0,1 0-1 0 0,0 1 1 0 0,-4-7-1 0 0,1 6-69 0 0,-2-4 91 0 0,0 2 0 0 0,0-1 0 0 0,-1 0 1 0 0,0 1-1 0 0,-8-5 0 0 0,-2 1 120 0 0,12 6-225 0 0,0 1-1 0 0,0-1 1 0 0,-1 1-1 0 0,0 1 0 0 0,1-1 1 0 0,-1 1-1 0 0,0 0 1 0 0,0 1-1 0 0,0-1 0 0 0,-12 0 1 0 0,-182-2 1126 0 0,146 5-969 0 0,42-1-189 0 0,0 1-1 0 0,0 1 0 0 0,0 0 1 0 0,0 1-1 0 0,0 0 0 0 0,0 1 0 0 0,-13 6 1 0 0,3 0-19 0 0,1 1 1 0 0,-32 23-1 0 0,20-12 42 0 0,1 2-1 0 0,2 1 0 0 0,0 2 1 0 0,-39 45-1 0 0,59-59-41 0 0,2-4 8 0 0,1 0 0 0 0,1 0 0 0 0,-9 16 0 0 0,0 0 48 0 0,11-19-47 0 0,1-1 1 0 0,0 1-1 0 0,0 0 0 0 0,0 0 1 0 0,-2 8-1 0 0,-3 10 16 0 0,5-17-32 0 0,0 0 1 0 0,1 0-1 0 0,-3 15 1 0 0,1 17-13 0 0,1-22 61 0 0,0 1 0 0 0,2 0-1 0 0,0 0 1 0 0,2 0 0 0 0,2 27 0 0 0,8 19 22 0 0,-7-37 36 0 0,1 0-1 0 0,9 29 1 0 0,26 39 301 0 0,-37-89-390 0 0,-1-1 0 0 0,1 0 0 0 0,0 0 1 0 0,7 7-1 0 0,6 12 97 0 0,-13-20-94 0 0,0 0 0 0 0,0-1 0 0 0,0 1 0 0 0,0-1 0 0 0,6 5 0 0 0,3 2 56 0 0,33 27 108 0 0,-28-23-73 0 0,0-1 0 0 0,32 17 0 0 0,-32-20-74 0 0,-1-1 0 0 0,2-1 0 0 0,-1-1 0 0 0,1 0 0 0 0,0-1 0 0 0,1-1-1 0 0,-1-1 1 0 0,1-1 0 0 0,0 0 0 0 0,26 0 0 0 0,-33-3 33 0 0,15 1 38 0 0,-1-2 0 0 0,1 0 1 0 0,0-2-1 0 0,48-11 0 0 0,-39 5-19 0 0,-21 5-55 0 0,-1 1 1 0 0,-1-2-1 0 0,15-5 0 0 0,79-37 390 0 0,-66 31-173 0 0,58-33 0 0 0,-77 37-104 0 0,-6 4-48 0 0,-1-1 0 0 0,0-1 1 0 0,-1 0-1 0 0,24-21 0 0 0,-16 9 56 0 0,-14 15-85 0 0,-1 1 1 0 0,-1-1-1 0 0,1 0 1 0 0,-1-1 0 0 0,10-15-1 0 0,0-7 55 0 0,9-21 36 0 0,-17 29-57 0 0,-1-1 1 0 0,-1-1 0 0 0,-1 1-1 0 0,-1-1 1 0 0,-1 0 0 0 0,0-35-1 0 0,-4 29-77 0 0,0 0 1 0 0,-2 1-1 0 0,-1-1 0 0 0,-9-32 0 0 0,2 20 37 0 0,-2 1-1 0 0,-32-73 1 0 0,37 99-81 0 0,0 0 0 0 0,-1 1 0 0 0,-1 0 0 0 0,0 1 0 0 0,-1 0 0 0 0,0 0 0 0 0,-1 1 0 0 0,-1 0 0 0 0,0 1 0 0 0,-17-11 0 0 0,14 12-104 0 0,0 2 1 0 0,-1 0 0 0 0,1 1-1 0 0,-2 0 1 0 0,1 1-1 0 0,-1 1 1 0 0,-36-5-1 0 0,17 6-1074 0 0,-1 2 0 0 0,-69 5 0 0 0,51 5-2921 0 0,21 2-3243 0 0,6-1-5411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1416C-0C94-4347-BEE5-16334176E4E3}" type="datetimeFigureOut">
              <a:rPr lang="en-US" smtClean="0"/>
              <a:t>29-Jan-22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Lecture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DAB20-FECD-48F0-A350-11C52BC51A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687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digital computer?</a:t>
            </a:r>
            <a:r>
              <a:rPr lang="en-US" baseline="0" dirty="0"/>
              <a:t> Examples where we can use this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03ABA-567C-4E7A-9095-3D9C26910DB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993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417908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483700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28534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Make the group of 1s which are adjacent by edge and maintain the count as 2</a:t>
            </a:r>
            <a:r>
              <a:rPr lang="en-US" sz="2500" baseline="30000" dirty="0"/>
              <a:t>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Cover all the minterms at least once [more than one might cause redundant terms in the simplified expression]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Try to make the group larger to get shorter expression [as expected]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To do this if it requires to repeat a covered minterm, it is acceptable.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72338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AND operation</a:t>
            </a:r>
          </a:p>
          <a:p>
            <a:r>
              <a:rPr lang="en-US" dirty="0" err="1"/>
              <a:t>xy</a:t>
            </a:r>
            <a:r>
              <a:rPr lang="en-US" dirty="0"/>
              <a:t> = already in minterms </a:t>
            </a:r>
          </a:p>
          <a:p>
            <a:r>
              <a:rPr lang="en-US" b="1" dirty="0"/>
              <a:t>OR operation</a:t>
            </a:r>
          </a:p>
          <a:p>
            <a:r>
              <a:rPr lang="en-US" dirty="0" err="1"/>
              <a:t>x+y</a:t>
            </a:r>
            <a:r>
              <a:rPr lang="en-US" dirty="0"/>
              <a:t> = it is not in canonical form – must be converted considering all possible minterms </a:t>
            </a:r>
          </a:p>
          <a:p>
            <a:r>
              <a:rPr lang="en-US" dirty="0"/>
              <a:t>       = x(</a:t>
            </a:r>
            <a:r>
              <a:rPr lang="en-US" dirty="0" err="1"/>
              <a:t>y+y</a:t>
            </a:r>
            <a:r>
              <a:rPr lang="en-US" dirty="0"/>
              <a:t>’) + y(</a:t>
            </a:r>
            <a:r>
              <a:rPr lang="en-US" dirty="0" err="1"/>
              <a:t>x+x</a:t>
            </a:r>
            <a:r>
              <a:rPr lang="en-US" dirty="0"/>
              <a:t>’)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299731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four squares, each variable is 1 (expressed as unprimed)</a:t>
            </a:r>
          </a:p>
          <a:p>
            <a:r>
              <a:rPr lang="en-US" dirty="0"/>
              <a:t>In other four squares, each variable is 0 (expressed as primed)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86409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Verification: (Just like a rolled paper)</a:t>
            </a:r>
          </a:p>
          <a:p>
            <a:r>
              <a:rPr lang="en-US" sz="1200" b="1" i="1" dirty="0"/>
              <a:t>m</a:t>
            </a:r>
            <a:r>
              <a:rPr lang="en-US" sz="1200" b="1" i="1" baseline="-25000" dirty="0"/>
              <a:t>0</a:t>
            </a:r>
            <a:r>
              <a:rPr lang="en-US" sz="1200" b="1" i="1" dirty="0"/>
              <a:t> +m</a:t>
            </a:r>
            <a:r>
              <a:rPr lang="en-US" sz="1200" b="1" i="1" baseline="-25000" dirty="0"/>
              <a:t>2 </a:t>
            </a:r>
            <a:r>
              <a:rPr lang="en-US" sz="1200" b="1" i="1" dirty="0"/>
              <a:t>= ?</a:t>
            </a:r>
          </a:p>
          <a:p>
            <a:r>
              <a:rPr lang="en-US" sz="1200" b="1" i="1" dirty="0"/>
              <a:t>m</a:t>
            </a:r>
            <a:r>
              <a:rPr lang="en-US" sz="1200" b="1" i="1" baseline="-25000" dirty="0"/>
              <a:t>4</a:t>
            </a:r>
            <a:r>
              <a:rPr lang="en-US" sz="1200" b="1" i="1" dirty="0"/>
              <a:t> +m</a:t>
            </a:r>
            <a:r>
              <a:rPr lang="en-US" sz="1200" b="1" i="1" baseline="-25000" dirty="0"/>
              <a:t>6 </a:t>
            </a:r>
            <a:r>
              <a:rPr lang="en-US" sz="1200" b="1" i="1" dirty="0"/>
              <a:t>=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035227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Answer: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dirty="0"/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𝑥𝑧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dirty="0"/>
              </a:p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Answer:</a:t>
                </a:r>
              </a:p>
              <a:p>
                <a:pPr marL="228600" indent="-228600">
                  <a:buAutoNum type="arabicPeriod"/>
                </a:pPr>
                <a:r>
                  <a:rPr lang="en-US" i="0" dirty="0">
                    <a:latin typeface="Cambria Math" panose="02040503050406030204" pitchFamily="18" charset="0"/>
                  </a:rPr>
                  <a:t>𝑥’𝑦 +</a:t>
                </a:r>
                <a:r>
                  <a:rPr lang="en-US" b="0" i="0" dirty="0">
                    <a:latin typeface="Cambria Math" panose="02040503050406030204" pitchFamily="18" charset="0"/>
                  </a:rPr>
                  <a:t>𝑥𝑦</a:t>
                </a:r>
                <a:r>
                  <a:rPr lang="en-US" i="0" dirty="0">
                    <a:latin typeface="Cambria Math" panose="02040503050406030204" pitchFamily="18" charset="0"/>
                  </a:rPr>
                  <a:t>’</a:t>
                </a:r>
                <a:endParaRPr lang="en-US" dirty="0"/>
              </a:p>
              <a:p>
                <a:pPr marL="228600" indent="-228600">
                  <a:buAutoNum type="arabicPeriod"/>
                </a:pPr>
                <a:r>
                  <a:rPr lang="en-US" b="0" i="0" dirty="0">
                    <a:latin typeface="Cambria Math" panose="02040503050406030204" pitchFamily="18" charset="0"/>
                  </a:rPr>
                  <a:t>𝑦</a:t>
                </a:r>
                <a:r>
                  <a:rPr lang="en-US" i="0" dirty="0">
                    <a:latin typeface="Cambria Math" panose="02040503050406030204" pitchFamily="18" charset="0"/>
                  </a:rPr>
                  <a:t>𝑧  +</a:t>
                </a:r>
                <a:r>
                  <a:rPr lang="en-US" b="0" i="0" dirty="0">
                    <a:latin typeface="Cambria Math" panose="02040503050406030204" pitchFamily="18" charset="0"/>
                  </a:rPr>
                  <a:t>𝑥𝑧</a:t>
                </a:r>
                <a:r>
                  <a:rPr lang="en-US" i="0" dirty="0">
                    <a:latin typeface="Cambria Math" panose="02040503050406030204" pitchFamily="18" charset="0"/>
                  </a:rPr>
                  <a:t>’</a:t>
                </a:r>
                <a:endParaRPr lang="en-US" dirty="0"/>
              </a:p>
              <a:p>
                <a:pPr marL="228600" indent="-228600">
                  <a:buAutoNum type="arabicPeriod"/>
                </a:pP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37565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= </a:t>
                </a:r>
                <a:r>
                  <a:rPr lang="en-US" sz="1200" b="1" i="1" dirty="0"/>
                  <a:t>m</a:t>
                </a:r>
                <a:r>
                  <a:rPr lang="en-US" sz="1200" b="1" i="1" baseline="-25000" dirty="0"/>
                  <a:t>0</a:t>
                </a:r>
                <a:r>
                  <a:rPr lang="en-US" sz="1200" b="1" i="1" dirty="0"/>
                  <a:t> + m</a:t>
                </a:r>
                <a:r>
                  <a:rPr lang="en-US" sz="1200" b="1" i="1" baseline="-25000" dirty="0"/>
                  <a:t>2 </a:t>
                </a:r>
                <a:r>
                  <a:rPr lang="en-US" sz="1200" b="1" i="1" dirty="0"/>
                  <a:t>+ m</a:t>
                </a:r>
                <a:r>
                  <a:rPr lang="en-US" sz="1200" b="1" i="1" baseline="-25000" dirty="0"/>
                  <a:t>4</a:t>
                </a:r>
                <a:r>
                  <a:rPr lang="en-US" sz="1200" b="1" i="1" dirty="0"/>
                  <a:t> + m</a:t>
                </a:r>
                <a:r>
                  <a:rPr lang="en-US" sz="1200" b="1" i="1" baseline="-25000" dirty="0"/>
                  <a:t>6  </a:t>
                </a:r>
                <a:r>
                  <a:rPr lang="en-US" dirty="0"/>
                  <a:t>= </a:t>
                </a:r>
                <a:r>
                  <a:rPr lang="en-US" b="1" dirty="0"/>
                  <a:t>? (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𝐀𝐧𝐬𝐰𝐞𝐫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b="1" dirty="0"/>
                  <a:t>) </a:t>
                </a:r>
              </a:p>
              <a:p>
                <a:r>
                  <a:rPr lang="en-US" b="1" i="1" dirty="0">
                    <a:latin typeface="Cambria Math" panose="02040503050406030204" pitchFamily="18" charset="0"/>
                  </a:rPr>
                  <a:t>Answer: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’ +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𝒙𝒚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= </a:t>
                </a:r>
                <a:r>
                  <a:rPr lang="en-US" sz="1200" b="1" i="1" dirty="0"/>
                  <a:t>m</a:t>
                </a:r>
                <a:r>
                  <a:rPr lang="en-US" sz="1200" b="1" i="1" baseline="-25000" dirty="0"/>
                  <a:t>0</a:t>
                </a:r>
                <a:r>
                  <a:rPr lang="en-US" sz="1200" b="1" i="1" dirty="0"/>
                  <a:t> + m</a:t>
                </a:r>
                <a:r>
                  <a:rPr lang="en-US" sz="1200" b="1" i="1" baseline="-25000" dirty="0"/>
                  <a:t>2 </a:t>
                </a:r>
                <a:r>
                  <a:rPr lang="en-US" sz="1200" b="1" i="1" dirty="0"/>
                  <a:t>+ m</a:t>
                </a:r>
                <a:r>
                  <a:rPr lang="en-US" sz="1200" b="1" i="1" baseline="-25000" dirty="0"/>
                  <a:t>4</a:t>
                </a:r>
                <a:r>
                  <a:rPr lang="en-US" sz="1200" b="1" i="1" dirty="0"/>
                  <a:t> + m</a:t>
                </a:r>
                <a:r>
                  <a:rPr lang="en-US" sz="1200" b="1" i="1" baseline="-25000" dirty="0"/>
                  <a:t>6  </a:t>
                </a:r>
                <a:r>
                  <a:rPr lang="en-US" dirty="0"/>
                  <a:t>= </a:t>
                </a:r>
                <a:r>
                  <a:rPr lang="en-US" b="1" dirty="0"/>
                  <a:t>? (</a:t>
                </a:r>
                <a:r>
                  <a:rPr lang="en-US" b="1" i="0" dirty="0">
                    <a:latin typeface="Cambria Math" panose="02040503050406030204" pitchFamily="18" charset="0"/>
                  </a:rPr>
                  <a:t>𝐀𝐧𝐬𝐰𝐞𝐫: 𝒛’</a:t>
                </a:r>
                <a:r>
                  <a:rPr lang="en-US" b="1" dirty="0"/>
                  <a:t>) </a:t>
                </a:r>
              </a:p>
              <a:p>
                <a:pPr/>
                <a:r>
                  <a:rPr lang="en-US" b="1" i="0" dirty="0">
                    <a:latin typeface="Cambria Math" panose="02040503050406030204" pitchFamily="18" charset="0"/>
                  </a:rPr>
                  <a:t>𝑭 = 𝒛’ + </a:t>
                </a:r>
                <a:r>
                  <a:rPr lang="en-US" b="1" i="0" dirty="0" err="1">
                    <a:latin typeface="Cambria Math" panose="02040503050406030204" pitchFamily="18" charset="0"/>
                  </a:rPr>
                  <a:t>𝒙𝒚</a:t>
                </a:r>
                <a:r>
                  <a:rPr lang="en-US" b="1" i="0" dirty="0">
                    <a:latin typeface="Cambria Math" panose="02040503050406030204" pitchFamily="18" charset="0"/>
                  </a:rPr>
                  <a:t>’</a:t>
                </a:r>
                <a:endParaRPr lang="en-US" b="1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58966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Verification: (Just like a rolled paper)</a:t>
            </a:r>
          </a:p>
          <a:p>
            <a:r>
              <a:rPr lang="en-US" sz="1200" b="1" i="1" dirty="0"/>
              <a:t>m</a:t>
            </a:r>
            <a:r>
              <a:rPr lang="en-US" sz="1200" b="1" i="1" baseline="-25000" dirty="0"/>
              <a:t>0</a:t>
            </a:r>
            <a:r>
              <a:rPr lang="en-US" sz="1200" b="1" i="1" dirty="0"/>
              <a:t> +m</a:t>
            </a:r>
            <a:r>
              <a:rPr lang="en-US" sz="1200" b="1" i="1" baseline="-25000" dirty="0"/>
              <a:t>2 </a:t>
            </a:r>
            <a:r>
              <a:rPr lang="en-US" sz="1200" b="1" i="1" dirty="0"/>
              <a:t>= ?</a:t>
            </a:r>
          </a:p>
          <a:p>
            <a:r>
              <a:rPr lang="en-US" sz="1200" b="1" i="1" dirty="0"/>
              <a:t>m</a:t>
            </a:r>
            <a:r>
              <a:rPr lang="en-US" sz="1200" b="1" i="1" baseline="-25000" dirty="0"/>
              <a:t>3</a:t>
            </a:r>
            <a:r>
              <a:rPr lang="en-US" sz="1200" b="1" i="1" dirty="0"/>
              <a:t> +m</a:t>
            </a:r>
            <a:r>
              <a:rPr lang="en-US" sz="1200" b="1" i="1" baseline="-25000" dirty="0"/>
              <a:t>11 </a:t>
            </a:r>
            <a:r>
              <a:rPr lang="en-US" sz="1200" b="1" i="1" dirty="0"/>
              <a:t>=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466348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to calculate the minterm number.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20560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Answer: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Answer:</a:t>
                </a:r>
              </a:p>
              <a:p>
                <a:pPr marL="228600" indent="-228600">
                  <a:buAutoNum type="arabicPeriod"/>
                </a:pPr>
                <a:r>
                  <a:rPr lang="en-US" i="0" dirty="0">
                    <a:latin typeface="Cambria Math" panose="02040503050406030204" pitchFamily="18" charset="0"/>
                  </a:rPr>
                  <a:t>𝑦</a:t>
                </a:r>
                <a:r>
                  <a:rPr lang="en-US" b="0" i="0" dirty="0">
                    <a:latin typeface="Cambria Math" panose="02040503050406030204" pitchFamily="18" charset="0"/>
                  </a:rPr>
                  <a:t>^′+𝑤^′ 𝑧^′+𝑥𝑧^′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28600" indent="-228600">
                  <a:buAutoNum type="arabicPeriod"/>
                </a:pPr>
                <a:r>
                  <a:rPr lang="en-US" b="0" i="0" dirty="0">
                    <a:latin typeface="Cambria Math" panose="02040503050406030204" pitchFamily="18" charset="0"/>
                  </a:rPr>
                  <a:t>𝐵^′ 𝐷^′+𝐵^′ 𝐶^′+𝐴′𝐶𝐷′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53924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minimize the function: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must cover all minterms that asserts the function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Number of the terms in the simplified expression must be minimum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 redundant term should be in minimized expression. (</a:t>
            </a:r>
            <a:r>
              <a:rPr lang="en-US" b="1" i="1" dirty="0"/>
              <a:t>i.e.,</a:t>
            </a:r>
            <a:r>
              <a:rPr lang="en-US" dirty="0"/>
              <a:t> all the minterms of a group are already covered by other group)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There may have </a:t>
            </a:r>
            <a:r>
              <a:rPr lang="en-US" b="1" dirty="0"/>
              <a:t>more than one expressions </a:t>
            </a:r>
            <a:r>
              <a:rPr lang="en-US" dirty="0"/>
              <a:t>those satisfy these criteria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65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minimize the function: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We must cover all minterms that asserts the function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Number of the terms in the simplified expression must be minimum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No redundant term should be in minimized expression. (</a:t>
            </a:r>
            <a:r>
              <a:rPr lang="en-US" b="1" i="1" dirty="0"/>
              <a:t>i.e.,</a:t>
            </a:r>
            <a:r>
              <a:rPr lang="en-US" dirty="0"/>
              <a:t> all the minterms of a group are already covered by other group)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There may have </a:t>
            </a:r>
            <a:r>
              <a:rPr lang="en-US" b="1" dirty="0"/>
              <a:t>more than one expressions </a:t>
            </a:r>
            <a:r>
              <a:rPr lang="en-US" dirty="0"/>
              <a:t>those satisfy these criteria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555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79893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m</a:t>
            </a:r>
            <a:r>
              <a:rPr lang="en-US" baseline="-25000" dirty="0"/>
              <a:t>18</a:t>
            </a:r>
            <a:r>
              <a:rPr lang="en-US" dirty="0"/>
              <a:t> and m</a:t>
            </a:r>
            <a:r>
              <a:rPr lang="en-US" baseline="-25000" dirty="0"/>
              <a:t>50</a:t>
            </a:r>
            <a:r>
              <a:rPr lang="en-US" dirty="0"/>
              <a:t> are adjacent  </a:t>
            </a:r>
          </a:p>
          <a:p>
            <a:r>
              <a:rPr lang="en-US" dirty="0"/>
              <a:t>Maps with 5 or more variables are </a:t>
            </a:r>
            <a:r>
              <a:rPr lang="en-US" sz="1500" b="1" dirty="0"/>
              <a:t>not simple </a:t>
            </a:r>
            <a:r>
              <a:rPr lang="en-US" dirty="0"/>
              <a:t>to manage as the number of minterms in such maps is 32 or more and a </a:t>
            </a:r>
            <a:r>
              <a:rPr lang="en-US" b="1" dirty="0"/>
              <a:t>complex geometry </a:t>
            </a:r>
            <a:r>
              <a:rPr lang="en-US" dirty="0"/>
              <a:t>is involved to find out adjacent squares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245710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761440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755261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 is assumed that input variables are also </a:t>
            </a:r>
            <a:r>
              <a:rPr lang="en-US" b="1" dirty="0"/>
              <a:t>available </a:t>
            </a:r>
            <a:r>
              <a:rPr lang="en-US" dirty="0"/>
              <a:t>in their </a:t>
            </a:r>
            <a:r>
              <a:rPr lang="en-US" b="1" dirty="0"/>
              <a:t>complement directly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Implementation of </a:t>
            </a:r>
            <a:r>
              <a:rPr lang="en-US" b="1" dirty="0"/>
              <a:t>standard form </a:t>
            </a:r>
            <a:r>
              <a:rPr lang="en-US" dirty="0"/>
              <a:t>is said to be a </a:t>
            </a:r>
            <a:r>
              <a:rPr lang="en-US" b="1" dirty="0"/>
              <a:t>two-level implementation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But sometimes two-level implementation is </a:t>
            </a:r>
            <a:r>
              <a:rPr lang="en-US" b="1" dirty="0"/>
              <a:t>impractical </a:t>
            </a:r>
            <a:r>
              <a:rPr lang="en-US" dirty="0"/>
              <a:t>if the number of </a:t>
            </a:r>
            <a:r>
              <a:rPr lang="en-US" b="1" dirty="0"/>
              <a:t>inputs </a:t>
            </a:r>
            <a:r>
              <a:rPr lang="en-US" dirty="0"/>
              <a:t>are </a:t>
            </a:r>
            <a:r>
              <a:rPr lang="en-US" b="1" dirty="0"/>
              <a:t>so many </a:t>
            </a:r>
            <a:r>
              <a:rPr lang="en-US" dirty="0"/>
              <a:t>(more than hundreds or thousands)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0508449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214966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Unspecified minterms – minterms which are not of our interest </a:t>
            </a:r>
            <a:r>
              <a:rPr lang="en-US" b="1" dirty="0"/>
              <a:t>rather ignore when they are produced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189116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Note: </a:t>
            </a:r>
            <a:r>
              <a:rPr lang="en-US" dirty="0"/>
              <a:t>When a don’t care minterm is selected as a true minterm, that should be treated as 1 and then other don’t care minterms should be treated as false minterm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446875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Though these two functions are not algebraically equal, both of them cover all specified minterms.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the first choice, minterm 0 and 2 are treated </a:t>
            </a:r>
            <a:r>
              <a:rPr lang="en-US" b="1" dirty="0"/>
              <a:t>logic-1 </a:t>
            </a:r>
            <a:r>
              <a:rPr lang="en-US" dirty="0"/>
              <a:t>and minterm 5 is treated </a:t>
            </a:r>
            <a:r>
              <a:rPr lang="en-US" b="1" dirty="0"/>
              <a:t>logic-0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the second choice, minterm 5 is treated </a:t>
            </a:r>
            <a:r>
              <a:rPr lang="en-US" b="1" dirty="0"/>
              <a:t>logic-1 </a:t>
            </a:r>
            <a:r>
              <a:rPr lang="en-US" dirty="0"/>
              <a:t>and minterm 0 and 2 are treated </a:t>
            </a:r>
            <a:r>
              <a:rPr lang="en-US" b="1" dirty="0"/>
              <a:t>logic-0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As we are </a:t>
            </a:r>
            <a:r>
              <a:rPr lang="en-US"/>
              <a:t>considering this </a:t>
            </a:r>
            <a:r>
              <a:rPr lang="en-US" dirty="0"/>
              <a:t>incompletely specified function, the only difference between these two functions are in don’t care minterms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726504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5336035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convenient way</a:t>
            </a:r>
            <a:r>
              <a:rPr lang="en-US" b="1" dirty="0"/>
              <a:t> to implement a Boolean function with NAND </a:t>
            </a:r>
            <a:r>
              <a:rPr lang="en-US" dirty="0"/>
              <a:t>gates is to obtain the simplified Boolean function in terms of Boolean operators (i.e., AND, OR, NOT) and then convert the function to NAND logic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inputs of any gate (for any multi-input gate) are merged together to generate one input gate – like inverter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6713889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169065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29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95709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177322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dirty="0"/>
                  <a:t>Answer: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en-US" b="0" dirty="0"/>
                  <a:t>Answer: </a:t>
                </a:r>
                <a:r>
                  <a:rPr lang="en-US" b="0" i="0" dirty="0">
                    <a:latin typeface="Cambria Math" panose="02040503050406030204" pitchFamily="18" charset="0"/>
                  </a:rPr>
                  <a:t>𝐹=𝑥𝑦^′+𝑥^′ 𝑦+𝑧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896092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6270634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convenient way to implement a Boolean function with NOR gates is to obtain the simplified Boolean function in terms of basic Boolean operators and then convert the function to NOR logic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069307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1955920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4825388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2448614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330701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6919405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39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386850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209160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4458421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66433167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662693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1234327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3468712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xy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These statements also could be verified with truth table 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x⊕𝑦^′=𝑥^′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⊕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𝑦=xy+x^′ y^′=(x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⊕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𝑦)′</a:t>
                </a:r>
                <a:r>
                  <a:rPr lang="en-US" dirty="0"/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These statements also could be verified with truth table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0480756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9559103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Even two input XOR and XNOR gate are constructed with other types of gates (i.e., AND, OR, NOT, NAND,…)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x⊕𝑦^′=𝑥^′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⊕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𝑦=xy+x^′ y^′=(x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⊕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𝑦)′</a:t>
                </a:r>
                <a:r>
                  <a:rPr lang="en-US" dirty="0"/>
                  <a:t>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These statements also could be verified with truth table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81312155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Even two input XOR and XNOR gate are constructed with other types of gates (i.e., AND, OR, NOT, NAND,…)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Verify these circuit diagrams for better understanding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49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5491231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Even two input XOR and XNOR gate are constructed with other types of gates (i.e. AND, OR, NOT, NAND,…)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Verify these circuit diagrams for better understanding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82658324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9657046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So, to obtain </a:t>
                </a:r>
                <a:r>
                  <a:rPr lang="en-US" b="1" dirty="0"/>
                  <a:t>even function </a:t>
                </a:r>
                <a:r>
                  <a:rPr lang="en-US" dirty="0"/>
                  <a:t>considering logic-1, we need to use same XOR gate configuration with additional NOT gate at the end (</a:t>
                </a:r>
                <a:r>
                  <a:rPr lang="en-US" b="1" i="1" dirty="0"/>
                  <a:t>i.e.</a:t>
                </a:r>
                <a:r>
                  <a:rPr lang="en-US" dirty="0"/>
                  <a:t> complementing that XOR configuration =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)′=∑(0,3,5,6) 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So last level XOR gate (output XOR gate) could be replaced with an XNOR gate. (Draw the diagram including an inverter with the above figure)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Here, the even function considering logic-1 will be 1 when an even number of its variables are 1 including that combination as well which has no variable equals 1. 	</a:t>
                </a:r>
              </a:p>
              <a:p>
                <a:pPr marL="6286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200" dirty="0"/>
                  <a:t>An n–variable even function could be defined as the logical sum of the 2</a:t>
                </a:r>
                <a:r>
                  <a:rPr lang="en-US" sz="1200" baseline="30000" dirty="0"/>
                  <a:t>n</a:t>
                </a:r>
                <a:r>
                  <a:rPr lang="en-US" sz="1200" dirty="0"/>
                  <a:t>/2 minterms whose binary numerical values have an even number of 1s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So, to obtain </a:t>
                </a:r>
                <a:r>
                  <a:rPr lang="en-US" b="1" dirty="0"/>
                  <a:t>even function </a:t>
                </a:r>
                <a:r>
                  <a:rPr lang="en-US" dirty="0"/>
                  <a:t>considering logic-1, we need to use same XOR gate configuration with additional NOT gate at the end (</a:t>
                </a:r>
                <a:r>
                  <a:rPr lang="en-US" b="1" i="1" dirty="0"/>
                  <a:t>i.e.</a:t>
                </a:r>
                <a:r>
                  <a:rPr lang="en-US" dirty="0"/>
                  <a:t> complementing that XOR configuration = (</a:t>
                </a:r>
                <a:r>
                  <a:rPr lang="en-US" i="0">
                    <a:latin typeface="Cambria Math" panose="02040503050406030204" pitchFamily="18" charset="0"/>
                  </a:rPr>
                  <a:t>𝐴</a:t>
                </a:r>
                <a:r>
                  <a:rPr lang="en-US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⊕𝐵⊕𝐶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)′=∑(0,3,5,6) </a:t>
                </a:r>
                <a:r>
                  <a:rPr lang="en-US" dirty="0"/>
                  <a:t>)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So last level XOR gate (output XOR gate) could be replaced with an XNOR gate. (Draw the diagram including an inverter with the above figure)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Here, the even function considering logic-1 will be 1 when an even number of its variables are 1 including that combination as well which has no variable equals 1. 	</a:t>
                </a:r>
              </a:p>
              <a:p>
                <a:pPr marL="6286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200" dirty="0"/>
                  <a:t>An n–variable even function could be defined as the logical sum of the 2</a:t>
                </a:r>
                <a:r>
                  <a:rPr lang="en-US" sz="1200" baseline="30000" dirty="0"/>
                  <a:t>n</a:t>
                </a:r>
                <a:r>
                  <a:rPr lang="en-US" sz="1200" dirty="0"/>
                  <a:t>/2 minterms whose binary numerical values have an even number of 1s</a:t>
                </a:r>
              </a:p>
              <a:p>
                <a:pPr marL="628650" lvl="1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	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4708066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8437907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only “two input gate” system is considered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11311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8072763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78252192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same circuit could be used as parity bit (</a:t>
            </a:r>
            <a:r>
              <a:rPr lang="en-US" b="1" dirty="0"/>
              <a:t>P</a:t>
            </a:r>
            <a:r>
              <a:rPr lang="en-US" dirty="0"/>
              <a:t>) generator if the input </a:t>
            </a:r>
            <a:r>
              <a:rPr lang="en-US" b="1" dirty="0"/>
              <a:t>P </a:t>
            </a:r>
            <a:r>
              <a:rPr lang="en-US" dirty="0"/>
              <a:t>in that circuit made ground (0) [to keep the z intact] and denote the output as </a:t>
            </a:r>
            <a:r>
              <a:rPr lang="en-US" b="1" dirty="0"/>
              <a:t>C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79108492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04030854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59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0183443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91222719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7151044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4450098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18557265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327440918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3097971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1501646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1836159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239637381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69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5873690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57384742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409047693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9825243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61988659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DAB20-FECD-48F0-A350-11C52BC51AEC}" type="slidenum">
              <a:rPr lang="en-US" smtClean="0"/>
              <a:t>74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1</a:t>
            </a:r>
          </a:p>
        </p:txBody>
      </p:sp>
    </p:spTree>
    <p:extLst>
      <p:ext uri="{BB962C8B-B14F-4D97-AF65-F5344CB8AC3E}">
        <p14:creationId xmlns:p14="http://schemas.microsoft.com/office/powerpoint/2010/main" val="152799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1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50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0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4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98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41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3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42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43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59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386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58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32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970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63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5875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25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17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65C8-A00C-4A00-A7DE-A98002B85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70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7011D-92ED-4732-AC78-E5139C360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45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3.png"/><Relationship Id="rId3" Type="http://schemas.openxmlformats.org/officeDocument/2006/relationships/image" Target="../media/image1.jpeg"/><Relationship Id="rId7" Type="http://schemas.microsoft.com/office/2007/relationships/hdphoto" Target="../media/hdphoto5.wdp"/><Relationship Id="rId12" Type="http://schemas.microsoft.com/office/2007/relationships/hdphoto" Target="../media/hdphoto7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microsoft.com/office/2007/relationships/hdphoto" Target="../media/hdphoto4.wdp"/><Relationship Id="rId10" Type="http://schemas.microsoft.com/office/2007/relationships/hdphoto" Target="../media/hdphoto6.wdp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.jpeg"/><Relationship Id="rId7" Type="http://schemas.microsoft.com/office/2007/relationships/hdphoto" Target="../media/hdphoto9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eg"/><Relationship Id="rId7" Type="http://schemas.microsoft.com/office/2007/relationships/hdphoto" Target="../media/hdphoto12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microsoft.com/office/2007/relationships/hdphoto" Target="../media/hdphoto11.wdp"/><Relationship Id="rId10" Type="http://schemas.openxmlformats.org/officeDocument/2006/relationships/customXml" Target="../ink/ink1.xml"/><Relationship Id="rId4" Type="http://schemas.openxmlformats.org/officeDocument/2006/relationships/image" Target="../media/image16.png"/><Relationship Id="rId9" Type="http://schemas.microsoft.com/office/2007/relationships/hdphoto" Target="../media/hdphoto13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15.wdp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microsoft.com/office/2007/relationships/hdphoto" Target="../media/hdphoto14.wdp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microsoft.com/office/2007/relationships/hdphoto" Target="../media/hdphoto17.wd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.jpeg"/><Relationship Id="rId4" Type="http://schemas.microsoft.com/office/2007/relationships/hdphoto" Target="../media/hdphoto16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microsoft.com/office/2007/relationships/hdphoto" Target="../media/hdphoto18.wdp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9.wdp"/><Relationship Id="rId5" Type="http://schemas.openxmlformats.org/officeDocument/2006/relationships/image" Target="../media/image28.png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4.png"/><Relationship Id="rId7" Type="http://schemas.microsoft.com/office/2007/relationships/hdphoto" Target="../media/hdphoto21.wd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.jpeg"/><Relationship Id="rId10" Type="http://schemas.openxmlformats.org/officeDocument/2006/relationships/image" Target="../media/image37.png"/><Relationship Id="rId4" Type="http://schemas.microsoft.com/office/2007/relationships/hdphoto" Target="../media/hdphoto20.wdp"/><Relationship Id="rId9" Type="http://schemas.microsoft.com/office/2007/relationships/hdphoto" Target="../media/hdphoto22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3.wdp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4.wdp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5.wdp"/><Relationship Id="rId5" Type="http://schemas.openxmlformats.org/officeDocument/2006/relationships/image" Target="../media/image41.png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6.wdp"/><Relationship Id="rId4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7.wdp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45.png"/><Relationship Id="rId4" Type="http://schemas.microsoft.com/office/2007/relationships/hdphoto" Target="../media/hdphoto28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1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1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jpg"/><Relationship Id="rId5" Type="http://schemas.openxmlformats.org/officeDocument/2006/relationships/image" Target="../media/image52.png"/><Relationship Id="rId4" Type="http://schemas.openxmlformats.org/officeDocument/2006/relationships/image" Target="../media/image1.jpe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g"/><Relationship Id="rId3" Type="http://schemas.openxmlformats.org/officeDocument/2006/relationships/image" Target="../media/image54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9.wdp"/><Relationship Id="rId5" Type="http://schemas.openxmlformats.org/officeDocument/2006/relationships/image" Target="../media/image56.png"/><Relationship Id="rId4" Type="http://schemas.openxmlformats.org/officeDocument/2006/relationships/image" Target="../media/image1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microsoft.com/office/2007/relationships/hdphoto" Target="../media/hdphoto31.wdp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1.jpeg"/><Relationship Id="rId4" Type="http://schemas.microsoft.com/office/2007/relationships/hdphoto" Target="../media/hdphoto30.wd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33.wdp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microsoft.com/office/2007/relationships/hdphoto" Target="../media/hdphoto32.wdp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3" Type="http://schemas.openxmlformats.org/officeDocument/2006/relationships/image" Target="../media/image1.jpeg"/><Relationship Id="rId7" Type="http://schemas.microsoft.com/office/2007/relationships/hdphoto" Target="../media/hdphoto35.wdp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microsoft.com/office/2007/relationships/hdphoto" Target="../media/hdphoto34.wdp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8" Type="http://schemas.microsoft.com/office/2007/relationships/hdphoto" Target="../media/hdphoto37.wdp"/><Relationship Id="rId3" Type="http://schemas.openxmlformats.org/officeDocument/2006/relationships/image" Target="../media/image68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6.wdp"/><Relationship Id="rId5" Type="http://schemas.openxmlformats.org/officeDocument/2006/relationships/image" Target="../media/image65.png"/><Relationship Id="rId4" Type="http://schemas.openxmlformats.org/officeDocument/2006/relationships/image" Target="../media/image1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microsoft.com/office/2007/relationships/hdphoto" Target="../media/hdphoto39.wdp"/><Relationship Id="rId3" Type="http://schemas.openxmlformats.org/officeDocument/2006/relationships/image" Target="../media/image7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8.wdp"/><Relationship Id="rId5" Type="http://schemas.openxmlformats.org/officeDocument/2006/relationships/image" Target="../media/image67.png"/><Relationship Id="rId4" Type="http://schemas.openxmlformats.org/officeDocument/2006/relationships/image" Target="../media/image1.jpeg"/></Relationships>
</file>

<file path=ppt/slides/_rels/slide57.xml.rels><?xml version="1.0" encoding="UTF-8" standalone="yes"?>
<Relationships xmlns="http://schemas.openxmlformats.org/package/2006/relationships"><Relationship Id="rId8" Type="http://schemas.microsoft.com/office/2007/relationships/hdphoto" Target="../media/hdphoto41.wdp"/><Relationship Id="rId3" Type="http://schemas.openxmlformats.org/officeDocument/2006/relationships/image" Target="../media/image74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0.wdp"/><Relationship Id="rId5" Type="http://schemas.openxmlformats.org/officeDocument/2006/relationships/image" Target="../media/image70.png"/><Relationship Id="rId4" Type="http://schemas.openxmlformats.org/officeDocument/2006/relationships/image" Target="../media/image1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4125" y="3092868"/>
            <a:ext cx="9144000" cy="916888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+mn-lt"/>
              </a:rPr>
              <a:t>Gate Level Minimization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125" y="4707506"/>
            <a:ext cx="9144000" cy="1655762"/>
          </a:xfrm>
        </p:spPr>
        <p:txBody>
          <a:bodyPr/>
          <a:lstStyle/>
          <a:p>
            <a:pPr algn="l"/>
            <a:r>
              <a:rPr lang="en-US" b="1" dirty="0"/>
              <a:t>Course Teacher: Md. Hamjajul Ashmafee</a:t>
            </a:r>
          </a:p>
          <a:p>
            <a:pPr algn="l"/>
            <a:r>
              <a:rPr lang="en-US" b="1" dirty="0"/>
              <a:t>Lecturer, CSE, IUT</a:t>
            </a:r>
          </a:p>
          <a:p>
            <a:pPr algn="l"/>
            <a:r>
              <a:rPr lang="en-US" b="1" dirty="0"/>
              <a:t>Email: ashmafee@iut-dhaka.edu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4125" y="704039"/>
            <a:ext cx="9144000" cy="13908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500" b="1" dirty="0"/>
              <a:t>CSE 4205</a:t>
            </a:r>
            <a:br>
              <a:rPr lang="en-US" sz="4500" b="1" dirty="0"/>
            </a:br>
            <a:r>
              <a:rPr lang="en-US" sz="4500" b="1" dirty="0"/>
              <a:t>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01578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7573" y="109679"/>
            <a:ext cx="731108" cy="118872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FC56E42-0C73-470E-AC06-355EB3188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Remaining to Add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8C1F6F8-7666-4B8F-A967-DD26827AE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other books and internet resources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1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A7011D-92ED-4732-AC78-E5139C3602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130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To be noted more: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Circuit diagrams of NAND and NOR implementation</a:t>
            </a:r>
          </a:p>
          <a:p>
            <a:r>
              <a:rPr lang="en-US" dirty="0"/>
              <a:t>3.7 – other two level implementation </a:t>
            </a:r>
          </a:p>
          <a:p>
            <a:r>
              <a:rPr lang="en-US" dirty="0"/>
              <a:t>Is XNOR satisfies associative law?? – even function??</a:t>
            </a:r>
          </a:p>
          <a:p>
            <a:pPr lvl="1"/>
            <a:r>
              <a:rPr lang="en-US" dirty="0"/>
              <a:t>Slide 52 (Few important points)</a:t>
            </a:r>
          </a:p>
          <a:p>
            <a:r>
              <a:rPr lang="en-US" dirty="0"/>
              <a:t>Quine McClusky method/ tabular method</a:t>
            </a:r>
          </a:p>
          <a:p>
            <a:pPr lvl="1"/>
            <a:r>
              <a:rPr lang="en-US" dirty="0"/>
              <a:t>Takes notes shortly from book</a:t>
            </a:r>
          </a:p>
          <a:p>
            <a:pPr lvl="1"/>
            <a:r>
              <a:rPr lang="en-US" dirty="0"/>
              <a:t>Draw the figures clearly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74137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Introduction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Gate level minimization</a:t>
            </a:r>
          </a:p>
          <a:p>
            <a:pPr lvl="1"/>
            <a:r>
              <a:rPr lang="en-US" dirty="0"/>
              <a:t>A design task to get </a:t>
            </a:r>
            <a:r>
              <a:rPr lang="en-US" b="1" dirty="0"/>
              <a:t>optimized </a:t>
            </a:r>
            <a:r>
              <a:rPr lang="en-US" dirty="0"/>
              <a:t>digital circuit</a:t>
            </a:r>
          </a:p>
          <a:p>
            <a:pPr lvl="1"/>
            <a:r>
              <a:rPr lang="en-US" dirty="0"/>
              <a:t>But difficult for </a:t>
            </a:r>
            <a:r>
              <a:rPr lang="en-US" b="1" dirty="0">
                <a:solidFill>
                  <a:srgbClr val="FF0000"/>
                </a:solidFill>
              </a:rPr>
              <a:t>manual approach </a:t>
            </a:r>
            <a:r>
              <a:rPr lang="en-US" dirty="0"/>
              <a:t>when the number of </a:t>
            </a:r>
            <a:r>
              <a:rPr lang="en-US" b="1" dirty="0"/>
              <a:t>inputs </a:t>
            </a:r>
            <a:r>
              <a:rPr lang="en-US" dirty="0"/>
              <a:t>are </a:t>
            </a:r>
            <a:r>
              <a:rPr lang="en-US" b="1" dirty="0">
                <a:solidFill>
                  <a:srgbClr val="00B050"/>
                </a:solidFill>
              </a:rPr>
              <a:t>many</a:t>
            </a:r>
          </a:p>
          <a:p>
            <a:pPr lvl="1"/>
            <a:r>
              <a:rPr lang="en-US" dirty="0"/>
              <a:t>Contemporary </a:t>
            </a:r>
            <a:r>
              <a:rPr lang="en-US" b="1" dirty="0">
                <a:solidFill>
                  <a:srgbClr val="0070C0"/>
                </a:solidFill>
              </a:rPr>
              <a:t>computer applications </a:t>
            </a:r>
            <a:r>
              <a:rPr lang="en-US" dirty="0"/>
              <a:t>can easily minimize it efficiently</a:t>
            </a:r>
          </a:p>
          <a:p>
            <a:pPr lvl="2"/>
            <a:r>
              <a:rPr lang="en-US" dirty="0"/>
              <a:t>So, we need to understand the underlying mathematical description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84079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Implementation of Boolean Function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Complexity</a:t>
            </a:r>
            <a:r>
              <a:rPr lang="en-US" dirty="0"/>
              <a:t> of implementing  </a:t>
            </a:r>
            <a:r>
              <a:rPr lang="en-US" u="sng" dirty="0"/>
              <a:t>digital logic gates of any Boolean function </a:t>
            </a:r>
            <a:r>
              <a:rPr lang="en-US" dirty="0"/>
              <a:t>depends on the </a:t>
            </a:r>
            <a:r>
              <a:rPr lang="en-US" b="1" dirty="0">
                <a:solidFill>
                  <a:srgbClr val="FF0000"/>
                </a:solidFill>
              </a:rPr>
              <a:t>complexity</a:t>
            </a:r>
            <a:r>
              <a:rPr lang="en-US" dirty="0"/>
              <a:t> of its </a:t>
            </a:r>
            <a:r>
              <a:rPr lang="en-US" u="sng" dirty="0"/>
              <a:t>algebraic expression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Boolean function can be expressed in </a:t>
            </a:r>
            <a:r>
              <a:rPr lang="en-US" b="1" dirty="0"/>
              <a:t>different ways, </a:t>
            </a:r>
            <a:r>
              <a:rPr lang="en-US" dirty="0"/>
              <a:t>but their </a:t>
            </a:r>
            <a:r>
              <a:rPr lang="en-US" b="1" dirty="0">
                <a:solidFill>
                  <a:srgbClr val="0070C0"/>
                </a:solidFill>
              </a:rPr>
              <a:t>truth table </a:t>
            </a:r>
            <a:r>
              <a:rPr lang="en-US" dirty="0"/>
              <a:t>representation is </a:t>
            </a:r>
            <a:r>
              <a:rPr lang="en-US" b="1" dirty="0">
                <a:solidFill>
                  <a:srgbClr val="00B050"/>
                </a:solidFill>
              </a:rPr>
              <a:t>unique</a:t>
            </a:r>
          </a:p>
          <a:p>
            <a:pPr lvl="1"/>
            <a:r>
              <a:rPr lang="en-US" dirty="0"/>
              <a:t>This Boolean expression can be simplified by Boolean algebra (</a:t>
            </a:r>
            <a:r>
              <a:rPr lang="en-US" b="1" dirty="0"/>
              <a:t>Cut-and-try method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But it’s </a:t>
            </a:r>
            <a:r>
              <a:rPr lang="en-US" b="1" dirty="0"/>
              <a:t>manual </a:t>
            </a:r>
            <a:r>
              <a:rPr lang="en-US" dirty="0"/>
              <a:t>and there’s </a:t>
            </a:r>
            <a:r>
              <a:rPr lang="en-US" b="1" dirty="0"/>
              <a:t>no specific rules </a:t>
            </a:r>
            <a:r>
              <a:rPr lang="en-US" dirty="0"/>
              <a:t>to proceed next step</a:t>
            </a:r>
          </a:p>
          <a:p>
            <a:r>
              <a:rPr lang="en-US" b="1" dirty="0"/>
              <a:t>Map method </a:t>
            </a:r>
            <a:r>
              <a:rPr lang="en-US" dirty="0"/>
              <a:t>or </a:t>
            </a:r>
            <a:r>
              <a:rPr lang="en-US" b="1" dirty="0">
                <a:solidFill>
                  <a:srgbClr val="00B050"/>
                </a:solidFill>
              </a:rPr>
              <a:t>Veitch/Karnaugh Map </a:t>
            </a:r>
            <a:r>
              <a:rPr lang="en-US" dirty="0"/>
              <a:t>or </a:t>
            </a:r>
            <a:r>
              <a:rPr lang="en-US" b="1" dirty="0">
                <a:solidFill>
                  <a:srgbClr val="00B0F0"/>
                </a:solidFill>
              </a:rPr>
              <a:t>K-map</a:t>
            </a:r>
          </a:p>
          <a:p>
            <a:pPr lvl="1"/>
            <a:r>
              <a:rPr lang="en-US" dirty="0"/>
              <a:t>Simple and straightforward procedure to minimize Boolean function</a:t>
            </a:r>
          </a:p>
          <a:p>
            <a:pPr lvl="1"/>
            <a:r>
              <a:rPr lang="en-US" dirty="0"/>
              <a:t>Also be regarded as </a:t>
            </a:r>
            <a:r>
              <a:rPr lang="en-US" b="1" dirty="0"/>
              <a:t>pictorial form </a:t>
            </a:r>
            <a:r>
              <a:rPr lang="en-US" dirty="0"/>
              <a:t>of a </a:t>
            </a:r>
            <a:r>
              <a:rPr lang="en-US" b="1" dirty="0">
                <a:solidFill>
                  <a:srgbClr val="00B0F0"/>
                </a:solidFill>
              </a:rPr>
              <a:t>truth table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726481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Map Method – K-map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/>
          </a:bodyPr>
          <a:lstStyle/>
          <a:p>
            <a:r>
              <a:rPr lang="en-US" dirty="0"/>
              <a:t>K-map is made of squares </a:t>
            </a:r>
          </a:p>
          <a:p>
            <a:pPr lvl="1"/>
            <a:r>
              <a:rPr lang="en-US" dirty="0"/>
              <a:t>Each square represents a minterm of the function </a:t>
            </a:r>
          </a:p>
          <a:p>
            <a:r>
              <a:rPr lang="en-US" dirty="0"/>
              <a:t>Graphical representation of a Boolean function in the map </a:t>
            </a:r>
            <a:r>
              <a:rPr lang="en-US" b="1" dirty="0">
                <a:solidFill>
                  <a:srgbClr val="002060"/>
                </a:solidFill>
              </a:rPr>
              <a:t>enclosing</a:t>
            </a:r>
            <a:r>
              <a:rPr lang="en-US" dirty="0"/>
              <a:t> those squares whose minterms are included in the function</a:t>
            </a:r>
          </a:p>
          <a:p>
            <a:pPr lvl="1"/>
            <a:r>
              <a:rPr lang="en-US" dirty="0"/>
              <a:t>This representation reveals all possible ways a function may be expressed in standard form (SOP or POS)</a:t>
            </a:r>
          </a:p>
          <a:p>
            <a:pPr lvl="2"/>
            <a:r>
              <a:rPr lang="en-US" dirty="0"/>
              <a:t>A designer should identify various patterns to derive </a:t>
            </a:r>
            <a:r>
              <a:rPr lang="en-US" b="1" dirty="0"/>
              <a:t>alternative simplified </a:t>
            </a:r>
            <a:r>
              <a:rPr lang="en-US" dirty="0"/>
              <a:t>algebraic expression</a:t>
            </a:r>
          </a:p>
          <a:p>
            <a:pPr lvl="3"/>
            <a:r>
              <a:rPr lang="en-US" sz="2000" b="1" dirty="0"/>
              <a:t>A super optimized expression </a:t>
            </a:r>
            <a:r>
              <a:rPr lang="en-US" sz="2000" dirty="0"/>
              <a:t>contains </a:t>
            </a:r>
            <a:r>
              <a:rPr lang="en-US" sz="2000" b="1" dirty="0"/>
              <a:t>minimum number of terms </a:t>
            </a:r>
            <a:r>
              <a:rPr lang="en-US" sz="2000" dirty="0"/>
              <a:t>and with </a:t>
            </a:r>
            <a:r>
              <a:rPr lang="en-US" sz="2000" b="1" dirty="0">
                <a:solidFill>
                  <a:srgbClr val="00B0F0"/>
                </a:solidFill>
              </a:rPr>
              <a:t>smallest possible number of literals </a:t>
            </a:r>
            <a:r>
              <a:rPr lang="en-US" sz="2000" dirty="0"/>
              <a:t>in each term </a:t>
            </a:r>
          </a:p>
          <a:p>
            <a:pPr lvl="3"/>
            <a:r>
              <a:rPr lang="en-US" sz="2000" dirty="0"/>
              <a:t>But sometimes more than one expressions may satisfy this minimization criteria – all of them are correct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007391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Two-Variable K-map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/>
          </a:bodyPr>
          <a:lstStyle/>
          <a:p>
            <a:r>
              <a:rPr lang="en-US" dirty="0"/>
              <a:t>Two variables – Four minterms</a:t>
            </a:r>
          </a:p>
          <a:p>
            <a:pPr lvl="1"/>
            <a:r>
              <a:rPr lang="en-US" dirty="0"/>
              <a:t>Four Squares in K-map</a:t>
            </a:r>
          </a:p>
          <a:p>
            <a:pPr lvl="1"/>
            <a:r>
              <a:rPr lang="en-US" dirty="0"/>
              <a:t>Another way to represent any of the 16 functions of two variables</a:t>
            </a:r>
          </a:p>
          <a:p>
            <a:pPr lvl="1"/>
            <a:r>
              <a:rPr lang="en-US" dirty="0"/>
              <a:t>Minterm corresponding to a square can be obtained from the concatenation of the row and column number 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</a:t>
            </a:fld>
            <a:endParaRPr lang="en-US" sz="1800" dirty="0"/>
          </a:p>
        </p:txBody>
      </p:sp>
      <p:pic>
        <p:nvPicPr>
          <p:cNvPr id="9" name="Content Placeholder 4">
            <a:extLst>
              <a:ext uri="{FF2B5EF4-FFF2-40B4-BE49-F238E27FC236}">
                <a16:creationId xmlns:a16="http://schemas.microsoft.com/office/drawing/2014/main" id="{BF58BC08-7424-4734-8AB9-F4E8058533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054" y="3749908"/>
            <a:ext cx="4410691" cy="22482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4691E1-4F56-4B17-9B2D-D1F5A8B466F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8346"/>
          <a:stretch/>
        </p:blipFill>
        <p:spPr>
          <a:xfrm>
            <a:off x="1767314" y="3864312"/>
            <a:ext cx="3734321" cy="16335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1F4137-E591-49E7-B2B6-7BB450ACFF27}"/>
              </a:ext>
            </a:extLst>
          </p:cNvPr>
          <p:cNvSpPr txBox="1"/>
          <p:nvPr/>
        </p:nvSpPr>
        <p:spPr>
          <a:xfrm>
            <a:off x="2312313" y="6042572"/>
            <a:ext cx="76698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Note:</a:t>
            </a:r>
            <a:r>
              <a:rPr lang="en-US" sz="2000" dirty="0"/>
              <a:t> A square is marked with 1, if that minterm asserts the function  </a:t>
            </a:r>
          </a:p>
        </p:txBody>
      </p:sp>
    </p:spTree>
    <p:extLst>
      <p:ext uri="{BB962C8B-B14F-4D97-AF65-F5344CB8AC3E}">
        <p14:creationId xmlns:p14="http://schemas.microsoft.com/office/powerpoint/2010/main" val="2585157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Three-Variable K-Map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8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ADEE5-0A41-4817-8123-BBCC0A195EA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419" b="13291"/>
          <a:stretch/>
        </p:blipFill>
        <p:spPr>
          <a:xfrm>
            <a:off x="2343365" y="4361657"/>
            <a:ext cx="7505269" cy="235981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1125200" cy="4351338"/>
          </a:xfrm>
        </p:spPr>
        <p:txBody>
          <a:bodyPr>
            <a:normAutofit/>
          </a:bodyPr>
          <a:lstStyle/>
          <a:p>
            <a:r>
              <a:rPr lang="en-US" dirty="0"/>
              <a:t>Three variables – Eight minterms </a:t>
            </a:r>
          </a:p>
          <a:p>
            <a:pPr lvl="1"/>
            <a:r>
              <a:rPr lang="en-US" dirty="0"/>
              <a:t> Eight squares in k-map </a:t>
            </a:r>
          </a:p>
          <a:p>
            <a:r>
              <a:rPr lang="en-US" dirty="0"/>
              <a:t>Minterms are expressed symbolically in binary equivalent sequence</a:t>
            </a:r>
            <a:br>
              <a:rPr lang="en-US" dirty="0"/>
            </a:br>
            <a:r>
              <a:rPr lang="en-US" dirty="0"/>
              <a:t> but arranged in k-map as </a:t>
            </a:r>
            <a:r>
              <a:rPr lang="en-US" b="1" dirty="0"/>
              <a:t>a sequence of reflected code </a:t>
            </a:r>
          </a:p>
          <a:p>
            <a:pPr lvl="1"/>
            <a:r>
              <a:rPr lang="en-US" dirty="0"/>
              <a:t>Only one-bit changes in value from one adjacent column to the next</a:t>
            </a:r>
          </a:p>
          <a:p>
            <a:pPr lvl="1"/>
            <a:r>
              <a:rPr lang="en-US" dirty="0"/>
              <a:t>Any two adjacent squares in the map differ by only one variable </a:t>
            </a:r>
          </a:p>
          <a:p>
            <a:pPr lvl="1"/>
            <a:r>
              <a:rPr lang="en-US" dirty="0"/>
              <a:t>Basic property of K-map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356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Three-Variable K-Map: Simplification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9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8DF600-15C0-4E28-A6C0-39625BFB066F}"/>
              </a:ext>
            </a:extLst>
          </p:cNvPr>
          <p:cNvGrpSpPr/>
          <p:nvPr/>
        </p:nvGrpSpPr>
        <p:grpSpPr>
          <a:xfrm>
            <a:off x="1154145" y="4540250"/>
            <a:ext cx="10569509" cy="2166620"/>
            <a:chOff x="731451" y="4200488"/>
            <a:chExt cx="10569509" cy="197647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F733DB4-F8B9-4A47-9A63-8FC7588F8EBE}"/>
                </a:ext>
              </a:extLst>
            </p:cNvPr>
            <p:cNvGrpSpPr/>
            <p:nvPr/>
          </p:nvGrpSpPr>
          <p:grpSpPr>
            <a:xfrm>
              <a:off x="731451" y="4200488"/>
              <a:ext cx="6286069" cy="1976475"/>
              <a:chOff x="895565" y="3162421"/>
              <a:chExt cx="6286069" cy="197647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2FADEE5-0A41-4817-8123-BBCC0A195E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5000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419" b="13291"/>
              <a:stretch/>
            </p:blipFill>
            <p:spPr>
              <a:xfrm>
                <a:off x="895565" y="3162421"/>
                <a:ext cx="6286069" cy="1976475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93C81DA-BB70-456D-9637-ECD17137CA92}"/>
                  </a:ext>
                </a:extLst>
              </p:cNvPr>
              <p:cNvSpPr/>
              <p:nvPr/>
            </p:nvSpPr>
            <p:spPr>
              <a:xfrm>
                <a:off x="1905000" y="4373880"/>
                <a:ext cx="899160" cy="3810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DD7FB5B-1BD1-4A27-A7B3-F56D3262FE79}"/>
                  </a:ext>
                </a:extLst>
              </p:cNvPr>
              <p:cNvSpPr/>
              <p:nvPr/>
            </p:nvSpPr>
            <p:spPr>
              <a:xfrm>
                <a:off x="5303520" y="4373880"/>
                <a:ext cx="899160" cy="3810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7FB9E6-91BF-4D8E-9B01-1E556D98FD42}"/>
                    </a:ext>
                  </a:extLst>
                </p:cNvPr>
                <p:cNvSpPr txBox="1"/>
                <p:nvPr/>
              </p:nvSpPr>
              <p:spPr>
                <a:xfrm>
                  <a:off x="7474720" y="4476662"/>
                  <a:ext cx="3826240" cy="14241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    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i="1" baseline="-25000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a14:m>
                  <a:endParaRPr lang="en-US" sz="2400" i="1" baseline="-2500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𝑥𝑦𝑧</m:t>
                        </m:r>
                      </m:oMath>
                    </m:oMathPara>
                  </a14:m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𝑥𝑧</m:t>
                        </m:r>
                        <m:d>
                          <m:dPr>
                            <m:ctrlPr>
                              <a:rPr 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oMath>
                    </m:oMathPara>
                  </a14:m>
                  <a:endParaRPr lang="en-US" sz="24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𝑥𝑧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57FB9E6-91BF-4D8E-9B01-1E556D98FD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4720" y="4476662"/>
                  <a:ext cx="3826240" cy="14241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7092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any two adjacent squares (vertically or horizontally) are considered as sum of them, those two minterms could be simplified to a single product term following the postulates of Boolean algebra (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’=1</m:t>
                    </m:r>
                  </m:oMath>
                </a14:m>
                <a:r>
                  <a:rPr lang="en-US" dirty="0"/>
                  <a:t>). </a:t>
                </a:r>
              </a:p>
              <a:p>
                <a:pPr lvl="2"/>
                <a:r>
                  <a:rPr lang="en-US" dirty="0"/>
                  <a:t>Dissimilar variable will be removed</a:t>
                </a:r>
              </a:p>
              <a:p>
                <a:pPr lvl="2"/>
                <a:r>
                  <a:rPr lang="en-US" dirty="0"/>
                  <a:t>Example:  </a:t>
                </a:r>
                <a:r>
                  <a:rPr lang="en-US" b="1" i="1" dirty="0"/>
                  <a:t>m</a:t>
                </a:r>
                <a:r>
                  <a:rPr lang="en-US" b="1" i="1" baseline="-25000" dirty="0"/>
                  <a:t>5</a:t>
                </a:r>
                <a:r>
                  <a:rPr lang="en-US" b="1" i="1" dirty="0"/>
                  <a:t> </a:t>
                </a:r>
                <a:r>
                  <a:rPr lang="en-US" dirty="0"/>
                  <a:t>and </a:t>
                </a:r>
                <a:r>
                  <a:rPr lang="en-US" b="1" i="1" dirty="0"/>
                  <a:t>m</a:t>
                </a:r>
                <a:r>
                  <a:rPr lang="en-US" b="1" i="1" baseline="-25000" dirty="0"/>
                  <a:t>7</a:t>
                </a:r>
              </a:p>
              <a:p>
                <a:pPr lvl="1"/>
                <a:r>
                  <a:rPr lang="en-US" sz="2200" b="1" dirty="0">
                    <a:solidFill>
                      <a:srgbClr val="FF0000"/>
                    </a:solidFill>
                  </a:rPr>
                  <a:t>Note: </a:t>
                </a:r>
                <a:r>
                  <a:rPr lang="en-US" sz="2200" dirty="0"/>
                  <a:t>Two squares are adjacent even though they don’t touch each other</a:t>
                </a:r>
              </a:p>
              <a:p>
                <a:pPr lvl="2"/>
                <a:r>
                  <a:rPr lang="en-US" sz="2200" dirty="0"/>
                  <a:t>Like </a:t>
                </a:r>
                <a:r>
                  <a:rPr lang="en-US" sz="2200" b="1" dirty="0"/>
                  <a:t>world map </a:t>
                </a:r>
              </a:p>
              <a:p>
                <a:pPr lvl="2"/>
                <a:r>
                  <a:rPr lang="en-US" sz="2200" dirty="0"/>
                  <a:t>Example:  </a:t>
                </a:r>
                <a:r>
                  <a:rPr lang="en-US" sz="2200" b="1" i="1" dirty="0"/>
                  <a:t>m</a:t>
                </a:r>
                <a:r>
                  <a:rPr lang="en-US" sz="2200" b="1" i="1" baseline="-25000" dirty="0"/>
                  <a:t>0</a:t>
                </a:r>
                <a:r>
                  <a:rPr lang="en-US" sz="2200" b="1" i="1" dirty="0"/>
                  <a:t> </a:t>
                </a:r>
                <a:r>
                  <a:rPr lang="en-US" sz="2200" dirty="0"/>
                  <a:t>and </a:t>
                </a:r>
                <a:r>
                  <a:rPr lang="en-US" sz="2200" b="1" i="1" dirty="0"/>
                  <a:t>m</a:t>
                </a:r>
                <a:r>
                  <a:rPr lang="en-US" sz="2200" b="1" i="1" baseline="-25000" dirty="0"/>
                  <a:t>2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70920" cy="4351338"/>
              </a:xfrm>
              <a:blipFill>
                <a:blip r:embed="rId7"/>
                <a:stretch>
                  <a:fillRect l="-98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E09E2FC6-F192-4187-B465-D6D1CD7FD3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440" y="4100321"/>
            <a:ext cx="1517228" cy="91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35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388" y="365125"/>
            <a:ext cx="998441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3-variable K-Map: Example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10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140756" y="2058356"/>
            <a:ext cx="4802844" cy="3656126"/>
            <a:chOff x="3864082" y="1536590"/>
            <a:chExt cx="4802844" cy="3656126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15" y="1536590"/>
              <a:ext cx="3000794" cy="584424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4082" y="2358223"/>
              <a:ext cx="4802844" cy="283449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129180" y="2044345"/>
                  <a:ext cx="3873689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 =</m:t>
                        </m:r>
                        <m:sSup>
                          <m:sSupPr>
                            <m:ctrlPr>
                              <a:rPr lang="en-US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𝑦𝑧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 +</m:t>
                        </m:r>
                        <m:sSup>
                          <m:sSupPr>
                            <m:ctrlPr>
                              <a:rPr lang="en-US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𝑦𝑧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′ +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′ +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sz="19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1900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sz="1900" i="1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9180" y="2044345"/>
                  <a:ext cx="3873689" cy="384721"/>
                </a:xfrm>
                <a:prstGeom prst="rect">
                  <a:avLst/>
                </a:prstGeom>
                <a:blipFill>
                  <a:blip r:embed="rId8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/>
          <p:cNvGrpSpPr/>
          <p:nvPr/>
        </p:nvGrpSpPr>
        <p:grpSpPr>
          <a:xfrm>
            <a:off x="6749761" y="2058356"/>
            <a:ext cx="4648489" cy="3398286"/>
            <a:chOff x="4299988" y="2421988"/>
            <a:chExt cx="4648489" cy="2926339"/>
          </a:xfrm>
        </p:grpSpPr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5106" y="2421988"/>
              <a:ext cx="2711121" cy="447737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11">
              <a:grayscl/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49" t="5615" r="3167" b="11437"/>
            <a:stretch/>
          </p:blipFill>
          <p:spPr>
            <a:xfrm>
              <a:off x="4299988" y="3323405"/>
              <a:ext cx="4648489" cy="202492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684146" y="2798223"/>
                  <a:ext cx="3644203" cy="33129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 =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𝑦𝑧</m:t>
                        </m:r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 +</m:t>
                        </m:r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1900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𝑥𝑦𝑧</m:t>
                        </m:r>
                        <m:r>
                          <a:rPr lang="en-US" sz="19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en-US" sz="1900" i="1" dirty="0" smtClean="0">
                            <a:latin typeface="Cambria Math" panose="02040503050406030204" pitchFamily="18" charset="0"/>
                          </a:rPr>
                          <m:t>𝑥𝑦𝑧</m:t>
                        </m:r>
                      </m:oMath>
                    </m:oMathPara>
                  </a14:m>
                  <a:endParaRPr lang="en-US" sz="1900" i="1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4146" y="2798223"/>
                  <a:ext cx="3644203" cy="331292"/>
                </a:xfrm>
                <a:prstGeom prst="rect">
                  <a:avLst/>
                </a:prstGeom>
                <a:blipFill>
                  <a:blip r:embed="rId13"/>
                  <a:stretch>
                    <a:fillRect b="-158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13438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172" y="365125"/>
            <a:ext cx="10960627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3-variable K-Map: Example…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11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239574" y="3773705"/>
            <a:ext cx="5598052" cy="2947770"/>
            <a:chOff x="7728304" y="2811133"/>
            <a:chExt cx="5598052" cy="294777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38944" y="2811133"/>
              <a:ext cx="2728365" cy="48943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6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644"/>
            <a:stretch/>
          </p:blipFill>
          <p:spPr>
            <a:xfrm>
              <a:off x="7728304" y="3205499"/>
              <a:ext cx="5598052" cy="255340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560235" y="5193188"/>
                <a:ext cx="346761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i="1" dirty="0">
                    <a:solidFill>
                      <a:srgbClr val="FF0000"/>
                    </a:solidFill>
                  </a:rPr>
                  <a:t> Solve these ?</a:t>
                </a:r>
                <a:endParaRPr lang="en-US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𝑨𝑩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𝑩𝑪</m:t>
                      </m:r>
                    </m:oMath>
                  </m:oMathPara>
                </a14:m>
                <a:endParaRPr lang="en-US" b="1" i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235" y="5193188"/>
                <a:ext cx="3467616" cy="646331"/>
              </a:xfrm>
              <a:prstGeom prst="rect">
                <a:avLst/>
              </a:prstGeom>
              <a:blipFill>
                <a:blip r:embed="rId8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F84633B-B32F-423C-8E83-F512B03C97AD}"/>
              </a:ext>
            </a:extLst>
          </p:cNvPr>
          <p:cNvSpPr txBox="1"/>
          <p:nvPr/>
        </p:nvSpPr>
        <p:spPr>
          <a:xfrm>
            <a:off x="393173" y="1578303"/>
            <a:ext cx="1140565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Note: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</a:t>
            </a:r>
            <a:r>
              <a:rPr lang="en-US" sz="2300" dirty="0"/>
              <a:t>ike this, 4 adjacent squares are also possible following same postulates of Boolean algebra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/>
              <a:t>Use of squares more than once (</a:t>
            </a:r>
            <a:r>
              <a:rPr lang="en-US" sz="2300" b="1" dirty="0">
                <a:solidFill>
                  <a:srgbClr val="FF0000"/>
                </a:solidFill>
              </a:rPr>
              <a:t>repeatedly</a:t>
            </a:r>
            <a:r>
              <a:rPr lang="en-US" sz="2300" b="1" dirty="0"/>
              <a:t>) makes a term more minimized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C00000"/>
                </a:solidFill>
              </a:rPr>
              <a:t>If the function </a:t>
            </a:r>
            <a:r>
              <a:rPr lang="en-US" sz="2800" b="1" dirty="0"/>
              <a:t>is not </a:t>
            </a:r>
            <a:r>
              <a:rPr lang="en-US" sz="2300" b="1" dirty="0">
                <a:solidFill>
                  <a:srgbClr val="C00000"/>
                </a:solidFill>
              </a:rPr>
              <a:t>expressed in canonical form, missing minterms should be obtained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chemeClr val="accent1">
                    <a:lumMod val="50000"/>
                  </a:schemeClr>
                </a:solidFill>
              </a:rPr>
              <a:t>Minimized function must be expressed in standard form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7307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4-Variable K-Map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12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99EEF01-388A-4FE5-A52F-066DA8ADB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/>
          <a:lstStyle/>
          <a:p>
            <a:r>
              <a:rPr lang="en-US" dirty="0"/>
              <a:t>4 variables – 16 minterms</a:t>
            </a:r>
          </a:p>
          <a:p>
            <a:pPr lvl="1"/>
            <a:r>
              <a:rPr lang="en-US" dirty="0"/>
              <a:t>16 squares in K-map</a:t>
            </a:r>
          </a:p>
          <a:p>
            <a:r>
              <a:rPr lang="en-US" dirty="0"/>
              <a:t>Both </a:t>
            </a:r>
            <a:r>
              <a:rPr lang="en-US" b="1" dirty="0"/>
              <a:t>columns</a:t>
            </a:r>
            <a:r>
              <a:rPr lang="en-US" dirty="0"/>
              <a:t> and </a:t>
            </a:r>
            <a:r>
              <a:rPr lang="en-US" b="1" dirty="0"/>
              <a:t>rows </a:t>
            </a:r>
            <a:r>
              <a:rPr lang="en-US" dirty="0"/>
              <a:t>are numbered in </a:t>
            </a:r>
            <a:r>
              <a:rPr lang="en-US" b="1" dirty="0">
                <a:solidFill>
                  <a:srgbClr val="FF0000"/>
                </a:solidFill>
              </a:rPr>
              <a:t>Gray code </a:t>
            </a:r>
            <a:r>
              <a:rPr lang="en-US" dirty="0"/>
              <a:t>sequence </a:t>
            </a:r>
          </a:p>
          <a:p>
            <a:pPr lvl="1"/>
            <a:r>
              <a:rPr lang="en-US" dirty="0"/>
              <a:t>Only </a:t>
            </a:r>
            <a:r>
              <a:rPr lang="en-US" b="1" dirty="0">
                <a:solidFill>
                  <a:srgbClr val="00B0F0"/>
                </a:solidFill>
              </a:rPr>
              <a:t>one variable change </a:t>
            </a:r>
            <a:r>
              <a:rPr lang="en-US" dirty="0"/>
              <a:t>in any two adjacent squares row-wise or column-wise</a:t>
            </a:r>
          </a:p>
          <a:p>
            <a:r>
              <a:rPr lang="en-US" dirty="0"/>
              <a:t>The map is considered on the surface whose </a:t>
            </a:r>
            <a:r>
              <a:rPr lang="en-US" b="1" dirty="0"/>
              <a:t>top and bottom edges </a:t>
            </a:r>
            <a:r>
              <a:rPr lang="en-US" dirty="0"/>
              <a:t>and </a:t>
            </a:r>
            <a:r>
              <a:rPr lang="en-US" b="1" dirty="0">
                <a:solidFill>
                  <a:srgbClr val="0070C0"/>
                </a:solidFill>
              </a:rPr>
              <a:t>right and left edges </a:t>
            </a:r>
            <a:r>
              <a:rPr lang="en-US" dirty="0"/>
              <a:t>are attached to each other to form adjacent squares  </a:t>
            </a:r>
          </a:p>
        </p:txBody>
      </p:sp>
    </p:spTree>
    <p:extLst>
      <p:ext uri="{BB962C8B-B14F-4D97-AF65-F5344CB8AC3E}">
        <p14:creationId xmlns:p14="http://schemas.microsoft.com/office/powerpoint/2010/main" val="2952429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650" y="365125"/>
            <a:ext cx="1080135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4-Variable K-Map: Representation 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13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BC768B47-69E5-407C-8577-DFC52C1239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61" t="5381" r="1985" b="9558"/>
          <a:stretch/>
        </p:blipFill>
        <p:spPr>
          <a:xfrm>
            <a:off x="1872731" y="1690688"/>
            <a:ext cx="8446537" cy="416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76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4-Variable K-Map: Example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14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906538" y="2092462"/>
            <a:ext cx="4251581" cy="3573981"/>
            <a:chOff x="4099946" y="2134491"/>
            <a:chExt cx="4251581" cy="357398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9946" y="2134491"/>
              <a:ext cx="4124901" cy="39058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6">
              <a:grayscl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9" r="5598" b="15096"/>
            <a:stretch/>
          </p:blipFill>
          <p:spPr>
            <a:xfrm>
              <a:off x="4226626" y="2618770"/>
              <a:ext cx="4124901" cy="3089702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7371794" y="4235678"/>
            <a:ext cx="3982006" cy="740859"/>
            <a:chOff x="7371794" y="3468423"/>
            <a:chExt cx="3982006" cy="740859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1794" y="3837755"/>
              <a:ext cx="3982006" cy="371527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8832693" y="3468423"/>
              <a:ext cx="11635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Solve this: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0C92278-A07F-43F6-8193-3388CE7DD04F}"/>
                  </a:ext>
                </a:extLst>
              </p14:cNvPr>
              <p14:cNvContentPartPr/>
              <p14:nvPr/>
            </p14:nvContentPartPr>
            <p14:xfrm>
              <a:off x="3569737" y="4768605"/>
              <a:ext cx="474840" cy="432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0C92278-A07F-43F6-8193-3388CE7DD0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60744" y="4759605"/>
                <a:ext cx="492467" cy="45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8432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/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Basic Definition: Implicant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Implicant </a:t>
            </a:r>
            <a:r>
              <a:rPr lang="en-US" dirty="0"/>
              <a:t>is a </a:t>
            </a:r>
            <a:r>
              <a:rPr lang="en-US" dirty="0">
                <a:solidFill>
                  <a:srgbClr val="FF0000"/>
                </a:solidFill>
              </a:rPr>
              <a:t>group </a:t>
            </a:r>
            <a:r>
              <a:rPr lang="en-US" dirty="0"/>
              <a:t>of </a:t>
            </a:r>
            <a:r>
              <a:rPr lang="en-US" b="1" dirty="0"/>
              <a:t>adjacent </a:t>
            </a:r>
            <a:r>
              <a:rPr lang="en-US" dirty="0"/>
              <a:t>squares in K-map consisting of </a:t>
            </a:r>
            <a:r>
              <a:rPr lang="en-US" b="1" dirty="0"/>
              <a:t>2</a:t>
            </a:r>
            <a:r>
              <a:rPr lang="en-US" b="1" baseline="30000" dirty="0"/>
              <a:t>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1s</a:t>
            </a:r>
            <a:r>
              <a:rPr lang="en-US" dirty="0"/>
              <a:t> representing true minterms in the function </a:t>
            </a:r>
          </a:p>
          <a:p>
            <a:pPr lvl="2"/>
            <a:r>
              <a:rPr lang="en-US" dirty="0"/>
              <a:t>Alternatively, </a:t>
            </a:r>
            <a:r>
              <a:rPr lang="en-US" b="1" dirty="0"/>
              <a:t>Implicant </a:t>
            </a:r>
            <a:r>
              <a:rPr lang="en-US" dirty="0"/>
              <a:t>is a product term (or minterm) of any function so that it implies the function (</a:t>
            </a:r>
            <a:r>
              <a:rPr lang="en-US" b="1" i="1" dirty="0"/>
              <a:t>i.e.,</a:t>
            </a:r>
            <a:r>
              <a:rPr lang="en-US" dirty="0"/>
              <a:t> if the implicant is true, the function will be true)</a:t>
            </a:r>
          </a:p>
          <a:p>
            <a:r>
              <a:rPr lang="en-US" dirty="0"/>
              <a:t>A </a:t>
            </a:r>
            <a:r>
              <a:rPr lang="en-US" b="1" i="1" dirty="0"/>
              <a:t>prime implicant </a:t>
            </a:r>
            <a:r>
              <a:rPr lang="en-US" dirty="0"/>
              <a:t>is a product term obtained by combining the </a:t>
            </a:r>
            <a:r>
              <a:rPr lang="en-US" b="1" dirty="0">
                <a:solidFill>
                  <a:srgbClr val="FF0000"/>
                </a:solidFill>
              </a:rPr>
              <a:t>maximum possible number of </a:t>
            </a:r>
            <a:r>
              <a:rPr lang="en-US" b="1" dirty="0">
                <a:solidFill>
                  <a:srgbClr val="0070C0"/>
                </a:solidFill>
              </a:rPr>
              <a:t>adjacent squares </a:t>
            </a:r>
            <a:r>
              <a:rPr lang="en-US" dirty="0"/>
              <a:t>in the map. 	</a:t>
            </a:r>
          </a:p>
          <a:p>
            <a:pPr lvl="2"/>
            <a:r>
              <a:rPr lang="en-US" dirty="0"/>
              <a:t>Where, this number satisfies 2</a:t>
            </a:r>
            <a:r>
              <a:rPr lang="en-US" baseline="30000" dirty="0"/>
              <a:t>n</a:t>
            </a:r>
          </a:p>
          <a:p>
            <a:pPr lvl="2"/>
            <a:r>
              <a:rPr lang="en-US" dirty="0"/>
              <a:t>A single square itself represents a prime implicant if it has no other adjacent 1’s square</a:t>
            </a:r>
          </a:p>
          <a:p>
            <a:r>
              <a:rPr lang="en-US" b="1" dirty="0"/>
              <a:t>Essential prime implicant, </a:t>
            </a:r>
            <a:r>
              <a:rPr lang="en-US" dirty="0"/>
              <a:t>is that </a:t>
            </a:r>
            <a:r>
              <a:rPr lang="en-US" i="1" u="sng" dirty="0"/>
              <a:t>prime implicant </a:t>
            </a:r>
            <a:r>
              <a:rPr lang="en-US" dirty="0"/>
              <a:t>that has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at least one minterm </a:t>
            </a:r>
            <a:r>
              <a:rPr lang="en-US" dirty="0"/>
              <a:t>which is not covered by any other prime implicants.</a:t>
            </a:r>
          </a:p>
          <a:p>
            <a:pPr lvl="2"/>
            <a:r>
              <a:rPr lang="en-US" dirty="0"/>
              <a:t>This prime implicant </a:t>
            </a:r>
            <a:r>
              <a:rPr lang="en-US" b="1" dirty="0"/>
              <a:t>must </a:t>
            </a:r>
            <a:r>
              <a:rPr lang="en-US" dirty="0"/>
              <a:t>be included in the </a:t>
            </a:r>
            <a:r>
              <a:rPr lang="en-US" b="1" dirty="0"/>
              <a:t>simplified expression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566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/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Basic Definition: Implicant – Example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mtClean="0"/>
              <a:t>16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0B0DFC-FA77-4AB6-8A96-63A64939D87E}"/>
              </a:ext>
            </a:extLst>
          </p:cNvPr>
          <p:cNvGrpSpPr/>
          <p:nvPr/>
        </p:nvGrpSpPr>
        <p:grpSpPr>
          <a:xfrm>
            <a:off x="222243" y="2154924"/>
            <a:ext cx="9257163" cy="4567612"/>
            <a:chOff x="1677158" y="2187574"/>
            <a:chExt cx="9257163" cy="456761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941D9E7-E220-4833-AE84-256B616E26EE}"/>
                </a:ext>
              </a:extLst>
            </p:cNvPr>
            <p:cNvGrpSpPr/>
            <p:nvPr/>
          </p:nvGrpSpPr>
          <p:grpSpPr>
            <a:xfrm>
              <a:off x="1677158" y="2187574"/>
              <a:ext cx="8837683" cy="4351338"/>
              <a:chOff x="1677158" y="2187574"/>
              <a:chExt cx="8837683" cy="435133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5851383-0B45-4367-8CCC-ECA09CD112FA}"/>
                  </a:ext>
                </a:extLst>
              </p:cNvPr>
              <p:cNvGrpSpPr/>
              <p:nvPr/>
            </p:nvGrpSpPr>
            <p:grpSpPr>
              <a:xfrm>
                <a:off x="1677158" y="2187574"/>
                <a:ext cx="8837683" cy="4351338"/>
                <a:chOff x="2209800" y="2355581"/>
                <a:chExt cx="8837683" cy="4351338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7FCE5A6A-4618-4399-B6D0-7B0CE34FA0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sharpenSoften amount="50000"/>
                          </a14:imgEffect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09800" y="2355581"/>
                  <a:ext cx="8837683" cy="4351338"/>
                </a:xfrm>
                <a:prstGeom prst="rect">
                  <a:avLst/>
                </a:prstGeom>
              </p:spPr>
            </p:pic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BCB078FC-32C6-4D51-A751-3B36C42D12ED}"/>
                    </a:ext>
                  </a:extLst>
                </p:cNvPr>
                <p:cNvSpPr/>
                <p:nvPr/>
              </p:nvSpPr>
              <p:spPr>
                <a:xfrm>
                  <a:off x="3804283" y="3205191"/>
                  <a:ext cx="406398" cy="364066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1ACFD901-E309-48B9-8741-BC76534582C9}"/>
                    </a:ext>
                  </a:extLst>
                </p:cNvPr>
                <p:cNvSpPr/>
                <p:nvPr/>
              </p:nvSpPr>
              <p:spPr>
                <a:xfrm>
                  <a:off x="4366597" y="3736153"/>
                  <a:ext cx="406398" cy="364066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7208459F-BDA8-4C31-AEF3-7936283E8E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987987" y="2988501"/>
                      <a:ext cx="67999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  <m: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’</m:t>
                            </m:r>
                            <m: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’</m:t>
                            </m:r>
                          </m:oMath>
                        </m:oMathPara>
                      </a14:m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7208459F-BDA8-4C31-AEF3-7936283E8E3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87987" y="2988501"/>
                      <a:ext cx="679993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E5C63948-BDC5-4842-86C4-E86ECB44D7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86518" y="4253440"/>
                      <a:ext cx="57740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1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𝑩𝑫</m:t>
                            </m:r>
                          </m:oMath>
                        </m:oMathPara>
                      </a14:m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6" name="TextBox 15">
                      <a:extLst>
                        <a:ext uri="{FF2B5EF4-FFF2-40B4-BE49-F238E27FC236}">
                          <a16:creationId xmlns:a16="http://schemas.microsoft.com/office/drawing/2014/main" id="{E5C63948-BDC5-4842-86C4-E86ECB44D76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86518" y="4253440"/>
                      <a:ext cx="577401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BFEF1C3C-9255-42C4-8117-7F209B1450CB}"/>
                  </a:ext>
                </a:extLst>
              </p:cNvPr>
              <p:cNvSpPr/>
              <p:nvPr/>
            </p:nvSpPr>
            <p:spPr>
              <a:xfrm>
                <a:off x="8034866" y="4645850"/>
                <a:ext cx="406398" cy="364066"/>
              </a:xfrm>
              <a:prstGeom prst="ellipse">
                <a:avLst/>
              </a:pr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697B046-0053-4C91-9C4A-088BA12C8B1F}"/>
                  </a:ext>
                </a:extLst>
              </p:cNvPr>
              <p:cNvSpPr/>
              <p:nvPr/>
            </p:nvSpPr>
            <p:spPr>
              <a:xfrm>
                <a:off x="8576725" y="4662786"/>
                <a:ext cx="406398" cy="364066"/>
              </a:xfrm>
              <a:prstGeom prst="ellipse">
                <a:avLst/>
              </a:pr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D438B8D-97B5-4152-AF79-15E051D28ED1}"/>
                  </a:ext>
                </a:extLst>
              </p:cNvPr>
              <p:cNvSpPr/>
              <p:nvPr/>
            </p:nvSpPr>
            <p:spPr>
              <a:xfrm>
                <a:off x="8576728" y="3003318"/>
                <a:ext cx="406398" cy="364066"/>
              </a:xfrm>
              <a:prstGeom prst="ellipse">
                <a:avLst/>
              </a:prstGeom>
              <a:noFill/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BB164FA-52B1-47FC-977D-36C9EE811DAF}"/>
                </a:ext>
              </a:extLst>
            </p:cNvPr>
            <p:cNvSpPr txBox="1"/>
            <p:nvPr/>
          </p:nvSpPr>
          <p:spPr>
            <a:xfrm>
              <a:off x="6898793" y="6108855"/>
              <a:ext cx="4035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2. There are more alternatives of prime </a:t>
              </a:r>
            </a:p>
            <a:p>
              <a:r>
                <a:rPr lang="en-US" b="1" dirty="0"/>
                <a:t>implicants to cover remaining  minterms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4E4AE3B-8CE3-49B0-8CA5-4DEFABFC40F8}"/>
                </a:ext>
              </a:extLst>
            </p:cNvPr>
            <p:cNvSpPr txBox="1"/>
            <p:nvPr/>
          </p:nvSpPr>
          <p:spPr>
            <a:xfrm>
              <a:off x="2266911" y="6108855"/>
              <a:ext cx="404617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1. The essential prime implicants are the</a:t>
              </a:r>
            </a:p>
            <a:p>
              <a:r>
                <a:rPr lang="en-US" b="1" dirty="0"/>
                <a:t> only ways to cover some minterms</a:t>
              </a: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FA48BFF5-4D02-4F23-86E5-B3DEA5ADC9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8683" y="3495597"/>
            <a:ext cx="2819794" cy="11907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740960"/>
                <a:ext cx="114300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(0,2,3,5,7,8,9,10,11,13,15)</m:t>
                        </m:r>
                      </m:e>
                    </m:nary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740960"/>
                <a:ext cx="11430000" cy="4351338"/>
              </a:xfr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818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Implicants in 3- and 4-variable K-map</a:t>
            </a:r>
            <a:endParaRPr lang="en-US" sz="3900" dirty="0">
              <a:latin typeface="+mn-lt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769CB1-9EF8-4F11-950D-154AE8B92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8213" y="1723496"/>
            <a:ext cx="5157787" cy="4423304"/>
          </a:xfrm>
        </p:spPr>
        <p:txBody>
          <a:bodyPr>
            <a:normAutofit/>
          </a:bodyPr>
          <a:lstStyle/>
          <a:p>
            <a:r>
              <a:rPr lang="en-US" b="1" dirty="0"/>
              <a:t>3 variable K-map</a:t>
            </a:r>
          </a:p>
          <a:p>
            <a:pPr lvl="1"/>
            <a:r>
              <a:rPr lang="en-US" b="1" dirty="0"/>
              <a:t>One</a:t>
            </a:r>
            <a:r>
              <a:rPr lang="en-US" dirty="0"/>
              <a:t> square – a term with three variables </a:t>
            </a:r>
          </a:p>
          <a:p>
            <a:pPr lvl="2"/>
            <a:r>
              <a:rPr lang="en-US" dirty="0"/>
              <a:t>One minterm itself</a:t>
            </a:r>
          </a:p>
          <a:p>
            <a:pPr lvl="1"/>
            <a:r>
              <a:rPr lang="en-US" b="1" dirty="0"/>
              <a:t>Two </a:t>
            </a:r>
            <a:r>
              <a:rPr lang="en-US" dirty="0"/>
              <a:t>adjacent squares – a term with two variables</a:t>
            </a:r>
          </a:p>
          <a:p>
            <a:pPr lvl="1"/>
            <a:r>
              <a:rPr lang="en-US" b="1" dirty="0"/>
              <a:t>Four </a:t>
            </a:r>
            <a:r>
              <a:rPr lang="en-US" dirty="0"/>
              <a:t>adjacent squares – a term with one variable</a:t>
            </a:r>
          </a:p>
          <a:p>
            <a:pPr lvl="1"/>
            <a:r>
              <a:rPr lang="en-US" b="1" dirty="0"/>
              <a:t>Eight </a:t>
            </a:r>
            <a:r>
              <a:rPr lang="en-US" dirty="0"/>
              <a:t>adjacent squares – always 1 </a:t>
            </a:r>
          </a:p>
          <a:p>
            <a:pPr lvl="2"/>
            <a:r>
              <a:rPr lang="en-US" dirty="0"/>
              <a:t>Constant function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7F5EE7-A0BA-4BFB-AE7D-012214100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1723495"/>
            <a:ext cx="5480413" cy="4769379"/>
          </a:xfrm>
        </p:spPr>
        <p:txBody>
          <a:bodyPr>
            <a:normAutofit/>
          </a:bodyPr>
          <a:lstStyle/>
          <a:p>
            <a:r>
              <a:rPr lang="en-US" b="1" dirty="0"/>
              <a:t>4 variable K-map</a:t>
            </a:r>
          </a:p>
          <a:p>
            <a:pPr lvl="1"/>
            <a:r>
              <a:rPr lang="en-US" b="1" dirty="0"/>
              <a:t>One </a:t>
            </a:r>
            <a:r>
              <a:rPr lang="en-US" dirty="0"/>
              <a:t>square – a term with four variables </a:t>
            </a:r>
          </a:p>
          <a:p>
            <a:pPr lvl="2"/>
            <a:r>
              <a:rPr lang="en-US" dirty="0"/>
              <a:t>One minterm itself</a:t>
            </a:r>
          </a:p>
          <a:p>
            <a:pPr lvl="1"/>
            <a:r>
              <a:rPr lang="en-US" b="1" dirty="0"/>
              <a:t>Two </a:t>
            </a:r>
            <a:r>
              <a:rPr lang="en-US" dirty="0"/>
              <a:t>adjacent squares – a term with three variables</a:t>
            </a:r>
          </a:p>
          <a:p>
            <a:pPr lvl="1"/>
            <a:r>
              <a:rPr lang="en-US" b="1" dirty="0"/>
              <a:t>Four </a:t>
            </a:r>
            <a:r>
              <a:rPr lang="en-US" dirty="0"/>
              <a:t>adjacent squares – a term with two variables</a:t>
            </a:r>
          </a:p>
          <a:p>
            <a:pPr lvl="1"/>
            <a:r>
              <a:rPr lang="en-US" b="1" dirty="0"/>
              <a:t>Eight </a:t>
            </a:r>
            <a:r>
              <a:rPr lang="en-US" dirty="0"/>
              <a:t>adjacent squares – a term with three variables</a:t>
            </a:r>
          </a:p>
          <a:p>
            <a:pPr lvl="1"/>
            <a:r>
              <a:rPr lang="en-US" b="1" dirty="0"/>
              <a:t>Sixteen </a:t>
            </a:r>
            <a:r>
              <a:rPr lang="en-US" dirty="0"/>
              <a:t>adjacent squares – always 1 </a:t>
            </a:r>
          </a:p>
          <a:p>
            <a:pPr lvl="2"/>
            <a:r>
              <a:rPr lang="en-US" dirty="0"/>
              <a:t>Constant function</a:t>
            </a:r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17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84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5- and 6-Variable K-Map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959" y="2713914"/>
            <a:ext cx="3803127" cy="253080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18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925408" y="1830733"/>
            <a:ext cx="5428392" cy="4297171"/>
            <a:chOff x="5925408" y="1830733"/>
            <a:chExt cx="5428392" cy="429717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1179" y="1830733"/>
              <a:ext cx="5422621" cy="4297171"/>
            </a:xfrm>
            <a:prstGeom prst="rect">
              <a:avLst/>
            </a:prstGeom>
          </p:spPr>
        </p:pic>
        <p:sp useBgFill="1">
          <p:nvSpPr>
            <p:cNvPr id="3" name="TextBox 2"/>
            <p:cNvSpPr txBox="1"/>
            <p:nvPr/>
          </p:nvSpPr>
          <p:spPr>
            <a:xfrm>
              <a:off x="6564575" y="2006218"/>
              <a:ext cx="502920" cy="32316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500" b="1" dirty="0"/>
                <a:t>DEF</a:t>
              </a:r>
            </a:p>
          </p:txBody>
        </p:sp>
        <p:sp useBgFill="1">
          <p:nvSpPr>
            <p:cNvPr id="11" name="TextBox 10"/>
            <p:cNvSpPr txBox="1"/>
            <p:nvPr/>
          </p:nvSpPr>
          <p:spPr>
            <a:xfrm>
              <a:off x="5925408" y="2336044"/>
              <a:ext cx="512621" cy="29177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sz="1500" b="1" dirty="0"/>
                <a:t>ABC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88636-E4CD-4BF0-8BE7-EB016961BF40}"/>
              </a:ext>
            </a:extLst>
          </p:cNvPr>
          <p:cNvSpPr/>
          <p:nvPr/>
        </p:nvSpPr>
        <p:spPr>
          <a:xfrm>
            <a:off x="4038600" y="4879597"/>
            <a:ext cx="1126067" cy="3651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BDB317-2F1E-4213-965D-7425603BB091}"/>
              </a:ext>
            </a:extLst>
          </p:cNvPr>
          <p:cNvSpPr/>
          <p:nvPr/>
        </p:nvSpPr>
        <p:spPr>
          <a:xfrm>
            <a:off x="7465622" y="6028981"/>
            <a:ext cx="2353733" cy="5099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 6-variable K-map</a:t>
            </a:r>
          </a:p>
        </p:txBody>
      </p:sp>
    </p:spTree>
    <p:extLst>
      <p:ext uri="{BB962C8B-B14F-4D97-AF65-F5344CB8AC3E}">
        <p14:creationId xmlns:p14="http://schemas.microsoft.com/office/powerpoint/2010/main" val="2218666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POS &amp; SOP Simplification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SOP simplification </a:t>
                </a:r>
                <a:r>
                  <a:rPr lang="en-US" dirty="0"/>
                  <a:t>– so far, we have minimized the previous Boolean functions</a:t>
                </a:r>
              </a:p>
              <a:p>
                <a:pPr lvl="2"/>
                <a:r>
                  <a:rPr lang="en-US" dirty="0"/>
                  <a:t>With minor modification, </a:t>
                </a:r>
                <a:r>
                  <a:rPr lang="en-US" b="1" dirty="0"/>
                  <a:t>POS simplification </a:t>
                </a:r>
                <a:r>
                  <a:rPr lang="en-US" dirty="0"/>
                  <a:t>is also achievable </a:t>
                </a:r>
              </a:p>
              <a:p>
                <a:r>
                  <a:rPr lang="en-US" b="1" dirty="0"/>
                  <a:t>Procedure: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Mark the </a:t>
                </a:r>
                <a:r>
                  <a:rPr lang="en-US" b="1" dirty="0">
                    <a:solidFill>
                      <a:srgbClr val="0070C0"/>
                    </a:solidFill>
                  </a:rPr>
                  <a:t>empty squares </a:t>
                </a:r>
                <a:r>
                  <a:rPr lang="en-US" dirty="0"/>
                  <a:t>by </a:t>
                </a:r>
                <a:r>
                  <a:rPr lang="en-US" b="1" dirty="0"/>
                  <a:t>0</a:t>
                </a:r>
                <a:r>
                  <a:rPr lang="en-US" dirty="0"/>
                  <a:t>’s in the K-map for any Boolean function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Combine them into </a:t>
                </a:r>
                <a:r>
                  <a:rPr lang="en-US" b="1" dirty="0"/>
                  <a:t>valid adjacent squares </a:t>
                </a:r>
              </a:p>
              <a:p>
                <a:pPr lvl="2"/>
                <a:r>
                  <a:rPr lang="en-US" dirty="0"/>
                  <a:t>A </a:t>
                </a:r>
                <a:r>
                  <a:rPr lang="en-US" b="1" dirty="0">
                    <a:solidFill>
                      <a:srgbClr val="7030A0"/>
                    </a:solidFill>
                  </a:rPr>
                  <a:t>simplified SOP expression </a:t>
                </a:r>
                <a:r>
                  <a:rPr lang="en-US" dirty="0"/>
                  <a:t>of the </a:t>
                </a:r>
                <a:r>
                  <a:rPr lang="en-US" b="1" dirty="0">
                    <a:solidFill>
                      <a:srgbClr val="00B0F0"/>
                    </a:solidFill>
                  </a:rPr>
                  <a:t>complement of the function </a:t>
                </a:r>
                <a:r>
                  <a:rPr lang="en-US" dirty="0"/>
                  <a:t>(</a:t>
                </a:r>
                <a:r>
                  <a:rPr lang="en-US" b="1" i="1" dirty="0"/>
                  <a:t>i.e.,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dirty="0"/>
                  <a:t>) is achieved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complement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dirty="0"/>
                  <a:t> gives back the function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</a:t>
                </a:r>
                <a:r>
                  <a:rPr lang="en-US" b="1" dirty="0">
                    <a:solidFill>
                      <a:srgbClr val="00B0F0"/>
                    </a:solidFill>
                  </a:rPr>
                  <a:t>simplified POS form </a:t>
                </a:r>
                <a:r>
                  <a:rPr lang="en-US" dirty="0"/>
                  <a:t>following the </a:t>
                </a:r>
                <a:r>
                  <a:rPr lang="en-US" b="1" dirty="0"/>
                  <a:t>De Morgan’s law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19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768007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POS &amp; SOP Simplification - Example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20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9B5FB3-E2C9-4E20-B8EA-BEE0F1941BFC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906" y="2572606"/>
            <a:ext cx="6114124" cy="41488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0,1,2,5,8,9,10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dirty="0"/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b="1" dirty="0">
                    <a:solidFill>
                      <a:srgbClr val="00B050"/>
                    </a:solidFill>
                  </a:rPr>
                  <a:t>Simplification</a:t>
                </a:r>
                <a:r>
                  <a:rPr lang="en-US" dirty="0"/>
                  <a:t> in SOP and POS form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E40B65-53FB-47EF-B424-823ACB58CCB1}"/>
                  </a:ext>
                </a:extLst>
              </p:cNvPr>
              <p:cNvSpPr txBox="1"/>
              <p:nvPr/>
            </p:nvSpPr>
            <p:spPr>
              <a:xfrm>
                <a:off x="8084565" y="3787475"/>
                <a:ext cx="4048544" cy="1317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𝟖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𝟗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</m:e>
                          </m:d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b="1" dirty="0"/>
                  <a:t>SOP: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dirty="0"/>
              </a:p>
              <a:p>
                <a:r>
                  <a:rPr lang="en-US" b="1" dirty="0"/>
                  <a:t>POS: 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′)(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′)(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EE40B65-53FB-47EF-B424-823ACB58C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4565" y="3787475"/>
                <a:ext cx="4048544" cy="1317092"/>
              </a:xfrm>
              <a:prstGeom prst="rect">
                <a:avLst/>
              </a:prstGeom>
              <a:blipFill>
                <a:blip r:embed="rId7"/>
                <a:stretch>
                  <a:fillRect l="-1205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272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933" y="365125"/>
            <a:ext cx="11700933" cy="1325563"/>
          </a:xfrm>
        </p:spPr>
        <p:txBody>
          <a:bodyPr>
            <a:normAutofit/>
          </a:bodyPr>
          <a:lstStyle/>
          <a:p>
            <a:r>
              <a:rPr lang="en-US" sz="4000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POS &amp; SOP Simplification – Gate Level Implementation</a:t>
            </a:r>
            <a:endParaRPr lang="en-US" sz="40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0,1,2,5,8,9,10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m:rPr>
                        <m:nor/>
                      </m:rPr>
                      <a:rPr lang="en-US" dirty="0"/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Gate level implementation of simplified SOP and POS expressions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21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567B34-314A-43BB-96A2-2F9D269D1C0A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998" y="2926642"/>
            <a:ext cx="10065118" cy="325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116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POS &amp; SOP Simplification – Important	 </a:t>
            </a: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0999" y="1635125"/>
                <a:ext cx="11430001" cy="4895850"/>
              </a:xfrm>
            </p:spPr>
            <p:txBody>
              <a:bodyPr>
                <a:normAutofit/>
              </a:bodyPr>
              <a:lstStyle/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If the function is expressed in </a:t>
                </a:r>
                <a:r>
                  <a:rPr lang="en-US" b="1" dirty="0"/>
                  <a:t>canonical form using maxterms (POS)</a:t>
                </a:r>
                <a:r>
                  <a:rPr lang="en-US" dirty="0"/>
                  <a:t>, the simplified expression is also derivable if we consider those </a:t>
                </a:r>
                <a:r>
                  <a:rPr lang="en-US" b="1" dirty="0">
                    <a:solidFill>
                      <a:srgbClr val="0070C0"/>
                    </a:solidFill>
                  </a:rPr>
                  <a:t>minterms</a:t>
                </a:r>
                <a:r>
                  <a:rPr lang="en-US" dirty="0"/>
                  <a:t> in K-map marking with </a:t>
                </a:r>
                <a:r>
                  <a:rPr lang="en-US" b="1" dirty="0">
                    <a:solidFill>
                      <a:srgbClr val="FF0000"/>
                    </a:solidFill>
                  </a:rPr>
                  <a:t>0’</a:t>
                </a:r>
                <a:r>
                  <a:rPr lang="en-US" dirty="0"/>
                  <a:t>s</a:t>
                </a:r>
              </a:p>
              <a:p>
                <a:pPr marL="1085850" lvl="2" indent="-171450"/>
                <a:r>
                  <a:rPr lang="en-US" sz="2400" b="1" dirty="0"/>
                  <a:t>Then </a:t>
                </a:r>
                <a:r>
                  <a:rPr lang="en-US" sz="2400" dirty="0"/>
                  <a:t>we can account those </a:t>
                </a:r>
                <a:r>
                  <a:rPr lang="en-US" sz="2400" b="1" dirty="0"/>
                  <a:t>remaining squares </a:t>
                </a:r>
                <a:r>
                  <a:rPr lang="en-US" sz="2400" dirty="0"/>
                  <a:t>to get the simplified SOP expression of </a:t>
                </a:r>
                <a:r>
                  <a:rPr lang="en-US" sz="2400" b="1" dirty="0"/>
                  <a:t>F</a:t>
                </a:r>
              </a:p>
              <a:p>
                <a:pPr marL="1085850" lvl="2" indent="-171450"/>
                <a:r>
                  <a:rPr lang="en-US" sz="2400" b="1" dirty="0"/>
                  <a:t>Otherwise</a:t>
                </a:r>
                <a:r>
                  <a:rPr lang="en-US" sz="2400" dirty="0"/>
                  <a:t>, we can consider the </a:t>
                </a:r>
                <a:r>
                  <a:rPr lang="en-US" sz="2400" b="1" dirty="0"/>
                  <a:t>currently marked squares</a:t>
                </a:r>
                <a:r>
                  <a:rPr lang="en-US" sz="2400" dirty="0"/>
                  <a:t> with </a:t>
                </a:r>
                <a:r>
                  <a:rPr lang="en-US" sz="2400" b="1" dirty="0"/>
                  <a:t>0</a:t>
                </a:r>
                <a:r>
                  <a:rPr lang="en-US" sz="2400" dirty="0"/>
                  <a:t>s to get the simplified SOP expression of </a:t>
                </a:r>
                <a:r>
                  <a:rPr lang="en-US" sz="2400" b="1" dirty="0"/>
                  <a:t>F’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If any expression is expressed in </a:t>
                </a:r>
                <a:r>
                  <a:rPr lang="en-US" b="1" dirty="0">
                    <a:solidFill>
                      <a:srgbClr val="FF0000"/>
                    </a:solidFill>
                  </a:rPr>
                  <a:t>standard POS format</a:t>
                </a:r>
                <a:r>
                  <a:rPr lang="en-US" dirty="0"/>
                  <a:t>, we have to use the complement of that function to get its correspondent expression of </a:t>
                </a:r>
                <a:r>
                  <a:rPr lang="en-US" b="1" dirty="0"/>
                  <a:t>F’ </a:t>
                </a:r>
                <a:r>
                  <a:rPr lang="en-US" dirty="0"/>
                  <a:t>in</a:t>
                </a:r>
                <a:r>
                  <a:rPr lang="en-US" b="1" dirty="0"/>
                  <a:t> standard SOP format</a:t>
                </a:r>
              </a:p>
              <a:p>
                <a:pPr marL="1085850" lvl="2" indent="-171450"/>
                <a:r>
                  <a:rPr lang="en-US" b="1" dirty="0"/>
                  <a:t>Example: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d>
                  </m:oMath>
                </a14:m>
                <a:endParaRPr lang="en-US" b="1" dirty="0"/>
              </a:p>
              <a:p>
                <a:pPr marL="1543050" lvl="3" indent="-171450"/>
                <a:r>
                  <a:rPr lang="en-US" b="1" dirty="0"/>
                  <a:t>Then,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𝑭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𝑨𝑩𝑪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will be obtained to calculate all the minterms causes </a:t>
                </a:r>
                <a:r>
                  <a:rPr lang="en-US" b="1" dirty="0"/>
                  <a:t>0</a:t>
                </a:r>
                <a:r>
                  <a:rPr lang="en-US" dirty="0"/>
                  <a:t>. </a:t>
                </a: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0999" y="1635125"/>
                <a:ext cx="11430001" cy="4895850"/>
              </a:xfrm>
              <a:blipFill>
                <a:blip r:embed="rId3"/>
                <a:stretch>
                  <a:fillRect l="-906" t="-1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22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727494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Incompletely Specified Functions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Don’t Care Conditions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23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3672385-4ABF-49E1-A74C-75C88EC9D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90687"/>
                <a:ext cx="11751040" cy="50307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3200" b="1" dirty="0">
                    <a:solidFill>
                      <a:schemeClr val="accent1">
                        <a:lumMod val="75000"/>
                      </a:schemeClr>
                    </a:solidFill>
                  </a:rPr>
                  <a:t>Fact: </a:t>
                </a:r>
                <a:r>
                  <a:rPr lang="en-US" b="1" dirty="0">
                    <a:solidFill>
                      <a:srgbClr val="00B050"/>
                    </a:solidFill>
                  </a:rPr>
                  <a:t>Logical sum of minterms </a:t>
                </a:r>
                <a:r>
                  <a:rPr lang="en-US" dirty="0"/>
                  <a:t>(</a:t>
                </a:r>
                <a:r>
                  <a:rPr lang="en-US" b="1" i="1" dirty="0"/>
                  <a:t>i.e.,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1" i="1" u="none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1" i="1" u="none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b="1" i="1" u="none" baseline="-25000" smtClean="0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nary>
                  </m:oMath>
                </a14:m>
                <a:r>
                  <a:rPr lang="en-US" dirty="0"/>
                  <a:t>) of a Boolean function specifies the condition under which the function is </a:t>
                </a:r>
                <a:r>
                  <a:rPr lang="en-US" b="1" dirty="0"/>
                  <a:t>true (logic 1)</a:t>
                </a:r>
              </a:p>
              <a:p>
                <a:pPr lvl="2"/>
                <a:r>
                  <a:rPr lang="en-US" dirty="0"/>
                  <a:t>The function is </a:t>
                </a:r>
                <a:r>
                  <a:rPr lang="en-US" b="1" dirty="0"/>
                  <a:t>false (logic 0)</a:t>
                </a:r>
                <a:r>
                  <a:rPr lang="en-US" dirty="0"/>
                  <a:t> for rest of the minterms </a:t>
                </a:r>
              </a:p>
              <a:p>
                <a:r>
                  <a:rPr lang="en-US" sz="2700" dirty="0"/>
                  <a:t>This pair of conditions assumes that </a:t>
                </a:r>
                <a:r>
                  <a:rPr lang="en-US" sz="2700" b="1" dirty="0"/>
                  <a:t>all possible combinations </a:t>
                </a:r>
                <a:r>
                  <a:rPr lang="en-US" sz="2700" dirty="0"/>
                  <a:t>for the </a:t>
                </a:r>
                <a:r>
                  <a:rPr lang="en-US" sz="2700" b="1" dirty="0">
                    <a:solidFill>
                      <a:srgbClr val="00B050"/>
                    </a:solidFill>
                  </a:rPr>
                  <a:t>variables </a:t>
                </a:r>
                <a:r>
                  <a:rPr lang="en-US" sz="2700" dirty="0"/>
                  <a:t>are valid for the function (either </a:t>
                </a:r>
                <a:r>
                  <a:rPr lang="en-US" sz="2700" b="1" dirty="0">
                    <a:solidFill>
                      <a:schemeClr val="accent1">
                        <a:lumMod val="50000"/>
                      </a:schemeClr>
                    </a:solidFill>
                  </a:rPr>
                  <a:t>logic 0 </a:t>
                </a:r>
                <a:r>
                  <a:rPr lang="en-US" sz="2700" dirty="0"/>
                  <a:t>or </a:t>
                </a:r>
                <a:r>
                  <a:rPr lang="en-US" sz="2700" b="1" dirty="0">
                    <a:solidFill>
                      <a:schemeClr val="accent1">
                        <a:lumMod val="50000"/>
                      </a:schemeClr>
                    </a:solidFill>
                  </a:rPr>
                  <a:t>logic 1</a:t>
                </a:r>
                <a:r>
                  <a:rPr lang="en-US" sz="2700" dirty="0"/>
                  <a:t>)</a:t>
                </a:r>
              </a:p>
              <a:p>
                <a:pPr lvl="2"/>
                <a:r>
                  <a:rPr lang="en-US" b="1" dirty="0">
                    <a:solidFill>
                      <a:srgbClr val="FF0000"/>
                    </a:solidFill>
                  </a:rPr>
                  <a:t>But in practice</a:t>
                </a:r>
                <a:r>
                  <a:rPr lang="en-US" dirty="0"/>
                  <a:t>, some combinations of variables may not be valid for a Boolean function in some applications</a:t>
                </a:r>
              </a:p>
              <a:p>
                <a:pPr lvl="2"/>
                <a:r>
                  <a:rPr lang="en-US" b="1" dirty="0"/>
                  <a:t>Example: </a:t>
                </a:r>
                <a:r>
                  <a:rPr lang="en-US" dirty="0"/>
                  <a:t>BCD – a 4-bit binary code for decimal digits </a:t>
                </a:r>
              </a:p>
              <a:p>
                <a:pPr lvl="3"/>
                <a:r>
                  <a:rPr lang="en-US" dirty="0"/>
                  <a:t>There are six such combinations which are not used and considered as </a:t>
                </a:r>
                <a:r>
                  <a:rPr lang="en-US" b="1" dirty="0">
                    <a:solidFill>
                      <a:srgbClr val="FF0000"/>
                    </a:solidFill>
                  </a:rPr>
                  <a:t>unspecified</a:t>
                </a:r>
              </a:p>
              <a:p>
                <a:r>
                  <a:rPr lang="en-US" b="1" dirty="0"/>
                  <a:t>Incompletely Specified Functions </a:t>
                </a:r>
              </a:p>
              <a:p>
                <a:pPr lvl="2"/>
                <a:r>
                  <a:rPr lang="en-US" b="1" dirty="0">
                    <a:solidFill>
                      <a:srgbClr val="00B050"/>
                    </a:solidFill>
                  </a:rPr>
                  <a:t>Functions those have unspecified outputs for some input combinations </a:t>
                </a:r>
              </a:p>
              <a:p>
                <a:pPr lvl="2"/>
                <a:r>
                  <a:rPr lang="en-US" dirty="0"/>
                  <a:t>We simply </a:t>
                </a:r>
                <a:r>
                  <a:rPr lang="en-US" b="1" dirty="0"/>
                  <a:t>don’t care </a:t>
                </a:r>
                <a:r>
                  <a:rPr lang="en-US" dirty="0"/>
                  <a:t>what value will be produced by the function for those unspecified minterms</a:t>
                </a:r>
              </a:p>
              <a:p>
                <a:pPr lvl="2"/>
                <a:r>
                  <a:rPr lang="en-US" dirty="0"/>
                  <a:t>Those </a:t>
                </a:r>
                <a:r>
                  <a:rPr lang="en-US" b="1" dirty="0">
                    <a:solidFill>
                      <a:srgbClr val="00B0F0"/>
                    </a:solidFill>
                  </a:rPr>
                  <a:t>unspecified minterms </a:t>
                </a:r>
                <a:r>
                  <a:rPr lang="en-US" dirty="0"/>
                  <a:t>of any function are called </a:t>
                </a:r>
                <a:r>
                  <a:rPr lang="en-US" b="1" dirty="0"/>
                  <a:t>don’t care conditions </a:t>
                </a:r>
              </a:p>
              <a:p>
                <a:pPr lvl="3"/>
                <a:r>
                  <a:rPr lang="en-US" b="1" dirty="0"/>
                  <a:t>Useful for further simplification of any Boolean expression</a:t>
                </a:r>
              </a:p>
            </p:txBody>
          </p:sp>
        </mc:Choice>
        <mc:Fallback xmlns="">
          <p:sp>
            <p:nvSpPr>
              <p:cNvPr id="11" name="Content Placeholder 10">
                <a:extLst>
                  <a:ext uri="{FF2B5EF4-FFF2-40B4-BE49-F238E27FC236}">
                    <a16:creationId xmlns:a16="http://schemas.microsoft.com/office/drawing/2014/main" id="{03672385-4ABF-49E1-A74C-75C88EC9D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90687"/>
                <a:ext cx="11751040" cy="5030788"/>
              </a:xfrm>
              <a:blipFill>
                <a:blip r:embed="rId4"/>
                <a:stretch>
                  <a:fillRect l="-1194" t="-3269" r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25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125"/>
            <a:ext cx="109728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Don’t Care Conditions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24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3672385-4ABF-49E1-A74C-75C88EC9D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79179"/>
            <a:ext cx="11375136" cy="4613695"/>
          </a:xfrm>
        </p:spPr>
        <p:txBody>
          <a:bodyPr>
            <a:normAutofit fontScale="92500"/>
          </a:bodyPr>
          <a:lstStyle/>
          <a:p>
            <a:r>
              <a:rPr lang="en-US" dirty="0"/>
              <a:t>A </a:t>
            </a:r>
            <a:r>
              <a:rPr lang="en-US" b="1" dirty="0"/>
              <a:t>don’t care minterm </a:t>
            </a:r>
            <a:r>
              <a:rPr lang="en-US" dirty="0"/>
              <a:t>is a combination of variables whose logical value (0 or 1) is not specified (</a:t>
            </a:r>
            <a:r>
              <a:rPr lang="en-US" b="1" i="1" dirty="0"/>
              <a:t>i.e., </a:t>
            </a:r>
            <a:r>
              <a:rPr lang="en-US" b="1" dirty="0">
                <a:solidFill>
                  <a:srgbClr val="00B0F0"/>
                </a:solidFill>
              </a:rPr>
              <a:t>defined</a:t>
            </a:r>
            <a:r>
              <a:rPr lang="en-US" dirty="0"/>
              <a:t>) in the Boolean function</a:t>
            </a:r>
          </a:p>
          <a:p>
            <a:pPr lvl="2"/>
            <a:r>
              <a:rPr lang="en-US" dirty="0"/>
              <a:t>So that corresponding square can’t be marked with </a:t>
            </a:r>
            <a:r>
              <a:rPr lang="en-US" b="1" dirty="0"/>
              <a:t>1 </a:t>
            </a:r>
            <a:r>
              <a:rPr lang="en-US" dirty="0"/>
              <a:t>or </a:t>
            </a:r>
            <a:r>
              <a:rPr lang="en-US" b="1" dirty="0"/>
              <a:t>0</a:t>
            </a:r>
            <a:r>
              <a:rPr lang="en-US" dirty="0"/>
              <a:t> in the K-map</a:t>
            </a:r>
          </a:p>
          <a:p>
            <a:pPr lvl="2"/>
            <a:r>
              <a:rPr lang="en-US" dirty="0"/>
              <a:t>Rather “</a:t>
            </a:r>
            <a:r>
              <a:rPr lang="en-US" b="1" dirty="0"/>
              <a:t>X</a:t>
            </a:r>
            <a:r>
              <a:rPr lang="en-US" dirty="0"/>
              <a:t>” could be placed in that corresponding square distinguishing from 0 and 1</a:t>
            </a:r>
          </a:p>
          <a:p>
            <a:pPr lvl="2"/>
            <a:r>
              <a:rPr lang="en-US" sz="1900" dirty="0"/>
              <a:t>It indicates that we don’t care whether the value of  0 or 1 is assigned to that function for that minterm </a:t>
            </a:r>
          </a:p>
          <a:p>
            <a:r>
              <a:rPr lang="en-US" b="1" dirty="0">
                <a:solidFill>
                  <a:srgbClr val="00B050"/>
                </a:solidFill>
              </a:rPr>
              <a:t>For better simplification</a:t>
            </a:r>
            <a:r>
              <a:rPr lang="en-US" dirty="0"/>
              <a:t>, adjacent don’t care square may be assumed to be either 0 or 1 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Preference</a:t>
            </a:r>
            <a:r>
              <a:rPr lang="en-US" dirty="0"/>
              <a:t> of 0 or 1 depends on which combination gives the </a:t>
            </a:r>
            <a:r>
              <a:rPr lang="en-US" b="1" dirty="0"/>
              <a:t>simplest expression </a:t>
            </a:r>
          </a:p>
          <a:p>
            <a:r>
              <a:rPr lang="en-US" sz="3000" b="1" dirty="0"/>
              <a:t>Trick: </a:t>
            </a:r>
            <a:r>
              <a:rPr lang="en-US" dirty="0"/>
              <a:t>To get the simplified expression of any Boolean function, we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must include </a:t>
            </a:r>
            <a:r>
              <a:rPr lang="en-US" dirty="0"/>
              <a:t>all 1s, but we may or may not include any of the </a:t>
            </a:r>
            <a:r>
              <a:rPr lang="en-US" dirty="0" err="1"/>
              <a:t>Xs</a:t>
            </a:r>
            <a:r>
              <a:rPr lang="en-US" dirty="0"/>
              <a:t> based on preference</a:t>
            </a:r>
          </a:p>
          <a:p>
            <a:pPr lvl="2"/>
            <a:r>
              <a:rPr lang="en-US" dirty="0"/>
              <a:t>Initially, those don’t care minterms could be unspecified, but when a particular choice is made, they should be treated differently.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12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Don’t Care Conditions – Example </a:t>
            </a:r>
            <a:endParaRPr lang="en-US" sz="3900" dirty="0"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725" y="1801368"/>
            <a:ext cx="3578822" cy="51893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25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135" y="2511153"/>
            <a:ext cx="7149730" cy="339748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A0F254E2-B327-4F98-B61F-6F3CC9093D92}"/>
              </a:ext>
            </a:extLst>
          </p:cNvPr>
          <p:cNvSpPr/>
          <p:nvPr/>
        </p:nvSpPr>
        <p:spPr>
          <a:xfrm>
            <a:off x="7571896" y="3759570"/>
            <a:ext cx="406398" cy="364066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79BD03-CE50-487E-954D-AC105F81642D}"/>
              </a:ext>
            </a:extLst>
          </p:cNvPr>
          <p:cNvSpPr/>
          <p:nvPr/>
        </p:nvSpPr>
        <p:spPr>
          <a:xfrm>
            <a:off x="3462849" y="3256355"/>
            <a:ext cx="406398" cy="3640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A2B4E0-8D39-4ECF-9BA4-AC2430891CA8}"/>
              </a:ext>
            </a:extLst>
          </p:cNvPr>
          <p:cNvSpPr/>
          <p:nvPr/>
        </p:nvSpPr>
        <p:spPr>
          <a:xfrm>
            <a:off x="4943714" y="3253482"/>
            <a:ext cx="406398" cy="3640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699" y="2230580"/>
            <a:ext cx="2965317" cy="518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B7F598-6F88-4B58-B8BC-B5C535D3E842}"/>
                  </a:ext>
                </a:extLst>
              </p:cNvPr>
              <p:cNvSpPr txBox="1"/>
              <p:nvPr/>
            </p:nvSpPr>
            <p:spPr>
              <a:xfrm>
                <a:off x="944462" y="5973768"/>
                <a:ext cx="1030307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b="1" dirty="0">
                    <a:solidFill>
                      <a:srgbClr val="FF0000"/>
                    </a:solidFill>
                  </a:rPr>
                  <a:t>Note: </a:t>
                </a:r>
                <a:r>
                  <a:rPr lang="en-US" sz="2200" dirty="0"/>
                  <a:t>It is also possible to simplify in POS form using its complement. </a:t>
                </a:r>
                <a:r>
                  <a:rPr lang="en-US" sz="2200" b="1" i="1" dirty="0"/>
                  <a:t>i.e.,</a:t>
                </a: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’ = 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’+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𝑤𝑦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B7F598-6F88-4B58-B8BC-B5C535D3E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62" y="5973768"/>
                <a:ext cx="10303077" cy="430887"/>
              </a:xfrm>
              <a:prstGeom prst="rect">
                <a:avLst/>
              </a:prstGeom>
              <a:blipFill>
                <a:blip r:embed="rId10"/>
                <a:stretch>
                  <a:fillRect l="-769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101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&amp; NOR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circuits are </a:t>
            </a:r>
            <a:r>
              <a:rPr lang="en-US" b="1" dirty="0">
                <a:solidFill>
                  <a:srgbClr val="00B0F0"/>
                </a:solidFill>
              </a:rPr>
              <a:t>frequently constructed </a:t>
            </a:r>
            <a:r>
              <a:rPr lang="en-US" dirty="0"/>
              <a:t>with </a:t>
            </a:r>
            <a:r>
              <a:rPr lang="en-US" b="1" dirty="0"/>
              <a:t>NAND or NOR </a:t>
            </a:r>
            <a:r>
              <a:rPr lang="en-US" dirty="0"/>
              <a:t>gates rather than AND, OR and NOT gate </a:t>
            </a:r>
            <a:r>
              <a:rPr lang="en-US" b="1" dirty="0"/>
              <a:t>because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These gates are </a:t>
            </a:r>
            <a:r>
              <a:rPr lang="en-US" b="1" dirty="0"/>
              <a:t>easier to fabricate </a:t>
            </a:r>
            <a:r>
              <a:rPr lang="en-US" dirty="0"/>
              <a:t>with electronic components </a:t>
            </a:r>
          </a:p>
          <a:p>
            <a:pPr lvl="2"/>
            <a:r>
              <a:rPr lang="en-US" dirty="0"/>
              <a:t>They are used as </a:t>
            </a:r>
            <a:r>
              <a:rPr lang="en-US" b="1" dirty="0"/>
              <a:t>basic gates </a:t>
            </a:r>
            <a:r>
              <a:rPr lang="en-US" dirty="0"/>
              <a:t>in all ICs  </a:t>
            </a:r>
          </a:p>
          <a:p>
            <a:pPr lvl="2"/>
            <a:r>
              <a:rPr lang="en-US" b="1" dirty="0"/>
              <a:t>Any logic circuits </a:t>
            </a:r>
            <a:r>
              <a:rPr lang="en-US" dirty="0"/>
              <a:t>can be implemented with these gates </a:t>
            </a:r>
          </a:p>
          <a:p>
            <a:pPr lvl="3"/>
            <a:r>
              <a:rPr lang="en-US" dirty="0"/>
              <a:t>So, they are called </a:t>
            </a:r>
            <a:r>
              <a:rPr lang="en-US" b="1" dirty="0">
                <a:solidFill>
                  <a:srgbClr val="FF0000"/>
                </a:solidFill>
              </a:rPr>
              <a:t>universal gates </a:t>
            </a:r>
          </a:p>
          <a:p>
            <a:r>
              <a:rPr lang="en-US" dirty="0"/>
              <a:t>Because of </a:t>
            </a:r>
            <a:r>
              <a:rPr lang="en-US" b="1" dirty="0"/>
              <a:t>prominence</a:t>
            </a:r>
            <a:r>
              <a:rPr lang="en-US" dirty="0"/>
              <a:t> of these gates, some rules and procedures have been developed to convert any circuit using AND, OR and NOT gates into equivalent circuit using NAND or NOR gates </a:t>
            </a:r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26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891375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show that any function can be implemented with NAND gate, we need only to show AND, OR and NOT gates obtained with NAND gates alone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27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9F1F08-0396-417A-B269-FF8D5CE2F454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683" y="3009172"/>
            <a:ext cx="5428633" cy="28988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AC3338-1D3C-4CC1-9FA9-2032987DAB73}"/>
              </a:ext>
            </a:extLst>
          </p:cNvPr>
          <p:cNvSpPr txBox="1"/>
          <p:nvPr/>
        </p:nvSpPr>
        <p:spPr>
          <a:xfrm>
            <a:off x="2567116" y="5961519"/>
            <a:ext cx="70577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0" dirty="0">
                <a:solidFill>
                  <a:srgbClr val="FF0000"/>
                </a:solidFill>
                <a:effectLst/>
              </a:rPr>
              <a:t>Note:</a:t>
            </a:r>
            <a:r>
              <a:rPr lang="en-US" sz="2200" b="1" i="0" dirty="0">
                <a:solidFill>
                  <a:srgbClr val="231F20"/>
                </a:solidFill>
                <a:effectLst/>
              </a:rPr>
              <a:t> </a:t>
            </a:r>
            <a:r>
              <a:rPr lang="en-US" sz="2200" b="0" i="0" dirty="0">
                <a:solidFill>
                  <a:srgbClr val="231F20"/>
                </a:solidFill>
                <a:effectLst/>
              </a:rPr>
              <a:t>One-input NAND gate behaves exactly like an inverter.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124488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NAND Implementation: Graphic Symbols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facilitate the conversion to NAND logic, it is convenient to define an </a:t>
            </a:r>
            <a:r>
              <a:rPr lang="en-US" b="1" dirty="0">
                <a:solidFill>
                  <a:srgbClr val="FF0000"/>
                </a:solidFill>
              </a:rPr>
              <a:t>alternative graphic symbol </a:t>
            </a:r>
            <a:r>
              <a:rPr lang="en-US" dirty="0"/>
              <a:t>for the NAND gate</a:t>
            </a:r>
          </a:p>
          <a:p>
            <a:pPr lvl="2"/>
            <a:r>
              <a:rPr lang="en-US" b="1" dirty="0"/>
              <a:t>AND-invert: </a:t>
            </a:r>
            <a:r>
              <a:rPr lang="en-US" dirty="0"/>
              <a:t>Consists of an AND gate followed by a small bubble (</a:t>
            </a:r>
            <a:r>
              <a:rPr lang="en-US" b="1" i="1" dirty="0"/>
              <a:t>i.e.,</a:t>
            </a:r>
            <a:r>
              <a:rPr lang="en-US" dirty="0"/>
              <a:t> </a:t>
            </a:r>
            <a:r>
              <a:rPr lang="en-US" b="1" dirty="0"/>
              <a:t>complement</a:t>
            </a:r>
            <a:r>
              <a:rPr lang="en-US" dirty="0"/>
              <a:t>)</a:t>
            </a:r>
          </a:p>
          <a:p>
            <a:pPr lvl="2"/>
            <a:r>
              <a:rPr lang="en-US" b="1" dirty="0"/>
              <a:t>Invert-OR:</a:t>
            </a:r>
            <a:r>
              <a:rPr lang="en-US" dirty="0"/>
              <a:t> Consists of an OR gate preceded by a bubble in each input</a:t>
            </a:r>
            <a:br>
              <a:rPr lang="en-US" dirty="0"/>
            </a:br>
            <a:r>
              <a:rPr lang="en-US" dirty="0"/>
              <a:t>(</a:t>
            </a:r>
            <a:r>
              <a:rPr lang="en-US" b="1" i="1" dirty="0"/>
              <a:t>i.e.,</a:t>
            </a:r>
            <a:r>
              <a:rPr lang="en-US" dirty="0"/>
              <a:t> complements each input) </a:t>
            </a:r>
          </a:p>
          <a:p>
            <a:pPr lvl="1"/>
            <a:r>
              <a:rPr lang="en-US" dirty="0"/>
              <a:t>Both of them are equal because of De Morgan's theorem </a:t>
            </a:r>
          </a:p>
          <a:p>
            <a:pPr lvl="1"/>
            <a:r>
              <a:rPr lang="en-US" dirty="0"/>
              <a:t>Useful for analysis and design NAND circuits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28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F41A0B-C9B2-421C-B608-8AE1B98B1545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459" y="4532269"/>
            <a:ext cx="8393081" cy="148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44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365125"/>
            <a:ext cx="1051560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Two Level NAND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For two level NAND implementation, </a:t>
            </a:r>
            <a:r>
              <a:rPr lang="en-US" b="1" dirty="0"/>
              <a:t>initially the function must be simplified in SOP form</a:t>
            </a:r>
          </a:p>
          <a:p>
            <a:pPr lvl="2"/>
            <a:r>
              <a:rPr lang="en-US" sz="2200" b="1" dirty="0"/>
              <a:t>AND gate </a:t>
            </a:r>
            <a:r>
              <a:rPr lang="en-US" sz="2200" dirty="0"/>
              <a:t>will be replaced by </a:t>
            </a:r>
            <a:r>
              <a:rPr lang="en-US" sz="2200" b="1" dirty="0"/>
              <a:t>AND-invert NAND gate </a:t>
            </a:r>
            <a:r>
              <a:rPr lang="en-US" sz="2200" dirty="0"/>
              <a:t>in the first level and </a:t>
            </a:r>
            <a:r>
              <a:rPr lang="en-US" sz="2200" b="1" dirty="0"/>
              <a:t>OR gate </a:t>
            </a:r>
            <a:r>
              <a:rPr lang="en-US" sz="2200" dirty="0"/>
              <a:t>will be replaced by </a:t>
            </a:r>
            <a:r>
              <a:rPr lang="en-US" sz="2200" b="1" dirty="0"/>
              <a:t>invert-OR NAND gate </a:t>
            </a:r>
            <a:r>
              <a:rPr lang="en-US" sz="2200" dirty="0"/>
              <a:t>in the second level </a:t>
            </a:r>
          </a:p>
          <a:p>
            <a:pPr lvl="3"/>
            <a:r>
              <a:rPr lang="en-US" sz="2200" dirty="0">
                <a:solidFill>
                  <a:srgbClr val="00B0F0"/>
                </a:solidFill>
              </a:rPr>
              <a:t>As Bubble denotes complementation, two cascaded bubbles will be cancelled by each other</a:t>
            </a:r>
          </a:p>
          <a:p>
            <a:pPr lvl="2"/>
            <a:r>
              <a:rPr lang="en-US" sz="2400" dirty="0"/>
              <a:t>But, if there is a </a:t>
            </a:r>
            <a:r>
              <a:rPr lang="en-US" sz="2400" b="1" dirty="0"/>
              <a:t>single-variable term </a:t>
            </a:r>
            <a:r>
              <a:rPr lang="en-US" sz="2400" dirty="0"/>
              <a:t>in first level of implementation, an inverter will be required for that term</a:t>
            </a:r>
          </a:p>
          <a:p>
            <a:pPr lvl="3"/>
            <a:r>
              <a:rPr lang="en-US" sz="2200" dirty="0"/>
              <a:t>We can replace that inverter changing the input variable into its complement (</a:t>
            </a:r>
            <a:r>
              <a:rPr lang="en-US" sz="2200" b="1" i="1" dirty="0"/>
              <a:t>i.e., </a:t>
            </a:r>
            <a:r>
              <a:rPr lang="en-US" sz="2200" b="1" dirty="0"/>
              <a:t>x </a:t>
            </a:r>
            <a:r>
              <a:rPr lang="en-US" sz="2200" dirty="0"/>
              <a:t>will be </a:t>
            </a:r>
            <a:r>
              <a:rPr lang="en-US" sz="2200" b="1" dirty="0"/>
              <a:t>x’ </a:t>
            </a:r>
            <a:r>
              <a:rPr lang="en-US" sz="2200" dirty="0"/>
              <a:t>in the input)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29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7175378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365125"/>
            <a:ext cx="1051560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Two Level NAND Implementation: Procedure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34472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Simplify the function and express it in </a:t>
            </a:r>
            <a:r>
              <a:rPr lang="en-US" b="1" dirty="0"/>
              <a:t>SOP 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implement the first level gates, all product terms of the expression (having at least two variables) drawn with NAND gates</a:t>
            </a:r>
          </a:p>
          <a:p>
            <a:pPr lvl="2"/>
            <a:r>
              <a:rPr lang="en-US" dirty="0"/>
              <a:t>Inputs of these NAND gates will be the same literals of the previous terms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Draw another single NAND gate (representing invert-OR) in the second level with inputs coming from outputs of the first level gates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term having a single-variable term requires an inverter in the first level. However, if that variable is complemented, it can be connected directly to the input of the second level NAND gate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30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942322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Two Level NAND Implementation - Example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79989" cy="4351338"/>
              </a:xfrm>
            </p:spPr>
            <p:txBody>
              <a:bodyPr/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𝐶𝐷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>
                    <a:solidFill>
                      <a:schemeClr val="accent2">
                        <a:lumMod val="50000"/>
                      </a:schemeClr>
                    </a:solidFill>
                  </a:rPr>
                  <a:t>The NAND implementation can be verified algebraically using De Morgan’s law</a:t>
                </a:r>
              </a:p>
              <a:p>
                <a:pPr lvl="2"/>
                <a:r>
                  <a:rPr lang="en-US" b="1" dirty="0"/>
                  <a:t>Verification: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𝐴𝐵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𝐶𝐷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𝐶𝐷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79989" cy="4351338"/>
              </a:xfrm>
              <a:blipFill>
                <a:blip r:embed="rId3"/>
                <a:stretch>
                  <a:fillRect l="-9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31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F49DB6-AD5D-47E9-86BA-AF3C01C2CB0B}"/>
              </a:ext>
            </a:extLst>
          </p:cNvPr>
          <p:cNvGrpSpPr/>
          <p:nvPr/>
        </p:nvGrpSpPr>
        <p:grpSpPr>
          <a:xfrm>
            <a:off x="838199" y="3589891"/>
            <a:ext cx="10595169" cy="2176728"/>
            <a:chOff x="488825" y="4237881"/>
            <a:chExt cx="11414615" cy="211846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AA332F6-558C-4436-9673-A6B51B1823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grayscl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732" r="3620"/>
            <a:stretch/>
          </p:blipFill>
          <p:spPr>
            <a:xfrm>
              <a:off x="4267200" y="4237881"/>
              <a:ext cx="7636240" cy="2026393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8ECDFE7-FE80-4511-8B5E-0C7AACF1A7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grayscl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74" r="28686" b="47732"/>
            <a:stretch/>
          </p:blipFill>
          <p:spPr>
            <a:xfrm>
              <a:off x="488825" y="4259264"/>
              <a:ext cx="3545457" cy="209708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A7CC94-CC06-48A8-BB6A-A49C5FFD0774}"/>
                  </a:ext>
                </a:extLst>
              </p:cNvPr>
              <p:cNvSpPr txBox="1"/>
              <p:nvPr/>
            </p:nvSpPr>
            <p:spPr>
              <a:xfrm>
                <a:off x="8331847" y="5568251"/>
                <a:ext cx="289297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b="1" dirty="0">
                    <a:solidFill>
                      <a:srgbClr val="FF0000"/>
                    </a:solidFill>
                  </a:rPr>
                  <a:t>Solve this:</a:t>
                </a:r>
                <a:br>
                  <a:rPr lang="en-US" b="1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d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A7CC94-CC06-48A8-BB6A-A49C5FFD0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847" y="5568251"/>
                <a:ext cx="2892971" cy="646331"/>
              </a:xfrm>
              <a:prstGeom prst="rect">
                <a:avLst/>
              </a:prstGeom>
              <a:blipFill>
                <a:blip r:embed="rId7"/>
                <a:stretch>
                  <a:fillRect l="-1899" t="-4717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80511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NOR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NOR operation is the dual of NAND operation</a:t>
            </a:r>
          </a:p>
          <a:p>
            <a:pPr lvl="1"/>
            <a:r>
              <a:rPr lang="en-US" dirty="0"/>
              <a:t>All procedures and rules for NOR logic are the dual of the corresponding procedures and rules developed for NAND logic </a:t>
            </a:r>
          </a:p>
          <a:p>
            <a:r>
              <a:rPr lang="en-US" dirty="0"/>
              <a:t>Another </a:t>
            </a:r>
            <a:r>
              <a:rPr lang="en-US" b="1" i="1" dirty="0"/>
              <a:t>universal gate </a:t>
            </a:r>
            <a:r>
              <a:rPr lang="en-US" dirty="0"/>
              <a:t>to implement any logic circuit 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32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846543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NOR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show that any function can be implemented with NOR gate, we need only to show that AND, OR and NOT gates obtained with NOR gates alone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33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C3338-1D3C-4CC1-9FA9-2032987DAB73}"/>
              </a:ext>
            </a:extLst>
          </p:cNvPr>
          <p:cNvSpPr txBox="1"/>
          <p:nvPr/>
        </p:nvSpPr>
        <p:spPr>
          <a:xfrm>
            <a:off x="2567116" y="5961519"/>
            <a:ext cx="687983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0" dirty="0">
                <a:solidFill>
                  <a:srgbClr val="FF0000"/>
                </a:solidFill>
                <a:effectLst/>
              </a:rPr>
              <a:t>Note:</a:t>
            </a:r>
            <a:r>
              <a:rPr lang="en-US" sz="2200" b="1" i="0" dirty="0">
                <a:solidFill>
                  <a:srgbClr val="231F20"/>
                </a:solidFill>
                <a:effectLst/>
              </a:rPr>
              <a:t> </a:t>
            </a:r>
            <a:r>
              <a:rPr lang="en-US" sz="2200" b="0" i="0" dirty="0">
                <a:solidFill>
                  <a:srgbClr val="231F20"/>
                </a:solidFill>
                <a:effectLst/>
              </a:rPr>
              <a:t>One-input NOR gate behaves exactly like an inverter.</a:t>
            </a:r>
            <a:endParaRPr lang="en-US" sz="2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A2FD63-CC62-493D-A6DC-D3CEC267D923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506" y="3041288"/>
            <a:ext cx="5672988" cy="278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612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NOR Implementation: Graphic Symbols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facilitate the conversion to NOR logic, it is convenient to define an </a:t>
            </a:r>
            <a:r>
              <a:rPr lang="en-US" b="1" dirty="0">
                <a:solidFill>
                  <a:srgbClr val="FF0000"/>
                </a:solidFill>
              </a:rPr>
              <a:t>alternative graphic symbol </a:t>
            </a:r>
            <a:r>
              <a:rPr lang="en-US" dirty="0"/>
              <a:t>for the NOR gate</a:t>
            </a:r>
          </a:p>
          <a:p>
            <a:pPr lvl="2"/>
            <a:r>
              <a:rPr lang="en-US" b="1" dirty="0"/>
              <a:t>OR-invert: </a:t>
            </a:r>
            <a:r>
              <a:rPr lang="en-US" dirty="0"/>
              <a:t>Consists of an OR gate followed by a small bubble (</a:t>
            </a:r>
            <a:r>
              <a:rPr lang="en-US" b="1" i="1" dirty="0"/>
              <a:t>i.e., </a:t>
            </a:r>
            <a:r>
              <a:rPr lang="en-US" b="1" dirty="0"/>
              <a:t>complement</a:t>
            </a:r>
            <a:r>
              <a:rPr lang="en-US" dirty="0"/>
              <a:t>)</a:t>
            </a:r>
          </a:p>
          <a:p>
            <a:pPr lvl="2"/>
            <a:r>
              <a:rPr lang="en-US" b="1" dirty="0"/>
              <a:t>Invert-AND:</a:t>
            </a:r>
            <a:r>
              <a:rPr lang="en-US" dirty="0"/>
              <a:t> Consists of an AND gate preceded by a bubble in each input </a:t>
            </a:r>
            <a:br>
              <a:rPr lang="en-US" dirty="0"/>
            </a:br>
            <a:r>
              <a:rPr lang="en-US" dirty="0"/>
              <a:t>(</a:t>
            </a:r>
            <a:r>
              <a:rPr lang="en-US" b="1" i="1" dirty="0"/>
              <a:t>i.e.,</a:t>
            </a:r>
            <a:r>
              <a:rPr lang="en-US" dirty="0"/>
              <a:t> complements each input)</a:t>
            </a:r>
          </a:p>
          <a:p>
            <a:pPr lvl="1"/>
            <a:r>
              <a:rPr lang="en-US" dirty="0"/>
              <a:t>Both of them are equal because of De Morgan's theorem </a:t>
            </a:r>
          </a:p>
          <a:p>
            <a:pPr lvl="1"/>
            <a:r>
              <a:rPr lang="en-US" dirty="0"/>
              <a:t>Useful for analysis and design NOR circuits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34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B4C819-EC35-4561-8FFF-EFFA8DF2CE77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273" y="4744991"/>
            <a:ext cx="9159454" cy="14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07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365125"/>
            <a:ext cx="1051560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Two Level NOR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For two level NOR implementation, initially the function must be simplified in </a:t>
            </a:r>
            <a:r>
              <a:rPr lang="en-US" b="1" dirty="0"/>
              <a:t>POS form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Note: </a:t>
            </a:r>
            <a:r>
              <a:rPr lang="en-US" dirty="0"/>
              <a:t>Simplified POS expression can be obtained by combining all 0s and complementing that expression </a:t>
            </a:r>
          </a:p>
          <a:p>
            <a:pPr lvl="2"/>
            <a:r>
              <a:rPr lang="en-US" sz="2200" b="1" dirty="0"/>
              <a:t>OR gate </a:t>
            </a:r>
            <a:r>
              <a:rPr lang="en-US" sz="2200" dirty="0"/>
              <a:t>will be replaced by </a:t>
            </a:r>
            <a:r>
              <a:rPr lang="en-US" sz="2200" b="1" dirty="0"/>
              <a:t>OR-invert NOR gate </a:t>
            </a:r>
            <a:r>
              <a:rPr lang="en-US" sz="2200" dirty="0"/>
              <a:t>in the first level and </a:t>
            </a:r>
            <a:r>
              <a:rPr lang="en-US" sz="2200" b="1" dirty="0" err="1"/>
              <a:t>AND</a:t>
            </a:r>
            <a:r>
              <a:rPr lang="en-US" sz="2200" b="1" dirty="0"/>
              <a:t> gate </a:t>
            </a:r>
            <a:r>
              <a:rPr lang="en-US" sz="2200" dirty="0"/>
              <a:t>will be replaced by </a:t>
            </a:r>
            <a:r>
              <a:rPr lang="en-US" sz="2200" b="1" dirty="0"/>
              <a:t>invert-AND NOR gate </a:t>
            </a:r>
            <a:r>
              <a:rPr lang="en-US" sz="2200" dirty="0"/>
              <a:t>in second level </a:t>
            </a:r>
          </a:p>
          <a:p>
            <a:pPr lvl="3"/>
            <a:r>
              <a:rPr lang="en-US" sz="2200" dirty="0"/>
              <a:t>As Bubble denotes complementation, two cascaded bubbles will be cancelled by each other</a:t>
            </a:r>
          </a:p>
          <a:p>
            <a:pPr lvl="2"/>
            <a:r>
              <a:rPr lang="en-US" sz="2400" dirty="0"/>
              <a:t>But, if there is a single-variable term in first level of implementation, an inverter will be required for that term</a:t>
            </a:r>
          </a:p>
          <a:p>
            <a:pPr lvl="3"/>
            <a:r>
              <a:rPr lang="en-US" sz="2200" dirty="0"/>
              <a:t>We can replace that inverter changing the input variable into its complement (</a:t>
            </a:r>
            <a:r>
              <a:rPr lang="en-US" sz="2200" b="1" i="1" dirty="0"/>
              <a:t>i.e.,</a:t>
            </a:r>
            <a:r>
              <a:rPr lang="en-US" sz="2200" i="1" dirty="0"/>
              <a:t> </a:t>
            </a:r>
            <a:r>
              <a:rPr lang="en-US" sz="2200" b="1" dirty="0"/>
              <a:t>x </a:t>
            </a:r>
            <a:r>
              <a:rPr lang="en-US" sz="2200" dirty="0"/>
              <a:t>will be </a:t>
            </a:r>
            <a:r>
              <a:rPr lang="en-US" sz="2200" b="1" dirty="0"/>
              <a:t>x’ </a:t>
            </a:r>
            <a:r>
              <a:rPr lang="en-US" sz="2200" dirty="0"/>
              <a:t>in the input)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35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040590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8" y="365125"/>
            <a:ext cx="10515601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Two Level NOR Implementation: Procedure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Simplify the function and express it in </a:t>
            </a:r>
            <a:r>
              <a:rPr lang="en-US" b="1" dirty="0"/>
              <a:t>POS form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To implement the first level gates, all sum terms of the expression (having at least two variables) drawn with NOR gates</a:t>
            </a:r>
          </a:p>
          <a:p>
            <a:pPr lvl="2"/>
            <a:r>
              <a:rPr lang="en-US" dirty="0"/>
              <a:t>Inputs of these NOR gates will be the same literals of the previous terms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Draw another single NOR gate (representing invert-AND) in the second level with inputs coming from outputs of the first level gates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term having a single variable requires an inverter in the first level. However, if that variable is complemented, it can be connected directly to the input of the second level NOR gate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36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41699631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C5A1719-3DE2-4ABA-B51E-FFEE1A9E1886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3427227"/>
            <a:ext cx="5410619" cy="25616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Two Level NOR Implementation - Example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79989" cy="4351338"/>
              </a:xfrm>
            </p:spPr>
            <p:txBody>
              <a:bodyPr/>
              <a:lstStyle/>
              <a:p>
                <a:r>
                  <a:rPr lang="en-US" dirty="0"/>
                  <a:t>Example: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b="1" dirty="0">
                    <a:solidFill>
                      <a:schemeClr val="accent2">
                        <a:lumMod val="50000"/>
                      </a:schemeClr>
                    </a:solidFill>
                  </a:rPr>
                  <a:t>The NOR implementation can be verified algebraically using De Morgan’s law</a:t>
                </a:r>
              </a:p>
              <a:p>
                <a:pPr lvl="2"/>
                <a:r>
                  <a:rPr lang="en-US" b="1" dirty="0"/>
                  <a:t>Verification: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79989" cy="4351338"/>
              </a:xfrm>
              <a:blipFill>
                <a:blip r:embed="rId5"/>
                <a:stretch>
                  <a:fillRect l="-9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37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94089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60" y="365125"/>
            <a:ext cx="1095044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 Level NAND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360" y="1825625"/>
            <a:ext cx="1172868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Standard form in SOP or POS </a:t>
            </a:r>
            <a:r>
              <a:rPr lang="en-US" dirty="0"/>
              <a:t>expression can be implemented in a </a:t>
            </a:r>
            <a:r>
              <a:rPr lang="en-US" b="1" dirty="0"/>
              <a:t>two-level </a:t>
            </a:r>
            <a:r>
              <a:rPr lang="en-US" dirty="0"/>
              <a:t>implementation </a:t>
            </a:r>
          </a:p>
          <a:p>
            <a:pPr lvl="1"/>
            <a:r>
              <a:rPr lang="en-US" sz="2300" dirty="0"/>
              <a:t>But sometimes, three or more level getting structure are also observed in digital systems </a:t>
            </a:r>
          </a:p>
          <a:p>
            <a:r>
              <a:rPr lang="en-US" dirty="0"/>
              <a:t>There are </a:t>
            </a:r>
            <a:r>
              <a:rPr lang="en-US" b="1" dirty="0"/>
              <a:t>two approaches </a:t>
            </a:r>
            <a:r>
              <a:rPr lang="en-US" dirty="0"/>
              <a:t>to design a multi-level NAND circuits: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Express the Boolean function in terms of AND, OR and NOT operators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Two </a:t>
            </a:r>
            <a:r>
              <a:rPr lang="en-US" b="1" dirty="0">
                <a:solidFill>
                  <a:srgbClr val="FF0000"/>
                </a:solidFill>
              </a:rPr>
              <a:t>alternative </a:t>
            </a:r>
            <a:r>
              <a:rPr lang="en-US" dirty="0"/>
              <a:t>ways:</a:t>
            </a:r>
          </a:p>
          <a:p>
            <a:pPr lvl="2"/>
            <a:r>
              <a:rPr lang="en-US" sz="2300" b="1" dirty="0"/>
              <a:t>Approach 1: </a:t>
            </a:r>
            <a:r>
              <a:rPr lang="en-US" sz="2300" dirty="0"/>
              <a:t>All the AND, OR and NOT gates would be converted to its corresponding NAND representation </a:t>
            </a:r>
          </a:p>
          <a:p>
            <a:pPr lvl="2"/>
            <a:r>
              <a:rPr lang="en-US" sz="2300" b="1" dirty="0"/>
              <a:t>Approach 2: </a:t>
            </a:r>
            <a:r>
              <a:rPr lang="en-US" sz="2300" dirty="0"/>
              <a:t>Convert each AND to AND-invert and each OR to Invert-OR gates </a:t>
            </a:r>
            <a:endParaRPr lang="en-US" sz="23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There should have </a:t>
            </a:r>
            <a:r>
              <a:rPr lang="en-US" b="1" dirty="0"/>
              <a:t>two cascaded bubbles </a:t>
            </a:r>
            <a:r>
              <a:rPr lang="en-US" dirty="0"/>
              <a:t>or </a:t>
            </a:r>
            <a:r>
              <a:rPr lang="en-US" b="1" dirty="0"/>
              <a:t>inverters </a:t>
            </a:r>
            <a:r>
              <a:rPr lang="en-US" dirty="0"/>
              <a:t>who will cancel each other</a:t>
            </a:r>
          </a:p>
          <a:p>
            <a:pPr lvl="3"/>
            <a:r>
              <a:rPr lang="en-US" sz="2400" dirty="0"/>
              <a:t>Otherwise, one extra inverter should be inserted, or input variables should be complemented 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38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3322609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60" y="365125"/>
            <a:ext cx="1138528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 Level NAND Implementation: Example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3360" y="1859837"/>
                <a:ext cx="1138528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could simplify this expression to its SOP form, but here a multilevel NAND circuit is preferred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360" y="1859837"/>
                <a:ext cx="11385280" cy="4351338"/>
              </a:xfrm>
              <a:blipFill>
                <a:blip r:embed="rId3"/>
                <a:stretch>
                  <a:fillRect l="-96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39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B12F3-8D52-4E50-8E7E-967E280A6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19" y="3036499"/>
            <a:ext cx="3052239" cy="2456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1312DB-C353-4C8C-B4EC-F5DB558E15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951" y="3036498"/>
            <a:ext cx="3283789" cy="2456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DE0387-92C4-4277-85AE-DA1B66D5AE90}"/>
              </a:ext>
            </a:extLst>
          </p:cNvPr>
          <p:cNvSpPr txBox="1"/>
          <p:nvPr/>
        </p:nvSpPr>
        <p:spPr>
          <a:xfrm>
            <a:off x="5276497" y="5729765"/>
            <a:ext cx="127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Approach 1</a:t>
            </a:r>
          </a:p>
        </p:txBody>
      </p:sp>
    </p:spTree>
    <p:extLst>
      <p:ext uri="{BB962C8B-B14F-4D97-AF65-F5344CB8AC3E}">
        <p14:creationId xmlns:p14="http://schemas.microsoft.com/office/powerpoint/2010/main" val="35890412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60" y="365125"/>
            <a:ext cx="1138528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 Level NAND Implementation: Example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3360" y="1859837"/>
                <a:ext cx="1138528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could simplify this expression to its SOP form, but here a multilevel NAND circuit is preferred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360" y="1859837"/>
                <a:ext cx="11385280" cy="4351338"/>
              </a:xfrm>
              <a:blipFill>
                <a:blip r:embed="rId3"/>
                <a:stretch>
                  <a:fillRect l="-96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40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B12F3-8D52-4E50-8E7E-967E280A6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19" y="3036499"/>
            <a:ext cx="3052239" cy="2456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1312DB-C353-4C8C-B4EC-F5DB558E15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951" y="3036498"/>
            <a:ext cx="3283789" cy="24562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A1B445-AB93-4507-BA19-432860CAD081}"/>
              </a:ext>
            </a:extLst>
          </p:cNvPr>
          <p:cNvSpPr txBox="1"/>
          <p:nvPr/>
        </p:nvSpPr>
        <p:spPr>
          <a:xfrm>
            <a:off x="4819304" y="5678007"/>
            <a:ext cx="127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Approach 2</a:t>
            </a:r>
          </a:p>
        </p:txBody>
      </p:sp>
    </p:spTree>
    <p:extLst>
      <p:ext uri="{BB962C8B-B14F-4D97-AF65-F5344CB8AC3E}">
        <p14:creationId xmlns:p14="http://schemas.microsoft.com/office/powerpoint/2010/main" val="13441669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60" y="365125"/>
            <a:ext cx="1160461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 Level NAND Implementation: Example…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3360" y="1859837"/>
                <a:ext cx="1138528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could simplify this expression to its SOP form, but here a multilevel NAND circuit is preferred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360" y="1859837"/>
                <a:ext cx="11385280" cy="4351338"/>
              </a:xfrm>
              <a:blipFill>
                <a:blip r:embed="rId3"/>
                <a:stretch>
                  <a:fillRect l="-96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41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33C53-0A78-47E3-B6B9-FF8B7EFF5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70" y="3397567"/>
            <a:ext cx="3181730" cy="2276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E6E891-4627-4A4C-BFDE-4185DBC08A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922" y="3397567"/>
            <a:ext cx="3478698" cy="21910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492C9B-4181-4422-B37B-E5DA98BBEB30}"/>
              </a:ext>
            </a:extLst>
          </p:cNvPr>
          <p:cNvSpPr txBox="1"/>
          <p:nvPr/>
        </p:nvSpPr>
        <p:spPr>
          <a:xfrm>
            <a:off x="4819304" y="5678007"/>
            <a:ext cx="127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Approach 1</a:t>
            </a:r>
          </a:p>
        </p:txBody>
      </p:sp>
    </p:spTree>
    <p:extLst>
      <p:ext uri="{BB962C8B-B14F-4D97-AF65-F5344CB8AC3E}">
        <p14:creationId xmlns:p14="http://schemas.microsoft.com/office/powerpoint/2010/main" val="35145839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60" y="365125"/>
            <a:ext cx="1160461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 Level NAND Implementation: Example…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3360" y="1859837"/>
                <a:ext cx="1138528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 2: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could simplify this expression to its SOP form, but here a multilevel NAND circuit is preferred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360" y="1859837"/>
                <a:ext cx="11385280" cy="4351338"/>
              </a:xfrm>
              <a:blipFill>
                <a:blip r:embed="rId3"/>
                <a:stretch>
                  <a:fillRect l="-96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42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B33C53-0A78-47E3-B6B9-FF8B7EFF5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70" y="3397567"/>
            <a:ext cx="3181730" cy="2276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E6E891-4627-4A4C-BFDE-4185DBC08A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922" y="3397567"/>
            <a:ext cx="3478698" cy="2191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C2663D-D8C0-4F30-B421-218B009378D0}"/>
              </a:ext>
            </a:extLst>
          </p:cNvPr>
          <p:cNvSpPr txBox="1"/>
          <p:nvPr/>
        </p:nvSpPr>
        <p:spPr>
          <a:xfrm>
            <a:off x="4819304" y="5678007"/>
            <a:ext cx="127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Approach 2</a:t>
            </a:r>
          </a:p>
        </p:txBody>
      </p:sp>
    </p:spTree>
    <p:extLst>
      <p:ext uri="{BB962C8B-B14F-4D97-AF65-F5344CB8AC3E}">
        <p14:creationId xmlns:p14="http://schemas.microsoft.com/office/powerpoint/2010/main" val="2259754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60" y="365125"/>
            <a:ext cx="1095044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 Level NOR Implementation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3360" y="1825625"/>
            <a:ext cx="11385280" cy="4351338"/>
          </a:xfrm>
        </p:spPr>
        <p:txBody>
          <a:bodyPr>
            <a:normAutofit/>
          </a:bodyPr>
          <a:lstStyle/>
          <a:p>
            <a:r>
              <a:rPr lang="en-US" dirty="0"/>
              <a:t>There are two approaches to design a multi level NOR circuits: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Express the Boolean function in terms of AND, OR and NOT operators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Two </a:t>
            </a:r>
            <a:r>
              <a:rPr lang="en-US" b="1" dirty="0">
                <a:solidFill>
                  <a:srgbClr val="FF0000"/>
                </a:solidFill>
              </a:rPr>
              <a:t>alternative </a:t>
            </a:r>
            <a:r>
              <a:rPr lang="en-US" dirty="0"/>
              <a:t>ways:</a:t>
            </a:r>
          </a:p>
          <a:p>
            <a:pPr lvl="2"/>
            <a:r>
              <a:rPr lang="en-US" sz="2300" b="1" dirty="0"/>
              <a:t>Approach 1: </a:t>
            </a:r>
            <a:r>
              <a:rPr lang="en-US" sz="2300" dirty="0"/>
              <a:t>All the AND, OR and NOT gates would be converted to its corresponding NOR representation </a:t>
            </a:r>
          </a:p>
          <a:p>
            <a:pPr lvl="2"/>
            <a:r>
              <a:rPr lang="en-US" sz="2300" b="1" dirty="0"/>
              <a:t>Approach 2: </a:t>
            </a:r>
            <a:r>
              <a:rPr lang="en-US" sz="2300" dirty="0"/>
              <a:t>Convert each AND to invert-AND and each OR to OR-invert gates </a:t>
            </a:r>
            <a:endParaRPr lang="en-US" sz="2300" b="1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There should have </a:t>
            </a:r>
            <a:r>
              <a:rPr lang="en-US" b="1" dirty="0"/>
              <a:t>two cascaded bubbles or inverters </a:t>
            </a:r>
            <a:r>
              <a:rPr lang="en-US" dirty="0"/>
              <a:t>who will cancel each other</a:t>
            </a:r>
          </a:p>
          <a:p>
            <a:pPr lvl="3"/>
            <a:r>
              <a:rPr lang="en-US" sz="2400" dirty="0"/>
              <a:t>Otherwise, one extra inverter should be inserted, or input variables should be complemented 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43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5749364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60" y="365125"/>
            <a:ext cx="1095044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 Level NOR Implementation- Example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3360" y="1825625"/>
                <a:ext cx="1138528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could simplify this expression to its POS/SOP form, but here a multilevel NOR circuit is preferred 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360" y="1825625"/>
                <a:ext cx="11385280" cy="4351338"/>
              </a:xfrm>
              <a:blipFill>
                <a:blip r:embed="rId3"/>
                <a:stretch>
                  <a:fillRect l="-96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44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B9232-9898-4929-9B18-26BA2B45CE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951" y="2979553"/>
            <a:ext cx="6682300" cy="26276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166E9A-46E7-45A7-BB8C-8E7EF40897B5}"/>
              </a:ext>
            </a:extLst>
          </p:cNvPr>
          <p:cNvSpPr txBox="1"/>
          <p:nvPr/>
        </p:nvSpPr>
        <p:spPr>
          <a:xfrm>
            <a:off x="5457652" y="5707400"/>
            <a:ext cx="127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Approach 1</a:t>
            </a:r>
          </a:p>
        </p:txBody>
      </p:sp>
    </p:spTree>
    <p:extLst>
      <p:ext uri="{BB962C8B-B14F-4D97-AF65-F5344CB8AC3E}">
        <p14:creationId xmlns:p14="http://schemas.microsoft.com/office/powerpoint/2010/main" val="11141216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360" y="365125"/>
            <a:ext cx="1138528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Multiple Level NOR Implementation- Example…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3360" y="1825625"/>
                <a:ext cx="1138528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 1: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We could simplify this expression to its POS/SOP form, but here a multilevel NOR circuit is preferred </a:t>
                </a:r>
              </a:p>
              <a:p>
                <a:pPr marL="914400" lvl="2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3360" y="1825625"/>
                <a:ext cx="11385280" cy="4351338"/>
              </a:xfrm>
              <a:blipFill>
                <a:blip r:embed="rId3"/>
                <a:stretch>
                  <a:fillRect l="-96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45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FB9232-9898-4929-9B18-26BA2B45CE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951" y="2979553"/>
            <a:ext cx="6682300" cy="26276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166E9A-46E7-45A7-BB8C-8E7EF40897B5}"/>
              </a:ext>
            </a:extLst>
          </p:cNvPr>
          <p:cNvSpPr txBox="1"/>
          <p:nvPr/>
        </p:nvSpPr>
        <p:spPr>
          <a:xfrm>
            <a:off x="5457652" y="5707400"/>
            <a:ext cx="1276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Approach 2</a:t>
            </a:r>
          </a:p>
        </p:txBody>
      </p:sp>
    </p:spTree>
    <p:extLst>
      <p:ext uri="{BB962C8B-B14F-4D97-AF65-F5344CB8AC3E}">
        <p14:creationId xmlns:p14="http://schemas.microsoft.com/office/powerpoint/2010/main" val="4234130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Exclusive-OR Function 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05542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Exclusive-OR (XOR) symbolized as </a:t>
                </a:r>
                <a14:m>
                  <m:oMath xmlns:m="http://schemas.openxmlformats.org/officeDocument/2006/math">
                    <m:nary>
                      <m:naryPr>
                        <m:chr m:val="⨁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. </m:t>
                        </m:r>
                      </m:e>
                    </m:nary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n-US" b="0" dirty="0">
                    <a:ea typeface="Cambria Math" panose="02040503050406030204" pitchFamily="18" charset="0"/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It performs the Boolean operation: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b="0" dirty="0">
                    <a:ea typeface="Cambria Math" panose="02040503050406030204" pitchFamily="18" charset="0"/>
                  </a:rPr>
                  <a:t>The XOR function is 1 if only x is 1 or only y is 1 – x and y are differed in value</a:t>
                </a:r>
              </a:p>
              <a:p>
                <a:pPr lvl="2"/>
                <a:r>
                  <a:rPr lang="en-US" dirty="0">
                    <a:ea typeface="Cambria Math" panose="02040503050406030204" pitchFamily="18" charset="0"/>
                  </a:rPr>
                  <a:t>So, it is called </a:t>
                </a:r>
                <a:r>
                  <a:rPr lang="en-US" b="1" dirty="0">
                    <a:ea typeface="Cambria Math" panose="02040503050406030204" pitchFamily="18" charset="0"/>
                  </a:rPr>
                  <a:t>difference function</a:t>
                </a:r>
              </a:p>
              <a:p>
                <a:pPr lvl="2"/>
                <a:r>
                  <a:rPr lang="en-US" dirty="0">
                    <a:ea typeface="Cambria Math" panose="02040503050406030204" pitchFamily="18" charset="0"/>
                  </a:rPr>
                  <a:t>For multiple variables, XOR is 1 if the total number of 1s in the input is odd.</a:t>
                </a:r>
              </a:p>
              <a:p>
                <a:r>
                  <a:rPr lang="en-US" b="0" dirty="0">
                    <a:ea typeface="Cambria Math" panose="02040503050406030204" pitchFamily="18" charset="0"/>
                  </a:rPr>
                  <a:t>For XOR operatio</a:t>
                </a:r>
                <a:r>
                  <a:rPr lang="en-US" dirty="0">
                    <a:ea typeface="Cambria Math" panose="02040503050406030204" pitchFamily="18" charset="0"/>
                  </a:rPr>
                  <a:t>n, following statements are true: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⊕0=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⊕1=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5542" y="1825625"/>
                <a:ext cx="10515600" cy="4351338"/>
              </a:xfrm>
              <a:blipFill>
                <a:blip r:embed="rId3"/>
                <a:stretch>
                  <a:fillRect l="-1043" t="-3081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46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B8A766-7D66-4B4D-A87D-C7D6BAB349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4797425"/>
            <a:ext cx="3028950" cy="1514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30B398-E704-4D3E-BF16-C70A4A89B3E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224"/>
          <a:stretch/>
        </p:blipFill>
        <p:spPr>
          <a:xfrm>
            <a:off x="6438121" y="4573755"/>
            <a:ext cx="1624791" cy="214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039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Exclusive-NOR Function 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05542" y="1825625"/>
                <a:ext cx="11130644" cy="4351338"/>
              </a:xfrm>
            </p:spPr>
            <p:txBody>
              <a:bodyPr/>
              <a:lstStyle/>
              <a:p>
                <a:r>
                  <a:rPr lang="en-US" dirty="0"/>
                  <a:t>Exclusive-NOR (XNOR) symbolized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en-US" b="0" dirty="0">
                    <a:ea typeface="Cambria Math" panose="02040503050406030204" pitchFamily="18" charset="0"/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nary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It performs the Boolean operation: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b="0" dirty="0">
                    <a:ea typeface="Cambria Math" panose="02040503050406030204" pitchFamily="18" charset="0"/>
                  </a:rPr>
                  <a:t>By definition, XNOR function is the complement of the XOR </a:t>
                </a:r>
                <a:br>
                  <a:rPr lang="en-US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</a:br>
                <a:r>
                  <a:rPr lang="en-US" b="1" i="1" dirty="0">
                    <a:ea typeface="Cambria Math" panose="02040503050406030204" pitchFamily="18" charset="0"/>
                  </a:rPr>
                  <a:t>i.e.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⊙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The XNOR function  is 1 when both x and y are 1 or both of them are 0</a:t>
                </a:r>
              </a:p>
              <a:p>
                <a:pPr lvl="2"/>
                <a:r>
                  <a:rPr lang="en-US" b="0" dirty="0">
                    <a:ea typeface="Cambria Math" panose="02040503050406030204" pitchFamily="18" charset="0"/>
                  </a:rPr>
                  <a:t>So, it is known as </a:t>
                </a:r>
                <a:r>
                  <a:rPr lang="en-US" b="1" dirty="0">
                    <a:ea typeface="Cambria Math" panose="02040503050406030204" pitchFamily="18" charset="0"/>
                  </a:rPr>
                  <a:t>equivalence function </a:t>
                </a:r>
                <a:r>
                  <a:rPr lang="en-US" b="0" dirty="0">
                    <a:ea typeface="Cambria Math" panose="02040503050406030204" pitchFamily="18" charset="0"/>
                  </a:rPr>
                  <a:t>considering two variables gate</a:t>
                </a:r>
              </a:p>
              <a:p>
                <a:pPr lvl="2"/>
                <a:r>
                  <a:rPr lang="en-US" dirty="0">
                    <a:ea typeface="Cambria Math" panose="02040503050406030204" pitchFamily="18" charset="0"/>
                  </a:rPr>
                  <a:t>For multiple input, XNOR is 1 if the total number of 1s in the input is even 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pPr lvl="2"/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5542" y="1825625"/>
                <a:ext cx="11130644" cy="4351338"/>
              </a:xfrm>
              <a:blipFill>
                <a:blip r:embed="rId3"/>
                <a:stretch>
                  <a:fillRect l="-98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47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CB0A48-6244-40EA-BB37-33B8C0B85E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610" y="5542397"/>
            <a:ext cx="3497580" cy="11353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31B029-21C3-4595-B48C-39F62493BD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109" y="1744250"/>
            <a:ext cx="2822077" cy="19621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B9A12C-FDE4-4D84-BE4A-F1C2FC8D435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14"/>
          <a:stretch/>
        </p:blipFill>
        <p:spPr>
          <a:xfrm>
            <a:off x="10122364" y="4488455"/>
            <a:ext cx="1688636" cy="232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154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XOR an XNOR Function… 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825625"/>
                <a:ext cx="114300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Exclusive-OR (XOR) operation is both commutative and associative: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Exclusive-NOR (XNOR) operation is also both commutative and associative: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So, the two inputs of XOR (or XNOR) gate can be interchanged without affecting the operation </a:t>
                </a:r>
              </a:p>
              <a:p>
                <a:r>
                  <a:rPr lang="en-US" dirty="0"/>
                  <a:t>Also, we can evaluate a three or more inputs XOR (or XNOR) gate in any order </a:t>
                </a:r>
              </a:p>
              <a:p>
                <a:pPr lvl="1"/>
                <a:r>
                  <a:rPr lang="en-US" dirty="0"/>
                  <a:t>No need to include parentheses for further clarification </a:t>
                </a:r>
              </a:p>
              <a:p>
                <a:pPr lvl="1"/>
                <a:r>
                  <a:rPr lang="en-US" dirty="0"/>
                  <a:t>But multiple input XOR and XNOR gates are very difficult to fabricate with hardware 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825625"/>
                <a:ext cx="11430000" cy="4351338"/>
              </a:xfrm>
              <a:blipFill>
                <a:blip r:embed="rId3"/>
                <a:stretch>
                  <a:fillRect l="-853" t="-210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48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6631089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258" y="365125"/>
            <a:ext cx="10759542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Implementation of XOR Gate</a:t>
            </a:r>
            <a:endParaRPr lang="en-US" sz="3900" dirty="0">
              <a:latin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F0EC409-2084-4E4A-B338-805ADF67D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1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258" y="2219156"/>
            <a:ext cx="5353797" cy="241968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49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9D85EF-F162-4B6B-821B-98F1627C2FDC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947" y="2219157"/>
            <a:ext cx="5334744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5982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Implementation of XNOR Gate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50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F2B23255-DE05-49DC-9381-C7026DE77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807" y="1907847"/>
            <a:ext cx="5381186" cy="2894830"/>
          </a:xfr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A7095E6-64E9-4EF7-B664-DDD3FBFA9CF3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107" y="2369303"/>
            <a:ext cx="5381186" cy="19719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31F0420-A373-41F7-8021-583E1CF4B24A}"/>
              </a:ext>
            </a:extLst>
          </p:cNvPr>
          <p:cNvSpPr txBox="1"/>
          <p:nvPr/>
        </p:nvSpPr>
        <p:spPr>
          <a:xfrm>
            <a:off x="1126671" y="5094514"/>
            <a:ext cx="3635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XNOR gate with AND-OR-NOT gates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15101A-04E6-4013-A601-374436CEE126}"/>
              </a:ext>
            </a:extLst>
          </p:cNvPr>
          <p:cNvSpPr txBox="1"/>
          <p:nvPr/>
        </p:nvSpPr>
        <p:spPr>
          <a:xfrm>
            <a:off x="6792859" y="5094514"/>
            <a:ext cx="294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XNOR gate with NAND gates </a:t>
            </a:r>
          </a:p>
        </p:txBody>
      </p:sp>
    </p:spTree>
    <p:extLst>
      <p:ext uri="{BB962C8B-B14F-4D97-AF65-F5344CB8AC3E}">
        <p14:creationId xmlns:p14="http://schemas.microsoft.com/office/powerpoint/2010/main" val="21444542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Usage of XOR and XNOR Gates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a limited number of Boolean functions can be expressed with XOR and XNOR gates </a:t>
            </a:r>
          </a:p>
          <a:p>
            <a:r>
              <a:rPr lang="en-US" dirty="0"/>
              <a:t>In some digital system designs, they could be used</a:t>
            </a:r>
          </a:p>
          <a:p>
            <a:pPr lvl="1"/>
            <a:r>
              <a:rPr lang="en-US" dirty="0"/>
              <a:t>Specially, they are useful in -</a:t>
            </a:r>
          </a:p>
          <a:p>
            <a:pPr lvl="2"/>
            <a:r>
              <a:rPr lang="en-US" dirty="0"/>
              <a:t>Arithmetic operations (</a:t>
            </a:r>
            <a:r>
              <a:rPr lang="en-US" b="1" i="1" dirty="0"/>
              <a:t>e.g.,</a:t>
            </a:r>
            <a:r>
              <a:rPr lang="en-US" b="1" dirty="0"/>
              <a:t> </a:t>
            </a:r>
            <a:r>
              <a:rPr lang="en-US" dirty="0"/>
              <a:t>add, subtract, etc.)</a:t>
            </a:r>
          </a:p>
          <a:p>
            <a:pPr lvl="2"/>
            <a:r>
              <a:rPr lang="en-US" dirty="0"/>
              <a:t>Logical operation (</a:t>
            </a:r>
            <a:r>
              <a:rPr lang="en-US" b="1" i="1" dirty="0"/>
              <a:t>e.g.,</a:t>
            </a:r>
            <a:r>
              <a:rPr lang="en-US" b="1" dirty="0"/>
              <a:t> </a:t>
            </a:r>
            <a:r>
              <a:rPr lang="en-US" dirty="0"/>
              <a:t>complement)</a:t>
            </a:r>
          </a:p>
          <a:p>
            <a:pPr lvl="2"/>
            <a:r>
              <a:rPr lang="en-US" dirty="0"/>
              <a:t>Error detection and correction (</a:t>
            </a:r>
            <a:r>
              <a:rPr lang="en-US" b="1" i="1" dirty="0"/>
              <a:t>e.g.,</a:t>
            </a:r>
            <a:r>
              <a:rPr lang="en-US" b="1" dirty="0"/>
              <a:t> </a:t>
            </a:r>
            <a:r>
              <a:rPr lang="en-US" dirty="0"/>
              <a:t>parity generator and checker)</a:t>
            </a:r>
          </a:p>
          <a:p>
            <a:pPr lvl="2"/>
            <a:r>
              <a:rPr lang="en-US" dirty="0"/>
              <a:t>Gray code conversion </a:t>
            </a:r>
          </a:p>
          <a:p>
            <a:r>
              <a:rPr lang="en-US" dirty="0"/>
              <a:t>XOR gate is used extensively, XNOR could be implemented as XOR-inverter.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51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03026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5"/>
            <a:ext cx="11430000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Odd Function with XOR gate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Considering Logic-1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5625"/>
            <a:ext cx="114300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Basically, two input XOR gate could be defined as difference function</a:t>
            </a:r>
          </a:p>
          <a:p>
            <a:pPr lvl="1"/>
            <a:r>
              <a:rPr lang="en-US" dirty="0"/>
              <a:t>But, if we increase the number of input to three or more, definition will be changed</a:t>
            </a:r>
          </a:p>
          <a:p>
            <a:pPr lvl="2"/>
            <a:r>
              <a:rPr lang="en-US" dirty="0"/>
              <a:t>Example: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Here, three input XOR gate produces 1 if only one variable is 1 or all three variables are 1</a:t>
            </a:r>
          </a:p>
          <a:p>
            <a:r>
              <a:rPr lang="en-US" b="1" dirty="0"/>
              <a:t>Definition: </a:t>
            </a:r>
            <a:r>
              <a:rPr lang="en-US" sz="2600" dirty="0"/>
              <a:t>A multiple input XOR gate operates as an </a:t>
            </a:r>
            <a:r>
              <a:rPr lang="en-US" sz="2600" b="1" dirty="0"/>
              <a:t>odd function </a:t>
            </a:r>
            <a:r>
              <a:rPr lang="en-US" sz="2600" b="1" i="1" dirty="0"/>
              <a:t>i.e.</a:t>
            </a:r>
            <a:r>
              <a:rPr lang="en-US" sz="2600" dirty="0"/>
              <a:t> an odd number of inputs should be 1. </a:t>
            </a:r>
          </a:p>
          <a:p>
            <a:pPr lvl="2"/>
            <a:r>
              <a:rPr lang="en-US" sz="1800" dirty="0"/>
              <a:t>An n–variable XOR function is an odd function defined as the logical sum of the 2</a:t>
            </a:r>
            <a:r>
              <a:rPr lang="en-US" sz="1800" baseline="30000" dirty="0"/>
              <a:t>n</a:t>
            </a:r>
            <a:r>
              <a:rPr lang="en-US" sz="1800" dirty="0"/>
              <a:t>/2 minterms whose binary numerical values have an odd number of 1s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52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2DC75D-B029-4E1B-972C-AC9D211CF497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59" y="3364480"/>
            <a:ext cx="4568871" cy="10916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F97853-77C7-4B53-AF46-571C80B3E745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saturation sat="99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417" y="3083276"/>
            <a:ext cx="3105583" cy="14098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E5CD3B-8A98-4521-BB00-7B4DEE72CDE4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2"/>
          <a:stretch/>
        </p:blipFill>
        <p:spPr>
          <a:xfrm>
            <a:off x="5390723" y="2635109"/>
            <a:ext cx="2971800" cy="220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228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493" y="365125"/>
            <a:ext cx="10773307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Odd and Even Function with Four Variables </a:t>
            </a:r>
            <a:b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</a:br>
            <a:r>
              <a:rPr lang="en-US" sz="2500" b="1" i="1" dirty="0">
                <a:solidFill>
                  <a:srgbClr val="FF0000"/>
                </a:solidFill>
                <a:latin typeface="+mn-lt"/>
              </a:rPr>
              <a:t>Considering Logic-1</a:t>
            </a:r>
            <a:endParaRPr lang="en-US" sz="2500" dirty="0">
              <a:solidFill>
                <a:srgbClr val="FF0000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0494" y="1690688"/>
                <a:ext cx="7812392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Algebraic expression of odd function with 4 variables:</a:t>
                </a:r>
              </a:p>
              <a:p>
                <a:endParaRPr lang="en-US" sz="2600" dirty="0"/>
              </a:p>
              <a:p>
                <a:endParaRPr lang="en-US" sz="2600" dirty="0"/>
              </a:p>
              <a:p>
                <a:endParaRPr lang="en-US" sz="2600" dirty="0"/>
              </a:p>
              <a:p>
                <a:r>
                  <a:rPr lang="en-US" sz="2600" dirty="0"/>
                  <a:t>Algebraic expression of even function with 4 variables:</a:t>
                </a:r>
              </a:p>
              <a:p>
                <a:pPr marL="457200" lvl="1" indent="0">
                  <a:buNone/>
                </a:pP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)′=∑(0,3,5,6,9,10,12,15)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0494" y="1690688"/>
                <a:ext cx="7812392" cy="4351338"/>
              </a:xfrm>
              <a:blipFill>
                <a:blip r:embed="rId3"/>
                <a:stretch>
                  <a:fillRect l="-1170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53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7BBFF-AC1C-44B2-A15A-B27020E488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71" y="2233037"/>
            <a:ext cx="7040529" cy="10633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17CB0C-7616-486A-B54C-A600BD1C72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801" y="1690688"/>
            <a:ext cx="3857120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567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Few Important Points</a:t>
            </a:r>
            <a:r>
              <a:rPr lang="en-US" b="1" i="1" dirty="0">
                <a:solidFill>
                  <a:srgbClr val="FF0000"/>
                </a:solidFill>
                <a:latin typeface="+mn-lt"/>
              </a:rPr>
              <a:t>***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same odd number of variables, the XOR and XNOR function will produce same truth table  </a:t>
            </a:r>
          </a:p>
          <a:p>
            <a:r>
              <a:rPr lang="en-US" dirty="0"/>
              <a:t>For same even number of variables, the XOR and XNOR function will produce opposite (complementary) truth table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54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5499522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Application: Parity Generator and Checker 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XOR function is very useful for error detection and correction codes </a:t>
            </a:r>
          </a:p>
          <a:p>
            <a:r>
              <a:rPr lang="en-US" b="1" dirty="0"/>
              <a:t>Parity bit </a:t>
            </a:r>
            <a:r>
              <a:rPr lang="en-US" dirty="0"/>
              <a:t>is an extra bit which is usually included with original message during transmission for error detection </a:t>
            </a:r>
          </a:p>
          <a:p>
            <a:pPr lvl="1"/>
            <a:r>
              <a:rPr lang="en-US" b="1" dirty="0"/>
              <a:t>Parity Generator </a:t>
            </a:r>
            <a:r>
              <a:rPr lang="en-US" dirty="0"/>
              <a:t>– the circuit that generates the parity bit in the transmitter</a:t>
            </a:r>
          </a:p>
          <a:p>
            <a:pPr lvl="1"/>
            <a:r>
              <a:rPr lang="en-US" b="1" dirty="0"/>
              <a:t>Parity Checker </a:t>
            </a:r>
            <a:r>
              <a:rPr lang="en-US" dirty="0"/>
              <a:t>– the circuit that checks the parity in the receiver 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Consider a three bit message (</a:t>
            </a:r>
            <a:r>
              <a:rPr lang="en-US" b="1" i="1" dirty="0"/>
              <a:t>e.g. </a:t>
            </a:r>
            <a:r>
              <a:rPr lang="en-US" dirty="0"/>
              <a:t>x, y, z) to be transmitted together with an </a:t>
            </a:r>
            <a:r>
              <a:rPr lang="en-US" b="1" dirty="0"/>
              <a:t>even parity bit </a:t>
            </a:r>
            <a:r>
              <a:rPr lang="en-US" dirty="0"/>
              <a:t>(</a:t>
            </a:r>
            <a:r>
              <a:rPr lang="en-US" b="1" i="1" dirty="0"/>
              <a:t>e.g.</a:t>
            </a:r>
            <a:r>
              <a:rPr lang="en-US" dirty="0"/>
              <a:t> </a:t>
            </a:r>
            <a:r>
              <a:rPr lang="en-US" b="1" i="1" dirty="0"/>
              <a:t>P</a:t>
            </a:r>
            <a:r>
              <a:rPr lang="en-US" dirty="0"/>
              <a:t>)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55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42948869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Parity Generator Circuit 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this circuit, three bits (</a:t>
                </a:r>
                <a:r>
                  <a:rPr lang="en-US" b="1" i="1" dirty="0"/>
                  <a:t>i.e. </a:t>
                </a:r>
                <a:r>
                  <a:rPr lang="en-US" dirty="0"/>
                  <a:t>x, y, z) in the message are inputs and even parity bit (</a:t>
                </a:r>
                <a:r>
                  <a:rPr lang="en-US" b="1" i="1" dirty="0"/>
                  <a:t>i.e. P</a:t>
                </a:r>
                <a:r>
                  <a:rPr lang="en-US" dirty="0"/>
                  <a:t>) is the output </a:t>
                </a:r>
              </a:p>
              <a:p>
                <a:pPr lvl="1"/>
                <a:r>
                  <a:rPr lang="en-US" dirty="0"/>
                  <a:t>For even parity, the bit </a:t>
                </a:r>
                <a:r>
                  <a:rPr lang="en-US" b="1" i="1" dirty="0"/>
                  <a:t>P </a:t>
                </a:r>
                <a:r>
                  <a:rPr lang="en-US" dirty="0"/>
                  <a:t>must be produced to make the total number of 1s (including </a:t>
                </a:r>
                <a:r>
                  <a:rPr lang="en-US" b="1" i="1" dirty="0"/>
                  <a:t>P</a:t>
                </a:r>
                <a:r>
                  <a:rPr lang="en-US" dirty="0"/>
                  <a:t>) even.</a:t>
                </a:r>
              </a:p>
              <a:p>
                <a:pPr lvl="1"/>
                <a:r>
                  <a:rPr lang="en-US" dirty="0"/>
                  <a:t>So, </a:t>
                </a:r>
                <a:r>
                  <a:rPr lang="en-US" b="1" i="1" dirty="0"/>
                  <a:t>P </a:t>
                </a:r>
                <a:r>
                  <a:rPr lang="en-US" dirty="0"/>
                  <a:t>makes an odd function, </a:t>
                </a:r>
                <a:r>
                  <a:rPr lang="en-US" b="1" i="1" dirty="0"/>
                  <a:t>i.e.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200" dirty="0"/>
                  <a:t> </a:t>
                </a:r>
                <a:endParaRPr lang="en-US" sz="2200" b="1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56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29BC1-DC84-4F87-A8E5-C65E7714E1F2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99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4097" y="3852151"/>
            <a:ext cx="4114800" cy="28693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FE6942-31C4-4FF7-8851-6AC4FC68A8DA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596" y="4280626"/>
            <a:ext cx="4172442" cy="201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87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Parity Checker Circuit </a:t>
            </a:r>
            <a:endParaRPr lang="en-US" sz="3900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this circuit, four bits (</a:t>
                </a:r>
                <a:r>
                  <a:rPr lang="en-US" b="1" i="1" dirty="0"/>
                  <a:t>i.e. </a:t>
                </a:r>
                <a:r>
                  <a:rPr lang="en-US" dirty="0"/>
                  <a:t>x, y, z and </a:t>
                </a:r>
                <a:r>
                  <a:rPr lang="en-US" b="1" i="1" dirty="0"/>
                  <a:t>P</a:t>
                </a:r>
                <a:r>
                  <a:rPr lang="en-US" dirty="0"/>
                  <a:t>) in the transmitted message are inputs and error checker bit (</a:t>
                </a:r>
                <a:r>
                  <a:rPr lang="en-US" b="1" i="1" dirty="0"/>
                  <a:t>i.e. C</a:t>
                </a:r>
                <a:r>
                  <a:rPr lang="en-US" dirty="0"/>
                  <a:t>) is the output </a:t>
                </a:r>
              </a:p>
              <a:p>
                <a:pPr lvl="1"/>
                <a:r>
                  <a:rPr lang="en-US" dirty="0"/>
                  <a:t>For even parity checking, the checker bit </a:t>
                </a:r>
                <a:r>
                  <a:rPr lang="en-US" b="1" i="1" dirty="0"/>
                  <a:t>C </a:t>
                </a:r>
                <a:r>
                  <a:rPr lang="en-US" dirty="0"/>
                  <a:t>is 1 if an error occurs, </a:t>
                </a:r>
                <a:r>
                  <a:rPr lang="en-US" b="1" i="1" dirty="0"/>
                  <a:t>i.e.</a:t>
                </a:r>
                <a:r>
                  <a:rPr lang="en-US" dirty="0"/>
                  <a:t> if the total number of 1s in the received message is odd.  </a:t>
                </a:r>
              </a:p>
              <a:p>
                <a:pPr lvl="1"/>
                <a:r>
                  <a:rPr lang="en-US" dirty="0"/>
                  <a:t>So, </a:t>
                </a:r>
                <a:r>
                  <a:rPr lang="en-US" b="1" i="1" dirty="0"/>
                  <a:t>C </a:t>
                </a:r>
                <a:r>
                  <a:rPr lang="en-US" dirty="0"/>
                  <a:t>makes another odd function,</a:t>
                </a:r>
                <a:br>
                  <a:rPr lang="en-US" dirty="0"/>
                </a:br>
                <a:r>
                  <a:rPr lang="en-US" dirty="0"/>
                  <a:t> </a:t>
                </a:r>
                <a:r>
                  <a:rPr lang="en-US" b="1" i="1" dirty="0"/>
                  <a:t>i.e.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22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sz="22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sz="2200" b="1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57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7F8744-B9A1-4631-93F7-437D8938B595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3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554" y="4321101"/>
            <a:ext cx="3514891" cy="1855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B72F95-B733-4647-80B9-D9375ED44A5D}"/>
              </a:ext>
            </a:extLst>
          </p:cNvPr>
          <p:cNvPicPr>
            <a:picLocks noChangeAspect="1"/>
          </p:cNvPicPr>
          <p:nvPr/>
        </p:nvPicPr>
        <p:blipFill>
          <a:blip r:embed="rId7">
            <a:grayscl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149" y="3106720"/>
            <a:ext cx="3375352" cy="368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538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Prime Implicants Selections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58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139625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Prime Implicants Selections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59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2584616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137" y="365125"/>
            <a:ext cx="11464119" cy="1325563"/>
          </a:xfrm>
        </p:spPr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Tabular Method /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Quine-McCluskey Method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289" y="2030511"/>
            <a:ext cx="2915057" cy="447737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60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337" y="2645401"/>
            <a:ext cx="7173326" cy="35437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261" y="6356349"/>
            <a:ext cx="2343477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672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Tabular Method (Alternative Way)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61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311" y="1867396"/>
            <a:ext cx="6287377" cy="426779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193B23-5773-4BFD-AD40-2684C49C1F40}"/>
              </a:ext>
            </a:extLst>
          </p:cNvPr>
          <p:cNvSpPr txBox="1"/>
          <p:nvPr/>
        </p:nvSpPr>
        <p:spPr>
          <a:xfrm>
            <a:off x="9054093" y="4408715"/>
            <a:ext cx="1856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(difference)</a:t>
            </a:r>
          </a:p>
          <a:p>
            <a:r>
              <a:rPr lang="en-US" dirty="0"/>
              <a:t>(old diff, new diff)</a:t>
            </a:r>
          </a:p>
        </p:txBody>
      </p:sp>
    </p:spTree>
    <p:extLst>
      <p:ext uri="{BB962C8B-B14F-4D97-AF65-F5344CB8AC3E}">
        <p14:creationId xmlns:p14="http://schemas.microsoft.com/office/powerpoint/2010/main" val="8295976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Tabular Method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62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Verification using K-map: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235439"/>
            <a:ext cx="3807624" cy="353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328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Prime Implicants Determination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Another Example: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63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306829"/>
            <a:ext cx="3848637" cy="41915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664" y="2815680"/>
            <a:ext cx="7068536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0809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Prime Implicants Selections</a:t>
            </a:r>
            <a:endParaRPr lang="en-US" sz="3900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64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758" y="3887049"/>
            <a:ext cx="7078063" cy="28578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179" y="1457835"/>
            <a:ext cx="6925642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7244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The Tabular Method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Verification using K-map: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65</a:t>
            </a:fld>
            <a:endParaRPr lang="en-US" sz="18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572" y="5262338"/>
            <a:ext cx="3115110" cy="4096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2572" y="2322756"/>
            <a:ext cx="3286584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607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66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3679653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67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3594047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68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8052916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69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4185028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70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28150030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71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1680788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72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1189111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73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19905026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Administration</a:t>
            </a:r>
            <a:endParaRPr lang="en-US" sz="39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4840" y="42498"/>
            <a:ext cx="457200" cy="748483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Chapter 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865C8-A00C-4A00-A7DE-A98002B852BF}" type="slidenum">
              <a:rPr lang="en-US" sz="1800" smtClean="0"/>
              <a:t>74</a:t>
            </a:fld>
            <a:endParaRPr lang="en-US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 4205: Digital Logic Design</a:t>
            </a:r>
          </a:p>
        </p:txBody>
      </p:sp>
    </p:spTree>
    <p:extLst>
      <p:ext uri="{BB962C8B-B14F-4D97-AF65-F5344CB8AC3E}">
        <p14:creationId xmlns:p14="http://schemas.microsoft.com/office/powerpoint/2010/main" val="336705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14809</TotalTime>
  <Words>5924</Words>
  <Application>Microsoft Office PowerPoint</Application>
  <PresentationFormat>Widescreen</PresentationFormat>
  <Paragraphs>814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0" baseType="lpstr">
      <vt:lpstr>Arial</vt:lpstr>
      <vt:lpstr>Calibri</vt:lpstr>
      <vt:lpstr>Calibri Light</vt:lpstr>
      <vt:lpstr>Cambria Math</vt:lpstr>
      <vt:lpstr>Office Theme</vt:lpstr>
      <vt:lpstr>1_Office Theme</vt:lpstr>
      <vt:lpstr>Gate Level Minimization</vt:lpstr>
      <vt:lpstr>Remaining to Add</vt:lpstr>
      <vt:lpstr>To be noted more:</vt:lpstr>
      <vt:lpstr>Introduction</vt:lpstr>
      <vt:lpstr>Implementation of Boolean Function</vt:lpstr>
      <vt:lpstr>The Map Method – K-map </vt:lpstr>
      <vt:lpstr>Two-Variable K-map</vt:lpstr>
      <vt:lpstr>Three-Variable K-Map</vt:lpstr>
      <vt:lpstr>Three-Variable K-Map: Simplification</vt:lpstr>
      <vt:lpstr>3-variable K-Map: Example</vt:lpstr>
      <vt:lpstr>3-variable K-Map: Example…</vt:lpstr>
      <vt:lpstr>4-Variable K-Map</vt:lpstr>
      <vt:lpstr>4-Variable K-Map: Representation </vt:lpstr>
      <vt:lpstr>4-Variable K-Map: Example</vt:lpstr>
      <vt:lpstr>Basic Definition: Implicant</vt:lpstr>
      <vt:lpstr>Basic Definition: Implicant – Example </vt:lpstr>
      <vt:lpstr>Implicants in 3- and 4-variable K-map</vt:lpstr>
      <vt:lpstr>5- and 6-Variable K-Map</vt:lpstr>
      <vt:lpstr>POS &amp; SOP Simplification</vt:lpstr>
      <vt:lpstr>POS &amp; SOP Simplification - Example</vt:lpstr>
      <vt:lpstr>POS &amp; SOP Simplification – Gate Level Implementation</vt:lpstr>
      <vt:lpstr>POS &amp; SOP Simplification – Important  </vt:lpstr>
      <vt:lpstr>Incompletely Specified Functions  Don’t Care Conditions </vt:lpstr>
      <vt:lpstr>Don’t Care Conditions</vt:lpstr>
      <vt:lpstr>Don’t Care Conditions – Example </vt:lpstr>
      <vt:lpstr>NAND &amp; NOR implementation</vt:lpstr>
      <vt:lpstr>NAND implementation</vt:lpstr>
      <vt:lpstr>NAND Implementation: Graphic Symbols</vt:lpstr>
      <vt:lpstr>Two Level NAND Implementation</vt:lpstr>
      <vt:lpstr>Two Level NAND Implementation: Procedure</vt:lpstr>
      <vt:lpstr>Two Level NAND Implementation - Example</vt:lpstr>
      <vt:lpstr>NOR implementation</vt:lpstr>
      <vt:lpstr>NOR implementation</vt:lpstr>
      <vt:lpstr>NOR Implementation: Graphic Symbols</vt:lpstr>
      <vt:lpstr>Two Level NOR Implementation</vt:lpstr>
      <vt:lpstr>Two Level NOR Implementation: Procedure</vt:lpstr>
      <vt:lpstr>Two Level NOR Implementation - Example</vt:lpstr>
      <vt:lpstr>Multiple Level NAND Implementation</vt:lpstr>
      <vt:lpstr>Multiple Level NAND Implementation: Example</vt:lpstr>
      <vt:lpstr>Multiple Level NAND Implementation: Example</vt:lpstr>
      <vt:lpstr>Multiple Level NAND Implementation: Example…</vt:lpstr>
      <vt:lpstr>Multiple Level NAND Implementation: Example…</vt:lpstr>
      <vt:lpstr>Multiple Level NOR Implementation</vt:lpstr>
      <vt:lpstr>Multiple Level NOR Implementation- Example</vt:lpstr>
      <vt:lpstr>Multiple Level NOR Implementation- Example…</vt:lpstr>
      <vt:lpstr>Exclusive-OR Function </vt:lpstr>
      <vt:lpstr>Exclusive-NOR Function </vt:lpstr>
      <vt:lpstr>XOR an XNOR Function… </vt:lpstr>
      <vt:lpstr>Implementation of XOR Gate</vt:lpstr>
      <vt:lpstr>Implementation of XNOR Gate</vt:lpstr>
      <vt:lpstr>Usage of XOR and XNOR Gates </vt:lpstr>
      <vt:lpstr>Odd Function with XOR gate Considering Logic-1</vt:lpstr>
      <vt:lpstr>Odd and Even Function with Four Variables  Considering Logic-1</vt:lpstr>
      <vt:lpstr>Few Important Points*** </vt:lpstr>
      <vt:lpstr>Application: Parity Generator and Checker </vt:lpstr>
      <vt:lpstr>Parity Generator Circuit </vt:lpstr>
      <vt:lpstr>Parity Checker Circuit </vt:lpstr>
      <vt:lpstr>Prime Implicants Selections</vt:lpstr>
      <vt:lpstr>Prime Implicants Selections</vt:lpstr>
      <vt:lpstr>The Tabular Method / Quine-McCluskey Method</vt:lpstr>
      <vt:lpstr>The Tabular Method (Alternative Way)</vt:lpstr>
      <vt:lpstr>The Tabular Method</vt:lpstr>
      <vt:lpstr>Prime Implicants Determination</vt:lpstr>
      <vt:lpstr>Prime Implicants Selections</vt:lpstr>
      <vt:lpstr>The Tabular Method</vt:lpstr>
      <vt:lpstr>PowerPoint Presentation</vt:lpstr>
      <vt:lpstr>PowerPoint Presentation</vt:lpstr>
      <vt:lpstr>Administration</vt:lpstr>
      <vt:lpstr>Administration</vt:lpstr>
      <vt:lpstr>Administration</vt:lpstr>
      <vt:lpstr>Administration</vt:lpstr>
      <vt:lpstr>Administration</vt:lpstr>
      <vt:lpstr>Administration</vt:lpstr>
      <vt:lpstr>Administration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4205 Digital Logic Design</dc:title>
  <dc:creator>Admin</dc:creator>
  <cp:lastModifiedBy>Md. Hamjajul Ashmafee , Lecturer,CSE</cp:lastModifiedBy>
  <cp:revision>276</cp:revision>
  <dcterms:created xsi:type="dcterms:W3CDTF">2018-06-27T14:59:12Z</dcterms:created>
  <dcterms:modified xsi:type="dcterms:W3CDTF">2022-01-29T01:33:04Z</dcterms:modified>
</cp:coreProperties>
</file>