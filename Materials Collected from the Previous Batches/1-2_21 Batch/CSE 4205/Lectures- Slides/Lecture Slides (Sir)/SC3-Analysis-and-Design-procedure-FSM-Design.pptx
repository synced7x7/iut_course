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6"/>
  </p:notesMasterIdLst>
  <p:handoutMasterIdLst>
    <p:handoutMasterId r:id="rId27"/>
  </p:handoutMasterIdLst>
  <p:sldIdLst>
    <p:sldId id="256" r:id="rId3"/>
    <p:sldId id="347" r:id="rId4"/>
    <p:sldId id="260" r:id="rId5"/>
    <p:sldId id="277" r:id="rId6"/>
    <p:sldId id="350" r:id="rId7"/>
    <p:sldId id="275" r:id="rId8"/>
    <p:sldId id="274" r:id="rId9"/>
    <p:sldId id="358" r:id="rId10"/>
    <p:sldId id="272" r:id="rId11"/>
    <p:sldId id="280" r:id="rId12"/>
    <p:sldId id="281" r:id="rId13"/>
    <p:sldId id="282" r:id="rId14"/>
    <p:sldId id="283" r:id="rId15"/>
    <p:sldId id="279" r:id="rId16"/>
    <p:sldId id="273" r:id="rId17"/>
    <p:sldId id="351" r:id="rId18"/>
    <p:sldId id="352" r:id="rId19"/>
    <p:sldId id="353" r:id="rId20"/>
    <p:sldId id="354" r:id="rId21"/>
    <p:sldId id="355" r:id="rId22"/>
    <p:sldId id="356" r:id="rId23"/>
    <p:sldId id="269" r:id="rId24"/>
    <p:sldId id="26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5" autoAdjust="0"/>
    <p:restoredTop sz="78830" autoAdjust="0"/>
  </p:normalViewPr>
  <p:slideViewPr>
    <p:cSldViewPr snapToGrid="0">
      <p:cViewPr varScale="1">
        <p:scale>
          <a:sx n="90" d="100"/>
          <a:sy n="90" d="100"/>
        </p:scale>
        <p:origin x="17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C1B9E-036F-4426-B1FE-095181F8A776}" type="datetimeFigureOut">
              <a:rPr lang="en-US" smtClean="0"/>
              <a:t>07-Mar-22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AD7F4-E4FF-401B-A654-C6B99FAB5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336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1416C-0C94-4347-BEE5-16334176E4E3}" type="datetimeFigureOut">
              <a:rPr lang="en-US" smtClean="0"/>
              <a:t>07-Mar-22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DAB20-FECD-48F0-A350-11C52BC5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687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4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E03ABA-567C-4E7A-9095-3D9C26910D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99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28534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04351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821346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44690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688390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28534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06642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Review: One hot assignment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324129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5818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117922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907743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53656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72485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999915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62471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190891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2534684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0836720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0698402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54140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Semiconductor:</a:t>
            </a:r>
            <a:r>
              <a:rPr lang="en-US" baseline="0" dirty="0"/>
              <a:t>  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61498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1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5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0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4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1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4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43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98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78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82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09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00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34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534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536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477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715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89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7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41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125" y="2601119"/>
            <a:ext cx="9144000" cy="165576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+mn-lt"/>
              </a:rPr>
              <a:t>Analysis and Design Procedure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of Sequential Circuits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125" y="4707506"/>
            <a:ext cx="9144000" cy="1655762"/>
          </a:xfrm>
        </p:spPr>
        <p:txBody>
          <a:bodyPr/>
          <a:lstStyle/>
          <a:p>
            <a:pPr algn="l"/>
            <a:r>
              <a:rPr lang="en-US" b="1" dirty="0"/>
              <a:t>Course Teacher: Md. Hamjajul Ashmafee</a:t>
            </a:r>
          </a:p>
          <a:p>
            <a:pPr algn="l"/>
            <a:r>
              <a:rPr lang="en-US" b="1" dirty="0"/>
              <a:t>Lecturer, CSE, IUT</a:t>
            </a:r>
          </a:p>
          <a:p>
            <a:pPr algn="l"/>
            <a:r>
              <a:rPr lang="en-US" b="1" dirty="0"/>
              <a:t>Email: ashmafee@iut-dhaka.edu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4125" y="704039"/>
            <a:ext cx="9144000" cy="1390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500" b="1" dirty="0"/>
              <a:t>CSE 4205</a:t>
            </a:r>
            <a:br>
              <a:rPr lang="en-US" sz="4500" b="1" dirty="0"/>
            </a:br>
            <a:r>
              <a:rPr lang="en-US" sz="4500" b="1" dirty="0"/>
              <a:t>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01578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3FC56E42-0C73-470E-AC06-355EB318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Remaining to Add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8C1F6F8-7666-4B8F-A967-DD26827A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Design and Analysis Procedure </a:t>
            </a:r>
          </a:p>
          <a:p>
            <a:pPr lvl="1"/>
            <a:r>
              <a:rPr lang="en-US" dirty="0"/>
              <a:t>Review other books and internet resources</a:t>
            </a:r>
          </a:p>
          <a:p>
            <a:pPr lvl="1"/>
            <a:r>
              <a:rPr lang="en-US" dirty="0"/>
              <a:t>Give 2 hours to make it complete and beautiful</a:t>
            </a:r>
          </a:p>
          <a:p>
            <a:r>
              <a:rPr lang="en-US" dirty="0"/>
              <a:t>For Pattern/Sequence detector:</a:t>
            </a:r>
          </a:p>
          <a:p>
            <a:pPr lvl="1"/>
            <a:r>
              <a:rPr lang="en-US" dirty="0"/>
              <a:t>Review other books and internet resources</a:t>
            </a:r>
          </a:p>
          <a:p>
            <a:pPr lvl="1"/>
            <a:r>
              <a:rPr lang="en-US" dirty="0"/>
              <a:t>Draw the figure with Wacom (slide 11)</a:t>
            </a:r>
          </a:p>
          <a:p>
            <a:pPr lvl="1"/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1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7011D-92ED-4732-AC78-E5139C360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30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Analysis Procedure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000" b="1" i="1" dirty="0">
                <a:solidFill>
                  <a:srgbClr val="FF0000"/>
                </a:solidFill>
                <a:latin typeface="+mn-lt"/>
              </a:rPr>
              <a:t>From book [Page 250]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Starting with a sequential Circuit</a:t>
            </a:r>
          </a:p>
          <a:p>
            <a:r>
              <a:rPr lang="en-US" b="1" dirty="0"/>
              <a:t>Deriving its </a:t>
            </a:r>
            <a:r>
              <a:rPr lang="en-US" b="1" dirty="0">
                <a:solidFill>
                  <a:srgbClr val="FF0000"/>
                </a:solidFill>
              </a:rPr>
              <a:t>state table</a:t>
            </a:r>
          </a:p>
          <a:p>
            <a:pPr lvl="1"/>
            <a:r>
              <a:rPr lang="en-US" b="1" dirty="0"/>
              <a:t>2 variants to represent </a:t>
            </a:r>
          </a:p>
          <a:p>
            <a:r>
              <a:rPr lang="en-US" b="1" dirty="0"/>
              <a:t>Deriving its </a:t>
            </a:r>
            <a:r>
              <a:rPr lang="en-US" b="1" dirty="0">
                <a:solidFill>
                  <a:srgbClr val="FF0000"/>
                </a:solidFill>
              </a:rPr>
              <a:t>state diagram </a:t>
            </a:r>
            <a:r>
              <a:rPr lang="en-US" dirty="0"/>
              <a:t>from the state table 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Deriving its </a:t>
            </a:r>
            <a:r>
              <a:rPr lang="en-US" b="1" dirty="0">
                <a:solidFill>
                  <a:srgbClr val="FF0000"/>
                </a:solidFill>
              </a:rPr>
              <a:t>state equation </a:t>
            </a:r>
            <a:r>
              <a:rPr lang="en-US" dirty="0"/>
              <a:t>from the state table </a:t>
            </a:r>
          </a:p>
          <a:p>
            <a:pPr lvl="1"/>
            <a:r>
              <a:rPr lang="en-US" b="1" i="1" dirty="0">
                <a:solidFill>
                  <a:srgbClr val="00B0F0"/>
                </a:solidFill>
              </a:rPr>
              <a:t>Final outcome</a:t>
            </a:r>
          </a:p>
          <a:p>
            <a:pPr lvl="1"/>
            <a:r>
              <a:rPr lang="en-US" b="1" i="1" dirty="0">
                <a:solidFill>
                  <a:srgbClr val="00B0F0"/>
                </a:solidFill>
              </a:rPr>
              <a:t>Also, need to describe the behavior of the circuit [Preferred] </a:t>
            </a:r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Summarize</a:t>
            </a:r>
            <a:r>
              <a:rPr lang="en-US" b="1" dirty="0"/>
              <a:t> all </a:t>
            </a:r>
            <a:r>
              <a:rPr lang="en-US" b="1" i="1" dirty="0"/>
              <a:t>generalized steps </a:t>
            </a: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2648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Procedure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000" b="1" i="1" dirty="0">
                <a:solidFill>
                  <a:srgbClr val="FF0000"/>
                </a:solidFill>
                <a:latin typeface="+mn-lt"/>
              </a:rPr>
              <a:t>From book [Page 254]</a:t>
            </a:r>
            <a:endParaRPr lang="en-US" sz="2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Mention all </a:t>
            </a:r>
            <a:r>
              <a:rPr lang="en-US" b="1" i="1" dirty="0"/>
              <a:t>Generalized Steps</a:t>
            </a:r>
          </a:p>
          <a:p>
            <a:r>
              <a:rPr lang="en-US" b="1" i="1" dirty="0"/>
              <a:t>Example </a:t>
            </a:r>
            <a:r>
              <a:rPr lang="en-US" dirty="0"/>
              <a:t>following those steps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0475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28381"/>
            <a:ext cx="10515600" cy="3292475"/>
          </a:xfrm>
        </p:spPr>
        <p:txBody>
          <a:bodyPr>
            <a:normAutofit/>
          </a:bodyPr>
          <a:lstStyle/>
          <a:p>
            <a:pPr algn="ctr"/>
            <a:r>
              <a:rPr lang="en-US" sz="5000" b="1" i="1" u="sng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Example of Design Procedure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b="1" i="1" dirty="0">
                <a:solidFill>
                  <a:srgbClr val="FF0000"/>
                </a:solidFill>
                <a:latin typeface="+mn-lt"/>
              </a:rPr>
              <a:t>Sequence/Pattern Detector</a:t>
            </a:r>
            <a:endParaRPr lang="en-US" sz="39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0701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Sequence/Pattern Detector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sequential circuit </a:t>
            </a:r>
            <a:r>
              <a:rPr lang="en-US" dirty="0"/>
              <a:t>that takes the </a:t>
            </a:r>
            <a:r>
              <a:rPr lang="en-US" b="1" dirty="0">
                <a:solidFill>
                  <a:srgbClr val="FF0000"/>
                </a:solidFill>
              </a:rPr>
              <a:t>input </a:t>
            </a:r>
            <a:r>
              <a:rPr lang="en-US" dirty="0"/>
              <a:t>of </a:t>
            </a:r>
            <a:r>
              <a:rPr lang="en-US" b="1" dirty="0"/>
              <a:t>binary bit streams </a:t>
            </a:r>
            <a:r>
              <a:rPr lang="en-US" dirty="0"/>
              <a:t>and generate </a:t>
            </a:r>
            <a:r>
              <a:rPr lang="en-US" b="1" dirty="0"/>
              <a:t>an </a:t>
            </a:r>
            <a:r>
              <a:rPr lang="en-US" b="1" dirty="0">
                <a:solidFill>
                  <a:srgbClr val="FF0000"/>
                </a:solidFill>
              </a:rPr>
              <a:t>output</a:t>
            </a:r>
            <a:r>
              <a:rPr lang="en-US" b="1" dirty="0"/>
              <a:t> true </a:t>
            </a:r>
            <a:r>
              <a:rPr lang="en-US" dirty="0"/>
              <a:t>(e.g. logic 1) when the </a:t>
            </a:r>
            <a:r>
              <a:rPr lang="en-US" b="1" dirty="0">
                <a:solidFill>
                  <a:srgbClr val="00B0F0"/>
                </a:solidFill>
              </a:rPr>
              <a:t>target sequence </a:t>
            </a:r>
            <a:r>
              <a:rPr lang="en-US" dirty="0"/>
              <a:t>is detected</a:t>
            </a:r>
          </a:p>
          <a:p>
            <a:pPr lvl="1"/>
            <a:r>
              <a:rPr lang="en-US" dirty="0"/>
              <a:t>Bit stream (1s and 0s) will be fed/inserted as input to check for particular pattern or sequence </a:t>
            </a:r>
          </a:p>
          <a:p>
            <a:pPr lvl="2"/>
            <a:r>
              <a:rPr lang="en-US" dirty="0"/>
              <a:t>As soon as, the target pattern is detected, it will make the output high</a:t>
            </a:r>
          </a:p>
          <a:p>
            <a:r>
              <a:rPr lang="en-US" dirty="0"/>
              <a:t>As the output depends on the current state as well as the external input (x), a </a:t>
            </a:r>
            <a:r>
              <a:rPr lang="en-US" b="1" dirty="0">
                <a:solidFill>
                  <a:srgbClr val="00B0F0"/>
                </a:solidFill>
              </a:rPr>
              <a:t>Mealy FSM </a:t>
            </a:r>
            <a:r>
              <a:rPr lang="en-US" dirty="0"/>
              <a:t>is considered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A62418-E0FD-4F90-A77F-9BFE86C8E67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289" b="73278"/>
          <a:stretch/>
        </p:blipFill>
        <p:spPr>
          <a:xfrm>
            <a:off x="2943918" y="5190978"/>
            <a:ext cx="6304163" cy="153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5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Sequence/Pattern Detector: Types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Types: </a:t>
            </a:r>
          </a:p>
          <a:p>
            <a:pPr lvl="1"/>
            <a:r>
              <a:rPr lang="en-US" b="1" dirty="0"/>
              <a:t>Overlapping</a:t>
            </a:r>
          </a:p>
          <a:p>
            <a:pPr lvl="2"/>
            <a:r>
              <a:rPr lang="en-US" dirty="0"/>
              <a:t>The last bit of one sequence becomes the intermediate bit of the next sequence</a:t>
            </a:r>
          </a:p>
          <a:p>
            <a:pPr lvl="1"/>
            <a:r>
              <a:rPr lang="en-US" b="1" dirty="0"/>
              <a:t>Non-overlapping</a:t>
            </a:r>
          </a:p>
          <a:p>
            <a:pPr lvl="2"/>
            <a:r>
              <a:rPr lang="en-US" dirty="0"/>
              <a:t>The last bit of one sequence doesn’t become the intermediate bit of the next sequence</a:t>
            </a:r>
          </a:p>
          <a:p>
            <a:r>
              <a:rPr lang="en-US" dirty="0"/>
              <a:t>They will be clear from </a:t>
            </a:r>
            <a:r>
              <a:rPr lang="en-US"/>
              <a:t>the examples 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10946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A Sequence Detector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Steps: </a:t>
            </a:r>
          </a:p>
          <a:p>
            <a:pPr lvl="1"/>
            <a:r>
              <a:rPr lang="en-US" dirty="0"/>
              <a:t>Step 1: Develop the state diagram </a:t>
            </a:r>
          </a:p>
          <a:p>
            <a:pPr lvl="1"/>
            <a:r>
              <a:rPr lang="en-US" dirty="0"/>
              <a:t>Step 2: Perform the state assignment and state reduction </a:t>
            </a:r>
          </a:p>
          <a:p>
            <a:pPr lvl="1"/>
            <a:r>
              <a:rPr lang="en-US" dirty="0"/>
              <a:t>Step 3: Select the number and type of the flip flop</a:t>
            </a:r>
          </a:p>
          <a:p>
            <a:pPr lvl="1"/>
            <a:r>
              <a:rPr lang="en-US" dirty="0"/>
              <a:t>Step 4: Derive Circuit Excitation Table</a:t>
            </a:r>
          </a:p>
          <a:p>
            <a:pPr lvl="1"/>
            <a:r>
              <a:rPr lang="en-US" dirty="0"/>
              <a:t>Step 5: Derive the expressions for input of the flip flops and output(s)</a:t>
            </a:r>
          </a:p>
          <a:p>
            <a:pPr lvl="1"/>
            <a:r>
              <a:rPr lang="en-US" dirty="0"/>
              <a:t>Step 6: Develop the circuit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11770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73" y="365125"/>
            <a:ext cx="11479236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Non-overlapping ‘101’ Mealy Sequence Detector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State Diagram: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</a:t>
            </a:fld>
            <a:endParaRPr lang="en-US" sz="18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C4142CB-F2D6-4369-9042-86A501FCCA7A}"/>
              </a:ext>
            </a:extLst>
          </p:cNvPr>
          <p:cNvGraphicFramePr>
            <a:graphicFrameLocks noGrp="1"/>
          </p:cNvGraphicFramePr>
          <p:nvPr/>
        </p:nvGraphicFramePr>
        <p:xfrm>
          <a:off x="3103099" y="2180492"/>
          <a:ext cx="5753686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8806">
                  <a:extLst>
                    <a:ext uri="{9D8B030D-6E8A-4147-A177-3AD203B41FA5}">
                      <a16:colId xmlns:a16="http://schemas.microsoft.com/office/drawing/2014/main" val="42801665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13672542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826766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11823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50192051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5976123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04482223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52251732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11061221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9022029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1491586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4429901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3382394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99126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Input 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71369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Output: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1079828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1271C5A-2671-4582-8D7F-B24CA8E20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947" y="3905713"/>
            <a:ext cx="4020111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70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Non-overlapping ‘101’ Mealy SD…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State Assignment: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10</a:t>
            </a:fld>
            <a:endParaRPr lang="en-US" sz="18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5CDB1D5-8751-489E-B0B0-E300C00601FB}"/>
              </a:ext>
            </a:extLst>
          </p:cNvPr>
          <p:cNvGraphicFramePr>
            <a:graphicFrameLocks noGrp="1"/>
          </p:cNvGraphicFramePr>
          <p:nvPr/>
        </p:nvGraphicFramePr>
        <p:xfrm>
          <a:off x="4038600" y="2333738"/>
          <a:ext cx="2802914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5918">
                  <a:extLst>
                    <a:ext uri="{9D8B030D-6E8A-4147-A177-3AD203B41FA5}">
                      <a16:colId xmlns:a16="http://schemas.microsoft.com/office/drawing/2014/main" val="1482652966"/>
                    </a:ext>
                  </a:extLst>
                </a:gridCol>
                <a:gridCol w="472904">
                  <a:extLst>
                    <a:ext uri="{9D8B030D-6E8A-4147-A177-3AD203B41FA5}">
                      <a16:colId xmlns:a16="http://schemas.microsoft.com/office/drawing/2014/main" val="931946208"/>
                    </a:ext>
                  </a:extLst>
                </a:gridCol>
                <a:gridCol w="1974092">
                  <a:extLst>
                    <a:ext uri="{9D8B030D-6E8A-4147-A177-3AD203B41FA5}">
                      <a16:colId xmlns:a16="http://schemas.microsoft.com/office/drawing/2014/main" val="3777776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Nothing detected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590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‘1’ detected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403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‘10’ detected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3404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9E43831-62D4-402D-8BA7-230F20943C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360" y="3989004"/>
            <a:ext cx="3934374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88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Non-overlapping ‘101’ Mealy SD…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Type and number of flip flops:</a:t>
            </a:r>
          </a:p>
          <a:p>
            <a:pPr lvl="1"/>
            <a:r>
              <a:rPr lang="en-US" dirty="0"/>
              <a:t>Two D flip flops</a:t>
            </a:r>
          </a:p>
          <a:p>
            <a:r>
              <a:rPr lang="en-US" b="1" dirty="0"/>
              <a:t>Circuit Excitation Table: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11</a:t>
            </a:fld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4A326B-EB86-467E-ADE3-177CF588ED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790" y="3300773"/>
            <a:ext cx="4142857" cy="2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8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Non-overlapping ‘101’ Mealy SD…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Expression Derivation:</a:t>
            </a:r>
          </a:p>
          <a:p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12</a:t>
            </a:fld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5AC876-1201-48CA-96C9-77C901833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190" y="2351030"/>
            <a:ext cx="4647619" cy="3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65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Non-overlapping ‘101’ Mealy SD…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Circuit Implementation:</a:t>
            </a:r>
          </a:p>
          <a:p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13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5F068D-E2F1-4BA6-8729-99B78E4C4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571" y="2606056"/>
            <a:ext cx="5142857" cy="2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122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75609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Overlapping 101 Mealy Sequence Detector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State Diagram: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14</a:t>
            </a:fld>
            <a:endParaRPr lang="en-US" sz="18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C4142CB-F2D6-4369-9042-86A501FCCA7A}"/>
              </a:ext>
            </a:extLst>
          </p:cNvPr>
          <p:cNvGraphicFramePr>
            <a:graphicFrameLocks noGrp="1"/>
          </p:cNvGraphicFramePr>
          <p:nvPr/>
        </p:nvGraphicFramePr>
        <p:xfrm>
          <a:off x="3103099" y="2180492"/>
          <a:ext cx="575368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806">
                  <a:extLst>
                    <a:ext uri="{9D8B030D-6E8A-4147-A177-3AD203B41FA5}">
                      <a16:colId xmlns:a16="http://schemas.microsoft.com/office/drawing/2014/main" val="42801665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13672542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8267668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118239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50192051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59761235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04482223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52251732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11061221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9022029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1491586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4429901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3382394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99126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Input 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1369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Output: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07982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FC6D996-D58F-4A8D-889B-D4C32069B5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4" r="16024" b="24127"/>
          <a:stretch/>
        </p:blipFill>
        <p:spPr>
          <a:xfrm>
            <a:off x="4038600" y="3553144"/>
            <a:ext cx="3415145" cy="228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713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Overlapping 101 Mealy SD…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Others steps would be same as before.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61479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abc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24506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abc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13545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abc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18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21951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abc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41103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abc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20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83223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abc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21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10277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abc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8461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Motivation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abc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51300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830</Words>
  <Application>Microsoft Office PowerPoint</Application>
  <PresentationFormat>Widescreen</PresentationFormat>
  <Paragraphs>263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1_Office Theme</vt:lpstr>
      <vt:lpstr>Analysis and Design Procedure of Sequential Circuits </vt:lpstr>
      <vt:lpstr>Remaining to Add</vt:lpstr>
      <vt:lpstr>Analysis Procedure From book [Page 250]</vt:lpstr>
      <vt:lpstr>Design Procedure From book [Page 254]</vt:lpstr>
      <vt:lpstr>Example of Design Procedure  Sequence/Pattern Detector</vt:lpstr>
      <vt:lpstr>Sequence/Pattern Detector</vt:lpstr>
      <vt:lpstr>Sequence/Pattern Detector: Types</vt:lpstr>
      <vt:lpstr>Design A Sequence Detector</vt:lpstr>
      <vt:lpstr>Non-overlapping ‘101’ Mealy Sequence Detector</vt:lpstr>
      <vt:lpstr>Non-overlapping ‘101’ Mealy SD…</vt:lpstr>
      <vt:lpstr>Non-overlapping ‘101’ Mealy SD…</vt:lpstr>
      <vt:lpstr>Non-overlapping ‘101’ Mealy SD…</vt:lpstr>
      <vt:lpstr>Non-overlapping ‘101’ Mealy SD…</vt:lpstr>
      <vt:lpstr>Overlapping 101 Mealy Sequence Detector</vt:lpstr>
      <vt:lpstr>Overlapping 101 Mealy SD…</vt:lpstr>
      <vt:lpstr>Administration</vt:lpstr>
      <vt:lpstr>Administration</vt:lpstr>
      <vt:lpstr>Administration</vt:lpstr>
      <vt:lpstr>Administration</vt:lpstr>
      <vt:lpstr>Administration</vt:lpstr>
      <vt:lpstr>Administration</vt:lpstr>
      <vt:lpstr>Administration</vt:lpstr>
      <vt:lpstr>Motivation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4205 Digital Logic Design</dc:title>
  <dc:creator>Admin</dc:creator>
  <cp:lastModifiedBy>Md. Hamjajul Ashmafee , Lecturer,CSE</cp:lastModifiedBy>
  <cp:revision>27</cp:revision>
  <dcterms:created xsi:type="dcterms:W3CDTF">2018-06-27T14:59:12Z</dcterms:created>
  <dcterms:modified xsi:type="dcterms:W3CDTF">2022-03-07T03:57:15Z</dcterms:modified>
</cp:coreProperties>
</file>