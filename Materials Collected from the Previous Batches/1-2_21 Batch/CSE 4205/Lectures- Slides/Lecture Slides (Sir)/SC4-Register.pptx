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36"/>
  </p:notesMasterIdLst>
  <p:handoutMasterIdLst>
    <p:handoutMasterId r:id="rId37"/>
  </p:handoutMasterIdLst>
  <p:sldIdLst>
    <p:sldId id="256" r:id="rId3"/>
    <p:sldId id="347" r:id="rId4"/>
    <p:sldId id="278" r:id="rId5"/>
    <p:sldId id="280" r:id="rId6"/>
    <p:sldId id="281" r:id="rId7"/>
    <p:sldId id="376" r:id="rId8"/>
    <p:sldId id="282" r:id="rId9"/>
    <p:sldId id="283" r:id="rId10"/>
    <p:sldId id="348" r:id="rId11"/>
    <p:sldId id="284" r:id="rId12"/>
    <p:sldId id="285" r:id="rId13"/>
    <p:sldId id="286" r:id="rId14"/>
    <p:sldId id="349" r:id="rId15"/>
    <p:sldId id="287" r:id="rId16"/>
    <p:sldId id="288" r:id="rId17"/>
    <p:sldId id="289" r:id="rId18"/>
    <p:sldId id="290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58" r:id="rId28"/>
    <p:sldId id="359" r:id="rId29"/>
    <p:sldId id="360" r:id="rId30"/>
    <p:sldId id="377" r:id="rId31"/>
    <p:sldId id="378" r:id="rId32"/>
    <p:sldId id="375" r:id="rId33"/>
    <p:sldId id="269" r:id="rId34"/>
    <p:sldId id="26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66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75691" autoAdjust="0"/>
  </p:normalViewPr>
  <p:slideViewPr>
    <p:cSldViewPr snapToGrid="0">
      <p:cViewPr varScale="1">
        <p:scale>
          <a:sx n="86" d="100"/>
          <a:sy n="86" d="100"/>
        </p:scale>
        <p:origin x="13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C1B9E-036F-4426-B1FE-095181F8A776}" type="datetimeFigureOut">
              <a:rPr lang="en-US" smtClean="0"/>
              <a:t>09-Mar-22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AD7F4-E4FF-401B-A654-C6B99FAB5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336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1416C-0C94-4347-BEE5-16334176E4E3}" type="datetimeFigureOut">
              <a:rPr lang="en-US" smtClean="0"/>
              <a:t>09-Mar-22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DAB20-FECD-48F0-A350-11C52BC5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687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E03ABA-567C-4E7A-9095-3D9C26910D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99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247054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907867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36486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36195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119909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810858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61327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Insertion starts with LSB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534074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is updated during clock transition from 0 to 1 (Positive edge trigger).</a:t>
            </a:r>
          </a:p>
          <a:p>
            <a:r>
              <a:rPr lang="en-US" dirty="0"/>
              <a:t>At first 1 is inserted, then another 1, then 0 and finally 1. </a:t>
            </a:r>
            <a:r>
              <a:rPr lang="en-US" b="1" dirty="0"/>
              <a:t>Started from LSB.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594506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908222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950164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NC = no connection or normally closed </a:t>
            </a:r>
          </a:p>
          <a:p>
            <a:r>
              <a:rPr lang="en-US" dirty="0"/>
              <a:t>Gating function to an input = a combinational circuit part before an input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If that combinational circuit part is not required, A and B should be sorted (connected)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057266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Set up time </a:t>
            </a:r>
            <a:r>
              <a:rPr lang="en-US" dirty="0"/>
              <a:t>= time for data at synchronous input to be stable before active edge of clock pulse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Hold time </a:t>
            </a:r>
            <a:r>
              <a:rPr lang="en-US" dirty="0"/>
              <a:t>= time for data at synchronous input to be stable after active edge of clock pulse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403433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2652457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366503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956789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213829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637415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149868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circuit also can be used for: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/>
              <a:t>SIPO</a:t>
            </a:r>
            <a:r>
              <a:rPr lang="en-US" dirty="0"/>
              <a:t> – when A (pin 3) will be used for input in serial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PISO</a:t>
            </a:r>
            <a:r>
              <a:rPr lang="en-US" dirty="0"/>
              <a:t> – when Q</a:t>
            </a:r>
            <a:r>
              <a:rPr lang="en-US" baseline="-25000" dirty="0"/>
              <a:t>H</a:t>
            </a:r>
            <a:r>
              <a:rPr lang="en-US" dirty="0"/>
              <a:t> (pin 20) will be used for output in serial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0642140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Capable of transferring data in both directions (Left and Right) based on control input (M)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995340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11856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multiplexers are embedded inside </a:t>
            </a:r>
            <a:r>
              <a:rPr lang="en-US"/>
              <a:t>the register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1365870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SRSER (Pin 2) = Shift Right Serial Input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SLSER (Pin 7) = Shift Left Serial Input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S1 and S0 (Pin 9 and 10) for selection of Multiplexer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9782191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5138508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360242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90224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column lists the sequence 1001,</a:t>
            </a:r>
          </a:p>
          <a:p>
            <a:r>
              <a:rPr lang="en-US" dirty="0"/>
              <a:t>Q1 and Q0 are the same sequence delayed by one and two clock pulses respectively indicated by arrow. </a:t>
            </a:r>
          </a:p>
          <a:p>
            <a:r>
              <a:rPr lang="en-US" dirty="0"/>
              <a:t>Z column gives the serial input for the shift register at D2 </a:t>
            </a:r>
          </a:p>
          <a:p>
            <a:r>
              <a:rPr lang="en-US" b="1" dirty="0"/>
              <a:t>Problem: What will be happened for initial time, when Q2, Q1 and Q0 store data randomly. </a:t>
            </a:r>
          </a:p>
          <a:p>
            <a:r>
              <a:rPr lang="en-US" b="1" dirty="0"/>
              <a:t>Possible solution: they should be initialized with a certain values of 0 or 1 individually for first clock pulse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3857139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412175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541404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61498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1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5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0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4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1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4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43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3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58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3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85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27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377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92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764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5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4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7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2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125" y="2751674"/>
            <a:ext cx="9144000" cy="916888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+mn-lt"/>
              </a:rPr>
              <a:t>Register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125" y="4707506"/>
            <a:ext cx="9144000" cy="1655762"/>
          </a:xfrm>
        </p:spPr>
        <p:txBody>
          <a:bodyPr/>
          <a:lstStyle/>
          <a:p>
            <a:pPr algn="l"/>
            <a:r>
              <a:rPr lang="en-US" b="1" dirty="0"/>
              <a:t>Course Teacher: Md. Hamjajul Ashmafee</a:t>
            </a:r>
          </a:p>
          <a:p>
            <a:pPr algn="l"/>
            <a:r>
              <a:rPr lang="en-US" b="1" dirty="0"/>
              <a:t>Lecturer, CSE, IUT</a:t>
            </a:r>
          </a:p>
          <a:p>
            <a:pPr algn="l"/>
            <a:r>
              <a:rPr lang="en-US" b="1" dirty="0"/>
              <a:t>Email: ashmafee@iut-dhaka.edu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4125" y="704039"/>
            <a:ext cx="9144000" cy="1390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500" b="1" dirty="0"/>
              <a:t>CSE 4205</a:t>
            </a:r>
            <a:br>
              <a:rPr lang="en-US" sz="4500" b="1" dirty="0"/>
            </a:br>
            <a:r>
              <a:rPr lang="en-US" sz="4500" b="1" dirty="0"/>
              <a:t>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01578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3FC56E42-0C73-470E-AC06-355EB318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Remaining to Add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C1F6F8-7666-4B8F-A967-DD26827A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other books and internet resources</a:t>
            </a:r>
          </a:p>
          <a:p>
            <a:r>
              <a:rPr lang="en-US" dirty="0"/>
              <a:t>Bi-directional register</a:t>
            </a:r>
          </a:p>
          <a:p>
            <a:r>
              <a:rPr lang="en-US" dirty="0"/>
              <a:t>Check my previous hand-note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1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7011D-92ED-4732-AC78-E5139C360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30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Introduction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93966" cy="4351338"/>
          </a:xfrm>
        </p:spPr>
        <p:txBody>
          <a:bodyPr/>
          <a:lstStyle/>
          <a:p>
            <a:r>
              <a:rPr lang="en-US" dirty="0"/>
              <a:t>A group of </a:t>
            </a:r>
            <a:r>
              <a:rPr lang="en-US" b="1" dirty="0"/>
              <a:t>binary cells </a:t>
            </a:r>
            <a:r>
              <a:rPr lang="en-US" dirty="0"/>
              <a:t>that can hold </a:t>
            </a:r>
            <a:r>
              <a:rPr lang="en-US" b="1" dirty="0"/>
              <a:t>binary information</a:t>
            </a:r>
          </a:p>
          <a:p>
            <a:pPr lvl="1"/>
            <a:r>
              <a:rPr lang="en-US" dirty="0"/>
              <a:t>Normally, </a:t>
            </a:r>
            <a:r>
              <a:rPr lang="en-US" b="1" dirty="0">
                <a:solidFill>
                  <a:srgbClr val="FF0000"/>
                </a:solidFill>
              </a:rPr>
              <a:t>a group of flip flops </a:t>
            </a:r>
            <a:r>
              <a:rPr lang="en-US" dirty="0"/>
              <a:t>makes a register</a:t>
            </a:r>
          </a:p>
          <a:p>
            <a:pPr lvl="2"/>
            <a:r>
              <a:rPr lang="en-US" b="1" i="1" dirty="0"/>
              <a:t>n </a:t>
            </a:r>
            <a:r>
              <a:rPr lang="en-US" b="1" dirty="0"/>
              <a:t>bit register </a:t>
            </a:r>
            <a:r>
              <a:rPr lang="en-US" dirty="0"/>
              <a:t>has </a:t>
            </a:r>
            <a:r>
              <a:rPr lang="en-US" b="1" i="1" dirty="0"/>
              <a:t>n </a:t>
            </a:r>
            <a:r>
              <a:rPr lang="en-US" b="1" dirty="0"/>
              <a:t>flip flops </a:t>
            </a:r>
            <a:r>
              <a:rPr lang="en-US" dirty="0"/>
              <a:t>to hold </a:t>
            </a:r>
            <a:r>
              <a:rPr lang="en-US" b="1" i="1" dirty="0"/>
              <a:t>n</a:t>
            </a:r>
            <a:r>
              <a:rPr lang="en-US" dirty="0"/>
              <a:t> bits of information </a:t>
            </a:r>
          </a:p>
          <a:p>
            <a:r>
              <a:rPr lang="en-US" dirty="0"/>
              <a:t>A register may have </a:t>
            </a:r>
            <a:r>
              <a:rPr lang="en-US" b="1" dirty="0"/>
              <a:t>an additional combinational circuit </a:t>
            </a:r>
            <a:r>
              <a:rPr lang="en-US" dirty="0"/>
              <a:t>that performs data processing task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E2013-B517-486F-AF89-FB15A2E3C6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163" y="4156233"/>
            <a:ext cx="4953674" cy="202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930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Basic of A Register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15908" cy="4351338"/>
          </a:xfrm>
        </p:spPr>
        <p:txBody>
          <a:bodyPr/>
          <a:lstStyle/>
          <a:p>
            <a:r>
              <a:rPr lang="en-US" dirty="0"/>
              <a:t>Registers are considered as </a:t>
            </a:r>
            <a:r>
              <a:rPr lang="en-US" b="1" dirty="0"/>
              <a:t>MSI </a:t>
            </a:r>
          </a:p>
          <a:p>
            <a:r>
              <a:rPr lang="en-US" dirty="0"/>
              <a:t>All the flip flop has </a:t>
            </a:r>
            <a:r>
              <a:rPr lang="en-US" b="1" dirty="0"/>
              <a:t>a common clock pulse </a:t>
            </a:r>
            <a:r>
              <a:rPr lang="en-US" dirty="0"/>
              <a:t>to enable at the same instant </a:t>
            </a:r>
          </a:p>
          <a:p>
            <a:pPr lvl="1"/>
            <a:r>
              <a:rPr lang="en-US" dirty="0"/>
              <a:t>Generally, </a:t>
            </a:r>
            <a:r>
              <a:rPr lang="en-US" b="1" dirty="0">
                <a:solidFill>
                  <a:srgbClr val="FF0000"/>
                </a:solidFill>
              </a:rPr>
              <a:t>negative edge triggered </a:t>
            </a:r>
            <a:r>
              <a:rPr lang="en-US" dirty="0"/>
              <a:t>or </a:t>
            </a:r>
            <a:r>
              <a:rPr lang="en-US" b="1" dirty="0">
                <a:solidFill>
                  <a:srgbClr val="FF0000"/>
                </a:solidFill>
              </a:rPr>
              <a:t>master-slave type flip flop </a:t>
            </a:r>
            <a:r>
              <a:rPr lang="en-US" dirty="0"/>
              <a:t>are used</a:t>
            </a:r>
          </a:p>
          <a:p>
            <a:pPr lvl="1"/>
            <a:r>
              <a:rPr lang="en-US" dirty="0"/>
              <a:t>These kinds of flip flops are called </a:t>
            </a:r>
            <a:r>
              <a:rPr lang="en-US" b="1" dirty="0"/>
              <a:t>gated latch </a:t>
            </a:r>
            <a:r>
              <a:rPr lang="en-US" dirty="0"/>
              <a:t>which have </a:t>
            </a:r>
            <a:r>
              <a:rPr lang="en-US" b="1" dirty="0">
                <a:solidFill>
                  <a:srgbClr val="FF0000"/>
                </a:solidFill>
              </a:rPr>
              <a:t>third input </a:t>
            </a:r>
            <a:r>
              <a:rPr lang="en-US" dirty="0"/>
              <a:t>to activate them</a:t>
            </a:r>
          </a:p>
          <a:p>
            <a:r>
              <a:rPr lang="en-US" dirty="0"/>
              <a:t>Registers could be designed with </a:t>
            </a:r>
            <a:r>
              <a:rPr lang="en-US" b="1" dirty="0"/>
              <a:t>S-R</a:t>
            </a:r>
            <a:r>
              <a:rPr lang="en-US" dirty="0"/>
              <a:t>, </a:t>
            </a:r>
            <a:r>
              <a:rPr lang="en-US" b="1" dirty="0"/>
              <a:t>J-K </a:t>
            </a:r>
            <a:r>
              <a:rPr lang="en-US" dirty="0"/>
              <a:t>and </a:t>
            </a:r>
            <a:r>
              <a:rPr lang="en-US" b="1" dirty="0"/>
              <a:t>D </a:t>
            </a:r>
            <a:r>
              <a:rPr lang="en-US" dirty="0"/>
              <a:t>flip flops </a:t>
            </a:r>
          </a:p>
          <a:p>
            <a:pPr lvl="1"/>
            <a:r>
              <a:rPr lang="en-US" dirty="0"/>
              <a:t>T flip-flop is not preferred here.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42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Register: Classification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Direction of shifting </a:t>
            </a:r>
          </a:p>
          <a:p>
            <a:pPr lvl="1"/>
            <a:r>
              <a:rPr lang="en-US" dirty="0"/>
              <a:t>It is capable of shifting its binary contents either to the </a:t>
            </a:r>
            <a:r>
              <a:rPr lang="en-US" b="1" dirty="0"/>
              <a:t>right </a:t>
            </a:r>
            <a:r>
              <a:rPr lang="en-US" dirty="0"/>
              <a:t>or to the </a:t>
            </a:r>
            <a:r>
              <a:rPr lang="en-US" b="1" dirty="0"/>
              <a:t>left</a:t>
            </a:r>
          </a:p>
          <a:p>
            <a:pPr lvl="2"/>
            <a:r>
              <a:rPr lang="en-US" dirty="0"/>
              <a:t>Right Shift</a:t>
            </a:r>
          </a:p>
          <a:p>
            <a:pPr lvl="2"/>
            <a:r>
              <a:rPr lang="en-US" dirty="0"/>
              <a:t>Left Shift</a:t>
            </a:r>
          </a:p>
          <a:p>
            <a:r>
              <a:rPr lang="en-US" b="1" dirty="0"/>
              <a:t>Types of shifting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Serial shifting</a:t>
            </a:r>
          </a:p>
          <a:p>
            <a:pPr lvl="2"/>
            <a:r>
              <a:rPr lang="en-US" dirty="0"/>
              <a:t>Shift </a:t>
            </a:r>
            <a:r>
              <a:rPr lang="en-US" b="1" dirty="0"/>
              <a:t>one bit </a:t>
            </a:r>
            <a:r>
              <a:rPr lang="en-US" dirty="0"/>
              <a:t>at a time for </a:t>
            </a:r>
            <a:r>
              <a:rPr lang="en-US" b="1" dirty="0">
                <a:solidFill>
                  <a:srgbClr val="00B050"/>
                </a:solidFill>
              </a:rPr>
              <a:t>each clock pulse </a:t>
            </a:r>
            <a:r>
              <a:rPr lang="en-US" dirty="0"/>
              <a:t>in a serial manner starting with </a:t>
            </a:r>
            <a:r>
              <a:rPr lang="en-US" b="1" dirty="0"/>
              <a:t>LSB </a:t>
            </a:r>
            <a:r>
              <a:rPr lang="en-US" dirty="0"/>
              <a:t>or </a:t>
            </a:r>
            <a:r>
              <a:rPr lang="en-US" b="1" dirty="0"/>
              <a:t>MSB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Parallel shifting </a:t>
            </a:r>
          </a:p>
          <a:p>
            <a:pPr lvl="2"/>
            <a:r>
              <a:rPr lang="en-US" b="1" dirty="0"/>
              <a:t>All the data bits </a:t>
            </a:r>
            <a:r>
              <a:rPr lang="en-US" dirty="0"/>
              <a:t>shift simultaneously during </a:t>
            </a:r>
            <a:r>
              <a:rPr lang="en-US" b="1" dirty="0">
                <a:solidFill>
                  <a:srgbClr val="00B050"/>
                </a:solidFill>
              </a:rPr>
              <a:t>a single clock pulse </a:t>
            </a:r>
          </a:p>
          <a:p>
            <a:pPr lvl="2"/>
            <a:r>
              <a:rPr lang="en-US" b="1" dirty="0"/>
              <a:t>Quicker </a:t>
            </a:r>
            <a:r>
              <a:rPr lang="en-US" dirty="0"/>
              <a:t>than serial shifting operation </a:t>
            </a:r>
          </a:p>
        </p:txBody>
      </p:sp>
    </p:spTree>
    <p:extLst>
      <p:ext uri="{BB962C8B-B14F-4D97-AF65-F5344CB8AC3E}">
        <p14:creationId xmlns:p14="http://schemas.microsoft.com/office/powerpoint/2010/main" val="2477798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Register: Different Classifications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Unidirectional Shift Register</a:t>
            </a:r>
          </a:p>
          <a:p>
            <a:pPr lvl="1"/>
            <a:r>
              <a:rPr lang="en-US" dirty="0"/>
              <a:t>Transfer data in only one direction (Left or Right)</a:t>
            </a:r>
          </a:p>
          <a:p>
            <a:r>
              <a:rPr lang="en-US" b="1" dirty="0"/>
              <a:t>Bidirectional Shift Register</a:t>
            </a:r>
          </a:p>
          <a:p>
            <a:pPr lvl="1"/>
            <a:r>
              <a:rPr lang="en-US" dirty="0"/>
              <a:t>Transfer data in both right and left direction</a:t>
            </a:r>
          </a:p>
          <a:p>
            <a:r>
              <a:rPr lang="en-US" b="1" dirty="0"/>
              <a:t>Universal Shift Register</a:t>
            </a:r>
          </a:p>
          <a:p>
            <a:pPr lvl="1"/>
            <a:r>
              <a:rPr lang="en-US" dirty="0"/>
              <a:t>Transfer data in </a:t>
            </a:r>
            <a:r>
              <a:rPr lang="en-US" b="1" dirty="0"/>
              <a:t>both right and left </a:t>
            </a:r>
            <a:r>
              <a:rPr lang="en-US" dirty="0"/>
              <a:t>direction along with the necessary input and output terminals for </a:t>
            </a:r>
            <a:r>
              <a:rPr lang="en-US" b="1" dirty="0">
                <a:solidFill>
                  <a:srgbClr val="FF0000"/>
                </a:solidFill>
              </a:rPr>
              <a:t>parallel transfer</a:t>
            </a:r>
          </a:p>
        </p:txBody>
      </p:sp>
    </p:spTree>
    <p:extLst>
      <p:ext uri="{BB962C8B-B14F-4D97-AF65-F5344CB8AC3E}">
        <p14:creationId xmlns:p14="http://schemas.microsoft.com/office/powerpoint/2010/main" val="171257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Register: Basic Types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SISO (IC 74L91)</a:t>
            </a:r>
          </a:p>
          <a:p>
            <a:r>
              <a:rPr lang="en-US" dirty="0"/>
              <a:t>SIPO (IC 74164)</a:t>
            </a:r>
          </a:p>
          <a:p>
            <a:r>
              <a:rPr lang="en-US" dirty="0"/>
              <a:t>PISO (IC 74265)</a:t>
            </a:r>
          </a:p>
          <a:p>
            <a:r>
              <a:rPr lang="en-US" dirty="0"/>
              <a:t>PIPO (IC 74198)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8583A6-606E-4318-B06E-3B7C40B09A0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36" b="2496"/>
          <a:stretch/>
        </p:blipFill>
        <p:spPr>
          <a:xfrm>
            <a:off x="8563530" y="790981"/>
            <a:ext cx="2916316" cy="58384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217967-7947-4834-9F43-705D16F933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005" b="78409"/>
          <a:stretch/>
        </p:blipFill>
        <p:spPr>
          <a:xfrm>
            <a:off x="4195331" y="1848288"/>
            <a:ext cx="3926537" cy="13255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3692B6-528E-41FB-B4B8-11ABAFBFFE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73" r="69150" b="16167"/>
          <a:stretch/>
        </p:blipFill>
        <p:spPr>
          <a:xfrm>
            <a:off x="4995315" y="3496790"/>
            <a:ext cx="3028755" cy="240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75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 - SISO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Input data </a:t>
            </a:r>
            <a:r>
              <a:rPr lang="en-US" dirty="0"/>
              <a:t>– serially through </a:t>
            </a:r>
            <a:r>
              <a:rPr lang="en-US" u="sng" dirty="0"/>
              <a:t>a single input line</a:t>
            </a:r>
          </a:p>
          <a:p>
            <a:r>
              <a:rPr lang="en-US" b="1" dirty="0"/>
              <a:t>Output data </a:t>
            </a:r>
            <a:r>
              <a:rPr lang="en-US" dirty="0"/>
              <a:t>– also serially through </a:t>
            </a:r>
            <a:r>
              <a:rPr lang="en-US" u="sng" dirty="0"/>
              <a:t>a single output line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Note: </a:t>
            </a:r>
            <a:r>
              <a:rPr lang="en-US" dirty="0"/>
              <a:t>If a new data bit is inserted into register from one end, on the other end, previously stored data bit will be shifted out </a:t>
            </a:r>
          </a:p>
          <a:p>
            <a:pPr lvl="2"/>
            <a:r>
              <a:rPr lang="en-US" dirty="0"/>
              <a:t>Very similar to the concept of “</a:t>
            </a:r>
            <a:r>
              <a:rPr lang="en-US" b="1" dirty="0"/>
              <a:t>queue</a:t>
            </a:r>
            <a:r>
              <a:rPr lang="en-US" dirty="0"/>
              <a:t>” </a:t>
            </a:r>
          </a:p>
          <a:p>
            <a:r>
              <a:rPr lang="en-US" b="1" dirty="0"/>
              <a:t>Types </a:t>
            </a:r>
            <a:r>
              <a:rPr lang="en-US" dirty="0"/>
              <a:t>based on direction of shifting </a:t>
            </a:r>
          </a:p>
          <a:p>
            <a:pPr lvl="1"/>
            <a:r>
              <a:rPr lang="en-US" b="1" dirty="0"/>
              <a:t>Left shift register</a:t>
            </a:r>
          </a:p>
          <a:p>
            <a:pPr lvl="2"/>
            <a:r>
              <a:rPr lang="en-US" dirty="0"/>
              <a:t>Data shifts from right to left</a:t>
            </a:r>
          </a:p>
          <a:p>
            <a:pPr lvl="1"/>
            <a:r>
              <a:rPr lang="en-US" b="1" dirty="0"/>
              <a:t>Right shift register </a:t>
            </a:r>
          </a:p>
          <a:p>
            <a:pPr lvl="2"/>
            <a:r>
              <a:rPr lang="en-US" dirty="0"/>
              <a:t>Data shifts from left to right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650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 – SISO…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Clock pulse </a:t>
            </a:r>
            <a:r>
              <a:rPr lang="en-US" dirty="0"/>
              <a:t>is applied to all flip flops simultaneously </a:t>
            </a:r>
          </a:p>
          <a:p>
            <a:r>
              <a:rPr lang="en-US" dirty="0"/>
              <a:t>If we want to get complete data available in register, we have to wait until </a:t>
            </a:r>
            <a:r>
              <a:rPr lang="en-US" b="1" i="1" dirty="0"/>
              <a:t>n</a:t>
            </a:r>
            <a:r>
              <a:rPr lang="en-US" b="1" i="1" baseline="30000" dirty="0"/>
              <a:t>th</a:t>
            </a:r>
            <a:r>
              <a:rPr lang="en-US" b="1" i="1" dirty="0"/>
              <a:t> </a:t>
            </a:r>
            <a:r>
              <a:rPr lang="en-US" dirty="0"/>
              <a:t>clock cycle for </a:t>
            </a:r>
            <a:r>
              <a:rPr lang="en-US" b="1" i="1" dirty="0"/>
              <a:t>n </a:t>
            </a:r>
            <a:r>
              <a:rPr lang="en-US" dirty="0"/>
              <a:t>bit register </a:t>
            </a:r>
          </a:p>
          <a:p>
            <a:pPr lvl="1"/>
            <a:r>
              <a:rPr lang="en-US" dirty="0"/>
              <a:t>To get the </a:t>
            </a:r>
            <a:r>
              <a:rPr lang="en-US" b="1" dirty="0"/>
              <a:t>last inserted bit </a:t>
            </a:r>
            <a:r>
              <a:rPr lang="en-US" dirty="0"/>
              <a:t>as output from the </a:t>
            </a:r>
            <a:r>
              <a:rPr lang="en-US" b="1" dirty="0">
                <a:solidFill>
                  <a:srgbClr val="FF0000"/>
                </a:solidFill>
              </a:rPr>
              <a:t>last flip flop (</a:t>
            </a:r>
            <a:r>
              <a:rPr lang="en-US" b="1" dirty="0" err="1">
                <a:solidFill>
                  <a:srgbClr val="FF0000"/>
                </a:solidFill>
              </a:rPr>
              <a:t>Q</a:t>
            </a:r>
            <a:r>
              <a:rPr lang="en-US" b="1" baseline="-25000" dirty="0" err="1">
                <a:solidFill>
                  <a:srgbClr val="FF0000"/>
                </a:solidFill>
              </a:rPr>
              <a:t>n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, we need to wait (n-1) clock cycles more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In total (2n-1) clock cycles to achieve full data as output serially </a:t>
            </a:r>
          </a:p>
          <a:p>
            <a:pPr lvl="2"/>
            <a:r>
              <a:rPr lang="en-US" dirty="0"/>
              <a:t>In the mean time, the register will be reset with output 0</a:t>
            </a:r>
          </a:p>
        </p:txBody>
      </p:sp>
    </p:spTree>
    <p:extLst>
      <p:ext uri="{BB962C8B-B14F-4D97-AF65-F5344CB8AC3E}">
        <p14:creationId xmlns:p14="http://schemas.microsoft.com/office/powerpoint/2010/main" val="33773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 – SISO – Right shift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Circuit Diagram 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10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148AD6-C48D-4747-950A-33BFD52AB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083" y="1816813"/>
            <a:ext cx="8770723" cy="3849108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6A2BF4E-D76D-45B1-8DCD-ADA4D38410CD}"/>
              </a:ext>
            </a:extLst>
          </p:cNvPr>
          <p:cNvSpPr/>
          <p:nvPr/>
        </p:nvSpPr>
        <p:spPr>
          <a:xfrm>
            <a:off x="1828799" y="1972841"/>
            <a:ext cx="630621" cy="723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D062D3-1792-4058-B0BE-A96160DE1920}"/>
              </a:ext>
            </a:extLst>
          </p:cNvPr>
          <p:cNvSpPr/>
          <p:nvPr/>
        </p:nvSpPr>
        <p:spPr>
          <a:xfrm>
            <a:off x="9659014" y="3985581"/>
            <a:ext cx="630621" cy="723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17E0FA-0F16-4854-A15C-4F1BE1439BA9}"/>
              </a:ext>
            </a:extLst>
          </p:cNvPr>
          <p:cNvSpPr/>
          <p:nvPr/>
        </p:nvSpPr>
        <p:spPr>
          <a:xfrm>
            <a:off x="9448812" y="2009622"/>
            <a:ext cx="630621" cy="723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AB1DC5-C871-47BC-9BEB-F488FCB06E14}"/>
              </a:ext>
            </a:extLst>
          </p:cNvPr>
          <p:cNvSpPr/>
          <p:nvPr/>
        </p:nvSpPr>
        <p:spPr>
          <a:xfrm>
            <a:off x="1655368" y="3975065"/>
            <a:ext cx="630621" cy="723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9B1C19-FCF9-4700-995B-23FF772BC3BF}"/>
              </a:ext>
            </a:extLst>
          </p:cNvPr>
          <p:cNvSpPr txBox="1"/>
          <p:nvPr/>
        </p:nvSpPr>
        <p:spPr>
          <a:xfrm>
            <a:off x="10311149" y="2149706"/>
            <a:ext cx="1705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Using D flip flop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6C6840-5003-48F4-919D-7D5132DA0A7E}"/>
              </a:ext>
            </a:extLst>
          </p:cNvPr>
          <p:cNvSpPr txBox="1"/>
          <p:nvPr/>
        </p:nvSpPr>
        <p:spPr>
          <a:xfrm>
            <a:off x="10463549" y="4193980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Using JK flip flop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9D8071-AA87-40B1-A62C-FFFEFD98BB70}"/>
              </a:ext>
            </a:extLst>
          </p:cNvPr>
          <p:cNvSpPr txBox="1"/>
          <p:nvPr/>
        </p:nvSpPr>
        <p:spPr>
          <a:xfrm>
            <a:off x="3315952" y="3430057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MSB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2D2760-8A53-4B46-AE90-51B9A595127D}"/>
              </a:ext>
            </a:extLst>
          </p:cNvPr>
          <p:cNvSpPr txBox="1"/>
          <p:nvPr/>
        </p:nvSpPr>
        <p:spPr>
          <a:xfrm>
            <a:off x="8308378" y="3424801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LSB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F0A0CB-3485-4F16-8729-DD54C569E865}"/>
              </a:ext>
            </a:extLst>
          </p:cNvPr>
          <p:cNvSpPr txBox="1"/>
          <p:nvPr/>
        </p:nvSpPr>
        <p:spPr>
          <a:xfrm>
            <a:off x="6211614" y="361030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62B524-AB7E-4816-8DA5-237D259FEFC9}"/>
              </a:ext>
            </a:extLst>
          </p:cNvPr>
          <p:cNvSpPr/>
          <p:nvPr/>
        </p:nvSpPr>
        <p:spPr>
          <a:xfrm>
            <a:off x="5785945" y="3424801"/>
            <a:ext cx="343364" cy="3651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36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515D43C-7AA9-41FD-A262-AE4E94550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60" y="1690688"/>
            <a:ext cx="4610743" cy="46297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 – SISO – Right shift…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Example with Data “1011”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11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182B58-E27A-448B-A6EC-C22712C48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045" y="2934958"/>
            <a:ext cx="6535282" cy="2177122"/>
          </a:xfrm>
        </p:spPr>
      </p:pic>
    </p:spTree>
    <p:extLst>
      <p:ext uri="{BB962C8B-B14F-4D97-AF65-F5344CB8AC3E}">
        <p14:creationId xmlns:p14="http://schemas.microsoft.com/office/powerpoint/2010/main" val="2364773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314FA9-BDD9-4F39-B9B9-5E590EA65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128" y="1690688"/>
            <a:ext cx="7119841" cy="421687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64109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 – SISO – Left shift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Circuit Diagram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70248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75743"/>
          </a:xfrm>
        </p:spPr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75743"/>
          </a:xfrm>
        </p:spPr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75743"/>
          </a:xfrm>
        </p:spPr>
        <p:txBody>
          <a:bodyPr/>
          <a:lstStyle/>
          <a:p>
            <a:fld id="{2E7865C8-A00C-4A00-A7DE-A98002B852BF}" type="slidenum">
              <a:rPr lang="en-US" sz="1800" smtClean="0"/>
              <a:t>12</a:t>
            </a:fld>
            <a:endParaRPr lang="en-US" sz="1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E304A5-5D90-4E7F-8757-F2716B1E3183}"/>
              </a:ext>
            </a:extLst>
          </p:cNvPr>
          <p:cNvSpPr/>
          <p:nvPr/>
        </p:nvSpPr>
        <p:spPr>
          <a:xfrm>
            <a:off x="2616543" y="1783652"/>
            <a:ext cx="630621" cy="744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28661D-B8BC-4A5D-A010-FF83BA60A03A}"/>
              </a:ext>
            </a:extLst>
          </p:cNvPr>
          <p:cNvSpPr/>
          <p:nvPr/>
        </p:nvSpPr>
        <p:spPr>
          <a:xfrm>
            <a:off x="2395809" y="3975068"/>
            <a:ext cx="630621" cy="744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BB8D20-2B6E-4221-A09F-A18BD3A409EB}"/>
              </a:ext>
            </a:extLst>
          </p:cNvPr>
          <p:cNvSpPr txBox="1"/>
          <p:nvPr/>
        </p:nvSpPr>
        <p:spPr>
          <a:xfrm>
            <a:off x="10026827" y="2023581"/>
            <a:ext cx="1705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Using D flip flop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43FED8-4A19-4BB2-A079-3D79D8F2C264}"/>
              </a:ext>
            </a:extLst>
          </p:cNvPr>
          <p:cNvSpPr txBox="1"/>
          <p:nvPr/>
        </p:nvSpPr>
        <p:spPr>
          <a:xfrm>
            <a:off x="10021565" y="4067855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Using JK flip flop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A7848A-597F-4D7E-9BBE-E93BDB19F724}"/>
              </a:ext>
            </a:extLst>
          </p:cNvPr>
          <p:cNvSpPr txBox="1"/>
          <p:nvPr/>
        </p:nvSpPr>
        <p:spPr>
          <a:xfrm>
            <a:off x="7801218" y="3356381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MSB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EC4BDE-4DAE-4118-A380-04033A8ADB57}"/>
              </a:ext>
            </a:extLst>
          </p:cNvPr>
          <p:cNvSpPr txBox="1"/>
          <p:nvPr/>
        </p:nvSpPr>
        <p:spPr>
          <a:xfrm>
            <a:off x="3636286" y="3244334"/>
            <a:ext cx="108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LSB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19B9B5-A364-481E-B47A-1E7B64BB7B4F}"/>
              </a:ext>
            </a:extLst>
          </p:cNvPr>
          <p:cNvSpPr/>
          <p:nvPr/>
        </p:nvSpPr>
        <p:spPr>
          <a:xfrm>
            <a:off x="8744081" y="1794160"/>
            <a:ext cx="630621" cy="744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C5226D-ED32-4EA8-9F4F-560B710344D1}"/>
              </a:ext>
            </a:extLst>
          </p:cNvPr>
          <p:cNvSpPr/>
          <p:nvPr/>
        </p:nvSpPr>
        <p:spPr>
          <a:xfrm>
            <a:off x="8987115" y="3960661"/>
            <a:ext cx="630621" cy="744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08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64109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 – SISO – Left shift…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Example with Data “1110”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70248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75743"/>
          </a:xfrm>
        </p:spPr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75743"/>
          </a:xfrm>
        </p:spPr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75743"/>
          </a:xfrm>
        </p:spPr>
        <p:txBody>
          <a:bodyPr/>
          <a:lstStyle/>
          <a:p>
            <a:fld id="{2E7865C8-A00C-4A00-A7DE-A98002B852BF}" type="slidenum">
              <a:rPr lang="en-US" sz="1800" smtClean="0"/>
              <a:t>13</a:t>
            </a:fld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B2229B-CFFE-44ED-90AC-A25577201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057" y="2141944"/>
            <a:ext cx="8036575" cy="219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73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14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F0B53C-7E46-4751-A178-99FC40FF7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199589"/>
            <a:ext cx="8961343" cy="5658411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8 Bit SISO Shift Register IC</a:t>
            </a:r>
            <a:endParaRPr lang="en-US" sz="39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3377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15</a:t>
            </a:fld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 – SIPO</a:t>
            </a:r>
            <a:endParaRPr lang="en-US" sz="3900" dirty="0">
              <a:latin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7E265-B83A-4076-8463-BDB48C806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Property: </a:t>
            </a:r>
            <a:r>
              <a:rPr lang="en-US" dirty="0"/>
              <a:t>Data is </a:t>
            </a:r>
            <a:r>
              <a:rPr lang="en-US" b="1" dirty="0"/>
              <a:t>shifted serially</a:t>
            </a:r>
            <a:r>
              <a:rPr lang="en-US" dirty="0"/>
              <a:t>, but </a:t>
            </a:r>
            <a:r>
              <a:rPr lang="en-US" b="1" dirty="0">
                <a:solidFill>
                  <a:srgbClr val="FF0000"/>
                </a:solidFill>
              </a:rPr>
              <a:t>shifted out in parallel </a:t>
            </a:r>
          </a:p>
          <a:p>
            <a:pPr lvl="1"/>
            <a:r>
              <a:rPr lang="en-US" dirty="0"/>
              <a:t>All the outputs should be available at the same time by connecting the output of each flip flop to an output pin </a:t>
            </a:r>
          </a:p>
          <a:p>
            <a:pPr lvl="1"/>
            <a:r>
              <a:rPr lang="en-US" dirty="0"/>
              <a:t>If the data is stored in the flip flops, </a:t>
            </a:r>
            <a:r>
              <a:rPr lang="en-US" b="1" dirty="0"/>
              <a:t>instantly </a:t>
            </a:r>
            <a:r>
              <a:rPr lang="en-US" dirty="0"/>
              <a:t>they are available in the output</a:t>
            </a:r>
          </a:p>
          <a:p>
            <a:r>
              <a:rPr lang="en-US" dirty="0"/>
              <a:t>Flop flops should be edge triggered or master slave flip flop </a:t>
            </a:r>
            <a:r>
              <a:rPr lang="en-US" b="1" dirty="0">
                <a:solidFill>
                  <a:srgbClr val="00B050"/>
                </a:solidFill>
              </a:rPr>
              <a:t>to avoid any kind of glitch </a:t>
            </a:r>
          </a:p>
          <a:p>
            <a:r>
              <a:rPr lang="en-US" b="1" dirty="0">
                <a:solidFill>
                  <a:srgbClr val="FF0000"/>
                </a:solidFill>
              </a:rPr>
              <a:t>Note: </a:t>
            </a:r>
            <a:r>
              <a:rPr lang="en-US" b="1" dirty="0"/>
              <a:t>Clear input </a:t>
            </a:r>
            <a:r>
              <a:rPr lang="en-US" dirty="0"/>
              <a:t>could be applied to reset all flip flops </a:t>
            </a:r>
          </a:p>
          <a:p>
            <a:r>
              <a:rPr lang="en-US" dirty="0"/>
              <a:t>During inserting (input) data </a:t>
            </a:r>
            <a:r>
              <a:rPr lang="en-US" b="1" dirty="0"/>
              <a:t>hold </a:t>
            </a:r>
            <a:r>
              <a:rPr lang="en-US" dirty="0"/>
              <a:t>and </a:t>
            </a:r>
            <a:r>
              <a:rPr lang="en-US" b="1" dirty="0"/>
              <a:t>set-up time </a:t>
            </a:r>
            <a:r>
              <a:rPr lang="en-US" dirty="0"/>
              <a:t>should be maintained </a:t>
            </a:r>
          </a:p>
        </p:txBody>
      </p:sp>
    </p:spTree>
    <p:extLst>
      <p:ext uri="{BB962C8B-B14F-4D97-AF65-F5344CB8AC3E}">
        <p14:creationId xmlns:p14="http://schemas.microsoft.com/office/powerpoint/2010/main" val="367887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16</a:t>
            </a:fld>
            <a:endParaRPr lang="en-US" sz="1800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5099FDD0-D861-4042-9344-81379F8BF7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195754"/>
            <a:ext cx="8801565" cy="5525721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8 Bit SIPO Shift Register IC</a:t>
            </a:r>
            <a:endParaRPr lang="en-US" sz="39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4439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 – PISO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17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b="1" dirty="0"/>
              <a:t>Property</a:t>
            </a:r>
            <a:r>
              <a:rPr lang="en-US" dirty="0"/>
              <a:t>: Data is entered </a:t>
            </a:r>
            <a:r>
              <a:rPr lang="en-US" b="1" dirty="0">
                <a:solidFill>
                  <a:srgbClr val="FF0000"/>
                </a:solidFill>
              </a:rPr>
              <a:t>in parallel manner </a:t>
            </a:r>
            <a:r>
              <a:rPr lang="en-US" dirty="0"/>
              <a:t>into the register</a:t>
            </a:r>
          </a:p>
          <a:p>
            <a:r>
              <a:rPr lang="en-US" dirty="0"/>
              <a:t>A </a:t>
            </a:r>
            <a:r>
              <a:rPr lang="en-US" b="1" dirty="0"/>
              <a:t>control input (Shift/Load) </a:t>
            </a:r>
            <a:r>
              <a:rPr lang="en-US" dirty="0"/>
              <a:t>is required to allow the all input data bits either to enter into the register in parallel or to shift the data in serial</a:t>
            </a:r>
          </a:p>
          <a:p>
            <a:pPr lvl="1"/>
            <a:r>
              <a:rPr lang="en-US" b="1" dirty="0"/>
              <a:t>Shift signal </a:t>
            </a:r>
            <a:r>
              <a:rPr lang="en-US" dirty="0"/>
              <a:t>enables the gates to allow the data bits to shift right or left</a:t>
            </a:r>
          </a:p>
          <a:p>
            <a:pPr lvl="1"/>
            <a:r>
              <a:rPr lang="en-US" b="1" dirty="0"/>
              <a:t>Load signal </a:t>
            </a:r>
            <a:r>
              <a:rPr lang="en-US" dirty="0"/>
              <a:t>enables the other gates to allow the data bits at the parallel inputs to be entered  </a:t>
            </a:r>
          </a:p>
        </p:txBody>
      </p:sp>
    </p:spTree>
    <p:extLst>
      <p:ext uri="{BB962C8B-B14F-4D97-AF65-F5344CB8AC3E}">
        <p14:creationId xmlns:p14="http://schemas.microsoft.com/office/powerpoint/2010/main" val="911806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 – PISO…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Circuit Diagram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18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0DB21C-6588-4B29-A790-28B79AAE4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307" y="1789387"/>
            <a:ext cx="9283386" cy="4468263"/>
          </a:xfrm>
        </p:spPr>
      </p:pic>
    </p:spTree>
    <p:extLst>
      <p:ext uri="{BB962C8B-B14F-4D97-AF65-F5344CB8AC3E}">
        <p14:creationId xmlns:p14="http://schemas.microsoft.com/office/powerpoint/2010/main" val="967848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19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8D304-9942-4405-B7B6-CFBA8FF82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785" y="1035761"/>
            <a:ext cx="7315200" cy="32724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010013-AA4C-461D-AF65-0F3FBD9C1C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698" y="4308224"/>
            <a:ext cx="5967610" cy="24132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76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8 Bit PISO Shift Register IC</a:t>
            </a:r>
            <a:endParaRPr lang="en-US" sz="39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4678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 – PIPO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20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82815" cy="4351338"/>
          </a:xfrm>
        </p:spPr>
        <p:txBody>
          <a:bodyPr/>
          <a:lstStyle/>
          <a:p>
            <a:r>
              <a:rPr lang="en-US" b="1" dirty="0"/>
              <a:t>Property: </a:t>
            </a:r>
            <a:r>
              <a:rPr lang="en-US" dirty="0"/>
              <a:t>Data can be shifted into or out of the register </a:t>
            </a:r>
            <a:r>
              <a:rPr lang="en-US" b="1" dirty="0"/>
              <a:t>in parallel </a:t>
            </a:r>
          </a:p>
          <a:p>
            <a:r>
              <a:rPr lang="en-US" b="1" dirty="0">
                <a:solidFill>
                  <a:srgbClr val="FF0000"/>
                </a:solidFill>
              </a:rPr>
              <a:t>No interconnection </a:t>
            </a:r>
            <a:r>
              <a:rPr lang="en-US" dirty="0"/>
              <a:t>between the flip flops as no serial shift is required </a:t>
            </a:r>
          </a:p>
          <a:p>
            <a:r>
              <a:rPr lang="en-US" dirty="0"/>
              <a:t>When the data entry is accomplished at the parallel inputs, that data will be available at the parallel outputs instantly</a:t>
            </a:r>
          </a:p>
          <a:p>
            <a:pPr lvl="1"/>
            <a:r>
              <a:rPr lang="en-US" dirty="0"/>
              <a:t>An application of </a:t>
            </a:r>
            <a:r>
              <a:rPr lang="en-US" b="1" dirty="0"/>
              <a:t>active clock pulse </a:t>
            </a:r>
            <a:r>
              <a:rPr lang="en-US" dirty="0"/>
              <a:t>is required to perform this task as well </a:t>
            </a:r>
          </a:p>
          <a:p>
            <a:r>
              <a:rPr lang="en-US" b="1" dirty="0"/>
              <a:t>More pins</a:t>
            </a:r>
            <a:r>
              <a:rPr lang="en-US" dirty="0"/>
              <a:t> are required in the IC to accommodate </a:t>
            </a:r>
            <a:r>
              <a:rPr lang="en-US" b="1" dirty="0">
                <a:solidFill>
                  <a:srgbClr val="FF0000"/>
                </a:solidFill>
              </a:rPr>
              <a:t>all inputs and outputs </a:t>
            </a:r>
          </a:p>
        </p:txBody>
      </p:sp>
    </p:spTree>
    <p:extLst>
      <p:ext uri="{BB962C8B-B14F-4D97-AF65-F5344CB8AC3E}">
        <p14:creationId xmlns:p14="http://schemas.microsoft.com/office/powerpoint/2010/main" val="2330594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Shift Register – PIPO…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Circuit Diagram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21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7A79D4-A8D7-4328-AA27-C92F3B59C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383" y="2412035"/>
            <a:ext cx="8265278" cy="3078517"/>
          </a:xfrm>
        </p:spPr>
      </p:pic>
    </p:spTree>
    <p:extLst>
      <p:ext uri="{BB962C8B-B14F-4D97-AF65-F5344CB8AC3E}">
        <p14:creationId xmlns:p14="http://schemas.microsoft.com/office/powerpoint/2010/main" val="3846731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8 Bit PIPO Shift Register IC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22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021312-C3D6-4239-9740-8DB449622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496" y="2361751"/>
            <a:ext cx="9560500" cy="2755372"/>
          </a:xfrm>
        </p:spPr>
      </p:pic>
    </p:spTree>
    <p:extLst>
      <p:ext uri="{BB962C8B-B14F-4D97-AF65-F5344CB8AC3E}">
        <p14:creationId xmlns:p14="http://schemas.microsoft.com/office/powerpoint/2010/main" val="3782578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Bidirectional Shift Register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23</a:t>
            </a:fld>
            <a:endParaRPr lang="en-US" sz="1800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F1D74C37-835C-4C1C-8C99-FBD736FB0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959" y="2020491"/>
            <a:ext cx="8031480" cy="4006056"/>
          </a:xfrm>
        </p:spPr>
      </p:pic>
    </p:spTree>
    <p:extLst>
      <p:ext uri="{BB962C8B-B14F-4D97-AF65-F5344CB8AC3E}">
        <p14:creationId xmlns:p14="http://schemas.microsoft.com/office/powerpoint/2010/main" val="205697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Universal Register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24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b="1" dirty="0"/>
              <a:t>Right </a:t>
            </a:r>
            <a:r>
              <a:rPr lang="en-US" dirty="0"/>
              <a:t>or </a:t>
            </a:r>
            <a:r>
              <a:rPr lang="en-US" b="1" dirty="0"/>
              <a:t>Left </a:t>
            </a:r>
            <a:r>
              <a:rPr lang="en-US" dirty="0"/>
              <a:t>shift control input</a:t>
            </a:r>
          </a:p>
          <a:p>
            <a:pPr lvl="1"/>
            <a:r>
              <a:rPr lang="en-US" dirty="0"/>
              <a:t>To enable the shift operation in a particular direction </a:t>
            </a:r>
          </a:p>
          <a:p>
            <a:r>
              <a:rPr lang="en-US" b="1" dirty="0"/>
              <a:t>Parallel load control </a:t>
            </a:r>
          </a:p>
          <a:p>
            <a:pPr lvl="1"/>
            <a:r>
              <a:rPr lang="en-US" dirty="0"/>
              <a:t>To enable a parallel transfer with </a:t>
            </a:r>
            <a:r>
              <a:rPr lang="en-US" b="1" i="1" dirty="0"/>
              <a:t>n </a:t>
            </a:r>
            <a:r>
              <a:rPr lang="en-US" dirty="0"/>
              <a:t>parallel input or output lines </a:t>
            </a:r>
          </a:p>
          <a:p>
            <a:r>
              <a:rPr lang="en-US" b="1" dirty="0"/>
              <a:t>Clear input</a:t>
            </a:r>
          </a:p>
          <a:p>
            <a:pPr lvl="1"/>
            <a:r>
              <a:rPr lang="en-US" dirty="0"/>
              <a:t>To reset the register </a:t>
            </a:r>
          </a:p>
          <a:p>
            <a:r>
              <a:rPr lang="en-US" dirty="0"/>
              <a:t>Another control input also can be applied to keep the data in the register unchanged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428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4 Bit Universal Register: Circuit Diagram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25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D89F90-5397-4B2A-9E55-98985D7D8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60" y="1505685"/>
            <a:ext cx="7486555" cy="521579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B1829A-C06F-42BD-89D1-B2284AF7B8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715" y="3061548"/>
            <a:ext cx="3956970" cy="232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768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4 Bit Universal Register: IC Pinout Diagram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26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A4A01D-2063-4A13-88FB-1CB22A917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637" y="2063173"/>
            <a:ext cx="7804166" cy="3062050"/>
          </a:xfrm>
        </p:spPr>
      </p:pic>
    </p:spTree>
    <p:extLst>
      <p:ext uri="{BB962C8B-B14F-4D97-AF65-F5344CB8AC3E}">
        <p14:creationId xmlns:p14="http://schemas.microsoft.com/office/powerpoint/2010/main" val="3356190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Register used as Counter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27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Ring Counter</a:t>
            </a:r>
          </a:p>
          <a:p>
            <a:r>
              <a:rPr lang="en-US" dirty="0"/>
              <a:t>Johnson Counter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They will be discussed in the chapter of “Counter”</a:t>
            </a:r>
          </a:p>
        </p:txBody>
      </p:sp>
    </p:spTree>
    <p:extLst>
      <p:ext uri="{BB962C8B-B14F-4D97-AF65-F5344CB8AC3E}">
        <p14:creationId xmlns:p14="http://schemas.microsoft.com/office/powerpoint/2010/main" val="2922975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Sequence Generator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28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1182815" cy="4351338"/>
          </a:xfrm>
        </p:spPr>
        <p:txBody>
          <a:bodyPr/>
          <a:lstStyle/>
          <a:p>
            <a:r>
              <a:rPr lang="en-US" dirty="0"/>
              <a:t>Basic concept:</a:t>
            </a:r>
          </a:p>
          <a:p>
            <a:pPr lvl="1"/>
            <a:r>
              <a:rPr lang="en-US" sz="2000" dirty="0"/>
              <a:t>A circuit that generates </a:t>
            </a:r>
            <a:r>
              <a:rPr lang="en-US" sz="2000" b="1" dirty="0"/>
              <a:t>a desired sequence </a:t>
            </a:r>
            <a:r>
              <a:rPr lang="en-US" sz="2000" dirty="0"/>
              <a:t>of bits in synchronization with </a:t>
            </a:r>
            <a:r>
              <a:rPr lang="en-US" sz="2000" b="1" dirty="0"/>
              <a:t>a clock</a:t>
            </a:r>
          </a:p>
          <a:p>
            <a:r>
              <a:rPr lang="en-US" b="1" dirty="0"/>
              <a:t>Usage: </a:t>
            </a:r>
            <a:r>
              <a:rPr lang="en-US" dirty="0"/>
              <a:t>Random bit generator, code generator, prescribed period generator</a:t>
            </a:r>
          </a:p>
          <a:p>
            <a:r>
              <a:rPr lang="en-US" b="1" dirty="0"/>
              <a:t>Construction: </a:t>
            </a:r>
            <a:r>
              <a:rPr lang="en-US" dirty="0"/>
              <a:t>using a </a:t>
            </a:r>
            <a:r>
              <a:rPr lang="en-US" b="1" dirty="0">
                <a:solidFill>
                  <a:srgbClr val="00B050"/>
                </a:solidFill>
              </a:rPr>
              <a:t>shift register </a:t>
            </a:r>
            <a:r>
              <a:rPr lang="en-US" dirty="0"/>
              <a:t>and </a:t>
            </a:r>
            <a:r>
              <a:rPr lang="en-US" b="1" dirty="0">
                <a:solidFill>
                  <a:srgbClr val="00B050"/>
                </a:solidFill>
              </a:rPr>
              <a:t>next state decoder  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Sequence Output is generated from Q</a:t>
            </a:r>
            <a:r>
              <a:rPr lang="en-US" sz="2000" b="1" baseline="-25000" dirty="0">
                <a:solidFill>
                  <a:srgbClr val="FF0000"/>
                </a:solidFill>
              </a:rPr>
              <a:t>n-1</a:t>
            </a:r>
            <a:r>
              <a:rPr lang="en-US" sz="2000" b="1" dirty="0">
                <a:solidFill>
                  <a:srgbClr val="FF0000"/>
                </a:solidFill>
              </a:rPr>
              <a:t> output pin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Next state decoder is a function of (Q</a:t>
            </a:r>
            <a:r>
              <a:rPr lang="en-US" sz="2000" b="1" baseline="-25000" dirty="0">
                <a:solidFill>
                  <a:srgbClr val="FF0000"/>
                </a:solidFill>
              </a:rPr>
              <a:t>n-1</a:t>
            </a:r>
            <a:r>
              <a:rPr lang="en-US" sz="2000" b="1" dirty="0">
                <a:solidFill>
                  <a:srgbClr val="FF0000"/>
                </a:solidFill>
              </a:rPr>
              <a:t>, Q</a:t>
            </a:r>
            <a:r>
              <a:rPr lang="en-US" sz="2000" b="1" baseline="-25000" dirty="0">
                <a:solidFill>
                  <a:srgbClr val="FF0000"/>
                </a:solidFill>
              </a:rPr>
              <a:t>n-2</a:t>
            </a:r>
            <a:r>
              <a:rPr lang="en-US" sz="2000" b="1" dirty="0">
                <a:solidFill>
                  <a:srgbClr val="FF0000"/>
                </a:solidFill>
              </a:rPr>
              <a:t>, … Q</a:t>
            </a:r>
            <a:r>
              <a:rPr lang="en-US" sz="2000" b="1" baseline="-25000" dirty="0">
                <a:solidFill>
                  <a:srgbClr val="FF0000"/>
                </a:solidFill>
              </a:rPr>
              <a:t>1</a:t>
            </a:r>
            <a:r>
              <a:rPr lang="en-US" sz="2000" b="1" dirty="0">
                <a:solidFill>
                  <a:srgbClr val="FF0000"/>
                </a:solidFill>
              </a:rPr>
              <a:t>, Q</a:t>
            </a:r>
            <a:r>
              <a:rPr lang="en-US" sz="2000" b="1" baseline="-25000" dirty="0">
                <a:solidFill>
                  <a:srgbClr val="FF0000"/>
                </a:solidFill>
              </a:rPr>
              <a:t>0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Its output is connected to the input of the shift register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DCA0C-9BE5-4E26-9D17-63C678FC24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8" t="2737"/>
          <a:stretch/>
        </p:blipFill>
        <p:spPr>
          <a:xfrm>
            <a:off x="3672606" y="4580958"/>
            <a:ext cx="4480794" cy="221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38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a 4-bit Sequence Generator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29</a:t>
            </a:fld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82815" cy="435133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Sequence: 1001; </a:t>
            </a:r>
            <a:r>
              <a:rPr lang="en-US" b="1" dirty="0"/>
              <a:t>sequence length</a:t>
            </a:r>
            <a:r>
              <a:rPr lang="en-US" b="1" dirty="0">
                <a:solidFill>
                  <a:srgbClr val="FF0000"/>
                </a:solidFill>
              </a:rPr>
              <a:t>, N= 4</a:t>
            </a:r>
          </a:p>
          <a:p>
            <a:r>
              <a:rPr lang="en-US" b="1" dirty="0"/>
              <a:t>Minimum number of flip-flops </a:t>
            </a:r>
            <a:r>
              <a:rPr lang="en-US" b="1" i="1" dirty="0">
                <a:solidFill>
                  <a:srgbClr val="FF0000"/>
                </a:solidFill>
              </a:rPr>
              <a:t>n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Where,</a:t>
            </a:r>
            <a:r>
              <a:rPr lang="en-US" b="1" dirty="0"/>
              <a:t> </a:t>
            </a:r>
            <a:r>
              <a:rPr lang="en-US" b="1" i="1" dirty="0">
                <a:solidFill>
                  <a:srgbClr val="FF0000"/>
                </a:solidFill>
              </a:rPr>
              <a:t>N </a:t>
            </a:r>
            <a:r>
              <a:rPr lang="en-US" b="1" i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 2</a:t>
            </a:r>
            <a:r>
              <a:rPr lang="en-US" b="1" i="1" baseline="30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b="1" i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– 1</a:t>
            </a:r>
          </a:p>
          <a:p>
            <a:pPr lvl="1"/>
            <a:r>
              <a:rPr lang="en-US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Here , n=3</a:t>
            </a:r>
          </a:p>
          <a:p>
            <a:r>
              <a:rPr lang="en-US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If these </a:t>
            </a:r>
            <a:r>
              <a:rPr lang="en-US" b="1" i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three </a:t>
            </a:r>
            <a:r>
              <a:rPr lang="en-US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flip-flops doesn’t satisfy all possible states we should increase the number of flip-flops 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806473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a 4-bit Sequence Generator…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30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22B647-CAE4-4364-9608-65B824579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6" y="1898667"/>
            <a:ext cx="5830114" cy="3915321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3B5B44-5566-48FA-B545-49179E78D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080" y="1690688"/>
            <a:ext cx="3781953" cy="22101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5B78AB-3E69-4FD0-95E5-0AEC3C1CE4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080" y="4304015"/>
            <a:ext cx="4915586" cy="19910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9BEBB1-96ED-4C00-8F64-841D810B7521}"/>
              </a:ext>
            </a:extLst>
          </p:cNvPr>
          <p:cNvSpPr txBox="1"/>
          <p:nvPr/>
        </p:nvSpPr>
        <p:spPr>
          <a:xfrm>
            <a:off x="10011686" y="2608211"/>
            <a:ext cx="6992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i="1" dirty="0"/>
              <a:t>Z=Q</a:t>
            </a:r>
            <a:r>
              <a:rPr lang="en-US" b="1" i="1" baseline="-25000" dirty="0"/>
              <a:t>1</a:t>
            </a:r>
            <a:r>
              <a:rPr lang="en-US" b="1" i="1" dirty="0"/>
              <a:t>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165E0F-21FD-4788-8D95-3EC209AEB7CA}"/>
              </a:ext>
            </a:extLst>
          </p:cNvPr>
          <p:cNvSpPr txBox="1"/>
          <p:nvPr/>
        </p:nvSpPr>
        <p:spPr>
          <a:xfrm>
            <a:off x="872944" y="489674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15E143-4874-41A2-9EFC-B374F9987E21}"/>
              </a:ext>
            </a:extLst>
          </p:cNvPr>
          <p:cNvSpPr txBox="1"/>
          <p:nvPr/>
        </p:nvSpPr>
        <p:spPr>
          <a:xfrm>
            <a:off x="872944" y="529951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447256-025D-4A1D-A5EF-818E928D52AA}"/>
              </a:ext>
            </a:extLst>
          </p:cNvPr>
          <p:cNvSpPr/>
          <p:nvPr/>
        </p:nvSpPr>
        <p:spPr>
          <a:xfrm>
            <a:off x="1806498" y="2687444"/>
            <a:ext cx="2687443" cy="3902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0DF1C08-57DB-400A-9137-556737ABADC9}"/>
              </a:ext>
            </a:extLst>
          </p:cNvPr>
          <p:cNvSpPr/>
          <p:nvPr/>
        </p:nvSpPr>
        <p:spPr>
          <a:xfrm>
            <a:off x="1806495" y="3077737"/>
            <a:ext cx="2687443" cy="3902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45AA35-704B-458C-BC87-3786C747F778}"/>
              </a:ext>
            </a:extLst>
          </p:cNvPr>
          <p:cNvSpPr/>
          <p:nvPr/>
        </p:nvSpPr>
        <p:spPr>
          <a:xfrm>
            <a:off x="1806496" y="3420641"/>
            <a:ext cx="2687443" cy="3902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481F395-4F44-4761-9919-F3E65F9346FD}"/>
              </a:ext>
            </a:extLst>
          </p:cNvPr>
          <p:cNvSpPr/>
          <p:nvPr/>
        </p:nvSpPr>
        <p:spPr>
          <a:xfrm>
            <a:off x="1806497" y="3823767"/>
            <a:ext cx="2687443" cy="3902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FA950B-AC83-4501-A049-FA18DEDE1D80}"/>
              </a:ext>
            </a:extLst>
          </p:cNvPr>
          <p:cNvSpPr txBox="1"/>
          <p:nvPr/>
        </p:nvSpPr>
        <p:spPr>
          <a:xfrm>
            <a:off x="1536743" y="5956352"/>
            <a:ext cx="3109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Here, Four states are different.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72FAE7-C594-45A3-9AEC-8F9F9CCC08A9}"/>
              </a:ext>
            </a:extLst>
          </p:cNvPr>
          <p:cNvSpPr txBox="1"/>
          <p:nvPr/>
        </p:nvSpPr>
        <p:spPr>
          <a:xfrm>
            <a:off x="7698430" y="1514115"/>
            <a:ext cx="4059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 the table, Z is true for two times only.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03872BA-8756-4013-8CB4-34A64D732E06}"/>
              </a:ext>
            </a:extLst>
          </p:cNvPr>
          <p:cNvSpPr/>
          <p:nvPr/>
        </p:nvSpPr>
        <p:spPr>
          <a:xfrm>
            <a:off x="7698430" y="6053884"/>
            <a:ext cx="281761" cy="267480"/>
          </a:xfrm>
          <a:prstGeom prst="ellipse">
            <a:avLst/>
          </a:prstGeom>
          <a:solidFill>
            <a:srgbClr val="CD666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6A030-A4A8-4663-944B-D050A8AC56BD}"/>
              </a:ext>
            </a:extLst>
          </p:cNvPr>
          <p:cNvSpPr txBox="1"/>
          <p:nvPr/>
        </p:nvSpPr>
        <p:spPr>
          <a:xfrm>
            <a:off x="7632279" y="6369184"/>
            <a:ext cx="286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Logic for next state decoder.</a:t>
            </a:r>
          </a:p>
        </p:txBody>
      </p:sp>
    </p:spTree>
    <p:extLst>
      <p:ext uri="{BB962C8B-B14F-4D97-AF65-F5344CB8AC3E}">
        <p14:creationId xmlns:p14="http://schemas.microsoft.com/office/powerpoint/2010/main" val="3410584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Serial Addition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31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21612D-E6C7-4C00-AE4C-AFE2A7789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399" y="1942016"/>
            <a:ext cx="7706801" cy="416300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29CEDD-593E-490A-831B-2AEBD695160F}"/>
              </a:ext>
            </a:extLst>
          </p:cNvPr>
          <p:cNvSpPr txBox="1"/>
          <p:nvPr/>
        </p:nvSpPr>
        <p:spPr>
          <a:xfrm>
            <a:off x="4896633" y="3105835"/>
            <a:ext cx="1199367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</a:rPr>
              <a:t>Augend/Sum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3BA312-20D3-4268-AF57-A6F573BC6F0D}"/>
              </a:ext>
            </a:extLst>
          </p:cNvPr>
          <p:cNvSpPr txBox="1"/>
          <p:nvPr/>
        </p:nvSpPr>
        <p:spPr>
          <a:xfrm>
            <a:off x="5098610" y="4592819"/>
            <a:ext cx="795411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</a:rPr>
              <a:t>Addend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2C29BB-C0E5-4A44-808D-A262528475C4}"/>
              </a:ext>
            </a:extLst>
          </p:cNvPr>
          <p:cNvSpPr txBox="1"/>
          <p:nvPr/>
        </p:nvSpPr>
        <p:spPr>
          <a:xfrm>
            <a:off x="7509153" y="5907521"/>
            <a:ext cx="1288494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</a:rPr>
              <a:t>Carry Flip-flop</a:t>
            </a:r>
          </a:p>
        </p:txBody>
      </p:sp>
    </p:spTree>
    <p:extLst>
      <p:ext uri="{BB962C8B-B14F-4D97-AF65-F5344CB8AC3E}">
        <p14:creationId xmlns:p14="http://schemas.microsoft.com/office/powerpoint/2010/main" val="2974410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Divider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32</a:t>
            </a:fld>
            <a:endParaRPr lang="en-US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 Task </a:t>
            </a:r>
          </a:p>
        </p:txBody>
      </p:sp>
    </p:spTree>
    <p:extLst>
      <p:ext uri="{BB962C8B-B14F-4D97-AF65-F5344CB8AC3E}">
        <p14:creationId xmlns:p14="http://schemas.microsoft.com/office/powerpoint/2010/main" val="188461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Motivation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00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1785</Words>
  <Application>Microsoft Office PowerPoint</Application>
  <PresentationFormat>Widescreen</PresentationFormat>
  <Paragraphs>323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Times New Roman</vt:lpstr>
      <vt:lpstr>Office Theme</vt:lpstr>
      <vt:lpstr>1_Office Theme</vt:lpstr>
      <vt:lpstr>Register</vt:lpstr>
      <vt:lpstr>Remaining to Add</vt:lpstr>
      <vt:lpstr>Introduction</vt:lpstr>
      <vt:lpstr>Basic of A Register</vt:lpstr>
      <vt:lpstr>Shift Register: Classification </vt:lpstr>
      <vt:lpstr>Shift Register: Different Classifications </vt:lpstr>
      <vt:lpstr>Shift Register: Basic Types </vt:lpstr>
      <vt:lpstr>Shift Register - SISO</vt:lpstr>
      <vt:lpstr>Shift Register – SISO…</vt:lpstr>
      <vt:lpstr>Shift Register – SISO – Right shift  Circuit Diagram </vt:lpstr>
      <vt:lpstr>Shift Register – SISO – Right shift…  Example with Data “1011” </vt:lpstr>
      <vt:lpstr>Shift Register – SISO – Left shift  Circuit Diagram </vt:lpstr>
      <vt:lpstr>Shift Register – SISO – Left shift…  Example with Data “1110”</vt:lpstr>
      <vt:lpstr>8 Bit SISO Shift Register IC</vt:lpstr>
      <vt:lpstr>Shift Register – SIPO</vt:lpstr>
      <vt:lpstr>8 Bit SIPO Shift Register IC</vt:lpstr>
      <vt:lpstr>Shift Register – PISO</vt:lpstr>
      <vt:lpstr>Shift Register – PISO… Circuit Diagram</vt:lpstr>
      <vt:lpstr>8 Bit PISO Shift Register IC</vt:lpstr>
      <vt:lpstr>Shift Register – PIPO</vt:lpstr>
      <vt:lpstr>Shift Register – PIPO… Circuit Diagram</vt:lpstr>
      <vt:lpstr>8 Bit PIPO Shift Register IC</vt:lpstr>
      <vt:lpstr>Bidirectional Shift Register</vt:lpstr>
      <vt:lpstr>Universal Register </vt:lpstr>
      <vt:lpstr>4 Bit Universal Register: Circuit Diagram </vt:lpstr>
      <vt:lpstr>4 Bit Universal Register: IC Pinout Diagram </vt:lpstr>
      <vt:lpstr>Register used as Counter</vt:lpstr>
      <vt:lpstr>Sequence Generator </vt:lpstr>
      <vt:lpstr>Design a 4-bit Sequence Generator </vt:lpstr>
      <vt:lpstr>Design a 4-bit Sequence Generator… </vt:lpstr>
      <vt:lpstr>Serial Addition </vt:lpstr>
      <vt:lpstr>Binary Divider </vt:lpstr>
      <vt:lpstr>Motivation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4205 Digital Logic Design</dc:title>
  <dc:creator>Admin</dc:creator>
  <cp:lastModifiedBy>Md. Hamjajul Ashmafee , Lecturer,CSE</cp:lastModifiedBy>
  <cp:revision>101</cp:revision>
  <dcterms:created xsi:type="dcterms:W3CDTF">2018-06-27T14:59:12Z</dcterms:created>
  <dcterms:modified xsi:type="dcterms:W3CDTF">2022-03-09T02:12:00Z</dcterms:modified>
</cp:coreProperties>
</file>