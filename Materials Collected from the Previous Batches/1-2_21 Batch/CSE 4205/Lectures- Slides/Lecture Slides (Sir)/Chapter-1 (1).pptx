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dp" ContentType="image/vnd.ms-photo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47" r:id="rId5"/>
    <p:sldId id="257" r:id="rId6"/>
    <p:sldId id="258" r:id="rId7"/>
    <p:sldId id="259" r:id="rId8"/>
    <p:sldId id="318" r:id="rId9"/>
    <p:sldId id="260" r:id="rId10"/>
    <p:sldId id="319" r:id="rId11"/>
    <p:sldId id="261" r:id="rId12"/>
    <p:sldId id="320" r:id="rId13"/>
    <p:sldId id="262" r:id="rId14"/>
    <p:sldId id="263" r:id="rId15"/>
    <p:sldId id="321" r:id="rId16"/>
    <p:sldId id="264" r:id="rId17"/>
    <p:sldId id="265" r:id="rId18"/>
    <p:sldId id="266" r:id="rId19"/>
    <p:sldId id="267" r:id="rId20"/>
    <p:sldId id="268" r:id="rId21"/>
    <p:sldId id="291" r:id="rId22"/>
    <p:sldId id="269" r:id="rId23"/>
    <p:sldId id="270" r:id="rId24"/>
    <p:sldId id="271" r:id="rId25"/>
    <p:sldId id="322" r:id="rId26"/>
    <p:sldId id="282" r:id="rId27"/>
    <p:sldId id="274" r:id="rId28"/>
    <p:sldId id="349" r:id="rId29"/>
    <p:sldId id="275" r:id="rId30"/>
    <p:sldId id="272" r:id="rId31"/>
    <p:sldId id="273" r:id="rId32"/>
    <p:sldId id="323" r:id="rId33"/>
    <p:sldId id="324" r:id="rId34"/>
    <p:sldId id="276" r:id="rId35"/>
    <p:sldId id="316" r:id="rId36"/>
    <p:sldId id="277" r:id="rId37"/>
    <p:sldId id="278" r:id="rId38"/>
    <p:sldId id="279" r:id="rId39"/>
    <p:sldId id="280" r:id="rId40"/>
    <p:sldId id="281" r:id="rId41"/>
    <p:sldId id="283" r:id="rId42"/>
    <p:sldId id="351" r:id="rId43"/>
    <p:sldId id="352" r:id="rId44"/>
    <p:sldId id="325" r:id="rId45"/>
    <p:sldId id="326" r:id="rId46"/>
    <p:sldId id="327" r:id="rId47"/>
    <p:sldId id="328" r:id="rId48"/>
    <p:sldId id="330" r:id="rId49"/>
    <p:sldId id="329" r:id="rId50"/>
    <p:sldId id="284" r:id="rId51"/>
    <p:sldId id="285" r:id="rId52"/>
    <p:sldId id="331" r:id="rId53"/>
    <p:sldId id="334" r:id="rId54"/>
    <p:sldId id="333" r:id="rId55"/>
    <p:sldId id="335" r:id="rId56"/>
    <p:sldId id="332" r:id="rId57"/>
    <p:sldId id="286" r:id="rId58"/>
    <p:sldId id="292" r:id="rId59"/>
    <p:sldId id="297" r:id="rId60"/>
    <p:sldId id="299" r:id="rId61"/>
    <p:sldId id="345" r:id="rId62"/>
    <p:sldId id="336" r:id="rId63"/>
    <p:sldId id="298" r:id="rId64"/>
    <p:sldId id="300" r:id="rId65"/>
    <p:sldId id="301" r:id="rId66"/>
    <p:sldId id="338" r:id="rId67"/>
    <p:sldId id="337" r:id="rId68"/>
    <p:sldId id="293" r:id="rId69"/>
    <p:sldId id="317" r:id="rId70"/>
    <p:sldId id="294" r:id="rId71"/>
    <p:sldId id="295" r:id="rId72"/>
    <p:sldId id="339" r:id="rId73"/>
    <p:sldId id="302" r:id="rId74"/>
    <p:sldId id="303" r:id="rId75"/>
    <p:sldId id="340" r:id="rId76"/>
    <p:sldId id="304" r:id="rId77"/>
    <p:sldId id="341" r:id="rId78"/>
    <p:sldId id="305" r:id="rId79"/>
    <p:sldId id="306" r:id="rId80"/>
    <p:sldId id="307" r:id="rId81"/>
    <p:sldId id="308" r:id="rId82"/>
    <p:sldId id="342" r:id="rId83"/>
    <p:sldId id="309" r:id="rId84"/>
    <p:sldId id="287" r:id="rId85"/>
    <p:sldId id="288" r:id="rId86"/>
    <p:sldId id="289" r:id="rId87"/>
    <p:sldId id="290" r:id="rId88"/>
    <p:sldId id="343" r:id="rId89"/>
    <p:sldId id="312" r:id="rId90"/>
    <p:sldId id="344" r:id="rId91"/>
    <p:sldId id="346" r:id="rId9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66" autoAdjust="0"/>
    <p:restoredTop sz="79906" autoAdjust="0"/>
  </p:normalViewPr>
  <p:slideViewPr>
    <p:cSldViewPr snapToGrid="0">
      <p:cViewPr>
        <p:scale>
          <a:sx n="75" d="100"/>
          <a:sy n="75" d="100"/>
        </p:scale>
        <p:origin x="2292" y="4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6" Type="http://schemas.openxmlformats.org/officeDocument/2006/relationships/commentAuthors" Target="commentAuthors.xml"/><Relationship Id="rId95" Type="http://schemas.openxmlformats.org/officeDocument/2006/relationships/tableStyles" Target="tableStyles.xml"/><Relationship Id="rId94" Type="http://schemas.openxmlformats.org/officeDocument/2006/relationships/viewProps" Target="viewProps.xml"/><Relationship Id="rId93" Type="http://schemas.openxmlformats.org/officeDocument/2006/relationships/presProps" Target="presProps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D3C535-6A22-4E87-812A-F784DD515A2B}" type="doc">
      <dgm:prSet loTypeId="urn:microsoft.com/office/officeart/2005/8/layout/pyramid1" loCatId="pyramid" qsTypeId="urn:microsoft.com/office/officeart/2005/8/quickstyle/simple5" qsCatId="simple" csTypeId="urn:microsoft.com/office/officeart/2005/8/colors/accent1_3" csCatId="accent1" phldr="1"/>
      <dgm:spPr/>
    </dgm:pt>
    <dgm:pt modelId="{7CD1412F-DAE3-4D2E-BF70-CAFD532BB2D6}">
      <dgm:prSet phldrT="[Text]" custT="1"/>
      <dgm:spPr/>
      <dgm:t>
        <a:bodyPr/>
        <a:lstStyle/>
        <a:p>
          <a:r>
            <a:rPr lang="en-US" sz="2000" b="1" dirty="0"/>
            <a:t>Register	</a:t>
          </a:r>
        </a:p>
      </dgm:t>
    </dgm:pt>
    <dgm:pt modelId="{E1D24161-8309-4E1C-A083-C9D7249F3D33}" cxnId="{8D8B80CF-EE6A-4F46-8ACF-C85129F3FAFF}" type="parTrans">
      <dgm:prSet/>
      <dgm:spPr/>
      <dgm:t>
        <a:bodyPr/>
        <a:lstStyle/>
        <a:p>
          <a:endParaRPr lang="en-US"/>
        </a:p>
      </dgm:t>
    </dgm:pt>
    <dgm:pt modelId="{970BC4D7-3F96-49FA-A419-2A527F15230A}" cxnId="{8D8B80CF-EE6A-4F46-8ACF-C85129F3FAFF}" type="sibTrans">
      <dgm:prSet/>
      <dgm:spPr/>
      <dgm:t>
        <a:bodyPr/>
        <a:lstStyle/>
        <a:p>
          <a:endParaRPr lang="en-US"/>
        </a:p>
      </dgm:t>
    </dgm:pt>
    <dgm:pt modelId="{A85FDA2D-4089-4252-828E-A337BC621316}">
      <dgm:prSet phldrT="[Text]" custT="1"/>
      <dgm:spPr/>
      <dgm:t>
        <a:bodyPr/>
        <a:lstStyle/>
        <a:p>
          <a:r>
            <a:rPr lang="en-US" sz="2000" b="1" dirty="0"/>
            <a:t>Cache Memory	</a:t>
          </a:r>
        </a:p>
      </dgm:t>
    </dgm:pt>
    <dgm:pt modelId="{0E34A61F-75C5-42E7-AC4F-8E68EF2C008A}" cxnId="{34017084-D9D5-4951-8062-0D2F8B86434A}" type="parTrans">
      <dgm:prSet/>
      <dgm:spPr/>
      <dgm:t>
        <a:bodyPr/>
        <a:lstStyle/>
        <a:p>
          <a:endParaRPr lang="en-US"/>
        </a:p>
      </dgm:t>
    </dgm:pt>
    <dgm:pt modelId="{AC7706BE-983E-4DD5-920A-10C67DCB99A4}" cxnId="{34017084-D9D5-4951-8062-0D2F8B86434A}" type="sibTrans">
      <dgm:prSet/>
      <dgm:spPr/>
      <dgm:t>
        <a:bodyPr/>
        <a:lstStyle/>
        <a:p>
          <a:endParaRPr lang="en-US"/>
        </a:p>
      </dgm:t>
    </dgm:pt>
    <dgm:pt modelId="{FA27BBC3-FD02-4C84-AB99-11751AB5F3F3}">
      <dgm:prSet phldrT="[Text]" custT="1"/>
      <dgm:spPr/>
      <dgm:t>
        <a:bodyPr/>
        <a:lstStyle/>
        <a:p>
          <a:r>
            <a:rPr lang="en-US" sz="2000" b="1" dirty="0"/>
            <a:t>Main Memory (RAM, ROM)</a:t>
          </a:r>
        </a:p>
      </dgm:t>
    </dgm:pt>
    <dgm:pt modelId="{3040736E-4095-47A6-94D9-9AD9135BE252}" cxnId="{69DAA55A-8625-4DD8-BDD7-67B1D1769674}" type="parTrans">
      <dgm:prSet/>
      <dgm:spPr/>
      <dgm:t>
        <a:bodyPr/>
        <a:lstStyle/>
        <a:p>
          <a:endParaRPr lang="en-US"/>
        </a:p>
      </dgm:t>
    </dgm:pt>
    <dgm:pt modelId="{A85C883F-3953-4D75-8C14-E6C1517081E4}" cxnId="{69DAA55A-8625-4DD8-BDD7-67B1D1769674}" type="sibTrans">
      <dgm:prSet/>
      <dgm:spPr/>
      <dgm:t>
        <a:bodyPr/>
        <a:lstStyle/>
        <a:p>
          <a:endParaRPr lang="en-US"/>
        </a:p>
      </dgm:t>
    </dgm:pt>
    <dgm:pt modelId="{60688517-483A-4C39-8B38-1984F3FC4F3A}">
      <dgm:prSet phldrT="[Text]" custT="1"/>
      <dgm:spPr/>
      <dgm:t>
        <a:bodyPr/>
        <a:lstStyle/>
        <a:p>
          <a:r>
            <a:rPr lang="en-US" sz="2000" b="1" dirty="0"/>
            <a:t>Secondary Memory (SSD,HDD)</a:t>
          </a:r>
        </a:p>
      </dgm:t>
    </dgm:pt>
    <dgm:pt modelId="{E6564E55-1B10-430A-822A-B2B571F09CA7}" cxnId="{D444ECC8-6A6F-40AD-925B-A3858FFE0EE8}" type="parTrans">
      <dgm:prSet/>
      <dgm:spPr/>
      <dgm:t>
        <a:bodyPr/>
        <a:lstStyle/>
        <a:p>
          <a:endParaRPr lang="en-US"/>
        </a:p>
      </dgm:t>
    </dgm:pt>
    <dgm:pt modelId="{BCD89F3F-09C0-436D-9165-9086BD93CE0E}" cxnId="{D444ECC8-6A6F-40AD-925B-A3858FFE0EE8}" type="sibTrans">
      <dgm:prSet/>
      <dgm:spPr/>
      <dgm:t>
        <a:bodyPr/>
        <a:lstStyle/>
        <a:p>
          <a:endParaRPr lang="en-US"/>
        </a:p>
      </dgm:t>
    </dgm:pt>
    <dgm:pt modelId="{ECD8604B-47DF-459F-ABD5-0C9826E288A1}" type="pres">
      <dgm:prSet presAssocID="{16D3C535-6A22-4E87-812A-F784DD515A2B}" presName="Name0" presStyleCnt="0">
        <dgm:presLayoutVars>
          <dgm:dir/>
          <dgm:animLvl val="lvl"/>
          <dgm:resizeHandles val="exact"/>
        </dgm:presLayoutVars>
      </dgm:prSet>
      <dgm:spPr/>
    </dgm:pt>
    <dgm:pt modelId="{BDEA896B-2DDC-47D8-BF0C-088C3EF874D7}" type="pres">
      <dgm:prSet presAssocID="{7CD1412F-DAE3-4D2E-BF70-CAFD532BB2D6}" presName="Name8" presStyleCnt="0"/>
      <dgm:spPr/>
    </dgm:pt>
    <dgm:pt modelId="{B097939F-07AB-4F60-8CCD-4AF6463C9AAA}" type="pres">
      <dgm:prSet presAssocID="{7CD1412F-DAE3-4D2E-BF70-CAFD532BB2D6}" presName="level" presStyleLbl="node1" presStyleIdx="0" presStyleCnt="4">
        <dgm:presLayoutVars>
          <dgm:chMax val="1"/>
          <dgm:bulletEnabled val="1"/>
        </dgm:presLayoutVars>
      </dgm:prSet>
      <dgm:spPr/>
    </dgm:pt>
    <dgm:pt modelId="{852D4D91-E00A-488F-A4C7-0E8A86BB161C}" type="pres">
      <dgm:prSet presAssocID="{7CD1412F-DAE3-4D2E-BF70-CAFD532BB2D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62BC24A-377E-42EC-82B5-876AC5833510}" type="pres">
      <dgm:prSet presAssocID="{A85FDA2D-4089-4252-828E-A337BC621316}" presName="Name8" presStyleCnt="0"/>
      <dgm:spPr/>
    </dgm:pt>
    <dgm:pt modelId="{95D50605-25F9-43DE-A86A-EF78BC51DB0E}" type="pres">
      <dgm:prSet presAssocID="{A85FDA2D-4089-4252-828E-A337BC621316}" presName="level" presStyleLbl="node1" presStyleIdx="1" presStyleCnt="4">
        <dgm:presLayoutVars>
          <dgm:chMax val="1"/>
          <dgm:bulletEnabled val="1"/>
        </dgm:presLayoutVars>
      </dgm:prSet>
      <dgm:spPr/>
    </dgm:pt>
    <dgm:pt modelId="{D7B1B814-D53B-48C2-A325-AB0C1FC01CAB}" type="pres">
      <dgm:prSet presAssocID="{A85FDA2D-4089-4252-828E-A337BC62131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D408C78-2049-42A2-9976-06430DDA180D}" type="pres">
      <dgm:prSet presAssocID="{FA27BBC3-FD02-4C84-AB99-11751AB5F3F3}" presName="Name8" presStyleCnt="0"/>
      <dgm:spPr/>
    </dgm:pt>
    <dgm:pt modelId="{2467B099-848B-438B-89AE-76C852E15449}" type="pres">
      <dgm:prSet presAssocID="{FA27BBC3-FD02-4C84-AB99-11751AB5F3F3}" presName="level" presStyleLbl="node1" presStyleIdx="2" presStyleCnt="4">
        <dgm:presLayoutVars>
          <dgm:chMax val="1"/>
          <dgm:bulletEnabled val="1"/>
        </dgm:presLayoutVars>
      </dgm:prSet>
      <dgm:spPr/>
    </dgm:pt>
    <dgm:pt modelId="{B5F4491B-1FE8-4212-B1A2-8888089999A2}" type="pres">
      <dgm:prSet presAssocID="{FA27BBC3-FD02-4C84-AB99-11751AB5F3F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261C974-8711-41C5-A6D1-72A72D33CF23}" type="pres">
      <dgm:prSet presAssocID="{60688517-483A-4C39-8B38-1984F3FC4F3A}" presName="Name8" presStyleCnt="0"/>
      <dgm:spPr/>
    </dgm:pt>
    <dgm:pt modelId="{06492EB9-F90D-4EB1-8F20-8769781B13FC}" type="pres">
      <dgm:prSet presAssocID="{60688517-483A-4C39-8B38-1984F3FC4F3A}" presName="level" presStyleLbl="node1" presStyleIdx="3" presStyleCnt="4">
        <dgm:presLayoutVars>
          <dgm:chMax val="1"/>
          <dgm:bulletEnabled val="1"/>
        </dgm:presLayoutVars>
      </dgm:prSet>
      <dgm:spPr/>
    </dgm:pt>
    <dgm:pt modelId="{B6F0EBF8-B5BC-470F-AAA3-C08BFC70E0DC}" type="pres">
      <dgm:prSet presAssocID="{60688517-483A-4C39-8B38-1984F3FC4F3A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5DEA1F0C-5F1B-4017-BE36-23E076808A1E}" type="presOf" srcId="{60688517-483A-4C39-8B38-1984F3FC4F3A}" destId="{06492EB9-F90D-4EB1-8F20-8769781B13FC}" srcOrd="0" destOrd="0" presId="urn:microsoft.com/office/officeart/2005/8/layout/pyramid1"/>
    <dgm:cxn modelId="{AAE0FF3F-420C-4667-A2D4-3AB3270BD3A7}" type="presOf" srcId="{16D3C535-6A22-4E87-812A-F784DD515A2B}" destId="{ECD8604B-47DF-459F-ABD5-0C9826E288A1}" srcOrd="0" destOrd="0" presId="urn:microsoft.com/office/officeart/2005/8/layout/pyramid1"/>
    <dgm:cxn modelId="{816C1D6B-6E4D-49FC-AB75-0B1BFA5DD036}" type="presOf" srcId="{A85FDA2D-4089-4252-828E-A337BC621316}" destId="{D7B1B814-D53B-48C2-A325-AB0C1FC01CAB}" srcOrd="1" destOrd="0" presId="urn:microsoft.com/office/officeart/2005/8/layout/pyramid1"/>
    <dgm:cxn modelId="{90947B70-BB40-4A51-8294-70EAA76C1821}" type="presOf" srcId="{60688517-483A-4C39-8B38-1984F3FC4F3A}" destId="{B6F0EBF8-B5BC-470F-AAA3-C08BFC70E0DC}" srcOrd="1" destOrd="0" presId="urn:microsoft.com/office/officeart/2005/8/layout/pyramid1"/>
    <dgm:cxn modelId="{69DAA55A-8625-4DD8-BDD7-67B1D1769674}" srcId="{16D3C535-6A22-4E87-812A-F784DD515A2B}" destId="{FA27BBC3-FD02-4C84-AB99-11751AB5F3F3}" srcOrd="2" destOrd="0" parTransId="{3040736E-4095-47A6-94D9-9AD9135BE252}" sibTransId="{A85C883F-3953-4D75-8C14-E6C1517081E4}"/>
    <dgm:cxn modelId="{34017084-D9D5-4951-8062-0D2F8B86434A}" srcId="{16D3C535-6A22-4E87-812A-F784DD515A2B}" destId="{A85FDA2D-4089-4252-828E-A337BC621316}" srcOrd="1" destOrd="0" parTransId="{0E34A61F-75C5-42E7-AC4F-8E68EF2C008A}" sibTransId="{AC7706BE-983E-4DD5-920A-10C67DCB99A4}"/>
    <dgm:cxn modelId="{098FAB88-ABE4-4737-86F8-454BA2319823}" type="presOf" srcId="{FA27BBC3-FD02-4C84-AB99-11751AB5F3F3}" destId="{2467B099-848B-438B-89AE-76C852E15449}" srcOrd="0" destOrd="0" presId="urn:microsoft.com/office/officeart/2005/8/layout/pyramid1"/>
    <dgm:cxn modelId="{80CE9498-4136-4967-B317-735365888A0B}" type="presOf" srcId="{A85FDA2D-4089-4252-828E-A337BC621316}" destId="{95D50605-25F9-43DE-A86A-EF78BC51DB0E}" srcOrd="0" destOrd="0" presId="urn:microsoft.com/office/officeart/2005/8/layout/pyramid1"/>
    <dgm:cxn modelId="{8CD38AB8-5AAA-4394-97F8-D86484AB7073}" type="presOf" srcId="{FA27BBC3-FD02-4C84-AB99-11751AB5F3F3}" destId="{B5F4491B-1FE8-4212-B1A2-8888089999A2}" srcOrd="1" destOrd="0" presId="urn:microsoft.com/office/officeart/2005/8/layout/pyramid1"/>
    <dgm:cxn modelId="{D444ECC8-6A6F-40AD-925B-A3858FFE0EE8}" srcId="{16D3C535-6A22-4E87-812A-F784DD515A2B}" destId="{60688517-483A-4C39-8B38-1984F3FC4F3A}" srcOrd="3" destOrd="0" parTransId="{E6564E55-1B10-430A-822A-B2B571F09CA7}" sibTransId="{BCD89F3F-09C0-436D-9165-9086BD93CE0E}"/>
    <dgm:cxn modelId="{9A6271CE-DF0D-4963-8799-3673CF5F4225}" type="presOf" srcId="{7CD1412F-DAE3-4D2E-BF70-CAFD532BB2D6}" destId="{852D4D91-E00A-488F-A4C7-0E8A86BB161C}" srcOrd="1" destOrd="0" presId="urn:microsoft.com/office/officeart/2005/8/layout/pyramid1"/>
    <dgm:cxn modelId="{8D8B80CF-EE6A-4F46-8ACF-C85129F3FAFF}" srcId="{16D3C535-6A22-4E87-812A-F784DD515A2B}" destId="{7CD1412F-DAE3-4D2E-BF70-CAFD532BB2D6}" srcOrd="0" destOrd="0" parTransId="{E1D24161-8309-4E1C-A083-C9D7249F3D33}" sibTransId="{970BC4D7-3F96-49FA-A419-2A527F15230A}"/>
    <dgm:cxn modelId="{3FA484F1-357C-43CA-AE23-C25A4AEACA22}" type="presOf" srcId="{7CD1412F-DAE3-4D2E-BF70-CAFD532BB2D6}" destId="{B097939F-07AB-4F60-8CCD-4AF6463C9AAA}" srcOrd="0" destOrd="0" presId="urn:microsoft.com/office/officeart/2005/8/layout/pyramid1"/>
    <dgm:cxn modelId="{093F135C-9E3E-42A2-B70A-924E756CEA07}" type="presParOf" srcId="{ECD8604B-47DF-459F-ABD5-0C9826E288A1}" destId="{BDEA896B-2DDC-47D8-BF0C-088C3EF874D7}" srcOrd="0" destOrd="0" presId="urn:microsoft.com/office/officeart/2005/8/layout/pyramid1"/>
    <dgm:cxn modelId="{CABCD9C5-A1DC-4DA7-9243-601560E656A1}" type="presParOf" srcId="{BDEA896B-2DDC-47D8-BF0C-088C3EF874D7}" destId="{B097939F-07AB-4F60-8CCD-4AF6463C9AAA}" srcOrd="0" destOrd="0" presId="urn:microsoft.com/office/officeart/2005/8/layout/pyramid1"/>
    <dgm:cxn modelId="{41A34805-2530-4861-8055-2C116519A8E9}" type="presParOf" srcId="{BDEA896B-2DDC-47D8-BF0C-088C3EF874D7}" destId="{852D4D91-E00A-488F-A4C7-0E8A86BB161C}" srcOrd="1" destOrd="0" presId="urn:microsoft.com/office/officeart/2005/8/layout/pyramid1"/>
    <dgm:cxn modelId="{8E79035E-47DE-4E36-9F75-3A9A84192CAC}" type="presParOf" srcId="{ECD8604B-47DF-459F-ABD5-0C9826E288A1}" destId="{862BC24A-377E-42EC-82B5-876AC5833510}" srcOrd="1" destOrd="0" presId="urn:microsoft.com/office/officeart/2005/8/layout/pyramid1"/>
    <dgm:cxn modelId="{2270BD95-41B2-44F8-89DB-B5937A7CC21A}" type="presParOf" srcId="{862BC24A-377E-42EC-82B5-876AC5833510}" destId="{95D50605-25F9-43DE-A86A-EF78BC51DB0E}" srcOrd="0" destOrd="0" presId="urn:microsoft.com/office/officeart/2005/8/layout/pyramid1"/>
    <dgm:cxn modelId="{FD52457C-06A5-4C88-809E-D53DC9F03188}" type="presParOf" srcId="{862BC24A-377E-42EC-82B5-876AC5833510}" destId="{D7B1B814-D53B-48C2-A325-AB0C1FC01CAB}" srcOrd="1" destOrd="0" presId="urn:microsoft.com/office/officeart/2005/8/layout/pyramid1"/>
    <dgm:cxn modelId="{6B57618D-ED0C-4991-B070-CB88FC98BC7B}" type="presParOf" srcId="{ECD8604B-47DF-459F-ABD5-0C9826E288A1}" destId="{9D408C78-2049-42A2-9976-06430DDA180D}" srcOrd="2" destOrd="0" presId="urn:microsoft.com/office/officeart/2005/8/layout/pyramid1"/>
    <dgm:cxn modelId="{DE8603CE-1F09-4619-8499-B1FEC5FF867D}" type="presParOf" srcId="{9D408C78-2049-42A2-9976-06430DDA180D}" destId="{2467B099-848B-438B-89AE-76C852E15449}" srcOrd="0" destOrd="0" presId="urn:microsoft.com/office/officeart/2005/8/layout/pyramid1"/>
    <dgm:cxn modelId="{35748D9C-5EE2-4455-B4A8-7D7036E315A3}" type="presParOf" srcId="{9D408C78-2049-42A2-9976-06430DDA180D}" destId="{B5F4491B-1FE8-4212-B1A2-8888089999A2}" srcOrd="1" destOrd="0" presId="urn:microsoft.com/office/officeart/2005/8/layout/pyramid1"/>
    <dgm:cxn modelId="{FC63F322-CC71-4BA2-8E1F-CF10F1C655C7}" type="presParOf" srcId="{ECD8604B-47DF-459F-ABD5-0C9826E288A1}" destId="{C261C974-8711-41C5-A6D1-72A72D33CF23}" srcOrd="3" destOrd="0" presId="urn:microsoft.com/office/officeart/2005/8/layout/pyramid1"/>
    <dgm:cxn modelId="{4E4688F8-8D61-49F0-B994-3410E4B0BFAF}" type="presParOf" srcId="{C261C974-8711-41C5-A6D1-72A72D33CF23}" destId="{06492EB9-F90D-4EB1-8F20-8769781B13FC}" srcOrd="0" destOrd="0" presId="urn:microsoft.com/office/officeart/2005/8/layout/pyramid1"/>
    <dgm:cxn modelId="{4901BCC3-9BCD-4AAB-A374-F037E44D5A9B}" type="presParOf" srcId="{C261C974-8711-41C5-A6D1-72A72D33CF23}" destId="{B6F0EBF8-B5BC-470F-AAA3-C08BFC70E0DC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97939F-07AB-4F60-8CCD-4AF6463C9AAA}">
      <dsp:nvSpPr>
        <dsp:cNvPr id="0" name=""/>
        <dsp:cNvSpPr/>
      </dsp:nvSpPr>
      <dsp:spPr>
        <a:xfrm>
          <a:off x="2914650" y="0"/>
          <a:ext cx="1943100" cy="1087834"/>
        </a:xfrm>
        <a:prstGeom prst="trapezoid">
          <a:avLst>
            <a:gd name="adj" fmla="val 89310"/>
          </a:avLst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Register	</a:t>
          </a:r>
        </a:p>
      </dsp:txBody>
      <dsp:txXfrm>
        <a:off x="2914650" y="0"/>
        <a:ext cx="1943100" cy="1087834"/>
      </dsp:txXfrm>
    </dsp:sp>
    <dsp:sp modelId="{95D50605-25F9-43DE-A86A-EF78BC51DB0E}">
      <dsp:nvSpPr>
        <dsp:cNvPr id="0" name=""/>
        <dsp:cNvSpPr/>
      </dsp:nvSpPr>
      <dsp:spPr>
        <a:xfrm>
          <a:off x="1943100" y="1087834"/>
          <a:ext cx="3886200" cy="1087834"/>
        </a:xfrm>
        <a:prstGeom prst="trapezoid">
          <a:avLst>
            <a:gd name="adj" fmla="val 89310"/>
          </a:avLst>
        </a:prstGeom>
        <a:gradFill rotWithShape="0">
          <a:gsLst>
            <a:gs pos="0">
              <a:schemeClr val="accent1">
                <a:shade val="80000"/>
                <a:hueOff val="90421"/>
                <a:satOff val="1725"/>
                <a:lumOff val="761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90421"/>
                <a:satOff val="1725"/>
                <a:lumOff val="761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90421"/>
                <a:satOff val="1725"/>
                <a:lumOff val="761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Cache Memory	</a:t>
          </a:r>
        </a:p>
      </dsp:txBody>
      <dsp:txXfrm>
        <a:off x="2623185" y="1087834"/>
        <a:ext cx="2526030" cy="1087834"/>
      </dsp:txXfrm>
    </dsp:sp>
    <dsp:sp modelId="{2467B099-848B-438B-89AE-76C852E15449}">
      <dsp:nvSpPr>
        <dsp:cNvPr id="0" name=""/>
        <dsp:cNvSpPr/>
      </dsp:nvSpPr>
      <dsp:spPr>
        <a:xfrm>
          <a:off x="971550" y="2175669"/>
          <a:ext cx="5829300" cy="1087834"/>
        </a:xfrm>
        <a:prstGeom prst="trapezoid">
          <a:avLst>
            <a:gd name="adj" fmla="val 89310"/>
          </a:avLst>
        </a:prstGeom>
        <a:gradFill rotWithShape="0">
          <a:gsLst>
            <a:gs pos="0">
              <a:schemeClr val="accent1">
                <a:shade val="80000"/>
                <a:hueOff val="180842"/>
                <a:satOff val="3450"/>
                <a:lumOff val="1523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180842"/>
                <a:satOff val="3450"/>
                <a:lumOff val="1523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180842"/>
                <a:satOff val="3450"/>
                <a:lumOff val="1523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Main Memory (RAM, ROM)</a:t>
          </a:r>
        </a:p>
      </dsp:txBody>
      <dsp:txXfrm>
        <a:off x="1991677" y="2175669"/>
        <a:ext cx="3789045" cy="1087834"/>
      </dsp:txXfrm>
    </dsp:sp>
    <dsp:sp modelId="{06492EB9-F90D-4EB1-8F20-8769781B13FC}">
      <dsp:nvSpPr>
        <dsp:cNvPr id="0" name=""/>
        <dsp:cNvSpPr/>
      </dsp:nvSpPr>
      <dsp:spPr>
        <a:xfrm>
          <a:off x="0" y="3263503"/>
          <a:ext cx="7772401" cy="1087834"/>
        </a:xfrm>
        <a:prstGeom prst="trapezoid">
          <a:avLst>
            <a:gd name="adj" fmla="val 89310"/>
          </a:avLst>
        </a:prstGeom>
        <a:gradFill rotWithShape="0">
          <a:gsLst>
            <a:gs pos="0">
              <a:schemeClr val="accent1">
                <a:shade val="80000"/>
                <a:hueOff val="271263"/>
                <a:satOff val="5175"/>
                <a:lumOff val="2285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271263"/>
                <a:satOff val="5175"/>
                <a:lumOff val="2285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271263"/>
                <a:satOff val="5175"/>
                <a:lumOff val="2285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Secondary Memory (SSD,HDD)</a:t>
          </a:r>
        </a:p>
      </dsp:txBody>
      <dsp:txXfrm>
        <a:off x="1360170" y="3263503"/>
        <a:ext cx="5052060" cy="1087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pyraLvlNode" val="level"/>
          <dgm:param type="pyraAcctTxNode" val="acctTx"/>
          <dgm:param type="pyraAcctBkgdNode" val="acctBkgd"/>
          <dgm:param type="linDir" val="fromB"/>
          <dgm:param type="txDir" val="fromT"/>
          <dgm:param type="pyraAcctPos" val="aft"/>
          <dgm:param type="pyraAcctTxMar" val="step"/>
        </dgm:alg>
      </dgm:if>
      <dgm:else name="Name3">
        <dgm:alg type="pyra">
          <dgm:param type="pyraLvlNode" val="level"/>
          <dgm:param type="pyraAcctTxNode" val="acctTx"/>
          <dgm:param type="pyraAcctBkgdNode" val="acctBkgd"/>
          <dgm:param type="linDir" val="fromB"/>
          <dgm:param type="txDir" val="fromT"/>
          <dgm:param type="pyraAcctPos" val="bef"/>
          <dgm:param type="pyraAcctTxMar" val="step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9884B-5A99-44E0-84E5-1FFC5ED509B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03ABA-567C-4E7A-9095-3D9C26910DB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digital computer?</a:t>
            </a:r>
            <a:r>
              <a:rPr lang="en-US" baseline="0" dirty="0"/>
              <a:t> Examples where we can use this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03ABA-567C-4E7A-9095-3D9C26910DB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digital computer?</a:t>
            </a:r>
            <a:r>
              <a:rPr lang="en-US" baseline="0" dirty="0"/>
              <a:t> Examples where we can use this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03ABA-567C-4E7A-9095-3D9C26910DB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Digital system and Digital computer are complement to each other.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b="1" dirty="0"/>
              <a:t>Basically </a:t>
            </a:r>
            <a:r>
              <a:rPr lang="en-US" b="0" dirty="0"/>
              <a:t>we are using GUI based computer or mobile phones which are clickable </a:t>
            </a:r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b="1" dirty="0"/>
              <a:t>GUI </a:t>
            </a:r>
            <a:r>
              <a:rPr lang="en-US" dirty="0"/>
              <a:t>has made the life simple to be appeared before user and execute commands but it involves a sequence of a lot of complex internal instructions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computer is used not only to perform arithmetic operations but also to execute logical operations – so this computer can be programmed to make decision based on given conditions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/>
              <a:t>e.g. </a:t>
            </a:r>
            <a:r>
              <a:rPr lang="en-US" dirty="0"/>
              <a:t>ECC used in DVD or HDD to store and retrieve back data safely without any loss of any single bit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Ones </a:t>
            </a:r>
            <a:r>
              <a:rPr lang="en-US" dirty="0"/>
              <a:t>also named as </a:t>
            </a:r>
            <a:r>
              <a:rPr lang="en-US" b="1" dirty="0"/>
              <a:t>units</a:t>
            </a:r>
            <a:endParaRPr lang="en-US" b="1" dirty="0"/>
          </a:p>
          <a:p>
            <a:r>
              <a:rPr lang="en-US" b="1" dirty="0"/>
              <a:t>Give an example how a number is formed from digits.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Digits =numerical coefficients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first one is the general format to represent any number with decimal points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Radix point </a:t>
            </a:r>
            <a:r>
              <a:rPr lang="en-US" dirty="0"/>
              <a:t>is aliased as </a:t>
            </a:r>
            <a:r>
              <a:rPr lang="en-US" b="1" dirty="0"/>
              <a:t>decimal point </a:t>
            </a:r>
            <a:r>
              <a:rPr lang="en-US" dirty="0"/>
              <a:t>if the base or radix is 10.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It distinguishes the positive powers of radix from the negative powers (</a:t>
            </a:r>
            <a:r>
              <a:rPr lang="en-US" b="1" dirty="0"/>
              <a:t>Integers and fractions</a:t>
            </a:r>
            <a:r>
              <a:rPr lang="en-US" dirty="0"/>
              <a:t>)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Later are the extended format to generate a number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any number system, there are </a:t>
            </a:r>
            <a:r>
              <a:rPr lang="en-US" b="1" i="1" dirty="0"/>
              <a:t>b </a:t>
            </a:r>
            <a:r>
              <a:rPr lang="en-US" b="0" i="0" dirty="0"/>
              <a:t>number of coefficients or digits.</a:t>
            </a:r>
            <a:endParaRPr lang="en-US" b="0" i="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0" i="0" dirty="0"/>
              <a:t>It is a customary that take </a:t>
            </a:r>
            <a:r>
              <a:rPr lang="en-US" b="1" i="1" dirty="0"/>
              <a:t>b</a:t>
            </a:r>
            <a:r>
              <a:rPr lang="en-US" b="0" i="0" dirty="0"/>
              <a:t> digits from decimal number system. But if </a:t>
            </a:r>
            <a:r>
              <a:rPr lang="en-US" b="1" i="1" dirty="0"/>
              <a:t>b</a:t>
            </a:r>
            <a:r>
              <a:rPr lang="en-US" b="0" i="0" dirty="0"/>
              <a:t>&gt;10, letters from English alphabet are used as a supplement </a:t>
            </a:r>
            <a:endParaRPr lang="en-US" b="0" i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 dirty="0"/>
              <a:t>Each of the coefficients in a number will be multiplied with power of </a:t>
            </a:r>
            <a:r>
              <a:rPr lang="en-US" b="1" i="1" dirty="0"/>
              <a:t>b </a:t>
            </a:r>
            <a:r>
              <a:rPr lang="en-US" b="0" i="0" dirty="0"/>
              <a:t>where power is the position from radix point</a:t>
            </a:r>
            <a:endParaRPr lang="en-US" b="0" i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 dirty="0"/>
              <a:t>We use base </a:t>
            </a:r>
            <a:r>
              <a:rPr lang="en-US" b="1" i="0" dirty="0"/>
              <a:t>b </a:t>
            </a:r>
            <a:r>
              <a:rPr lang="en-US" b="0" i="0" dirty="0"/>
              <a:t>as subscript in the representation by the enclosing parenthesis to denote the base in which a particular number system it is presented except the contents make it obvious</a:t>
            </a:r>
            <a:endParaRPr lang="en-US" b="0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Perform a addition (158+249) and subtraction (243-149) to make understand the number system for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Hexadecimal number system can be used to </a:t>
            </a:r>
            <a:r>
              <a:rPr lang="en-US" b="1" dirty="0"/>
              <a:t>represent easily long strings </a:t>
            </a:r>
            <a:r>
              <a:rPr lang="en-US" dirty="0"/>
              <a:t>of bits in address, instructions and data in computer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Usually data stored in bytes (= 8 bits)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03ABA-567C-4E7A-9095-3D9C26910DB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Make an example to make it clear for any base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Representations from any two radix (base) can be said equivalent if their decimals are equal. Example: (0011)</a:t>
            </a:r>
            <a:r>
              <a:rPr lang="en-US" b="1" baseline="-25000" dirty="0"/>
              <a:t>8</a:t>
            </a:r>
            <a:r>
              <a:rPr lang="en-US" b="1" dirty="0"/>
              <a:t> and (1001)</a:t>
            </a:r>
            <a:r>
              <a:rPr lang="en-US" b="1" baseline="-25000" dirty="0"/>
              <a:t>2 </a:t>
            </a:r>
            <a:r>
              <a:rPr lang="en-US" b="1" baseline="0" dirty="0"/>
              <a:t>both are 9 in decimal</a:t>
            </a:r>
            <a:endParaRPr lang="en-US" b="1" baseline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Decimal to any base </a:t>
            </a:r>
            <a:r>
              <a:rPr lang="en-US" b="1" i="1" baseline="0" dirty="0"/>
              <a:t>r</a:t>
            </a:r>
            <a:r>
              <a:rPr lang="en-US" baseline="0" dirty="0"/>
              <a:t> conversion can be done by dividing that number and its all quotients by r and accumulating its reminders in reverse way. (until integer quotient = 0)</a:t>
            </a:r>
            <a:endParaRPr lang="en-US" baseline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But if the decimal number have a decimal point, fraction part should be handled in different way (next slide).</a:t>
            </a:r>
            <a:endParaRPr lang="en-US" baseline="-250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decimal to binary conversion, we have to account integer values carefully and accumulate them in sequential (in original order)</a:t>
            </a:r>
            <a:endParaRPr lang="en-US" dirty="0"/>
          </a:p>
          <a:p>
            <a:r>
              <a:rPr lang="en-US" dirty="0"/>
              <a:t>For binary to decimal conversion, we have to take the power as negative starting from 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Complement?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(r-1)’s complement can be achieved subtracting each digit from (r-1).</a:t>
            </a:r>
            <a:endParaRPr lang="en-US" dirty="0"/>
          </a:p>
          <a:p>
            <a:r>
              <a:rPr lang="en-US" dirty="0"/>
              <a:t>Example: in 10’s complement, (r-1)’s=9’s complement can be calculated as subtracting each decimal digit from 9.</a:t>
            </a: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b="1" dirty="0"/>
              <a:t>Another way to work with fraction: </a:t>
            </a:r>
            <a:r>
              <a:rPr lang="en-US" dirty="0"/>
              <a:t>perform the complement as if there were no radix point. After performing the calculation, place the radix point at the same relative position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(r-1)’s complement can be achieved subtracting each digit from (r-1).</a:t>
            </a:r>
            <a:endParaRPr lang="en-US" dirty="0"/>
          </a:p>
          <a:p>
            <a:r>
              <a:rPr lang="en-US" dirty="0"/>
              <a:t>Example: in 10’s complement, (r-1)’s=9’s complement can be calculated as subtracting each decimal digit from 9.</a:t>
            </a: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b="1" dirty="0"/>
              <a:t>Another way to work with fraction: </a:t>
            </a:r>
            <a:r>
              <a:rPr lang="en-US" dirty="0"/>
              <a:t>perform the complement as if there were no radix point. After performing the calculation, place the radix point at the same relative position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dirty="0"/>
                  <a:t>Example: in 2’s complement, (r-1)’s=1’s complement can be calculated as subtracting each binary digit from 1.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dirty="0"/>
                  <a:t>flipping each bit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or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)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way to work with fraction: perform the complement as if there were no radix point. After performing the calculation, place the radix point at the same relative position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Octal and Hexa will follow the same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point 2.2, we no need to add to extra 1 with the result as like 2.1. Because the result is already is diminished by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the three representations are identical for positive numbers</a:t>
            </a:r>
            <a:endParaRPr lang="en-US" dirty="0"/>
          </a:p>
          <a:p>
            <a:r>
              <a:rPr lang="en-US" dirty="0"/>
              <a:t>But signed 1’s complement and signed magnitude representation have two zeros (positive and negative), whereas signed 2’s complement has single zero (positive)</a:t>
            </a:r>
            <a:endParaRPr lang="en-US" dirty="0"/>
          </a:p>
          <a:p>
            <a:r>
              <a:rPr lang="en-US" dirty="0"/>
              <a:t>Signed-magnitude is awkward for computer arithmetic, because here it has to handle sign and magnitude part separately </a:t>
            </a:r>
            <a:endParaRPr lang="en-US" dirty="0"/>
          </a:p>
          <a:p>
            <a:r>
              <a:rPr lang="en-US" dirty="0"/>
              <a:t>-8 (1000) is negative in 4-bit number to make other addition operations consistent (2-8)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overflow problem is occurred if we deal with the numbers having n bits but result it produced is (n+1) bits. Then this extra single bit can not be adjusted with the given capacity causing an error.</a:t>
            </a:r>
            <a:endParaRPr lang="en-US" dirty="0"/>
          </a:p>
          <a:p>
            <a:r>
              <a:rPr lang="en-US" dirty="0"/>
              <a:t>But this problem can’t be happened with pen and paper as we don’t face any kind of shortage of width of paper here.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signed and unsigned numbers will follow the same rule to perform addition and subtraction. 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 </a:t>
            </a:r>
            <a:r>
              <a:rPr lang="en-US" b="1" dirty="0">
                <a:solidFill>
                  <a:srgbClr val="FF0000"/>
                </a:solidFill>
              </a:rPr>
              <a:t>common hardware </a:t>
            </a:r>
            <a:r>
              <a:rPr lang="en-US" dirty="0"/>
              <a:t>circuit is enough to handle them both. So, the programmer/user should be careful about the representation of the number whether they are signed or unsigned.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minimum number of bits for 2</a:t>
            </a:r>
            <a:r>
              <a:rPr lang="en-US" baseline="30000" dirty="0"/>
              <a:t>n</a:t>
            </a:r>
            <a:r>
              <a:rPr lang="en-US" dirty="0"/>
              <a:t> distinct elements = n. But there is no maximum range to represent them separately.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also perform arithmetic operation directly on those BCDs.</a:t>
            </a:r>
            <a:endParaRPr lang="en-US" dirty="0"/>
          </a:p>
          <a:p>
            <a:r>
              <a:rPr lang="en-US" b="1" dirty="0"/>
              <a:t>Give some examples for better understanding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Give some examples for better understanding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Give some examples for better understanding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9’s complement = subtracting each decimal digit from 9.</a:t>
            </a:r>
            <a:br>
              <a:rPr lang="en-US" b="1" dirty="0"/>
            </a:br>
            <a:r>
              <a:rPr lang="en-US" b="1" dirty="0"/>
              <a:t>Give some examples </a:t>
            </a:r>
            <a:endParaRPr lang="en-US" b="1" dirty="0"/>
          </a:p>
          <a:p>
            <a:r>
              <a:rPr lang="en-US" b="1" dirty="0"/>
              <a:t>Many computer have their own </a:t>
            </a:r>
            <a:r>
              <a:rPr lang="en-US" b="1" u="sng" dirty="0"/>
              <a:t>special hardware</a:t>
            </a:r>
            <a:r>
              <a:rPr lang="en-US" b="1" dirty="0"/>
              <a:t> circuit to perform the calculation directly with decimals in BCD which work based on user’s specification </a:t>
            </a:r>
            <a:r>
              <a:rPr lang="en-US" b="1" u="sng" dirty="0"/>
              <a:t>instead of converting them in binary. </a:t>
            </a: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Weighted code – </a:t>
            </a:r>
            <a:r>
              <a:rPr lang="en-US" b="0" dirty="0"/>
              <a:t>each bit position is assigned a weighting factor in such a way that each digit can be calculated by adding the weight for those positions where there is a 1</a:t>
            </a:r>
            <a:endParaRPr lang="en-US" b="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0" dirty="0"/>
              <a:t>Sometimes a digit can be coded into two different possible ways. Example: 4 in 2421 can be represented as 0100 and 1010. </a:t>
            </a:r>
            <a:r>
              <a:rPr lang="en-US" b="1" u="sng" dirty="0"/>
              <a:t>Both of them are correct, it should be chosen in a way so that self complement is achieved.    </a:t>
            </a:r>
            <a:r>
              <a:rPr lang="en-US" b="0" dirty="0"/>
              <a:t>	</a:t>
            </a:r>
            <a:endParaRPr lang="en-US" b="1" dirty="0"/>
          </a:p>
          <a:p>
            <a:r>
              <a:rPr lang="en-US" b="1" dirty="0"/>
              <a:t>Options </a:t>
            </a:r>
            <a:r>
              <a:rPr lang="en-US" b="1" dirty="0" err="1"/>
              <a:t>i</a:t>
            </a:r>
            <a:r>
              <a:rPr lang="en-US" b="1" dirty="0"/>
              <a:t>, ii, and iv is used to get the 9’s complement directly changing 0s to 1s and vice versa </a:t>
            </a:r>
            <a:endParaRPr lang="en-US" b="1" dirty="0"/>
          </a:p>
          <a:p>
            <a:r>
              <a:rPr lang="en-US" b="1" dirty="0"/>
              <a:t>Option iii is used basically for error detection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MSB = 3</a:t>
            </a:r>
            <a:endParaRPr lang="en-US" dirty="0"/>
          </a:p>
          <a:p>
            <a:r>
              <a:rPr lang="en-US" dirty="0"/>
              <a:t>LSB = 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EBCDIC and mostly ASCII codes are stored in one byte storage dedicating a single bit for error checking (</a:t>
            </a:r>
            <a:r>
              <a:rPr lang="en-US" b="1" i="1" dirty="0"/>
              <a:t>e.g., </a:t>
            </a:r>
            <a:r>
              <a:rPr lang="en-US" dirty="0"/>
              <a:t>parity bit)</a:t>
            </a:r>
            <a:endParaRPr lang="en-US" dirty="0"/>
          </a:p>
          <a:p>
            <a:r>
              <a:rPr lang="en-US" dirty="0"/>
              <a:t>“</a:t>
            </a:r>
            <a:r>
              <a:rPr lang="en-US" b="1" i="1" dirty="0"/>
              <a:t>One byte per character</a:t>
            </a:r>
            <a:r>
              <a:rPr lang="en-US" dirty="0"/>
              <a:t>” concept - Other Greek and Latin symbols also can be included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ASCII: </a:t>
            </a:r>
            <a:r>
              <a:rPr lang="en-US" dirty="0"/>
              <a:t>American Standard Code for Information Interchange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</a:t>
            </a:r>
            <a:r>
              <a:rPr lang="en-US" b="1" dirty="0"/>
              <a:t>control characters </a:t>
            </a:r>
            <a:r>
              <a:rPr lang="en-US" dirty="0"/>
              <a:t>are there to </a:t>
            </a:r>
            <a:r>
              <a:rPr lang="en-US" b="1" dirty="0"/>
              <a:t>route data </a:t>
            </a:r>
            <a:r>
              <a:rPr lang="en-US" dirty="0"/>
              <a:t>(data transmission) and </a:t>
            </a:r>
            <a:r>
              <a:rPr lang="en-US" b="1" dirty="0"/>
              <a:t>arranging characters </a:t>
            </a:r>
            <a:r>
              <a:rPr lang="en-US" dirty="0"/>
              <a:t>into a particular format.</a:t>
            </a:r>
            <a:endParaRPr lang="en-US" dirty="0"/>
          </a:p>
          <a:p>
            <a:r>
              <a:rPr lang="en-US" b="1" dirty="0"/>
              <a:t>Three </a:t>
            </a:r>
            <a:r>
              <a:rPr lang="en-US" dirty="0"/>
              <a:t>types of control characters:</a:t>
            </a:r>
            <a:endParaRPr lang="en-US" dirty="0"/>
          </a:p>
          <a:p>
            <a:pPr marL="685800" lvl="1" indent="-228600">
              <a:buFont typeface="+mj-lt"/>
              <a:buAutoNum type="arabicPeriod"/>
            </a:pPr>
            <a:r>
              <a:rPr lang="en-US" b="1" dirty="0"/>
              <a:t>Format effectors </a:t>
            </a:r>
            <a:r>
              <a:rPr lang="en-US" dirty="0"/>
              <a:t>– control the layout of printing – </a:t>
            </a:r>
            <a:r>
              <a:rPr lang="en-US" b="1" i="1" dirty="0"/>
              <a:t>e.g. </a:t>
            </a:r>
            <a:r>
              <a:rPr lang="en-US" dirty="0"/>
              <a:t>Backspace, horizontal tabulation, carriage return </a:t>
            </a:r>
            <a:endParaRPr lang="en-US" dirty="0"/>
          </a:p>
          <a:p>
            <a:pPr marL="685800" lvl="1" indent="-228600">
              <a:buFont typeface="+mj-lt"/>
              <a:buAutoNum type="arabicPeriod"/>
            </a:pPr>
            <a:r>
              <a:rPr lang="en-US" b="1" dirty="0"/>
              <a:t>Information separator</a:t>
            </a:r>
            <a:r>
              <a:rPr lang="en-US" dirty="0"/>
              <a:t> – separate data into paragraphs or pages – </a:t>
            </a:r>
            <a:r>
              <a:rPr lang="en-US" b="1" i="1" dirty="0"/>
              <a:t>e.g. </a:t>
            </a:r>
            <a:r>
              <a:rPr lang="en-US" dirty="0"/>
              <a:t>record separator and file separator</a:t>
            </a:r>
            <a:endParaRPr lang="en-US" dirty="0"/>
          </a:p>
          <a:p>
            <a:pPr marL="685800" lvl="1" indent="-228600">
              <a:buFont typeface="+mj-lt"/>
              <a:buAutoNum type="arabicPeriod"/>
            </a:pPr>
            <a:r>
              <a:rPr lang="en-US" b="1" dirty="0"/>
              <a:t>Communication control </a:t>
            </a:r>
            <a:r>
              <a:rPr lang="en-US" dirty="0"/>
              <a:t>– transmission of text in remote devices – </a:t>
            </a:r>
            <a:r>
              <a:rPr lang="en-US" b="1" i="1" dirty="0"/>
              <a:t>e.g. </a:t>
            </a:r>
            <a:r>
              <a:rPr lang="en-US" dirty="0"/>
              <a:t>STX (start of text) and ETX (end of text), ACK, NAK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correction code (</a:t>
            </a:r>
            <a:r>
              <a:rPr lang="en-US" b="1" i="1" dirty="0"/>
              <a:t>e.g., </a:t>
            </a:r>
            <a:r>
              <a:rPr lang="en-US" dirty="0"/>
              <a:t>Hamming code) can also be used in modern technology to overcome this noise in the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NAK control signal </a:t>
            </a:r>
            <a:r>
              <a:rPr lang="en-US" dirty="0"/>
              <a:t>= Not Acknowledgement signal</a:t>
            </a:r>
            <a:endParaRPr lang="en-US" dirty="0"/>
          </a:p>
          <a:p>
            <a:r>
              <a:rPr lang="en-US" b="1" dirty="0"/>
              <a:t>ACK control signal </a:t>
            </a:r>
            <a:r>
              <a:rPr lang="en-US" dirty="0"/>
              <a:t>= Acknowledgement signal 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03ABA-567C-4E7A-9095-3D9C26910DB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NAK control signal </a:t>
            </a:r>
            <a:r>
              <a:rPr lang="en-US" dirty="0"/>
              <a:t>= Not Acknowledgement signal</a:t>
            </a:r>
            <a:endParaRPr lang="en-US" dirty="0"/>
          </a:p>
          <a:p>
            <a:r>
              <a:rPr lang="en-US" b="1" dirty="0"/>
              <a:t>ACK control signal </a:t>
            </a:r>
            <a:r>
              <a:rPr lang="en-US" dirty="0"/>
              <a:t>= Acknowledgement signal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Flip-flop</a:t>
            </a:r>
            <a:endParaRPr lang="en-US" b="1" dirty="0">
              <a:solidFill>
                <a:srgbClr val="00206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Ferrite (magnetic) cores</a:t>
            </a:r>
            <a:endParaRPr lang="en-US" dirty="0"/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Punch card </a:t>
            </a:r>
            <a:r>
              <a:rPr lang="en-US" dirty="0"/>
              <a:t>with holes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them based on storage size, speed, price, distance from processor, access for a processor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N-tuple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ordered set with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N-tuple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ordered set with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keyboard 4 characters are fetched one by one, stored them in ALU (processing unit) and later store in main memory for further use – Programmed/Interrupt-driven I/O (not DMA)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process binary data, a computer does need a storage device to hold binary data (</a:t>
            </a:r>
            <a:r>
              <a:rPr lang="en-US" b="1" dirty="0"/>
              <a:t>register</a:t>
            </a:r>
            <a:r>
              <a:rPr lang="en-US" dirty="0"/>
              <a:t>) and a circuit element to process that data (</a:t>
            </a:r>
            <a:r>
              <a:rPr lang="en-US" b="1" dirty="0"/>
              <a:t>ALU</a:t>
            </a:r>
            <a:r>
              <a:rPr lang="en-US" dirty="0"/>
              <a:t>)</a:t>
            </a:r>
            <a:endParaRPr lang="en-US" dirty="0"/>
          </a:p>
          <a:p>
            <a:r>
              <a:rPr lang="en-US" dirty="0"/>
              <a:t>Sometimes to store data for future, data could be store in memory (</a:t>
            </a:r>
            <a:r>
              <a:rPr lang="en-US" b="1" dirty="0"/>
              <a:t>main memory, RAM</a:t>
            </a:r>
            <a:r>
              <a:rPr lang="en-US" dirty="0"/>
              <a:t>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Switch</a:t>
            </a:r>
            <a:r>
              <a:rPr lang="en-US" dirty="0"/>
              <a:t>: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a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switch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is an electrical component that can 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disconnect (open)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connect (close)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 conducting path in an electrical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circuit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 interrupt or divert it from one conductor to another.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 = 0 or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 and B are input variables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Gates with more than two inputs will follow the same definition specified earlier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MSB = 3</a:t>
            </a:r>
            <a:endParaRPr lang="en-US" dirty="0"/>
          </a:p>
          <a:p>
            <a:r>
              <a:rPr lang="en-US" dirty="0"/>
              <a:t>LSB = 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4205: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7011D-92ED-4732-AC78-E5139C36022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microsoft.com/office/2007/relationships/hdphoto" Target="../media/image8.wdp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microsoft.com/office/2007/relationships/hdphoto" Target="../media/image13.wdp"/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jpe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20.png"/><Relationship Id="rId3" Type="http://schemas.microsoft.com/office/2007/relationships/hdphoto" Target="../media/image19.wdp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5.xml"/><Relationship Id="rId4" Type="http://schemas.microsoft.com/office/2007/relationships/hdphoto" Target="../media/image24.wdp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.jpeg"/><Relationship Id="rId3" Type="http://schemas.microsoft.com/office/2007/relationships/hdphoto" Target="../media/image27.wdp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slideLayout" Target="../slideLayouts/slideLayout2.xml"/><Relationship Id="rId7" Type="http://schemas.microsoft.com/office/2007/relationships/hdphoto" Target="../media/image33.wdp"/><Relationship Id="rId6" Type="http://schemas.openxmlformats.org/officeDocument/2006/relationships/image" Target="../media/image32.png"/><Relationship Id="rId5" Type="http://schemas.microsoft.com/office/2007/relationships/hdphoto" Target="../media/image31.wdp"/><Relationship Id="rId4" Type="http://schemas.openxmlformats.org/officeDocument/2006/relationships/image" Target="../media/image30.png"/><Relationship Id="rId3" Type="http://schemas.microsoft.com/office/2007/relationships/hdphoto" Target="../media/image29.wdp"/><Relationship Id="rId2" Type="http://schemas.openxmlformats.org/officeDocument/2006/relationships/image" Target="../media/image28.png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microsoft.com/office/2007/relationships/hdphoto" Target="../media/image35.wdp"/><Relationship Id="rId1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3.xml"/><Relationship Id="rId4" Type="http://schemas.openxmlformats.org/officeDocument/2006/relationships/slideLayout" Target="../slideLayouts/slideLayout2.xml"/><Relationship Id="rId3" Type="http://schemas.microsoft.com/office/2007/relationships/hdphoto" Target="../media/image43.wdp"/><Relationship Id="rId2" Type="http://schemas.openxmlformats.org/officeDocument/2006/relationships/image" Target="../media/image42.png"/><Relationship Id="rId1" Type="http://schemas.openxmlformats.org/officeDocument/2006/relationships/image" Target="../media/image1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5.xml"/><Relationship Id="rId4" Type="http://schemas.openxmlformats.org/officeDocument/2006/relationships/slideLayout" Target="../slideLayouts/slideLayout2.xml"/><Relationship Id="rId3" Type="http://schemas.microsoft.com/office/2007/relationships/hdphoto" Target="../media/image45.wdp"/><Relationship Id="rId2" Type="http://schemas.openxmlformats.org/officeDocument/2006/relationships/image" Target="../media/image44.png"/><Relationship Id="rId1" Type="http://schemas.openxmlformats.org/officeDocument/2006/relationships/image" Target="../media/image1.jpeg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6.xml"/><Relationship Id="rId4" Type="http://schemas.openxmlformats.org/officeDocument/2006/relationships/slideLayout" Target="../slideLayouts/slideLayout2.xml"/><Relationship Id="rId3" Type="http://schemas.microsoft.com/office/2007/relationships/hdphoto" Target="../media/image47.wdp"/><Relationship Id="rId2" Type="http://schemas.openxmlformats.org/officeDocument/2006/relationships/image" Target="../media/image46.png"/><Relationship Id="rId1" Type="http://schemas.openxmlformats.org/officeDocument/2006/relationships/image" Target="../media/image1.jpe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4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49.png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microsoft.com/office/2007/relationships/hdphoto" Target="../media/image51.wdp"/><Relationship Id="rId1" Type="http://schemas.openxmlformats.org/officeDocument/2006/relationships/image" Target="../media/image50.png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1.xml"/><Relationship Id="rId4" Type="http://schemas.openxmlformats.org/officeDocument/2006/relationships/slideLayout" Target="../slideLayouts/slideLayout2.xml"/><Relationship Id="rId3" Type="http://schemas.microsoft.com/office/2007/relationships/hdphoto" Target="../media/image53.wdp"/><Relationship Id="rId2" Type="http://schemas.openxmlformats.org/officeDocument/2006/relationships/image" Target="../media/image52.png"/><Relationship Id="rId1" Type="http://schemas.openxmlformats.org/officeDocument/2006/relationships/image" Target="../media/image1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6.jpeg"/><Relationship Id="rId3" Type="http://schemas.microsoft.com/office/2007/relationships/hdphoto" Target="../media/image55.wdp"/><Relationship Id="rId2" Type="http://schemas.openxmlformats.org/officeDocument/2006/relationships/image" Target="../media/image54.png"/><Relationship Id="rId1" Type="http://schemas.openxmlformats.org/officeDocument/2006/relationships/image" Target="../media/image1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7.xml"/><Relationship Id="rId4" Type="http://schemas.openxmlformats.org/officeDocument/2006/relationships/slideLayout" Target="../slideLayouts/slideLayout2.xml"/><Relationship Id="rId3" Type="http://schemas.microsoft.com/office/2007/relationships/hdphoto" Target="../media/image58.wdp"/><Relationship Id="rId2" Type="http://schemas.openxmlformats.org/officeDocument/2006/relationships/image" Target="../media/image57.png"/><Relationship Id="rId1" Type="http://schemas.openxmlformats.org/officeDocument/2006/relationships/image" Target="../media/image1.jpeg"/></Relationships>
</file>

<file path=ppt/slides/_rels/slide5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1.jpeg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3.png"/><Relationship Id="rId2" Type="http://schemas.openxmlformats.org/officeDocument/2006/relationships/image" Target="../media/image62.GIF"/><Relationship Id="rId1" Type="http://schemas.openxmlformats.org/officeDocument/2006/relationships/image" Target="../media/image61.jpe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64.png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65.png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2.xml"/><Relationship Id="rId4" Type="http://schemas.openxmlformats.org/officeDocument/2006/relationships/slideLayout" Target="../slideLayouts/slideLayout2.xml"/><Relationship Id="rId3" Type="http://schemas.microsoft.com/office/2007/relationships/hdphoto" Target="../media/image67.wdp"/><Relationship Id="rId2" Type="http://schemas.openxmlformats.org/officeDocument/2006/relationships/image" Target="../media/image66.png"/><Relationship Id="rId1" Type="http://schemas.openxmlformats.org/officeDocument/2006/relationships/image" Target="../media/image1.jpeg"/></Relationships>
</file>

<file path=ppt/slides/_rels/slide6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3.xml"/><Relationship Id="rId4" Type="http://schemas.openxmlformats.org/officeDocument/2006/relationships/slideLayout" Target="../slideLayouts/slideLayout2.xml"/><Relationship Id="rId3" Type="http://schemas.microsoft.com/office/2007/relationships/hdphoto" Target="../media/image69.wdp"/><Relationship Id="rId2" Type="http://schemas.openxmlformats.org/officeDocument/2006/relationships/image" Target="../media/image68.png"/><Relationship Id="rId1" Type="http://schemas.openxmlformats.org/officeDocument/2006/relationships/image" Target="../media/image1.jpeg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4.xml"/><Relationship Id="rId4" Type="http://schemas.openxmlformats.org/officeDocument/2006/relationships/slideLayout" Target="../slideLayouts/slideLayout2.xml"/><Relationship Id="rId3" Type="http://schemas.microsoft.com/office/2007/relationships/hdphoto" Target="../media/image71.wdp"/><Relationship Id="rId2" Type="http://schemas.openxmlformats.org/officeDocument/2006/relationships/image" Target="../media/image70.png"/><Relationship Id="rId1" Type="http://schemas.openxmlformats.org/officeDocument/2006/relationships/image" Target="../media/image1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8.xml"/><Relationship Id="rId6" Type="http://schemas.openxmlformats.org/officeDocument/2006/relationships/slideLayout" Target="../slideLayouts/slideLayout2.xml"/><Relationship Id="rId5" Type="http://schemas.microsoft.com/office/2007/relationships/hdphoto" Target="../media/image75.wdp"/><Relationship Id="rId4" Type="http://schemas.openxmlformats.org/officeDocument/2006/relationships/image" Target="../media/image74.png"/><Relationship Id="rId3" Type="http://schemas.microsoft.com/office/2007/relationships/hdphoto" Target="../media/image73.wdp"/><Relationship Id="rId2" Type="http://schemas.openxmlformats.org/officeDocument/2006/relationships/image" Target="../media/image72.png"/><Relationship Id="rId1" Type="http://schemas.openxmlformats.org/officeDocument/2006/relationships/image" Target="../media/image1.jpeg"/></Relationships>
</file>

<file path=ppt/slides/_rels/slide7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9.xml"/><Relationship Id="rId4" Type="http://schemas.openxmlformats.org/officeDocument/2006/relationships/slideLayout" Target="../slideLayouts/slideLayout2.xml"/><Relationship Id="rId3" Type="http://schemas.microsoft.com/office/2007/relationships/hdphoto" Target="../media/image77.wdp"/><Relationship Id="rId2" Type="http://schemas.openxmlformats.org/officeDocument/2006/relationships/image" Target="../media/image76.png"/><Relationship Id="rId1" Type="http://schemas.openxmlformats.org/officeDocument/2006/relationships/image" Target="../media/image1.jpe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0.jpeg"/><Relationship Id="rId3" Type="http://schemas.openxmlformats.org/officeDocument/2006/relationships/image" Target="../media/image79.png"/><Relationship Id="rId2" Type="http://schemas.openxmlformats.org/officeDocument/2006/relationships/image" Target="../media/image78.jpeg"/><Relationship Id="rId1" Type="http://schemas.openxmlformats.org/officeDocument/2006/relationships/image" Target="../media/image1.jpe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1" Type="http://schemas.openxmlformats.org/officeDocument/2006/relationships/image" Target="../media/image1.jpe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6.xml"/><Relationship Id="rId4" Type="http://schemas.openxmlformats.org/officeDocument/2006/relationships/slideLayout" Target="../slideLayouts/slideLayout2.xml"/><Relationship Id="rId3" Type="http://schemas.microsoft.com/office/2007/relationships/hdphoto" Target="../media/image83.wdp"/><Relationship Id="rId2" Type="http://schemas.openxmlformats.org/officeDocument/2006/relationships/image" Target="../media/image82.png"/><Relationship Id="rId1" Type="http://schemas.openxmlformats.org/officeDocument/2006/relationships/image" Target="../media/image1.jpeg"/></Relationships>
</file>

<file path=ppt/slides/_rels/slide7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7.xml"/><Relationship Id="rId4" Type="http://schemas.openxmlformats.org/officeDocument/2006/relationships/slideLayout" Target="../slideLayouts/slideLayout2.xml"/><Relationship Id="rId3" Type="http://schemas.microsoft.com/office/2007/relationships/hdphoto" Target="../media/image85.wdp"/><Relationship Id="rId2" Type="http://schemas.openxmlformats.org/officeDocument/2006/relationships/image" Target="../media/image84.png"/><Relationship Id="rId1" Type="http://schemas.openxmlformats.org/officeDocument/2006/relationships/image" Target="../media/image1.jpe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86.png"/></Relationships>
</file>

<file path=ppt/slides/_rels/slide8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0.xml"/><Relationship Id="rId4" Type="http://schemas.openxmlformats.org/officeDocument/2006/relationships/slideLayout" Target="../slideLayouts/slideLayout2.xml"/><Relationship Id="rId3" Type="http://schemas.microsoft.com/office/2007/relationships/hdphoto" Target="../media/image88.wdp"/><Relationship Id="rId2" Type="http://schemas.openxmlformats.org/officeDocument/2006/relationships/image" Target="../media/image87.png"/><Relationship Id="rId1" Type="http://schemas.openxmlformats.org/officeDocument/2006/relationships/image" Target="../media/image1.jpeg"/></Relationships>
</file>

<file path=ppt/slides/_rels/slide8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1.png"/><Relationship Id="rId3" Type="http://schemas.openxmlformats.org/officeDocument/2006/relationships/image" Target="../media/image1.jpeg"/><Relationship Id="rId2" Type="http://schemas.openxmlformats.org/officeDocument/2006/relationships/image" Target="../media/image90.png"/><Relationship Id="rId1" Type="http://schemas.openxmlformats.org/officeDocument/2006/relationships/image" Target="../media/image89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microsoft.com/office/2007/relationships/hdphoto" Target="../media/image95.wdp"/><Relationship Id="rId4" Type="http://schemas.openxmlformats.org/officeDocument/2006/relationships/image" Target="../media/image94.png"/><Relationship Id="rId3" Type="http://schemas.openxmlformats.org/officeDocument/2006/relationships/image" Target="../media/image1.jpeg"/><Relationship Id="rId2" Type="http://schemas.microsoft.com/office/2007/relationships/hdphoto" Target="../media/image93.wdp"/><Relationship Id="rId1" Type="http://schemas.openxmlformats.org/officeDocument/2006/relationships/image" Target="../media/image92.png"/></Relationships>
</file>

<file path=ppt/slides/_rels/slide8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9.png"/><Relationship Id="rId3" Type="http://schemas.microsoft.com/office/2007/relationships/hdphoto" Target="../media/image98.wdp"/><Relationship Id="rId2" Type="http://schemas.openxmlformats.org/officeDocument/2006/relationships/image" Target="../media/image97.png"/><Relationship Id="rId1" Type="http://schemas.openxmlformats.org/officeDocument/2006/relationships/image" Target="../media/image1.jpe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0.png"/><Relationship Id="rId1" Type="http://schemas.openxmlformats.org/officeDocument/2006/relationships/image" Target="../media/image1.jpeg"/></Relationships>
</file>

<file path=ppt/slides/_rels/slide8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2.png"/><Relationship Id="rId2" Type="http://schemas.openxmlformats.org/officeDocument/2006/relationships/image" Target="../media/image101.GIF"/><Relationship Id="rId1" Type="http://schemas.openxmlformats.org/officeDocument/2006/relationships/image" Target="../media/image1.jpeg"/></Relationships>
</file>

<file path=ppt/slides/_rels/slide8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7.xml"/><Relationship Id="rId4" Type="http://schemas.openxmlformats.org/officeDocument/2006/relationships/slideLayout" Target="../slideLayouts/slideLayout2.xml"/><Relationship Id="rId3" Type="http://schemas.microsoft.com/office/2007/relationships/hdphoto" Target="../media/image104.wdp"/><Relationship Id="rId2" Type="http://schemas.openxmlformats.org/officeDocument/2006/relationships/image" Target="../media/image103.png"/><Relationship Id="rId1" Type="http://schemas.openxmlformats.org/officeDocument/2006/relationships/image" Target="../media/image1.jpeg"/></Relationships>
</file>

<file path=ppt/slides/_rels/slide8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5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674125" y="2751674"/>
            <a:ext cx="9144000" cy="9168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Digital System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1674125" y="470750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/>
              <a:t>Course Teacher: Md. Hamjajul Ashmafee</a:t>
            </a:r>
            <a:endParaRPr lang="en-US" b="1"/>
          </a:p>
          <a:p>
            <a:pPr algn="l"/>
            <a:r>
              <a:rPr lang="en-US" b="1"/>
              <a:t>Lecturer, CSE, IUT</a:t>
            </a:r>
            <a:endParaRPr lang="en-US" b="1"/>
          </a:p>
          <a:p>
            <a:pPr algn="l"/>
            <a:r>
              <a:rPr lang="en-US" b="1"/>
              <a:t>Email: ashmafee@iut-dhaka.edu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573" y="109679"/>
            <a:ext cx="731108" cy="1188720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1674125" y="704039"/>
            <a:ext cx="9144000" cy="13908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500" b="1" dirty="0"/>
              <a:t>CSE 4205</a:t>
            </a:r>
            <a:br>
              <a:rPr lang="en-US" sz="4500" b="1" dirty="0"/>
            </a:br>
            <a:r>
              <a:rPr lang="en-US" sz="4500" b="1" dirty="0"/>
              <a:t>Digital Logic Design</a:t>
            </a:r>
            <a:endParaRPr lang="en-US" sz="4500" b="1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573" y="109679"/>
            <a:ext cx="731108" cy="1188720"/>
          </a:xfrm>
          <a:prstGeom prst="rect">
            <a:avLst/>
          </a:prstGeo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Remaining to Add</a:t>
            </a:r>
            <a:endParaRPr lang="en-US" b="1" dirty="0">
              <a:latin typeface="+mn-lt"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other books and internet resources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Digital System and Digital Computer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751040" cy="4351338"/>
          </a:xfrm>
        </p:spPr>
        <p:txBody>
          <a:bodyPr>
            <a:normAutofit/>
          </a:bodyPr>
          <a:lstStyle/>
          <a:p>
            <a:r>
              <a:rPr lang="en-US" dirty="0"/>
              <a:t>The present technological period is highly influenced by </a:t>
            </a:r>
            <a:r>
              <a:rPr lang="en-US" b="1" dirty="0"/>
              <a:t>digital systems</a:t>
            </a:r>
            <a:endParaRPr lang="en-US" b="1" dirty="0"/>
          </a:p>
          <a:p>
            <a:pPr lvl="1"/>
            <a:r>
              <a:rPr lang="en-US" dirty="0"/>
              <a:t>Also known as </a:t>
            </a:r>
            <a:r>
              <a:rPr lang="en-US" b="1" i="1" dirty="0"/>
              <a:t>digital age</a:t>
            </a:r>
            <a:endParaRPr lang="en-US" b="1" i="1" dirty="0"/>
          </a:p>
          <a:p>
            <a:r>
              <a:rPr lang="en-US" b="1" dirty="0"/>
              <a:t>Digital systems </a:t>
            </a:r>
            <a:r>
              <a:rPr lang="en-US" dirty="0"/>
              <a:t>are used in, for example:</a:t>
            </a:r>
            <a:endParaRPr lang="en-US" dirty="0"/>
          </a:p>
          <a:p>
            <a:pPr lvl="3"/>
            <a:r>
              <a:rPr lang="en-US" dirty="0"/>
              <a:t>Communication</a:t>
            </a:r>
            <a:endParaRPr lang="en-US" dirty="0"/>
          </a:p>
          <a:p>
            <a:pPr lvl="3"/>
            <a:r>
              <a:rPr lang="en-US" dirty="0"/>
              <a:t>Business transections</a:t>
            </a:r>
            <a:endParaRPr lang="en-US" dirty="0"/>
          </a:p>
          <a:p>
            <a:pPr lvl="3"/>
            <a:r>
              <a:rPr lang="en-US" dirty="0"/>
              <a:t>Traffic controls </a:t>
            </a:r>
            <a:endParaRPr lang="en-US" dirty="0"/>
          </a:p>
          <a:p>
            <a:pPr lvl="3"/>
            <a:r>
              <a:rPr lang="en-US" dirty="0"/>
              <a:t>Spacecraft guidance</a:t>
            </a:r>
            <a:endParaRPr lang="en-US" dirty="0"/>
          </a:p>
          <a:p>
            <a:pPr lvl="3"/>
            <a:r>
              <a:rPr lang="en-US" dirty="0"/>
              <a:t>Medical treatment</a:t>
            </a:r>
            <a:endParaRPr lang="en-US" dirty="0"/>
          </a:p>
          <a:p>
            <a:pPr lvl="3"/>
            <a:r>
              <a:rPr lang="en-US" dirty="0"/>
              <a:t>Weather monitoring</a:t>
            </a:r>
            <a:endParaRPr lang="en-US" dirty="0"/>
          </a:p>
          <a:p>
            <a:pPr lvl="3"/>
            <a:r>
              <a:rPr lang="en-US" dirty="0"/>
              <a:t>Commercial, Industrial and scientific enterprises</a:t>
            </a:r>
            <a:endParaRPr lang="en-US" dirty="0"/>
          </a:p>
          <a:p>
            <a:pPr lvl="1"/>
            <a:r>
              <a:rPr lang="en-US" dirty="0"/>
              <a:t>Most of these devices have a specific </a:t>
            </a:r>
            <a:r>
              <a:rPr lang="en-US" b="1" i="1" dirty="0"/>
              <a:t>digital computer </a:t>
            </a:r>
            <a:r>
              <a:rPr lang="en-US" dirty="0"/>
              <a:t>embedded within them</a:t>
            </a:r>
            <a:endParaRPr lang="en-US" dirty="0"/>
          </a:p>
          <a:p>
            <a:pPr lvl="1"/>
            <a:r>
              <a:rPr lang="en-US" dirty="0"/>
              <a:t>A digital computer is ubiquitous because of its </a:t>
            </a:r>
            <a:r>
              <a:rPr lang="en-US" b="1" dirty="0"/>
              <a:t>generality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2661063"/>
            <a:ext cx="3657600" cy="23286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975" y="1408066"/>
            <a:ext cx="6398065" cy="4568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766" y="365125"/>
            <a:ext cx="10925034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Generality of Digital Computer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766" y="1847850"/>
            <a:ext cx="5667233" cy="4351338"/>
          </a:xfrm>
        </p:spPr>
        <p:txBody>
          <a:bodyPr/>
          <a:lstStyle/>
          <a:p>
            <a:r>
              <a:rPr lang="en-US" b="1" dirty="0"/>
              <a:t>Generality</a:t>
            </a:r>
            <a:r>
              <a:rPr lang="en-US" dirty="0"/>
              <a:t> of digital computer: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It follows a sequence of </a:t>
            </a:r>
            <a:r>
              <a:rPr lang="en-US" dirty="0">
                <a:solidFill>
                  <a:srgbClr val="FF0000"/>
                </a:solidFill>
              </a:rPr>
              <a:t>instructions </a:t>
            </a:r>
            <a:r>
              <a:rPr lang="en-US" dirty="0"/>
              <a:t>(</a:t>
            </a:r>
            <a:r>
              <a:rPr lang="en-US" b="1" dirty="0"/>
              <a:t>program</a:t>
            </a:r>
            <a:r>
              <a:rPr lang="en-US" dirty="0"/>
              <a:t>) 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It operates on </a:t>
            </a:r>
            <a:r>
              <a:rPr lang="en-US" dirty="0">
                <a:solidFill>
                  <a:srgbClr val="FF0000"/>
                </a:solidFill>
              </a:rPr>
              <a:t>data</a:t>
            </a:r>
            <a:r>
              <a:rPr lang="en-US" dirty="0"/>
              <a:t> (</a:t>
            </a:r>
            <a:r>
              <a:rPr lang="en-US" b="1" dirty="0"/>
              <a:t>user given data</a:t>
            </a:r>
            <a:r>
              <a:rPr lang="en-US" dirty="0"/>
              <a:t>)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Based on that program it generates </a:t>
            </a:r>
            <a:r>
              <a:rPr lang="en-US" dirty="0">
                <a:solidFill>
                  <a:srgbClr val="FF0000"/>
                </a:solidFill>
              </a:rPr>
              <a:t>user specific</a:t>
            </a:r>
            <a:r>
              <a:rPr lang="en-US" dirty="0"/>
              <a:t> results</a:t>
            </a:r>
            <a:endParaRPr lang="en-US" dirty="0"/>
          </a:p>
          <a:p>
            <a:r>
              <a:rPr lang="en-US" dirty="0"/>
              <a:t>For this reason, </a:t>
            </a:r>
            <a:r>
              <a:rPr lang="en-US" b="1" dirty="0">
                <a:solidFill>
                  <a:srgbClr val="FF0000"/>
                </a:solidFill>
              </a:rPr>
              <a:t>computer</a:t>
            </a:r>
            <a:r>
              <a:rPr lang="en-US" dirty="0"/>
              <a:t> is now </a:t>
            </a:r>
            <a:r>
              <a:rPr lang="en-US" b="1" i="1" dirty="0">
                <a:solidFill>
                  <a:srgbClr val="00B050"/>
                </a:solidFill>
              </a:rPr>
              <a:t>universal</a:t>
            </a:r>
            <a:r>
              <a:rPr lang="en-US" b="1" i="1" dirty="0"/>
              <a:t> </a:t>
            </a:r>
            <a:r>
              <a:rPr lang="en-US" dirty="0"/>
              <a:t>to perform a variety of </a:t>
            </a:r>
            <a:r>
              <a:rPr lang="en-US" dirty="0">
                <a:solidFill>
                  <a:srgbClr val="0070C0"/>
                </a:solidFill>
              </a:rPr>
              <a:t>information processing task</a:t>
            </a:r>
            <a:r>
              <a:rPr lang="en-US" dirty="0"/>
              <a:t>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351338"/>
          </a:xfrm>
        </p:spPr>
        <p:txBody>
          <a:bodyPr/>
          <a:lstStyle/>
          <a:p>
            <a:r>
              <a:rPr lang="en-US" dirty="0"/>
              <a:t>Process and represent discrete elements of information (</a:t>
            </a:r>
            <a:r>
              <a:rPr lang="en-US" b="1" dirty="0">
                <a:solidFill>
                  <a:srgbClr val="FF0000"/>
                </a:solidFill>
              </a:rPr>
              <a:t>not continuous</a:t>
            </a:r>
            <a:r>
              <a:rPr lang="en-US" dirty="0"/>
              <a:t>)</a:t>
            </a:r>
            <a:endParaRPr lang="en-US" dirty="0"/>
          </a:p>
          <a:p>
            <a:pPr lvl="2"/>
            <a:r>
              <a:rPr lang="en-US" b="1" dirty="0"/>
              <a:t>Number of elements </a:t>
            </a:r>
            <a:r>
              <a:rPr lang="en-US" dirty="0"/>
              <a:t>of information is limited to a finite numbered set</a:t>
            </a:r>
            <a:endParaRPr lang="en-US" dirty="0"/>
          </a:p>
          <a:p>
            <a:pPr lvl="3"/>
            <a:r>
              <a:rPr lang="en-US" dirty="0"/>
              <a:t>These elements are required to represent the information</a:t>
            </a:r>
            <a:endParaRPr lang="en-US" dirty="0"/>
          </a:p>
          <a:p>
            <a:pPr lvl="2"/>
            <a:r>
              <a:rPr lang="en-US" b="1" dirty="0"/>
              <a:t>Example: </a:t>
            </a:r>
            <a:r>
              <a:rPr lang="en-US" dirty="0"/>
              <a:t>decimal digits = {0,…,9}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751" y="3516313"/>
            <a:ext cx="7610497" cy="3205162"/>
          </a:xfrm>
          <a:prstGeom prst="rect">
            <a:avLst/>
          </a:prstGeom>
        </p:spPr>
      </p:pic>
      <p:sp>
        <p:nvSpPr>
          <p:cNvPr id="11" name="Title 1"/>
          <p:cNvSpPr txBox="1"/>
          <p:nvPr/>
        </p:nvSpPr>
        <p:spPr>
          <a:xfrm>
            <a:off x="381000" y="517525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Digital System: Main Feature</a:t>
            </a:r>
            <a:endParaRPr lang="en-US" b="1" i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  <a:p>
            <a:r>
              <a:rPr lang="en-US" sz="2000" b="1" i="1" dirty="0">
                <a:solidFill>
                  <a:srgbClr val="FF0000"/>
                </a:solidFill>
                <a:latin typeface="+mn-lt"/>
              </a:rPr>
              <a:t>:: Process Information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 rot="16200000">
            <a:off x="1490175" y="4830245"/>
            <a:ext cx="1601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Discrete data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 rot="16200000">
            <a:off x="5081365" y="4708522"/>
            <a:ext cx="1844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Continuous data 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351338"/>
          </a:xfrm>
        </p:spPr>
        <p:txBody>
          <a:bodyPr/>
          <a:lstStyle/>
          <a:p>
            <a:r>
              <a:rPr lang="en-US" b="1" dirty="0"/>
              <a:t>Early computers </a:t>
            </a:r>
            <a:r>
              <a:rPr lang="en-US" dirty="0"/>
              <a:t>were used only for </a:t>
            </a:r>
            <a:r>
              <a:rPr lang="en-US" b="1" dirty="0">
                <a:solidFill>
                  <a:srgbClr val="00B050"/>
                </a:solidFill>
              </a:rPr>
              <a:t>numerical computation</a:t>
            </a:r>
            <a:endParaRPr lang="en-US" b="1" dirty="0">
              <a:solidFill>
                <a:srgbClr val="00B050"/>
              </a:solidFill>
            </a:endParaRPr>
          </a:p>
          <a:p>
            <a:pPr lvl="1"/>
            <a:r>
              <a:rPr lang="en-US" dirty="0"/>
              <a:t>Discrete elements were </a:t>
            </a:r>
            <a:r>
              <a:rPr lang="en-US" b="1" dirty="0"/>
              <a:t>digits</a:t>
            </a:r>
            <a:r>
              <a:rPr lang="en-US" dirty="0"/>
              <a:t> at that time </a:t>
            </a:r>
            <a:endParaRPr lang="en-US" dirty="0"/>
          </a:p>
          <a:p>
            <a:pPr lvl="2"/>
            <a:r>
              <a:rPr lang="en-US" dirty="0"/>
              <a:t>The term - </a:t>
            </a:r>
            <a:r>
              <a:rPr lang="en-US" i="1" dirty="0"/>
              <a:t>“</a:t>
            </a:r>
            <a:r>
              <a:rPr lang="en-US" b="1" i="1" dirty="0"/>
              <a:t>Digital computer</a:t>
            </a:r>
            <a:r>
              <a:rPr lang="en-US" i="1" dirty="0"/>
              <a:t>” </a:t>
            </a:r>
            <a:r>
              <a:rPr lang="en-US" dirty="0"/>
              <a:t>is emerged from this application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Appropriate name </a:t>
            </a:r>
            <a:r>
              <a:rPr lang="en-US" dirty="0"/>
              <a:t>for a digital computer –</a:t>
            </a:r>
            <a:r>
              <a:rPr lang="en-US" b="1" dirty="0"/>
              <a:t> Discrete Information Processing System</a:t>
            </a:r>
            <a:endParaRPr lang="en-US" b="1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11" name="Title 1"/>
          <p:cNvSpPr txBox="1"/>
          <p:nvPr/>
        </p:nvSpPr>
        <p:spPr>
          <a:xfrm>
            <a:off x="381000" y="517525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Digital System: and More…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52611"/>
            <a:ext cx="11430000" cy="464026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Information</a:t>
            </a:r>
            <a:r>
              <a:rPr lang="en-US" dirty="0"/>
              <a:t> basically is represented as </a:t>
            </a:r>
            <a:r>
              <a:rPr lang="en-US" b="1" dirty="0">
                <a:solidFill>
                  <a:srgbClr val="FF0000"/>
                </a:solidFill>
              </a:rPr>
              <a:t>signal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/>
              <a:t>Electric signal (</a:t>
            </a:r>
            <a:r>
              <a:rPr lang="en-US" b="1" dirty="0">
                <a:solidFill>
                  <a:srgbClr val="FF0000"/>
                </a:solidFill>
              </a:rPr>
              <a:t>continuous</a:t>
            </a:r>
            <a:r>
              <a:rPr lang="en-US" b="1" dirty="0"/>
              <a:t>) </a:t>
            </a:r>
            <a:r>
              <a:rPr lang="en-US" dirty="0"/>
              <a:t>– </a:t>
            </a:r>
            <a:r>
              <a:rPr lang="en-US" b="1" u="sng" dirty="0">
                <a:solidFill>
                  <a:srgbClr val="0070C0"/>
                </a:solidFill>
              </a:rPr>
              <a:t>voltage</a:t>
            </a:r>
            <a:r>
              <a:rPr lang="en-US" dirty="0"/>
              <a:t> and </a:t>
            </a:r>
            <a:r>
              <a:rPr lang="en-US" b="1" u="sng" dirty="0">
                <a:solidFill>
                  <a:srgbClr val="0070C0"/>
                </a:solidFill>
              </a:rPr>
              <a:t>current</a:t>
            </a:r>
            <a:r>
              <a:rPr lang="en-US" dirty="0"/>
              <a:t> are most common</a:t>
            </a:r>
            <a:endParaRPr lang="en-US" dirty="0"/>
          </a:p>
          <a:p>
            <a:pPr lvl="2"/>
            <a:r>
              <a:rPr lang="en-US" dirty="0"/>
              <a:t>Generally used by </a:t>
            </a:r>
            <a:r>
              <a:rPr lang="en-US" b="1" dirty="0">
                <a:solidFill>
                  <a:srgbClr val="002060"/>
                </a:solidFill>
              </a:rPr>
              <a:t>transistors</a:t>
            </a:r>
            <a:r>
              <a:rPr lang="en-US" dirty="0"/>
              <a:t> in circuitry of electronic devices</a:t>
            </a:r>
            <a:endParaRPr lang="en-US" dirty="0"/>
          </a:p>
          <a:p>
            <a:r>
              <a:rPr lang="en-US" dirty="0"/>
              <a:t>Signals in most </a:t>
            </a:r>
            <a:r>
              <a:rPr lang="en-US" u="sng" dirty="0"/>
              <a:t>electronic digital systems</a:t>
            </a:r>
            <a:r>
              <a:rPr lang="en-US" dirty="0"/>
              <a:t> are two discrete values (</a:t>
            </a:r>
            <a:r>
              <a:rPr lang="en-US" b="1" dirty="0"/>
              <a:t>Binary</a:t>
            </a:r>
            <a:r>
              <a:rPr lang="en-US" dirty="0"/>
              <a:t>)</a:t>
            </a:r>
            <a:endParaRPr lang="en-US" dirty="0"/>
          </a:p>
          <a:p>
            <a:r>
              <a:rPr lang="en-US" b="1" dirty="0"/>
              <a:t>Bit </a:t>
            </a:r>
            <a:r>
              <a:rPr lang="en-US" dirty="0"/>
              <a:t>– a binary digit </a:t>
            </a:r>
            <a:endParaRPr lang="en-US" dirty="0"/>
          </a:p>
          <a:p>
            <a:pPr lvl="2"/>
            <a:r>
              <a:rPr lang="en-US" dirty="0"/>
              <a:t>Two </a:t>
            </a:r>
            <a:r>
              <a:rPr lang="en-US" b="1" dirty="0">
                <a:solidFill>
                  <a:srgbClr val="002060"/>
                </a:solidFill>
              </a:rPr>
              <a:t>discrete</a:t>
            </a:r>
            <a:r>
              <a:rPr lang="en-US" dirty="0"/>
              <a:t> values – 0 and 1</a:t>
            </a:r>
            <a:endParaRPr lang="en-US" dirty="0"/>
          </a:p>
          <a:p>
            <a:pPr lvl="2"/>
            <a:r>
              <a:rPr lang="en-US" dirty="0"/>
              <a:t>Sometimes discrete information may be represented as group of bits – </a:t>
            </a:r>
            <a:r>
              <a:rPr lang="en-US" b="1" dirty="0"/>
              <a:t>binary code</a:t>
            </a:r>
            <a:endParaRPr lang="en-US" b="1" dirty="0"/>
          </a:p>
          <a:p>
            <a:r>
              <a:rPr lang="en-US" dirty="0"/>
              <a:t>To interpret the </a:t>
            </a:r>
            <a:r>
              <a:rPr lang="en-US" b="1" dirty="0">
                <a:solidFill>
                  <a:srgbClr val="0070C0"/>
                </a:solidFill>
              </a:rPr>
              <a:t>bit/digit pattern</a:t>
            </a:r>
            <a:r>
              <a:rPr lang="en-US" dirty="0"/>
              <a:t>, </a:t>
            </a:r>
            <a:r>
              <a:rPr lang="en-US" b="1" dirty="0"/>
              <a:t>code system </a:t>
            </a:r>
            <a:r>
              <a:rPr lang="en-US" dirty="0"/>
              <a:t>plays a very crucial role</a:t>
            </a:r>
            <a:endParaRPr lang="en-US" dirty="0"/>
          </a:p>
          <a:p>
            <a:pPr lvl="2"/>
            <a:r>
              <a:rPr lang="en-US" b="1" dirty="0"/>
              <a:t>Example: (0111)</a:t>
            </a:r>
            <a:r>
              <a:rPr lang="en-US" b="1" baseline="-25000" dirty="0"/>
              <a:t>2</a:t>
            </a:r>
            <a:r>
              <a:rPr lang="en-US" b="1" dirty="0"/>
              <a:t> and (0111)</a:t>
            </a:r>
            <a:r>
              <a:rPr lang="en-US" b="1" baseline="-25000" dirty="0"/>
              <a:t>10</a:t>
            </a:r>
            <a:r>
              <a:rPr lang="en-US" b="1" dirty="0"/>
              <a:t> are not same in meaning </a:t>
            </a:r>
            <a:endParaRPr lang="en-US" b="1" dirty="0"/>
          </a:p>
          <a:p>
            <a:r>
              <a:rPr lang="en-US" dirty="0"/>
              <a:t>Binary system is so applicable to represent not only the </a:t>
            </a:r>
            <a:r>
              <a:rPr lang="en-US" b="1" dirty="0">
                <a:solidFill>
                  <a:srgbClr val="00B050"/>
                </a:solidFill>
              </a:rPr>
              <a:t>numbers</a:t>
            </a:r>
            <a:r>
              <a:rPr lang="en-US" b="1" dirty="0"/>
              <a:t> </a:t>
            </a:r>
            <a:r>
              <a:rPr lang="en-US" dirty="0"/>
              <a:t>but also other </a:t>
            </a:r>
            <a:r>
              <a:rPr lang="en-US" b="1" dirty="0">
                <a:solidFill>
                  <a:srgbClr val="00B050"/>
                </a:solidFill>
              </a:rPr>
              <a:t>symbols/characters  </a:t>
            </a:r>
            <a:r>
              <a:rPr lang="en-US" dirty="0"/>
              <a:t>	</a:t>
            </a:r>
            <a:endParaRPr lang="en-US" dirty="0"/>
          </a:p>
          <a:p>
            <a:pPr lvl="2"/>
            <a:r>
              <a:rPr lang="en-US" dirty="0"/>
              <a:t>Largely used in different </a:t>
            </a:r>
            <a:r>
              <a:rPr lang="en-US" b="1" dirty="0">
                <a:solidFill>
                  <a:srgbClr val="002060"/>
                </a:solidFill>
              </a:rPr>
              <a:t>electric devices 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10" name="Title 1"/>
          <p:cNvSpPr txBox="1"/>
          <p:nvPr/>
        </p:nvSpPr>
        <p:spPr>
          <a:xfrm>
            <a:off x="381000" y="517525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Digital System: Discrete Information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52612"/>
            <a:ext cx="11430000" cy="4351338"/>
          </a:xfrm>
        </p:spPr>
        <p:txBody>
          <a:bodyPr>
            <a:normAutofit/>
          </a:bodyPr>
          <a:lstStyle/>
          <a:p>
            <a:r>
              <a:rPr lang="en-US" dirty="0"/>
              <a:t>Any system uses </a:t>
            </a:r>
            <a:r>
              <a:rPr lang="en-US" b="1" dirty="0">
                <a:solidFill>
                  <a:srgbClr val="FF0000"/>
                </a:solidFill>
              </a:rPr>
              <a:t>an alphabet </a:t>
            </a:r>
            <a:r>
              <a:rPr lang="en-US" dirty="0"/>
              <a:t>to represent information</a:t>
            </a:r>
            <a:endParaRPr lang="en-US" dirty="0"/>
          </a:p>
          <a:p>
            <a:pPr lvl="2"/>
            <a:r>
              <a:rPr lang="en-US" dirty="0">
                <a:solidFill>
                  <a:srgbClr val="00B050"/>
                </a:solidFill>
              </a:rPr>
              <a:t>English language </a:t>
            </a:r>
            <a:r>
              <a:rPr lang="en-US" dirty="0"/>
              <a:t>– an alphabet of 26 letters – </a:t>
            </a:r>
            <a:r>
              <a:rPr lang="en-US" b="1" i="1" dirty="0"/>
              <a:t>e.g.</a:t>
            </a:r>
            <a:r>
              <a:rPr lang="en-US" dirty="0"/>
              <a:t> {a, …, z}</a:t>
            </a:r>
            <a:endParaRPr lang="en-US" dirty="0"/>
          </a:p>
          <a:p>
            <a:pPr lvl="2"/>
            <a:r>
              <a:rPr lang="en-US" dirty="0">
                <a:solidFill>
                  <a:srgbClr val="00B050"/>
                </a:solidFill>
              </a:rPr>
              <a:t>Decimal number system</a:t>
            </a:r>
            <a:r>
              <a:rPr lang="en-US" dirty="0"/>
              <a:t> – an alphabet of 10 digits – </a:t>
            </a:r>
            <a:r>
              <a:rPr lang="en-US" b="1" i="1" dirty="0"/>
              <a:t>e.g.</a:t>
            </a:r>
            <a:r>
              <a:rPr lang="en-US" dirty="0"/>
              <a:t> {0, …, 9}</a:t>
            </a:r>
            <a:endParaRPr lang="en-US" dirty="0"/>
          </a:p>
          <a:p>
            <a:pPr lvl="1"/>
            <a:r>
              <a:rPr lang="en-US" dirty="0"/>
              <a:t>They could be represented using </a:t>
            </a:r>
            <a:r>
              <a:rPr lang="en-US" b="1" dirty="0"/>
              <a:t>binary codes </a:t>
            </a:r>
            <a:r>
              <a:rPr lang="en-US" dirty="0"/>
              <a:t>as well</a:t>
            </a:r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Digital system </a:t>
            </a:r>
            <a:r>
              <a:rPr lang="en-US" dirty="0"/>
              <a:t>uses </a:t>
            </a:r>
            <a:r>
              <a:rPr lang="en-US" b="1" dirty="0"/>
              <a:t>an alphabet </a:t>
            </a:r>
            <a:r>
              <a:rPr lang="en-US" dirty="0"/>
              <a:t>with two digits(bits) – (</a:t>
            </a:r>
            <a:r>
              <a:rPr lang="en-US" b="1" dirty="0"/>
              <a:t>0 and 1</a:t>
            </a:r>
            <a:r>
              <a:rPr lang="en-US" dirty="0"/>
              <a:t>) </a:t>
            </a:r>
            <a:endParaRPr lang="en-US" dirty="0"/>
          </a:p>
          <a:p>
            <a:pPr lvl="2"/>
            <a:r>
              <a:rPr lang="en-US" sz="2200" i="1" dirty="0"/>
              <a:t>How to represent </a:t>
            </a:r>
            <a:r>
              <a:rPr lang="en-US" sz="2200" b="1" i="1" dirty="0"/>
              <a:t>binary signal:</a:t>
            </a:r>
            <a:endParaRPr lang="en-US" sz="2200" i="1" dirty="0"/>
          </a:p>
          <a:p>
            <a:pPr lvl="3"/>
            <a:r>
              <a:rPr lang="en-US" dirty="0"/>
              <a:t>Example 1– switch (made of transistor) – on and off</a:t>
            </a:r>
            <a:endParaRPr lang="en-US" dirty="0"/>
          </a:p>
          <a:p>
            <a:pPr lvl="3"/>
            <a:r>
              <a:rPr lang="en-US" dirty="0"/>
              <a:t>Example 2- Voltage values – high (1) and low (0)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10" name="Title 1"/>
          <p:cNvSpPr txBox="1"/>
          <p:nvPr/>
        </p:nvSpPr>
        <p:spPr>
          <a:xfrm>
            <a:off x="381000" y="517525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Digital System: Discrete Information…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Analog data from any continuous process or nature needs to be converted to digital one</a:t>
            </a:r>
            <a:endParaRPr lang="en-US" dirty="0"/>
          </a:p>
          <a:p>
            <a:pPr lvl="2"/>
            <a:r>
              <a:rPr lang="en-US" dirty="0"/>
              <a:t>Sometimes an ADC is required to perform quantization on continuous system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209" y="3170595"/>
            <a:ext cx="5595581" cy="2786095"/>
          </a:xfrm>
          <a:prstGeom prst="rect">
            <a:avLst/>
          </a:prstGeom>
        </p:spPr>
      </p:pic>
      <p:sp>
        <p:nvSpPr>
          <p:cNvPr id="11" name="Title 1"/>
          <p:cNvSpPr txBox="1"/>
          <p:nvPr/>
        </p:nvSpPr>
        <p:spPr>
          <a:xfrm>
            <a:off x="838200" y="517525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Analog Information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Digital data is the discrete and discontinuous representation of information </a:t>
            </a:r>
            <a:endParaRPr lang="en-US" dirty="0"/>
          </a:p>
          <a:p>
            <a:pPr lvl="1"/>
            <a:r>
              <a:rPr lang="en-US" dirty="0"/>
              <a:t>Example: payroll schedule of any company having names, ID, salary, income tax, and so on.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11" name="Title 1"/>
          <p:cNvSpPr txBox="1"/>
          <p:nvPr/>
        </p:nvSpPr>
        <p:spPr>
          <a:xfrm>
            <a:off x="838199" y="591343"/>
            <a:ext cx="10972800" cy="11445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Digital Information</a:t>
            </a:r>
            <a:endParaRPr lang="en-US" dirty="0">
              <a:latin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6000" contrast="-3000"/>
                    </a14:imgEffect>
                    <a14:imgEffect>
                      <a14:colorTemperature colorTemp="5179"/>
                    </a14:imgEffect>
                    <a14:imgEffect>
                      <a14:saturation sat="91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187" y="3677011"/>
            <a:ext cx="7234825" cy="25896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</a:fld>
            <a:endParaRPr lang="en-US"/>
          </a:p>
        </p:txBody>
      </p:sp>
      <p:sp>
        <p:nvSpPr>
          <p:cNvPr id="5" name="Title 1"/>
          <p:cNvSpPr txBox="1"/>
          <p:nvPr/>
        </p:nvSpPr>
        <p:spPr>
          <a:xfrm>
            <a:off x="838200" y="135617"/>
            <a:ext cx="11430000" cy="1870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Digital System: An Example</a:t>
            </a:r>
            <a:endParaRPr lang="en-US" b="1" i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  <a:p>
            <a:pPr marL="0" indent="0">
              <a:buNone/>
            </a:pPr>
            <a:r>
              <a:rPr lang="en-US" sz="2500" b="1" i="1" dirty="0">
                <a:solidFill>
                  <a:srgbClr val="FF0000"/>
                </a:solidFill>
                <a:latin typeface="+mn-lt"/>
              </a:rPr>
              <a:t>Block diagram of a general-purpose digital computer</a:t>
            </a:r>
            <a:endParaRPr lang="en-US" sz="2500" b="1" i="1" dirty="0">
              <a:solidFill>
                <a:srgbClr val="FF0000"/>
              </a:solidFill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39000"/>
                    </a14:imgEffect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093" y="1378658"/>
            <a:ext cx="9664504" cy="53428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072" y="1920196"/>
            <a:ext cx="2609533" cy="3335962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395" y="1690688"/>
            <a:ext cx="7302024" cy="4095488"/>
          </a:xfrm>
          <a:prstGeom prst="rect">
            <a:avLst/>
          </a:prstGeom>
        </p:spPr>
      </p:pic>
      <p:sp>
        <p:nvSpPr>
          <p:cNvPr id="8" name="Title 1"/>
          <p:cNvSpPr txBox="1"/>
          <p:nvPr/>
        </p:nvSpPr>
        <p:spPr>
          <a:xfrm>
            <a:off x="838200" y="135617"/>
            <a:ext cx="11430000" cy="1870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Digital System: An Example</a:t>
            </a:r>
            <a:endParaRPr lang="en-US" b="1" i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  <a:p>
            <a:r>
              <a:rPr lang="en-US" sz="2400" b="1" i="1" dirty="0">
                <a:solidFill>
                  <a:srgbClr val="FF0000"/>
                </a:solidFill>
                <a:latin typeface="+mn-lt"/>
              </a:rPr>
              <a:t>Example: An Electronic Calculator</a:t>
            </a:r>
            <a:endParaRPr lang="en-US" sz="2400" b="1" dirty="0">
              <a:solidFill>
                <a:srgbClr val="FF0000"/>
              </a:solidFill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365126"/>
            <a:ext cx="11430000" cy="1504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Digital Systems: Nowadays</a:t>
            </a:r>
            <a:endParaRPr lang="en-US" b="1" i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351338"/>
          </a:xfrm>
        </p:spPr>
        <p:txBody>
          <a:bodyPr/>
          <a:lstStyle/>
          <a:p>
            <a:r>
              <a:rPr lang="en-US" dirty="0"/>
              <a:t>Underlying digital computers of most of the commercial digital products are </a:t>
            </a:r>
            <a:r>
              <a:rPr lang="en-US" b="1" dirty="0">
                <a:solidFill>
                  <a:srgbClr val="FF0000"/>
                </a:solidFill>
              </a:rPr>
              <a:t>programmable</a:t>
            </a:r>
            <a:r>
              <a:rPr lang="en-US" b="1" dirty="0"/>
              <a:t> </a:t>
            </a:r>
            <a:endParaRPr lang="en-US" b="1" dirty="0"/>
          </a:p>
          <a:p>
            <a:pPr lvl="2"/>
            <a:r>
              <a:rPr lang="en-US" dirty="0"/>
              <a:t>So that we can change the program keeping the underlying hardware same to perform a variety of applications (</a:t>
            </a:r>
            <a:r>
              <a:rPr lang="en-US" b="1" dirty="0">
                <a:solidFill>
                  <a:srgbClr val="FF0000"/>
                </a:solidFill>
              </a:rPr>
              <a:t>generalized and cost effective</a:t>
            </a:r>
            <a:r>
              <a:rPr lang="en-US" dirty="0"/>
              <a:t>)</a:t>
            </a:r>
            <a:endParaRPr lang="en-US" dirty="0"/>
          </a:p>
          <a:p>
            <a:r>
              <a:rPr lang="en-US" b="1" dirty="0"/>
              <a:t>Cost</a:t>
            </a:r>
            <a:r>
              <a:rPr lang="en-US" dirty="0"/>
              <a:t> of digital devices’ productions is also </a:t>
            </a:r>
            <a:r>
              <a:rPr lang="en-US" b="1" dirty="0">
                <a:solidFill>
                  <a:srgbClr val="00B050"/>
                </a:solidFill>
              </a:rPr>
              <a:t>reduced </a:t>
            </a:r>
            <a:endParaRPr lang="en-US" b="1" dirty="0">
              <a:solidFill>
                <a:srgbClr val="00B050"/>
              </a:solidFill>
            </a:endParaRPr>
          </a:p>
          <a:p>
            <a:pPr lvl="2"/>
            <a:r>
              <a:rPr lang="en-US" b="1" i="1" dirty="0">
                <a:solidFill>
                  <a:srgbClr val="00B050"/>
                </a:solidFill>
              </a:rPr>
              <a:t>i.e., </a:t>
            </a:r>
            <a:r>
              <a:rPr lang="en-US" dirty="0"/>
              <a:t>Number of transistors per unit is increased to produce complex functions whereas the cost per unit is decreased</a:t>
            </a:r>
            <a:endParaRPr lang="en-US" dirty="0"/>
          </a:p>
          <a:p>
            <a:r>
              <a:rPr lang="en-US" b="1" dirty="0"/>
              <a:t>MIPS rate </a:t>
            </a:r>
            <a:r>
              <a:rPr lang="en-US" dirty="0"/>
              <a:t>also does keep </a:t>
            </a:r>
            <a:r>
              <a:rPr lang="en-US" b="1" dirty="0">
                <a:solidFill>
                  <a:srgbClr val="00B050"/>
                </a:solidFill>
              </a:rPr>
              <a:t>increasing </a:t>
            </a:r>
            <a:r>
              <a:rPr lang="en-US" b="1" dirty="0"/>
              <a:t>(</a:t>
            </a:r>
            <a:r>
              <a:rPr lang="en-US" dirty="0"/>
              <a:t>speed of execution</a:t>
            </a:r>
            <a:r>
              <a:rPr lang="en-US" b="1" dirty="0"/>
              <a:t>)</a:t>
            </a:r>
            <a:endParaRPr lang="en-US" b="1" dirty="0"/>
          </a:p>
          <a:p>
            <a:r>
              <a:rPr lang="en-US" b="1" dirty="0">
                <a:solidFill>
                  <a:srgbClr val="00B050"/>
                </a:solidFill>
              </a:rPr>
              <a:t>Increased </a:t>
            </a:r>
            <a:r>
              <a:rPr lang="en-US" b="1" dirty="0"/>
              <a:t>reliability </a:t>
            </a:r>
            <a:r>
              <a:rPr lang="en-US" dirty="0"/>
              <a:t>with </a:t>
            </a:r>
            <a:r>
              <a:rPr lang="en-US" b="1" dirty="0">
                <a:solidFill>
                  <a:srgbClr val="FF0000"/>
                </a:solidFill>
              </a:rPr>
              <a:t>error-correction code </a:t>
            </a:r>
            <a:r>
              <a:rPr lang="en-US" dirty="0"/>
              <a:t>(better than error detection code)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Number system: Decimal Numbers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500" b="1" i="1" dirty="0">
                <a:solidFill>
                  <a:srgbClr val="FF0000"/>
                </a:solidFill>
                <a:latin typeface="+mn-lt"/>
              </a:rPr>
              <a:t>Power of 10</a:t>
            </a:r>
            <a:endParaRPr lang="en-US" sz="25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16" name="Content Placeholder 15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136" y="1690687"/>
            <a:ext cx="7061200" cy="2681287"/>
          </a:xfr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136" y="4371975"/>
            <a:ext cx="6819900" cy="2349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2546118" y="1440460"/>
            <a:ext cx="7699543" cy="3930650"/>
            <a:chOff x="2413448" y="2246313"/>
            <a:chExt cx="7699543" cy="393065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29979" y="2246313"/>
              <a:ext cx="7383012" cy="393065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2417073" y="427174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=</a:t>
              </a:r>
              <a:endParaRPr lang="en-US" sz="2000" b="1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417073" y="489870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=</a:t>
              </a:r>
              <a:endParaRPr lang="en-US" sz="2000" b="1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413448" y="5490947"/>
              <a:ext cx="4653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=</a:t>
              </a:r>
              <a:endParaRPr lang="en-US" sz="2000" b="1" dirty="0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Decimal Numbers: Example</a:t>
            </a:r>
            <a:endParaRPr lang="en-US" dirty="0">
              <a:latin typeface="+mn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08515" y="5371110"/>
            <a:ext cx="102663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Note: </a:t>
            </a:r>
            <a:r>
              <a:rPr lang="en-US" sz="2200" dirty="0"/>
              <a:t>Convention is to write only the </a:t>
            </a:r>
            <a:r>
              <a:rPr lang="en-US" sz="2200" b="1" dirty="0"/>
              <a:t>digits </a:t>
            </a:r>
            <a:r>
              <a:rPr lang="en-US" sz="2200" dirty="0"/>
              <a:t>in any number. From their positions, powers of 10 is deduced increasing from right to left 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1523902" y="2768802"/>
            <a:ext cx="10043983" cy="1585118"/>
            <a:chOff x="1309817" y="2514601"/>
            <a:chExt cx="10043983" cy="158511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3715" y="2514601"/>
              <a:ext cx="4455836" cy="695668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5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9817" y="3060766"/>
              <a:ext cx="10043983" cy="1038953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50600" cy="453072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A number with a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radix point </a:t>
                </a:r>
                <a:r>
                  <a:rPr lang="en-US" dirty="0"/>
                  <a:t>in any base </a:t>
                </a:r>
                <a:r>
                  <a:rPr lang="en-US" b="1" i="1" dirty="0"/>
                  <a:t>b</a:t>
                </a:r>
                <a:r>
                  <a:rPr lang="en-US" dirty="0"/>
                  <a:t> (</a:t>
                </a:r>
                <a:r>
                  <a:rPr lang="en-US" b="1" dirty="0"/>
                  <a:t>positional number system</a:t>
                </a:r>
                <a:r>
                  <a:rPr lang="en-US" dirty="0"/>
                  <a:t>) :</a:t>
                </a: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endParaRPr lang="en-US" sz="32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3200" i="1" smtClean="0">
                        <a:latin typeface="Cambria Math" panose="02040503050406030204" pitchFamily="18" charset="0"/>
                      </a:rPr>
                      <m:t>=±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pt-BR" sz="32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320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=(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BR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pt-BR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  <m:r>
                      <a:rPr lang="en-US" sz="3200" b="1" i="1" baseline="-25000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3200" b="1" baseline="-25000" dirty="0"/>
              </a:p>
              <a:p>
                <a:pPr lvl="1"/>
                <a:r>
                  <a:rPr lang="en-US" dirty="0"/>
                  <a:t>Where  </a:t>
                </a:r>
                <a:r>
                  <a:rPr lang="en-US" b="1" i="1" dirty="0"/>
                  <a:t>S</a:t>
                </a:r>
                <a:r>
                  <a:rPr lang="en-US" b="1" dirty="0"/>
                  <a:t> </a:t>
                </a:r>
                <a:r>
                  <a:rPr lang="en-US" dirty="0"/>
                  <a:t>is the set symbols (alphabet) and </a:t>
                </a:r>
                <a:r>
                  <a:rPr lang="en-US" b="1" i="1" dirty="0"/>
                  <a:t>b</a:t>
                </a:r>
                <a:r>
                  <a:rPr lang="en-US" dirty="0"/>
                  <a:t> is the base or radix.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Example:</a:t>
                </a:r>
                <a:r>
                  <a:rPr lang="en-US" dirty="0"/>
                  <a:t> Decimal, Binary, Octal, Hexadecimal number system 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50600" cy="4530725"/>
              </a:xfrm>
              <a:blipFill rotWithShape="1">
                <a:blip r:embed="rId4"/>
                <a:stretch>
                  <a:fillRect t="-645" b="1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8475731" y="2699171"/>
            <a:ext cx="2518703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i="1" dirty="0"/>
              <a:t>k </a:t>
            </a:r>
            <a:r>
              <a:rPr lang="en-US" dirty="0"/>
              <a:t>= # of digits in integers</a:t>
            </a:r>
            <a:endParaRPr lang="en-US" dirty="0"/>
          </a:p>
          <a:p>
            <a:r>
              <a:rPr lang="en-US" b="1" i="1" dirty="0"/>
              <a:t>l </a:t>
            </a:r>
            <a:r>
              <a:rPr lang="en-US" dirty="0"/>
              <a:t>= # of digits in fractions</a:t>
            </a:r>
            <a:endParaRPr lang="en-US" dirty="0"/>
          </a:p>
        </p:txBody>
      </p:sp>
      <p:sp>
        <p:nvSpPr>
          <p:cNvPr id="13" name="Title 1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Number system: Formal Explanation 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23582"/>
            <a:ext cx="10515600" cy="667106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Arithmetic Operations (</a:t>
            </a:r>
            <a:r>
              <a:rPr lang="en-US" b="1" dirty="0">
                <a:solidFill>
                  <a:srgbClr val="00B050"/>
                </a:solidFill>
              </a:rPr>
              <a:t>Unary and Binary</a:t>
            </a:r>
            <a:r>
              <a:rPr lang="en-US" dirty="0"/>
              <a:t>)</a:t>
            </a:r>
            <a:endParaRPr lang="en-US" dirty="0"/>
          </a:p>
          <a:p>
            <a:pPr lvl="1"/>
            <a:r>
              <a:rPr lang="en-US" b="1" dirty="0"/>
              <a:t>Addition</a:t>
            </a:r>
            <a:r>
              <a:rPr lang="en-US" dirty="0"/>
              <a:t> (augend, addend, sum)</a:t>
            </a:r>
            <a:endParaRPr lang="en-US" dirty="0"/>
          </a:p>
          <a:p>
            <a:pPr lvl="1"/>
            <a:r>
              <a:rPr lang="en-US" b="1" dirty="0"/>
              <a:t>Subtraction</a:t>
            </a:r>
            <a:r>
              <a:rPr lang="en-US" dirty="0"/>
              <a:t> (minuend, subtrahend, difference)</a:t>
            </a:r>
            <a:endParaRPr lang="en-US" dirty="0"/>
          </a:p>
          <a:p>
            <a:pPr lvl="1"/>
            <a:r>
              <a:rPr lang="en-US" b="1" dirty="0"/>
              <a:t>Multiplication </a:t>
            </a:r>
            <a:r>
              <a:rPr lang="en-US" dirty="0"/>
              <a:t>(multiplicand, multiplier, product)</a:t>
            </a:r>
            <a:endParaRPr lang="en-US" dirty="0"/>
          </a:p>
          <a:p>
            <a:pPr lvl="1"/>
            <a:r>
              <a:rPr lang="en-US" b="1" dirty="0"/>
              <a:t>Division</a:t>
            </a:r>
            <a:r>
              <a:rPr lang="en-US" dirty="0"/>
              <a:t> (dividend, divisor, quotient, reminder)</a:t>
            </a:r>
            <a:endParaRPr lang="en-US" dirty="0"/>
          </a:p>
          <a:p>
            <a:pPr lvl="1"/>
            <a:r>
              <a:rPr lang="en-US" b="1" dirty="0"/>
              <a:t>Negation, Absolute, Increment, Decrement </a:t>
            </a:r>
            <a:endParaRPr lang="en-US" b="1" dirty="0"/>
          </a:p>
          <a:p>
            <a:r>
              <a:rPr lang="en-US" b="1" dirty="0"/>
              <a:t>Carry </a:t>
            </a:r>
            <a:r>
              <a:rPr lang="en-US" dirty="0"/>
              <a:t>and </a:t>
            </a:r>
            <a:r>
              <a:rPr lang="en-US" b="1" dirty="0"/>
              <a:t>borrow </a:t>
            </a:r>
            <a:r>
              <a:rPr lang="en-US" dirty="0"/>
              <a:t>is also used in any base </a:t>
            </a:r>
            <a:r>
              <a:rPr lang="en-US" b="1" i="1" dirty="0"/>
              <a:t>b</a:t>
            </a:r>
            <a:r>
              <a:rPr lang="en-US" dirty="0"/>
              <a:t>.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How to make the computer understand about decimal point and sign of any number? </a:t>
            </a:r>
            <a:r>
              <a:rPr lang="en-US" dirty="0">
                <a:solidFill>
                  <a:schemeClr val="bg2"/>
                </a:solidFill>
              </a:rPr>
              <a:t>(mantissa and exponent)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Number system: Its Operations 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Number System: Different Bases</a:t>
            </a:r>
            <a:endParaRPr lang="en-US" dirty="0">
              <a:latin typeface="+mn-lt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/>
            </a:br>
            <a:endParaRPr lang="en-US" sz="3900" dirty="0"/>
          </a:p>
        </p:txBody>
      </p:sp>
      <p:sp>
        <p:nvSpPr>
          <p:cNvPr id="12" name="Title 1"/>
          <p:cNvSpPr txBox="1"/>
          <p:nvPr/>
        </p:nvSpPr>
        <p:spPr>
          <a:xfrm>
            <a:off x="838200" y="517525"/>
            <a:ext cx="10515600" cy="1173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/>
            </a:br>
            <a:endParaRPr lang="en-US" sz="39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567" y="1766888"/>
            <a:ext cx="8294865" cy="451326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Special Powers of 2</a:t>
            </a:r>
            <a:endParaRPr lang="en-US" b="1" i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srgbClr val="000000"/>
                </a:solidFill>
              </a:rPr>
              <a:t>2</a:t>
            </a:r>
            <a:r>
              <a:rPr lang="en-US" altLang="en-US" sz="3600" baseline="30000" dirty="0">
                <a:solidFill>
                  <a:srgbClr val="000000"/>
                </a:solidFill>
              </a:rPr>
              <a:t>10 </a:t>
            </a:r>
            <a:r>
              <a:rPr lang="en-US" altLang="en-US" sz="2800" dirty="0">
                <a:solidFill>
                  <a:srgbClr val="000000"/>
                </a:solidFill>
              </a:rPr>
              <a:t> (1024) is Kilo, denoted "K“</a:t>
            </a:r>
            <a:endParaRPr lang="en-US" altLang="en-US" sz="2800" dirty="0">
              <a:solidFill>
                <a:srgbClr val="000000"/>
              </a:solidFill>
            </a:endParaRPr>
          </a:p>
          <a:p>
            <a:r>
              <a:rPr lang="en-US" altLang="en-US" sz="2800" dirty="0">
                <a:solidFill>
                  <a:srgbClr val="000000"/>
                </a:solidFill>
              </a:rPr>
              <a:t>2</a:t>
            </a:r>
            <a:r>
              <a:rPr lang="en-US" altLang="en-US" sz="3600" baseline="30000" dirty="0">
                <a:solidFill>
                  <a:srgbClr val="000000"/>
                </a:solidFill>
              </a:rPr>
              <a:t>20</a:t>
            </a:r>
            <a:r>
              <a:rPr lang="en-US" altLang="en-US" sz="2800" dirty="0">
                <a:solidFill>
                  <a:srgbClr val="000000"/>
                </a:solidFill>
              </a:rPr>
              <a:t> (1,048,576) is Mega, denoted "M“</a:t>
            </a:r>
            <a:endParaRPr lang="en-US" altLang="en-US" sz="2800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sz="2800" dirty="0">
                <a:solidFill>
                  <a:srgbClr val="000000"/>
                </a:solidFill>
              </a:rPr>
              <a:t>2</a:t>
            </a:r>
            <a:r>
              <a:rPr lang="en-US" altLang="en-US" sz="3600" baseline="30000" dirty="0">
                <a:solidFill>
                  <a:srgbClr val="000000"/>
                </a:solidFill>
              </a:rPr>
              <a:t>30</a:t>
            </a:r>
            <a:r>
              <a:rPr lang="en-US" altLang="en-US" sz="2800" dirty="0">
                <a:solidFill>
                  <a:srgbClr val="000000"/>
                </a:solidFill>
              </a:rPr>
              <a:t> (1,073, 741,824)is Giga, denoted "G“</a:t>
            </a:r>
            <a:endParaRPr lang="en-US" altLang="en-US" sz="2800" dirty="0">
              <a:solidFill>
                <a:srgbClr val="000000"/>
              </a:solidFill>
            </a:endParaRPr>
          </a:p>
          <a:p>
            <a:r>
              <a:rPr lang="en-US" altLang="en-US" sz="2800" dirty="0">
                <a:solidFill>
                  <a:srgbClr val="000000"/>
                </a:solidFill>
              </a:rPr>
              <a:t>2</a:t>
            </a:r>
            <a:r>
              <a:rPr lang="en-US" altLang="en-US" sz="3600" baseline="30000" dirty="0">
                <a:solidFill>
                  <a:srgbClr val="000000"/>
                </a:solidFill>
              </a:rPr>
              <a:t>40</a:t>
            </a:r>
            <a:r>
              <a:rPr lang="en-US" altLang="en-US" sz="2800" dirty="0">
                <a:solidFill>
                  <a:srgbClr val="000000"/>
                </a:solidFill>
              </a:rPr>
              <a:t> (</a:t>
            </a:r>
            <a:r>
              <a:rPr lang="en-US" sz="2800" dirty="0"/>
              <a:t>1.0995116e+12</a:t>
            </a:r>
            <a:r>
              <a:rPr lang="en-US" altLang="en-US" sz="2800" dirty="0">
                <a:solidFill>
                  <a:srgbClr val="000000"/>
                </a:solidFill>
              </a:rPr>
              <a:t>)is Tera, denoted “T"</a:t>
            </a:r>
            <a:endParaRPr lang="en-US" altLang="en-US" sz="2800" dirty="0">
              <a:solidFill>
                <a:prstClr val="black"/>
              </a:solidFill>
            </a:endParaRPr>
          </a:p>
          <a:p>
            <a:r>
              <a:rPr lang="en-US" altLang="en-US" sz="2800" dirty="0">
                <a:solidFill>
                  <a:srgbClr val="000000"/>
                </a:solidFill>
              </a:rPr>
              <a:t>2</a:t>
            </a:r>
            <a:r>
              <a:rPr lang="en-US" altLang="en-US" sz="3600" baseline="30000" dirty="0">
                <a:solidFill>
                  <a:srgbClr val="000000"/>
                </a:solidFill>
              </a:rPr>
              <a:t>50</a:t>
            </a:r>
            <a:r>
              <a:rPr lang="en-US" altLang="en-US" sz="2800" dirty="0">
                <a:solidFill>
                  <a:srgbClr val="000000"/>
                </a:solidFill>
              </a:rPr>
              <a:t> (</a:t>
            </a:r>
            <a:r>
              <a:rPr lang="en-US" sz="2800" dirty="0"/>
              <a:t>1.1258999e+15</a:t>
            </a:r>
            <a:r>
              <a:rPr lang="en-US" altLang="en-US" sz="2800" dirty="0">
                <a:solidFill>
                  <a:srgbClr val="000000"/>
                </a:solidFill>
              </a:rPr>
              <a:t>)is Peta, denoted “P“</a:t>
            </a:r>
            <a:endParaRPr lang="en-US" altLang="en-US" sz="2800" dirty="0">
              <a:solidFill>
                <a:srgbClr val="000000"/>
              </a:solidFill>
            </a:endParaRPr>
          </a:p>
          <a:p>
            <a:r>
              <a:rPr lang="en-US" altLang="en-US" sz="2800" dirty="0">
                <a:solidFill>
                  <a:srgbClr val="000000"/>
                </a:solidFill>
              </a:rPr>
              <a:t>2</a:t>
            </a:r>
            <a:r>
              <a:rPr lang="en-US" altLang="en-US" sz="3600" baseline="30000" dirty="0">
                <a:solidFill>
                  <a:srgbClr val="000000"/>
                </a:solidFill>
              </a:rPr>
              <a:t>60</a:t>
            </a:r>
            <a:r>
              <a:rPr lang="en-US" altLang="en-US" sz="2800" dirty="0">
                <a:solidFill>
                  <a:srgbClr val="000000"/>
                </a:solidFill>
              </a:rPr>
              <a:t> (</a:t>
            </a:r>
            <a:r>
              <a:rPr lang="en-US" sz="2800" dirty="0"/>
              <a:t>1.1529215e+18</a:t>
            </a:r>
            <a:r>
              <a:rPr lang="en-US" altLang="en-US" sz="2800" dirty="0">
                <a:solidFill>
                  <a:srgbClr val="000000"/>
                </a:solidFill>
              </a:rPr>
              <a:t>)is </a:t>
            </a:r>
            <a:r>
              <a:rPr lang="en-US" altLang="en-US" sz="2800" dirty="0" err="1">
                <a:solidFill>
                  <a:srgbClr val="000000"/>
                </a:solidFill>
              </a:rPr>
              <a:t>Exa</a:t>
            </a:r>
            <a:r>
              <a:rPr lang="en-US" altLang="en-US" sz="2800" dirty="0">
                <a:solidFill>
                  <a:srgbClr val="000000"/>
                </a:solidFill>
              </a:rPr>
              <a:t>, denoted “E“</a:t>
            </a:r>
            <a:endParaRPr lang="en-US" altLang="en-US" sz="2800" dirty="0">
              <a:solidFill>
                <a:srgbClr val="000000"/>
              </a:solidFill>
            </a:endParaRPr>
          </a:p>
          <a:p>
            <a:r>
              <a:rPr lang="en-US" altLang="en-US" sz="2800" dirty="0">
                <a:solidFill>
                  <a:srgbClr val="000000"/>
                </a:solidFill>
              </a:rPr>
              <a:t>2</a:t>
            </a:r>
            <a:r>
              <a:rPr lang="en-US" altLang="en-US" sz="3600" baseline="30000" dirty="0">
                <a:solidFill>
                  <a:srgbClr val="000000"/>
                </a:solidFill>
              </a:rPr>
              <a:t>70</a:t>
            </a:r>
            <a:r>
              <a:rPr lang="en-US" altLang="en-US" sz="2800" dirty="0">
                <a:solidFill>
                  <a:srgbClr val="000000"/>
                </a:solidFill>
              </a:rPr>
              <a:t> (</a:t>
            </a:r>
            <a:r>
              <a:rPr lang="en-US" sz="2800" dirty="0"/>
              <a:t>1.1805916e+21</a:t>
            </a:r>
            <a:r>
              <a:rPr lang="en-US" altLang="en-US" sz="2800" dirty="0">
                <a:solidFill>
                  <a:srgbClr val="000000"/>
                </a:solidFill>
              </a:rPr>
              <a:t>)is Zetta, denoted “Z“</a:t>
            </a:r>
            <a:endParaRPr lang="en-US" altLang="en-US" sz="2800" dirty="0">
              <a:solidFill>
                <a:srgbClr val="000000"/>
              </a:solidFill>
            </a:endParaRPr>
          </a:p>
          <a:p>
            <a:r>
              <a:rPr lang="en-US" altLang="en-US" sz="2800" dirty="0">
                <a:solidFill>
                  <a:srgbClr val="000000"/>
                </a:solidFill>
              </a:rPr>
              <a:t>2</a:t>
            </a:r>
            <a:r>
              <a:rPr lang="en-US" altLang="en-US" sz="3600" baseline="30000" dirty="0">
                <a:solidFill>
                  <a:srgbClr val="000000"/>
                </a:solidFill>
              </a:rPr>
              <a:t>80</a:t>
            </a:r>
            <a:r>
              <a:rPr lang="en-US" altLang="en-US" sz="2800" dirty="0">
                <a:solidFill>
                  <a:srgbClr val="000000"/>
                </a:solidFill>
              </a:rPr>
              <a:t> (</a:t>
            </a:r>
            <a:r>
              <a:rPr lang="en-US" sz="2800" dirty="0"/>
              <a:t>1.2089258e+24</a:t>
            </a:r>
            <a:r>
              <a:rPr lang="en-US" altLang="en-US" sz="2800" dirty="0">
                <a:solidFill>
                  <a:srgbClr val="000000"/>
                </a:solidFill>
              </a:rPr>
              <a:t>)is </a:t>
            </a:r>
            <a:r>
              <a:rPr lang="en-US" altLang="en-US" sz="2800" dirty="0" err="1">
                <a:solidFill>
                  <a:srgbClr val="000000"/>
                </a:solidFill>
              </a:rPr>
              <a:t>Yotta</a:t>
            </a:r>
            <a:r>
              <a:rPr lang="en-US" altLang="en-US" sz="2800" dirty="0">
                <a:solidFill>
                  <a:srgbClr val="000000"/>
                </a:solidFill>
              </a:rPr>
              <a:t>, denoted “Y"</a:t>
            </a:r>
            <a:endParaRPr lang="en-US" altLang="en-US" sz="2800" dirty="0">
              <a:solidFill>
                <a:prstClr val="black"/>
              </a:solidFill>
            </a:endParaRPr>
          </a:p>
          <a:p>
            <a:endParaRPr lang="en-US" altLang="en-US" sz="2800" dirty="0">
              <a:solidFill>
                <a:prstClr val="black"/>
              </a:solidFill>
            </a:endParaRPr>
          </a:p>
          <a:p>
            <a:endParaRPr lang="en-US" altLang="en-US" sz="2800" dirty="0">
              <a:solidFill>
                <a:prstClr val="black"/>
              </a:solidFill>
            </a:endParaRPr>
          </a:p>
          <a:p>
            <a:endParaRPr lang="en-US" altLang="en-US" sz="2800" dirty="0">
              <a:solidFill>
                <a:prstClr val="black"/>
              </a:solidFill>
            </a:endParaRPr>
          </a:p>
          <a:p>
            <a:endParaRPr lang="en-US" altLang="en-US" sz="2800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</a:fld>
            <a:endParaRPr lang="en-US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685125" y="2141538"/>
            <a:ext cx="5289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buClr>
                <a:schemeClr val="hlink"/>
              </a:buClr>
            </a:pPr>
            <a:r>
              <a:rPr lang="en-US" altLang="en-US" dirty="0">
                <a:solidFill>
                  <a:srgbClr val="000000"/>
                </a:solidFill>
              </a:rPr>
              <a:t> </a:t>
            </a:r>
            <a:endParaRPr lang="en-US" altLang="en-US" sz="3200" dirty="0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04825" y="3022600"/>
            <a:ext cx="747077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buClr>
                <a:schemeClr val="hlink"/>
              </a:buClr>
            </a:pPr>
            <a:r>
              <a:rPr lang="en-US" altLang="en-US" sz="3200" dirty="0">
                <a:solidFill>
                  <a:srgbClr val="000000"/>
                </a:solidFill>
              </a:rPr>
              <a:t> </a:t>
            </a:r>
            <a:endParaRPr lang="en-US" altLang="en-US" sz="3200" dirty="0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475924" y="3883379"/>
            <a:ext cx="6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buClr>
                <a:schemeClr val="hlink"/>
              </a:buClr>
            </a:pPr>
            <a:endParaRPr lang="en-US" alt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57875" y="1713161"/>
            <a:ext cx="5157787" cy="823912"/>
          </a:xfrm>
        </p:spPr>
        <p:txBody>
          <a:bodyPr/>
          <a:lstStyle/>
          <a:p>
            <a:r>
              <a:rPr lang="en-US" dirty="0"/>
              <a:t>      Decimal to Binary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3"/>
          </p:nvPr>
        </p:nvSpPr>
        <p:spPr>
          <a:xfrm>
            <a:off x="6650937" y="1825625"/>
            <a:ext cx="5183188" cy="823912"/>
          </a:xfrm>
        </p:spPr>
        <p:txBody>
          <a:bodyPr/>
          <a:lstStyle/>
          <a:p>
            <a:r>
              <a:rPr lang="en-US" dirty="0"/>
              <a:t>Binary to Decimal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Number conversions for r = 2 for Integers</a:t>
            </a:r>
            <a:endParaRPr lang="en-US" dirty="0">
              <a:latin typeface="+mn-lt"/>
            </a:endParaRP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163" y="2480854"/>
            <a:ext cx="3656078" cy="2916647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015" y="2649537"/>
            <a:ext cx="3347875" cy="318877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538079" y="5468976"/>
            <a:ext cx="2330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(217)</a:t>
            </a:r>
            <a:r>
              <a:rPr lang="en-US" b="1" baseline="-25000" dirty="0"/>
              <a:t>10</a:t>
            </a:r>
            <a:r>
              <a:rPr lang="en-US" b="1" dirty="0"/>
              <a:t>= (11011001)</a:t>
            </a:r>
            <a:r>
              <a:rPr lang="en-US" b="1" baseline="-25000" dirty="0"/>
              <a:t>2</a:t>
            </a:r>
            <a:endParaRPr lang="en-US" b="1" baseline="-25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Decimal to Binary</a:t>
            </a:r>
            <a:endParaRPr lang="en-US" dirty="0"/>
          </a:p>
        </p:txBody>
      </p:sp>
      <p:pic>
        <p:nvPicPr>
          <p:cNvPr id="14" name="Content Placeholder 13"/>
          <p:cNvPicPr>
            <a:picLocks noGrp="1" noChangeAspect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871789"/>
            <a:ext cx="4114799" cy="2453327"/>
          </a:xfrm>
        </p:spPr>
      </p:pic>
      <p:sp>
        <p:nvSpPr>
          <p:cNvPr id="12" name="Text Placeholder 1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Binary to Decimal</a:t>
            </a:r>
            <a:endParaRPr lang="en-US" dirty="0"/>
          </a:p>
        </p:txBody>
      </p:sp>
      <p:pic>
        <p:nvPicPr>
          <p:cNvPr id="15" name="Content Placeholder 14"/>
          <p:cNvPicPr>
            <a:picLocks noGrp="1" noChangeAspect="1"/>
          </p:cNvPicPr>
          <p:nvPr>
            <p:ph sz="quarter" idx="4"/>
          </p:nvPr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497" y="3006726"/>
            <a:ext cx="3272703" cy="2318390"/>
          </a:xfr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9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Number conversions for r=2 with Fractions</a:t>
            </a:r>
            <a:endParaRPr lang="en-US" dirty="0">
              <a:latin typeface="+mn-lt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4819336" y="3085353"/>
            <a:ext cx="0" cy="162408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843965" y="2923926"/>
            <a:ext cx="1090170" cy="3231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500" b="1" dirty="0"/>
              <a:t>Radix point</a:t>
            </a:r>
            <a:endParaRPr lang="en-US" sz="15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91502" y="5371339"/>
            <a:ext cx="47259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Multiplication is used instead of division</a:t>
            </a:r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Integers instead of reminders are considered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Same procedure can be followed for </a:t>
            </a:r>
            <a:r>
              <a:rPr lang="en-US" b="1" dirty="0"/>
              <a:t>fractions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838200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Octal &amp; Hexadecimal Numbers: Examples</a:t>
            </a:r>
            <a:endParaRPr lang="en-US" dirty="0">
              <a:latin typeface="+mn-lt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707392" y="2104076"/>
            <a:ext cx="6777213" cy="3147573"/>
            <a:chOff x="2707392" y="2104076"/>
            <a:chExt cx="6777213" cy="3147573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20000"/>
                      </a14:imgEffect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7392" y="2104076"/>
              <a:ext cx="6777213" cy="770802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>
              <a:grayscl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7632" y="4105473"/>
              <a:ext cx="5485263" cy="1146176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6">
              <a:grayscl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5337" y="2931914"/>
              <a:ext cx="6005015" cy="9941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/>
          <p:cNvPicPr>
            <a:picLocks noGrp="1" noChangeAspect="1"/>
          </p:cNvPicPr>
          <p:nvPr>
            <p:ph idx="1"/>
          </p:nvPr>
        </p:nvPicPr>
        <p:blipFill>
          <a:blip r:embed="rId1">
            <a:grayscl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6000" contrast="4000"/>
                    </a14:imgEffect>
                    <a14:imgEffect>
                      <a14:saturation sat="40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510" y="2575879"/>
            <a:ext cx="7146979" cy="2265337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838200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Octal &amp; Hexadecimal Numbers: Examples…</a:t>
            </a:r>
            <a:endParaRPr lang="en-US" b="1" i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  <a:p>
            <a:r>
              <a:rPr lang="en-US" sz="2500" b="1" i="1" dirty="0">
                <a:solidFill>
                  <a:srgbClr val="FF0000"/>
                </a:solidFill>
                <a:latin typeface="+mn-lt"/>
              </a:rPr>
              <a:t>Reverse way…</a:t>
            </a:r>
            <a:endParaRPr lang="en-US" sz="2500" dirty="0">
              <a:solidFill>
                <a:srgbClr val="FF000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351338"/>
          </a:xfrm>
        </p:spPr>
        <p:txBody>
          <a:bodyPr/>
          <a:lstStyle/>
          <a:p>
            <a:r>
              <a:rPr lang="en-US" dirty="0"/>
              <a:t>Complements are used to </a:t>
            </a:r>
            <a:r>
              <a:rPr lang="en-US" b="1" dirty="0"/>
              <a:t>simplify</a:t>
            </a:r>
            <a:r>
              <a:rPr lang="en-US" dirty="0"/>
              <a:t> the </a:t>
            </a:r>
            <a:r>
              <a:rPr lang="en-US" dirty="0">
                <a:solidFill>
                  <a:srgbClr val="FF0000"/>
                </a:solidFill>
              </a:rPr>
              <a:t>subtraction operation </a:t>
            </a:r>
            <a:endParaRPr lang="en-US" dirty="0">
              <a:solidFill>
                <a:srgbClr val="FF0000"/>
              </a:solidFill>
            </a:endParaRPr>
          </a:p>
          <a:p>
            <a:pPr lvl="2"/>
            <a:r>
              <a:rPr lang="en-US" b="1" dirty="0">
                <a:solidFill>
                  <a:srgbClr val="00B050"/>
                </a:solidFill>
              </a:rPr>
              <a:t>Concept: </a:t>
            </a:r>
            <a:r>
              <a:rPr lang="en-US" dirty="0"/>
              <a:t>Make the </a:t>
            </a:r>
            <a:r>
              <a:rPr lang="en-US" b="1" dirty="0"/>
              <a:t>subtrahend</a:t>
            </a:r>
            <a:r>
              <a:rPr lang="en-US" dirty="0"/>
              <a:t> negative and add with minuend</a:t>
            </a:r>
            <a:endParaRPr lang="en-US" dirty="0"/>
          </a:p>
          <a:p>
            <a:r>
              <a:rPr lang="en-US" dirty="0"/>
              <a:t>Also used in different logical operation like </a:t>
            </a:r>
            <a:r>
              <a:rPr lang="en-US" b="1" dirty="0"/>
              <a:t>negation</a:t>
            </a:r>
            <a:endParaRPr lang="en-US" b="1" dirty="0"/>
          </a:p>
          <a:p>
            <a:r>
              <a:rPr lang="en-US" b="1" dirty="0"/>
              <a:t>Two types </a:t>
            </a:r>
            <a:r>
              <a:rPr lang="en-US" dirty="0"/>
              <a:t>of complements for any base</a:t>
            </a:r>
            <a:r>
              <a:rPr lang="en-US" b="1" i="1" dirty="0"/>
              <a:t> r:</a:t>
            </a:r>
            <a:endParaRPr lang="en-US" dirty="0"/>
          </a:p>
          <a:p>
            <a:pPr marL="1371600" lvl="2" indent="-457200">
              <a:buFont typeface="+mj-lt"/>
              <a:buAutoNum type="arabicPeriod"/>
            </a:pPr>
            <a:r>
              <a:rPr lang="en-US" b="1" i="1" dirty="0"/>
              <a:t>r</a:t>
            </a:r>
            <a:r>
              <a:rPr lang="en-US" dirty="0"/>
              <a:t>’s complement </a:t>
            </a:r>
            <a:r>
              <a:rPr lang="en-US" b="1" dirty="0">
                <a:solidFill>
                  <a:srgbClr val="0070C0"/>
                </a:solidFill>
              </a:rPr>
              <a:t>or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radix complement </a:t>
            </a:r>
            <a:endParaRPr lang="en-US" dirty="0"/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b="1" i="1" dirty="0"/>
              <a:t>r-1</a:t>
            </a:r>
            <a:r>
              <a:rPr lang="en-US" dirty="0"/>
              <a:t>)’s complement </a:t>
            </a:r>
            <a:r>
              <a:rPr lang="en-US" b="1" dirty="0">
                <a:solidFill>
                  <a:srgbClr val="0070C0"/>
                </a:solidFill>
              </a:rPr>
              <a:t>or</a:t>
            </a:r>
            <a:r>
              <a:rPr lang="en-US" dirty="0"/>
              <a:t> diminished radix complement </a:t>
            </a:r>
            <a:endParaRPr lang="en-US" dirty="0"/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Example: </a:t>
            </a:r>
            <a:r>
              <a:rPr lang="en-US" dirty="0"/>
              <a:t>2’s and 1’s complement in binary, 10’s and 9’s complement in decimal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500062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Complements of Numbers  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838200" y="26979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dirty="0"/>
            </a:b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Complement of a Number</a:t>
            </a: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95851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Also known as </a:t>
                </a:r>
                <a:r>
                  <a:rPr lang="en-US" b="1" dirty="0"/>
                  <a:t>Diminished Radix Complement</a:t>
                </a:r>
                <a:endParaRPr lang="en-US" b="1" dirty="0"/>
              </a:p>
              <a:p>
                <a:r>
                  <a:rPr lang="en-US" b="1" dirty="0"/>
                  <a:t>If:</a:t>
                </a:r>
                <a:endParaRPr lang="en-US" b="1" dirty="0"/>
              </a:p>
              <a:p>
                <a:pPr marL="914400" lvl="2" indent="0">
                  <a:buNone/>
                </a:pPr>
                <a:r>
                  <a:rPr lang="en-US" b="1" dirty="0"/>
                  <a:t>N </a:t>
                </a:r>
                <a:r>
                  <a:rPr lang="en-US" dirty="0"/>
                  <a:t>= a number in base r</a:t>
                </a:r>
                <a:endParaRPr lang="en-US" dirty="0"/>
              </a:p>
              <a:p>
                <a:pPr marL="914400" lvl="2" indent="0">
                  <a:buNone/>
                </a:pPr>
                <a:r>
                  <a:rPr lang="en-US" b="1" dirty="0"/>
                  <a:t>n </a:t>
                </a:r>
                <a:r>
                  <a:rPr lang="en-US" dirty="0"/>
                  <a:t>= total number of digits at </a:t>
                </a:r>
                <a:r>
                  <a:rPr lang="en-US" b="1" i="1" dirty="0"/>
                  <a:t>integer part </a:t>
                </a:r>
                <a:r>
                  <a:rPr lang="en-US" dirty="0"/>
                  <a:t>of N</a:t>
                </a:r>
                <a:endParaRPr lang="en-US" dirty="0"/>
              </a:p>
              <a:p>
                <a:pPr marL="914400" lvl="2" indent="0">
                  <a:buNone/>
                </a:pPr>
                <a:r>
                  <a:rPr lang="en-US" b="1" dirty="0"/>
                  <a:t>m </a:t>
                </a:r>
                <a:r>
                  <a:rPr lang="en-US" dirty="0"/>
                  <a:t>= total number of digits at </a:t>
                </a:r>
                <a:r>
                  <a:rPr lang="en-US" b="1" i="1" dirty="0"/>
                  <a:t>fractional part </a:t>
                </a:r>
                <a:r>
                  <a:rPr lang="en-US" dirty="0"/>
                  <a:t>of N</a:t>
                </a:r>
                <a:endParaRPr lang="en-US" dirty="0"/>
              </a:p>
              <a:p>
                <a:r>
                  <a:rPr lang="en-US" b="1" dirty="0"/>
                  <a:t> (r-1)’s complement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[</a:t>
                </a:r>
                <a:r>
                  <a:rPr lang="en-US" b="1" dirty="0">
                    <a:solidFill>
                      <a:srgbClr val="00B050"/>
                    </a:solidFill>
                  </a:rPr>
                  <a:t>Original Rule</a:t>
                </a:r>
                <a:r>
                  <a:rPr lang="en-US" dirty="0"/>
                  <a:t>]</a:t>
                </a:r>
                <a:endParaRPr lang="en-US" b="1" dirty="0"/>
              </a:p>
              <a:p>
                <a:r>
                  <a:rPr lang="en-US" dirty="0"/>
                  <a:t>Examples in decimal: </a:t>
                </a:r>
                <a:endParaRPr lang="en-US" dirty="0"/>
              </a:p>
              <a:p>
                <a:pPr lvl="1"/>
                <a:r>
                  <a:rPr lang="en-US" dirty="0"/>
                  <a:t>9’s complement of (52520)</a:t>
                </a:r>
                <a:r>
                  <a:rPr lang="en-US" baseline="-25000" dirty="0"/>
                  <a:t>10</a:t>
                </a:r>
                <a:r>
                  <a:rPr lang="en-US" dirty="0"/>
                  <a:t>  = 10</a:t>
                </a:r>
                <a:r>
                  <a:rPr lang="en-US" baseline="30000" dirty="0"/>
                  <a:t>5 </a:t>
                </a:r>
                <a:r>
                  <a:rPr lang="en-US" dirty="0"/>
                  <a:t> - 10</a:t>
                </a:r>
                <a:r>
                  <a:rPr lang="en-US" baseline="30000" dirty="0"/>
                  <a:t>0</a:t>
                </a:r>
                <a:r>
                  <a:rPr lang="en-US" dirty="0"/>
                  <a:t> - 52520 = 99999-52520 = 47479</a:t>
                </a:r>
                <a:endParaRPr lang="en-US" dirty="0"/>
              </a:p>
              <a:p>
                <a:pPr lvl="2"/>
                <a:r>
                  <a:rPr lang="en-US" dirty="0">
                    <a:solidFill>
                      <a:schemeClr val="bg1">
                        <a:lumMod val="85000"/>
                      </a:schemeClr>
                    </a:solidFill>
                  </a:rPr>
                  <a:t>Here, n=5 and m=0</a:t>
                </a:r>
                <a:r>
                  <a:rPr lang="en-US" dirty="0"/>
                  <a:t>.</a:t>
                </a:r>
                <a:endParaRPr lang="en-US" dirty="0"/>
              </a:p>
              <a:p>
                <a:pPr lvl="1"/>
                <a:r>
                  <a:rPr lang="en-US" dirty="0"/>
                  <a:t>9’s complement of (0.3267)</a:t>
                </a:r>
                <a:r>
                  <a:rPr lang="en-US" baseline="-25000" dirty="0"/>
                  <a:t>10</a:t>
                </a:r>
                <a:r>
                  <a:rPr lang="en-US" dirty="0"/>
                  <a:t>  = 10</a:t>
                </a:r>
                <a:r>
                  <a:rPr lang="en-US" baseline="30000" dirty="0"/>
                  <a:t>0</a:t>
                </a:r>
                <a:r>
                  <a:rPr lang="en-US" dirty="0"/>
                  <a:t> – 10</a:t>
                </a:r>
                <a:r>
                  <a:rPr lang="en-US" baseline="30000" dirty="0"/>
                  <a:t>-4</a:t>
                </a:r>
                <a:r>
                  <a:rPr lang="en-US" dirty="0"/>
                  <a:t> - 0.3267 = 0.9999-0.3267 = 0.6732</a:t>
                </a:r>
                <a:endParaRPr lang="en-US" dirty="0"/>
              </a:p>
              <a:p>
                <a:pPr lvl="2"/>
                <a:r>
                  <a:rPr lang="en-US" dirty="0">
                    <a:solidFill>
                      <a:schemeClr val="bg1">
                        <a:lumMod val="85000"/>
                      </a:schemeClr>
                    </a:solidFill>
                  </a:rPr>
                  <a:t>Here, n=0 and m=4.</a:t>
                </a:r>
                <a:endParaRPr lang="en-US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pPr lvl="1"/>
                <a:r>
                  <a:rPr lang="en-US" dirty="0"/>
                  <a:t>9’s complement of (25.639)</a:t>
                </a:r>
                <a:r>
                  <a:rPr lang="en-US" baseline="-25000" dirty="0"/>
                  <a:t>10</a:t>
                </a:r>
                <a:r>
                  <a:rPr lang="en-US" dirty="0"/>
                  <a:t>  = 10</a:t>
                </a:r>
                <a:r>
                  <a:rPr lang="en-US" baseline="30000" dirty="0"/>
                  <a:t>2</a:t>
                </a:r>
                <a:r>
                  <a:rPr lang="en-US" dirty="0"/>
                  <a:t> – 10</a:t>
                </a:r>
                <a:r>
                  <a:rPr lang="en-US" baseline="30000" dirty="0"/>
                  <a:t>-3</a:t>
                </a:r>
                <a:r>
                  <a:rPr lang="en-US" dirty="0"/>
                  <a:t> - 25.639 = 99.999-25.639 = 74.360</a:t>
                </a:r>
                <a:endParaRPr lang="en-US" dirty="0"/>
              </a:p>
              <a:p>
                <a:pPr lvl="2"/>
                <a:r>
                  <a:rPr lang="en-US" dirty="0">
                    <a:solidFill>
                      <a:schemeClr val="bg1">
                        <a:lumMod val="85000"/>
                      </a:schemeClr>
                    </a:solidFill>
                  </a:rPr>
                  <a:t>Here, n=2 and m=3.</a:t>
                </a:r>
                <a:endParaRPr lang="en-US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95851"/>
              </a:xfrm>
              <a:blipFill rotWithShape="1">
                <a:blip r:embed="rId1"/>
                <a:stretch>
                  <a:fillRect t="-493" b="-7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dirty="0"/>
            </a:br>
            <a:r>
              <a:rPr lang="en-US" b="1" i="1" dirty="0">
                <a:solidFill>
                  <a:schemeClr val="accent5">
                    <a:lumMod val="75000"/>
                  </a:schemeClr>
                </a:solidFill>
              </a:rPr>
              <a:t>(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r-1)’s Complement</a:t>
            </a: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825625"/>
                <a:ext cx="114300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Example in binary:</a:t>
                </a:r>
                <a:endParaRPr lang="en-US" dirty="0"/>
              </a:p>
              <a:p>
                <a:pPr lvl="1"/>
                <a:r>
                  <a:rPr lang="en-US" dirty="0"/>
                  <a:t>1’s complement of (101100)</a:t>
                </a:r>
                <a:r>
                  <a:rPr lang="en-US" baseline="-25000" dirty="0"/>
                  <a:t>2 </a:t>
                </a:r>
                <a:r>
                  <a:rPr lang="en-US" dirty="0"/>
                  <a:t>= 2</a:t>
                </a:r>
                <a:r>
                  <a:rPr lang="en-US" baseline="30000" dirty="0"/>
                  <a:t>6 </a:t>
                </a:r>
                <a:r>
                  <a:rPr lang="en-US" dirty="0"/>
                  <a:t>– 2</a:t>
                </a:r>
                <a:r>
                  <a:rPr lang="en-US" baseline="30000" dirty="0"/>
                  <a:t>0</a:t>
                </a:r>
                <a:r>
                  <a:rPr lang="en-US" dirty="0"/>
                  <a:t> - (101100)</a:t>
                </a:r>
                <a:r>
                  <a:rPr lang="en-US" baseline="-25000" dirty="0"/>
                  <a:t>2 </a:t>
                </a:r>
                <a:r>
                  <a:rPr lang="en-US" dirty="0"/>
                  <a:t>= 111111</a:t>
                </a:r>
                <a:r>
                  <a:rPr lang="en-US" baseline="-25000" dirty="0"/>
                  <a:t>2</a:t>
                </a:r>
                <a:r>
                  <a:rPr lang="en-US" dirty="0"/>
                  <a:t>– 101100</a:t>
                </a:r>
                <a:r>
                  <a:rPr lang="en-US" baseline="-25000" dirty="0"/>
                  <a:t>2</a:t>
                </a:r>
                <a:r>
                  <a:rPr lang="en-US" dirty="0"/>
                  <a:t> = 010011</a:t>
                </a:r>
                <a:r>
                  <a:rPr lang="en-US" baseline="-25000" dirty="0"/>
                  <a:t>2</a:t>
                </a:r>
                <a:endParaRPr lang="en-US" baseline="-25000" dirty="0"/>
              </a:p>
              <a:p>
                <a:pPr lvl="2"/>
                <a:r>
                  <a:rPr lang="en-US" dirty="0">
                    <a:solidFill>
                      <a:schemeClr val="bg1">
                        <a:lumMod val="85000"/>
                      </a:schemeClr>
                    </a:solidFill>
                  </a:rPr>
                  <a:t>Here, n=6 and m=0</a:t>
                </a:r>
                <a:endParaRPr lang="en-US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pPr lvl="1"/>
                <a:r>
                  <a:rPr lang="en-US" dirty="0"/>
                  <a:t>1’s complement of (0.0110)</a:t>
                </a:r>
                <a:r>
                  <a:rPr lang="en-US" baseline="-25000" dirty="0"/>
                  <a:t>2 </a:t>
                </a:r>
                <a:r>
                  <a:rPr lang="en-US" dirty="0"/>
                  <a:t>= 2</a:t>
                </a:r>
                <a:r>
                  <a:rPr lang="en-US" baseline="30000" dirty="0"/>
                  <a:t>0 </a:t>
                </a:r>
                <a:r>
                  <a:rPr lang="en-US" dirty="0"/>
                  <a:t>– 2</a:t>
                </a:r>
                <a:r>
                  <a:rPr lang="en-US" baseline="30000" dirty="0"/>
                  <a:t>-4  </a:t>
                </a:r>
                <a:r>
                  <a:rPr lang="en-US" dirty="0"/>
                  <a:t>- (0.0110)</a:t>
                </a:r>
                <a:r>
                  <a:rPr lang="en-US" baseline="-25000" dirty="0"/>
                  <a:t>2 </a:t>
                </a:r>
                <a:r>
                  <a:rPr lang="en-US" dirty="0"/>
                  <a:t>= 0.1111</a:t>
                </a:r>
                <a:r>
                  <a:rPr lang="en-US" baseline="-25000" dirty="0"/>
                  <a:t>2</a:t>
                </a:r>
                <a:r>
                  <a:rPr lang="en-US" dirty="0"/>
                  <a:t> –0.0110</a:t>
                </a:r>
                <a:r>
                  <a:rPr lang="en-US" baseline="-25000" dirty="0"/>
                  <a:t>2</a:t>
                </a:r>
                <a:r>
                  <a:rPr lang="en-US" dirty="0"/>
                  <a:t> =0.1001</a:t>
                </a:r>
                <a:r>
                  <a:rPr lang="en-US" baseline="-25000" dirty="0"/>
                  <a:t>2</a:t>
                </a:r>
                <a:endParaRPr lang="en-US" baseline="-25000" dirty="0"/>
              </a:p>
              <a:p>
                <a:pPr lvl="2"/>
                <a:r>
                  <a:rPr lang="en-US" dirty="0">
                    <a:solidFill>
                      <a:schemeClr val="bg1">
                        <a:lumMod val="85000"/>
                      </a:schemeClr>
                    </a:solidFill>
                  </a:rPr>
                  <a:t>Here, n=0 and m=4</a:t>
                </a:r>
                <a:endParaRPr lang="en-US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r>
                  <a:rPr lang="en-US" dirty="0"/>
                  <a:t>Example in Octal or Hexa - </a:t>
                </a:r>
                <a:r>
                  <a:rPr lang="en-US" b="1" dirty="0">
                    <a:solidFill>
                      <a:srgbClr val="FF0000"/>
                    </a:solidFill>
                  </a:rPr>
                  <a:t>??? </a:t>
                </a:r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(</a:t>
                </a:r>
                <a:r>
                  <a:rPr lang="en-US" sz="2500" dirty="0">
                    <a:solidFill>
                      <a:schemeClr val="bg1">
                        <a:lumMod val="75000"/>
                      </a:schemeClr>
                    </a:solidFill>
                  </a:rPr>
                  <a:t>subtracting each digit from 7 and 15 respectively</a:t>
                </a:r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)</a:t>
                </a:r>
                <a:endParaRPr lang="en-US" b="1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rgbClr val="0070C0"/>
                    </a:solidFill>
                  </a:rPr>
                  <a:t>Alternative method # 1:</a:t>
                </a:r>
                <a:endParaRPr lang="en-US" b="1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en-US" dirty="0"/>
                  <a:t>Leaving all the digits subtracted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(instead of using any formula)</a:t>
                </a:r>
                <a:endParaRPr lang="en-US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825625"/>
                <a:ext cx="11430000" cy="4351338"/>
              </a:xfrm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9" name="Title 1"/>
          <p:cNvSpPr txBox="1"/>
          <p:nvPr/>
        </p:nvSpPr>
        <p:spPr>
          <a:xfrm>
            <a:off x="381000" y="500062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</a:rPr>
              <a:t>(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r-1)’s Complement…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98329"/>
                <a:ext cx="10515600" cy="479353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Also known as </a:t>
                </a:r>
                <a:r>
                  <a:rPr lang="en-US" b="1" dirty="0"/>
                  <a:t>Radix Complement</a:t>
                </a:r>
                <a:endParaRPr lang="en-US" b="1" dirty="0"/>
              </a:p>
              <a:p>
                <a:r>
                  <a:rPr lang="en-US" b="1" dirty="0"/>
                  <a:t>If:</a:t>
                </a:r>
                <a:endParaRPr lang="en-US" b="1" dirty="0"/>
              </a:p>
              <a:p>
                <a:pPr marL="914400" lvl="2" indent="0">
                  <a:buNone/>
                </a:pPr>
                <a:r>
                  <a:rPr lang="en-US" b="1" dirty="0"/>
                  <a:t>N </a:t>
                </a:r>
                <a:r>
                  <a:rPr lang="en-US" dirty="0"/>
                  <a:t>= a positive number in base </a:t>
                </a:r>
                <a:r>
                  <a:rPr lang="en-US" b="1" i="1" dirty="0"/>
                  <a:t>r</a:t>
                </a:r>
                <a:endParaRPr lang="en-US" b="1" i="1" dirty="0"/>
              </a:p>
              <a:p>
                <a:pPr marL="914400" lvl="2" indent="0">
                  <a:buNone/>
                </a:pPr>
                <a:r>
                  <a:rPr lang="en-US" b="1" dirty="0"/>
                  <a:t>n </a:t>
                </a:r>
                <a:r>
                  <a:rPr lang="en-US" dirty="0"/>
                  <a:t>= number of digits at </a:t>
                </a:r>
                <a:r>
                  <a:rPr lang="en-US" b="1" i="1" dirty="0"/>
                  <a:t>integer part </a:t>
                </a:r>
                <a:r>
                  <a:rPr lang="en-US" dirty="0"/>
                  <a:t>of N</a:t>
                </a:r>
                <a:endParaRPr lang="en-US" b="1" dirty="0"/>
              </a:p>
              <a:p>
                <a:r>
                  <a:rPr lang="en-US" b="1" dirty="0"/>
                  <a:t>r’s complement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[</a:t>
                </a:r>
                <a:r>
                  <a:rPr lang="en-US" b="1" dirty="0">
                    <a:solidFill>
                      <a:srgbClr val="00B050"/>
                    </a:solidFill>
                  </a:rPr>
                  <a:t>Original Rule</a:t>
                </a:r>
                <a:r>
                  <a:rPr lang="en-US" b="1" dirty="0"/>
                  <a:t>]</a:t>
                </a:r>
                <a:endParaRPr lang="en-US" b="1" dirty="0"/>
              </a:p>
              <a:p>
                <a:pPr lvl="2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;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r’s complement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Example in decimal: </a:t>
                </a:r>
                <a:endParaRPr lang="en-US" dirty="0"/>
              </a:p>
              <a:p>
                <a:pPr lvl="1"/>
                <a:r>
                  <a:rPr lang="en-US" dirty="0"/>
                  <a:t>10’s complement of (52520)</a:t>
                </a:r>
                <a:r>
                  <a:rPr lang="en-US" baseline="-25000" dirty="0"/>
                  <a:t>10</a:t>
                </a:r>
                <a:r>
                  <a:rPr lang="en-US" dirty="0"/>
                  <a:t>  = 10</a:t>
                </a:r>
                <a:r>
                  <a:rPr lang="en-US" baseline="30000" dirty="0"/>
                  <a:t>5 </a:t>
                </a:r>
                <a:r>
                  <a:rPr lang="en-US" dirty="0"/>
                  <a:t> - 52520 = 47480</a:t>
                </a:r>
                <a:endParaRPr lang="en-US" dirty="0"/>
              </a:p>
              <a:p>
                <a:pPr lvl="2"/>
                <a:r>
                  <a:rPr lang="en-US" dirty="0">
                    <a:solidFill>
                      <a:schemeClr val="bg1">
                        <a:lumMod val="85000"/>
                      </a:schemeClr>
                    </a:solidFill>
                  </a:rPr>
                  <a:t>Here, the number of digits in integer part is 5.</a:t>
                </a:r>
                <a:endParaRPr lang="en-US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pPr lvl="1"/>
                <a:r>
                  <a:rPr lang="en-US" dirty="0"/>
                  <a:t>10’s complement of (0.3267)</a:t>
                </a:r>
                <a:r>
                  <a:rPr lang="en-US" baseline="-25000" dirty="0"/>
                  <a:t>10</a:t>
                </a:r>
                <a:r>
                  <a:rPr lang="en-US" dirty="0"/>
                  <a:t>  = 10</a:t>
                </a:r>
                <a:r>
                  <a:rPr lang="en-US" baseline="30000" dirty="0"/>
                  <a:t>0</a:t>
                </a:r>
                <a:r>
                  <a:rPr lang="en-US" dirty="0"/>
                  <a:t> – 0.3267 = 1-0.3267 = 0.6733</a:t>
                </a:r>
                <a:endParaRPr lang="en-US" dirty="0"/>
              </a:p>
              <a:p>
                <a:pPr lvl="2"/>
                <a:r>
                  <a:rPr lang="en-US" dirty="0">
                    <a:solidFill>
                      <a:schemeClr val="bg1">
                        <a:lumMod val="85000"/>
                      </a:schemeClr>
                    </a:solidFill>
                  </a:rPr>
                  <a:t>Here, the number of digits in integer part is 0.</a:t>
                </a:r>
                <a:endParaRPr lang="en-US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pPr lvl="1"/>
                <a:r>
                  <a:rPr lang="en-US" dirty="0"/>
                  <a:t>10’s complement of (25.639)</a:t>
                </a:r>
                <a:r>
                  <a:rPr lang="en-US" baseline="-25000" dirty="0"/>
                  <a:t>10</a:t>
                </a:r>
                <a:r>
                  <a:rPr lang="en-US" dirty="0"/>
                  <a:t>  = 10</a:t>
                </a:r>
                <a:r>
                  <a:rPr lang="en-US" baseline="30000" dirty="0"/>
                  <a:t>2</a:t>
                </a:r>
                <a:r>
                  <a:rPr lang="en-US" dirty="0"/>
                  <a:t> – 25.639 = 100-25.639 = 74.361</a:t>
                </a:r>
                <a:endParaRPr lang="en-US" dirty="0"/>
              </a:p>
              <a:p>
                <a:pPr lvl="2"/>
                <a:r>
                  <a:rPr lang="en-US" dirty="0">
                    <a:solidFill>
                      <a:schemeClr val="bg1">
                        <a:lumMod val="85000"/>
                      </a:schemeClr>
                    </a:solidFill>
                  </a:rPr>
                  <a:t>Here, the number of digits in integer part is 2.</a:t>
                </a:r>
                <a:endParaRPr lang="en-US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98329"/>
                <a:ext cx="10515600" cy="4793539"/>
              </a:xfrm>
              <a:blipFill rotWithShape="1">
                <a:blip r:embed="rId1"/>
                <a:stretch>
                  <a:fillRect t="-490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r’s Complement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395046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Example in binary:</a:t>
            </a:r>
            <a:endParaRPr lang="en-US" dirty="0"/>
          </a:p>
          <a:p>
            <a:pPr lvl="1"/>
            <a:r>
              <a:rPr lang="en-US" dirty="0"/>
              <a:t>2’s complement of (101100)</a:t>
            </a:r>
            <a:r>
              <a:rPr lang="en-US" baseline="-25000" dirty="0"/>
              <a:t>2 </a:t>
            </a:r>
            <a:r>
              <a:rPr lang="en-US" dirty="0"/>
              <a:t>= 2</a:t>
            </a:r>
            <a:r>
              <a:rPr lang="en-US" baseline="30000" dirty="0"/>
              <a:t>6 </a:t>
            </a:r>
            <a:r>
              <a:rPr lang="en-US" dirty="0"/>
              <a:t>- (101100)</a:t>
            </a:r>
            <a:r>
              <a:rPr lang="en-US" baseline="-25000" dirty="0"/>
              <a:t>2 </a:t>
            </a:r>
            <a:r>
              <a:rPr lang="en-US" dirty="0"/>
              <a:t>= 1000000</a:t>
            </a:r>
            <a:r>
              <a:rPr lang="en-US" baseline="-25000" dirty="0"/>
              <a:t>2</a:t>
            </a:r>
            <a:r>
              <a:rPr lang="en-US" dirty="0"/>
              <a:t> – 101100</a:t>
            </a:r>
            <a:r>
              <a:rPr lang="en-US" baseline="-25000" dirty="0"/>
              <a:t>2</a:t>
            </a:r>
            <a:r>
              <a:rPr lang="en-US" dirty="0"/>
              <a:t> =010100</a:t>
            </a:r>
            <a:r>
              <a:rPr lang="en-US" baseline="-25000" dirty="0"/>
              <a:t>2</a:t>
            </a:r>
            <a:endParaRPr lang="en-US" baseline="-25000" dirty="0"/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Here, the number of digits in integer part is 6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lvl="1"/>
            <a:r>
              <a:rPr lang="en-US" dirty="0"/>
              <a:t>2’s complement of (0.0110)</a:t>
            </a:r>
            <a:r>
              <a:rPr lang="en-US" baseline="-25000" dirty="0"/>
              <a:t>2 </a:t>
            </a:r>
            <a:r>
              <a:rPr lang="en-US" dirty="0"/>
              <a:t>= 2</a:t>
            </a:r>
            <a:r>
              <a:rPr lang="en-US" baseline="30000" dirty="0"/>
              <a:t>0 </a:t>
            </a:r>
            <a:r>
              <a:rPr lang="en-US" dirty="0"/>
              <a:t>- (0.0110)</a:t>
            </a:r>
            <a:r>
              <a:rPr lang="en-US" baseline="-25000" dirty="0"/>
              <a:t>2 </a:t>
            </a:r>
            <a:r>
              <a:rPr lang="en-US" dirty="0"/>
              <a:t>= 1</a:t>
            </a:r>
            <a:r>
              <a:rPr lang="en-US" baseline="-25000" dirty="0"/>
              <a:t>2</a:t>
            </a:r>
            <a:r>
              <a:rPr lang="en-US" dirty="0"/>
              <a:t> – 0.0110</a:t>
            </a:r>
            <a:r>
              <a:rPr lang="en-US" baseline="-25000" dirty="0"/>
              <a:t>2</a:t>
            </a:r>
            <a:r>
              <a:rPr lang="en-US" dirty="0"/>
              <a:t> =0.1010</a:t>
            </a:r>
            <a:r>
              <a:rPr lang="en-US" baseline="-25000" dirty="0"/>
              <a:t>2</a:t>
            </a:r>
            <a:endParaRPr lang="en-US" baseline="-25000" dirty="0"/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Here, the number of digits in integer part is 0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Alternative method # 1</a:t>
            </a:r>
            <a:endParaRPr lang="en-US" b="1" dirty="0">
              <a:solidFill>
                <a:srgbClr val="0070C0"/>
              </a:solidFill>
            </a:endParaRPr>
          </a:p>
          <a:p>
            <a:pPr lvl="1"/>
            <a:r>
              <a:rPr lang="en-US" dirty="0">
                <a:solidFill>
                  <a:srgbClr val="0070C0"/>
                </a:solidFill>
              </a:rPr>
              <a:t>Leaving all least significant zeros unchanged,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next first non-zero least significant digit will be subtracted from </a:t>
            </a:r>
            <a:r>
              <a:rPr lang="en-US" b="1" i="1" dirty="0">
                <a:solidFill>
                  <a:srgbClr val="00B050"/>
                </a:solidFill>
              </a:rPr>
              <a:t>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and </a:t>
            </a:r>
            <a:r>
              <a:rPr lang="en-US" dirty="0">
                <a:solidFill>
                  <a:srgbClr val="7030A0"/>
                </a:solidFill>
              </a:rPr>
              <a:t>next all higher significant digits will be subtracted from </a:t>
            </a:r>
            <a:r>
              <a:rPr lang="en-US" b="1" i="1" dirty="0">
                <a:solidFill>
                  <a:srgbClr val="7030A0"/>
                </a:solidFill>
              </a:rPr>
              <a:t>(r-1)</a:t>
            </a:r>
            <a:r>
              <a:rPr lang="en-US" dirty="0">
                <a:solidFill>
                  <a:srgbClr val="7030A0"/>
                </a:solidFill>
              </a:rPr>
              <a:t>.</a:t>
            </a:r>
            <a:endParaRPr lang="en-US" dirty="0">
              <a:solidFill>
                <a:srgbClr val="7030A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Alternative method # 2</a:t>
            </a:r>
            <a:endParaRPr lang="en-US" b="1" dirty="0">
              <a:solidFill>
                <a:srgbClr val="0070C0"/>
              </a:solidFill>
            </a:endParaRPr>
          </a:p>
          <a:p>
            <a:pPr lvl="1"/>
            <a:r>
              <a:rPr lang="en-US" b="1" dirty="0"/>
              <a:t>Addition </a:t>
            </a:r>
            <a:r>
              <a:rPr lang="en-US" dirty="0"/>
              <a:t>of </a:t>
            </a:r>
            <a:r>
              <a:rPr lang="en-US" b="1" i="1" dirty="0">
                <a:solidFill>
                  <a:srgbClr val="0070C0"/>
                </a:solidFill>
              </a:rPr>
              <a:t>r</a:t>
            </a:r>
            <a:r>
              <a:rPr lang="en-US" sz="3200" b="1" i="1" baseline="30000" dirty="0">
                <a:solidFill>
                  <a:srgbClr val="0070C0"/>
                </a:solidFill>
              </a:rPr>
              <a:t>-m</a:t>
            </a:r>
            <a:r>
              <a:rPr lang="en-US" b="1" baseline="30000" dirty="0">
                <a:solidFill>
                  <a:srgbClr val="0070C0"/>
                </a:solidFill>
              </a:rPr>
              <a:t> </a:t>
            </a:r>
            <a:r>
              <a:rPr lang="en-US" dirty="0"/>
              <a:t>with the </a:t>
            </a:r>
            <a:r>
              <a:rPr lang="en-US" b="1" i="1" dirty="0">
                <a:solidFill>
                  <a:srgbClr val="0070C0"/>
                </a:solidFill>
              </a:rPr>
              <a:t>(r-1)</a:t>
            </a:r>
            <a:r>
              <a:rPr lang="en-US" b="1" dirty="0">
                <a:solidFill>
                  <a:srgbClr val="0070C0"/>
                </a:solidFill>
              </a:rPr>
              <a:t>’s complement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r’s Complement…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082251" cy="4351338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Complement of the complement restores the number to its original value.  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b="1" dirty="0"/>
                  <a:t>Proof:</a:t>
                </a:r>
                <a:r>
                  <a:rPr lang="en-US" dirty="0"/>
                  <a:t> </a:t>
                </a:r>
                <a:r>
                  <a:rPr lang="en-US" b="1" i="1" dirty="0"/>
                  <a:t>r</a:t>
                </a:r>
                <a:r>
                  <a:rPr lang="en-US" dirty="0"/>
                  <a:t>’s complement of N 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3200" b="1" i="1" baseline="30000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baseline="30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i="1" dirty="0"/>
                  <a:t> </a:t>
                </a:r>
                <a:r>
                  <a:rPr lang="en-US" dirty="0"/>
                  <a:t>and complement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3200" b="1" i="1" baseline="30000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–(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800" b="1" i="1" baseline="30000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–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lang="en-US" b="1" i="1" dirty="0"/>
              </a:p>
              <a:p>
                <a:pPr lvl="1"/>
                <a:r>
                  <a:rPr lang="en-US" b="1" dirty="0"/>
                  <a:t>Expression: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’)’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i="1" dirty="0"/>
              </a:p>
              <a:p>
                <a:endParaRPr lang="en-US" b="1" u="sng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082251" cy="4351338"/>
              </a:xfrm>
              <a:blipFill rotWithShape="1">
                <a:blip r:embed="rId1"/>
                <a:stretch>
                  <a:fillRect l="-6" r="2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Complement of Complement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35133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Radix point can be removed temporarily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</a:t>
            </a:r>
            <a:r>
              <a:rPr lang="en-US" dirty="0">
                <a:solidFill>
                  <a:srgbClr val="FF0000"/>
                </a:solidFill>
              </a:rPr>
              <a:t> perform the </a:t>
            </a:r>
            <a:r>
              <a:rPr lang="en-US" b="1" i="1" dirty="0">
                <a:solidFill>
                  <a:srgbClr val="FF0000"/>
                </a:solidFill>
              </a:rPr>
              <a:t>r</a:t>
            </a:r>
            <a:r>
              <a:rPr lang="en-US" dirty="0">
                <a:solidFill>
                  <a:srgbClr val="FF0000"/>
                </a:solidFill>
              </a:rPr>
              <a:t>’s or </a:t>
            </a:r>
            <a:r>
              <a:rPr lang="en-US" b="1" i="1" dirty="0">
                <a:solidFill>
                  <a:srgbClr val="FF0000"/>
                </a:solidFill>
              </a:rPr>
              <a:t>(r-1)</a:t>
            </a:r>
            <a:r>
              <a:rPr lang="en-US" dirty="0">
                <a:solidFill>
                  <a:srgbClr val="FF0000"/>
                </a:solidFill>
              </a:rPr>
              <a:t>’s complement in any convenient method 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Radix point should be restored to the complemented number at the same relative position</a:t>
            </a:r>
            <a:endParaRPr lang="en-US" dirty="0"/>
          </a:p>
          <a:p>
            <a:endParaRPr lang="en-US" b="1" u="sn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500062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Complement of A Fraction: Alternative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035352" cy="4665662"/>
          </a:xfrm>
        </p:spPr>
        <p:txBody>
          <a:bodyPr>
            <a:normAutofit/>
          </a:bodyPr>
          <a:lstStyle/>
          <a:p>
            <a:r>
              <a:rPr lang="en-US" dirty="0"/>
              <a:t>Subtraction method uses the </a:t>
            </a:r>
            <a:r>
              <a:rPr lang="en-US" b="1" dirty="0"/>
              <a:t>borrow</a:t>
            </a:r>
            <a:r>
              <a:rPr lang="en-US" dirty="0"/>
              <a:t> concept – </a:t>
            </a:r>
            <a:r>
              <a:rPr lang="en-US" dirty="0">
                <a:solidFill>
                  <a:srgbClr val="00B050"/>
                </a:solidFill>
              </a:rPr>
              <a:t>earlier intuitive method</a:t>
            </a:r>
            <a:r>
              <a:rPr lang="en-US" dirty="0"/>
              <a:t>.</a:t>
            </a:r>
            <a:endParaRPr lang="en-US" dirty="0"/>
          </a:p>
          <a:p>
            <a:pPr lvl="2"/>
            <a:r>
              <a:rPr lang="en-US" dirty="0">
                <a:solidFill>
                  <a:srgbClr val="00B050"/>
                </a:solidFill>
              </a:rPr>
              <a:t>Easiest</a:t>
            </a:r>
            <a:r>
              <a:rPr lang="en-US" dirty="0"/>
              <a:t> way for human being </a:t>
            </a:r>
            <a:r>
              <a:rPr lang="en-US" b="1" dirty="0">
                <a:solidFill>
                  <a:srgbClr val="FF0000"/>
                </a:solidFill>
              </a:rPr>
              <a:t>but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less efficient </a:t>
            </a:r>
            <a:r>
              <a:rPr lang="en-US" dirty="0"/>
              <a:t>for digital system</a:t>
            </a:r>
            <a:endParaRPr lang="en-US" dirty="0"/>
          </a:p>
          <a:p>
            <a:pPr lvl="2"/>
            <a:r>
              <a:rPr lang="en-US" dirty="0"/>
              <a:t>A 1 is borrowed from higher significant minuend position if the minuend digit is smaller than the subtrahend digit</a:t>
            </a:r>
            <a:endParaRPr lang="en-US" dirty="0"/>
          </a:p>
          <a:p>
            <a:r>
              <a:rPr lang="en-US" dirty="0"/>
              <a:t>Subtraction </a:t>
            </a:r>
            <a:r>
              <a:rPr lang="en-US" dirty="0">
                <a:solidFill>
                  <a:srgbClr val="00B050"/>
                </a:solidFill>
              </a:rPr>
              <a:t>using complement </a:t>
            </a:r>
            <a:r>
              <a:rPr lang="en-US" dirty="0"/>
              <a:t>is more efficient for computer system</a:t>
            </a:r>
            <a:endParaRPr lang="en-US" dirty="0"/>
          </a:p>
          <a:p>
            <a:r>
              <a:rPr lang="en-US" dirty="0"/>
              <a:t>Subtraction of two positive numbers </a:t>
            </a:r>
            <a:r>
              <a:rPr lang="en-US" b="1" dirty="0"/>
              <a:t>(</a:t>
            </a:r>
            <a:r>
              <a:rPr lang="en-US" b="1" i="1" dirty="0"/>
              <a:t>M-N</a:t>
            </a:r>
            <a:r>
              <a:rPr lang="en-US" b="1" dirty="0"/>
              <a:t>); </a:t>
            </a:r>
            <a:r>
              <a:rPr lang="en-US" dirty="0"/>
              <a:t>both of them being </a:t>
            </a:r>
            <a:r>
              <a:rPr lang="en-US" b="1" dirty="0"/>
              <a:t>base </a:t>
            </a:r>
            <a:r>
              <a:rPr lang="en-US" b="1" i="1" dirty="0"/>
              <a:t>r,</a:t>
            </a:r>
            <a:r>
              <a:rPr lang="en-US" dirty="0"/>
              <a:t> done as follows (</a:t>
            </a:r>
            <a:r>
              <a:rPr lang="en-US" i="1" dirty="0">
                <a:solidFill>
                  <a:srgbClr val="FF0000"/>
                </a:solidFill>
              </a:rPr>
              <a:t>informal</a:t>
            </a:r>
            <a:r>
              <a:rPr lang="en-US" dirty="0"/>
              <a:t>):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Add the </a:t>
            </a:r>
            <a:r>
              <a:rPr lang="en-US" b="1" dirty="0"/>
              <a:t>minuend M</a:t>
            </a:r>
            <a:r>
              <a:rPr lang="en-US" dirty="0"/>
              <a:t> to the </a:t>
            </a:r>
            <a:r>
              <a:rPr lang="en-US" b="1" dirty="0">
                <a:solidFill>
                  <a:srgbClr val="002060"/>
                </a:solidFill>
              </a:rPr>
              <a:t>r’s complement</a:t>
            </a:r>
            <a:r>
              <a:rPr lang="en-US" dirty="0"/>
              <a:t> of the </a:t>
            </a:r>
            <a:r>
              <a:rPr lang="en-US" b="1" dirty="0"/>
              <a:t>subtrahend N</a:t>
            </a:r>
            <a:endParaRPr lang="en-US" b="1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Inspect the result</a:t>
            </a:r>
            <a:r>
              <a:rPr lang="en-US" dirty="0"/>
              <a:t> obtained in step 1 for </a:t>
            </a:r>
            <a:r>
              <a:rPr lang="en-US" u="sng" dirty="0"/>
              <a:t>an end carry</a:t>
            </a:r>
            <a:r>
              <a:rPr lang="en-US" dirty="0"/>
              <a:t>:</a:t>
            </a:r>
            <a:endParaRPr lang="en-US" dirty="0"/>
          </a:p>
          <a:p>
            <a:pPr lvl="2"/>
            <a:r>
              <a:rPr lang="en-US" dirty="0">
                <a:solidFill>
                  <a:srgbClr val="00B050"/>
                </a:solidFill>
              </a:rPr>
              <a:t>If an end carry occurs</a:t>
            </a:r>
            <a:r>
              <a:rPr lang="en-US" dirty="0"/>
              <a:t>, discard it</a:t>
            </a:r>
            <a:endParaRPr lang="en-US" dirty="0"/>
          </a:p>
          <a:p>
            <a:pPr lvl="2"/>
            <a:r>
              <a:rPr lang="en-US" dirty="0">
                <a:solidFill>
                  <a:srgbClr val="00B050"/>
                </a:solidFill>
              </a:rPr>
              <a:t>If an end carry doesn’t occur</a:t>
            </a:r>
            <a:r>
              <a:rPr lang="en-US" dirty="0"/>
              <a:t>, take the </a:t>
            </a:r>
            <a:r>
              <a:rPr lang="en-US" b="1" dirty="0"/>
              <a:t>r’s complement </a:t>
            </a:r>
            <a:r>
              <a:rPr lang="en-US" dirty="0"/>
              <a:t>of the result obtained in step 1 and </a:t>
            </a:r>
            <a:r>
              <a:rPr lang="en-US" u="sng" dirty="0">
                <a:solidFill>
                  <a:srgbClr val="002060"/>
                </a:solidFill>
              </a:rPr>
              <a:t>place a negative sign in front of it</a:t>
            </a:r>
            <a:endParaRPr lang="en-US" u="sng" dirty="0">
              <a:solidFill>
                <a:srgbClr val="00206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Subtraction with r’s Complement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855" y="577098"/>
            <a:ext cx="10766945" cy="1325563"/>
          </a:xfrm>
        </p:spPr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b="1" i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Subtraction with r’s Complement…</a:t>
            </a:r>
            <a:br>
              <a:rPr lang="en-US" sz="18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endParaRPr lang="en-US" sz="18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86855" y="1825625"/>
                <a:ext cx="11505062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subtraction of two </a:t>
                </a:r>
                <a:r>
                  <a:rPr lang="en-US" b="1" i="1" dirty="0"/>
                  <a:t>n</a:t>
                </a:r>
                <a:r>
                  <a:rPr lang="en-US" dirty="0"/>
                  <a:t>‐digit unsigned numbers </a:t>
                </a:r>
                <a:r>
                  <a:rPr lang="en-US" b="1" i="1" dirty="0"/>
                  <a:t>M - N</a:t>
                </a:r>
                <a:r>
                  <a:rPr lang="en-US" dirty="0"/>
                  <a:t> in base </a:t>
                </a:r>
                <a:r>
                  <a:rPr lang="en-US" b="1" i="1" dirty="0"/>
                  <a:t>r </a:t>
                </a:r>
                <a:r>
                  <a:rPr lang="en-US" dirty="0"/>
                  <a:t>can be done as follows (</a:t>
                </a:r>
                <a:r>
                  <a:rPr lang="en-US" i="1" dirty="0">
                    <a:solidFill>
                      <a:srgbClr val="FF0000"/>
                    </a:solidFill>
                  </a:rPr>
                  <a:t>formal</a:t>
                </a:r>
                <a:r>
                  <a:rPr lang="en-US" dirty="0"/>
                  <a:t>):</a:t>
                </a: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Add  the  minuend  </a:t>
                </a:r>
                <a:r>
                  <a:rPr lang="en-US" b="1" i="1" dirty="0"/>
                  <a:t>M</a:t>
                </a:r>
                <a:r>
                  <a:rPr lang="en-US" dirty="0"/>
                  <a:t> to the </a:t>
                </a:r>
                <a:r>
                  <a:rPr lang="en-US" b="1" i="1" dirty="0"/>
                  <a:t>r</a:t>
                </a:r>
                <a:r>
                  <a:rPr lang="en-US" dirty="0"/>
                  <a:t>’s complement of the subtrahend </a:t>
                </a:r>
                <a:r>
                  <a:rPr lang="en-US" b="1" i="1" dirty="0"/>
                  <a:t>N</a:t>
                </a:r>
                <a:r>
                  <a:rPr lang="en-US" dirty="0"/>
                  <a:t>. Mathematically, 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If 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/>
                  <a:t>, the sum will produce an end carry,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dirty="0"/>
                  <a:t>, which will be discarded; what left is the result of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/>
                  <a:t>   </a:t>
                </a: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If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/>
                  <a:t>,    the sum does not produce an end carry and </a:t>
                </a:r>
                <a:r>
                  <a:rPr lang="en-US" dirty="0">
                    <a:solidFill>
                      <a:srgbClr val="FF0000"/>
                    </a:solidFill>
                  </a:rPr>
                  <a:t>is equal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−(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, </a:t>
                </a:r>
                <a:r>
                  <a:rPr lang="en-US" dirty="0"/>
                  <a:t>which is the </a:t>
                </a:r>
                <a:r>
                  <a:rPr lang="en-US" b="1" i="1" dirty="0"/>
                  <a:t>r</a:t>
                </a:r>
                <a:r>
                  <a:rPr lang="en-US" dirty="0"/>
                  <a:t>’s complement of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dirty="0"/>
                  <a:t>. To obtain the answer in a familiar form, take the</a:t>
                </a:r>
                <a:r>
                  <a:rPr lang="en-US" b="1" i="1" dirty="0"/>
                  <a:t> r</a:t>
                </a:r>
                <a:r>
                  <a:rPr lang="en-US" dirty="0"/>
                  <a:t>’s complement of the sum and place a </a:t>
                </a:r>
                <a:r>
                  <a:rPr lang="en-US" b="1" dirty="0"/>
                  <a:t>negative sign </a:t>
                </a:r>
                <a:r>
                  <a:rPr lang="en-US" dirty="0"/>
                  <a:t>in front. 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6855" y="1825625"/>
                <a:ext cx="11505062" cy="4351338"/>
              </a:xfrm>
              <a:blipFill rotWithShape="1">
                <a:blip r:embed="rId1"/>
                <a:stretch>
                  <a:fillRect l="-1" r="2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</a:t>
            </a:r>
            <a:endParaRPr lang="en-US" dirty="0"/>
          </a:p>
          <a:p>
            <a:pPr lvl="1"/>
            <a:r>
              <a:rPr lang="en-US" dirty="0"/>
              <a:t>M=72532</a:t>
            </a:r>
            <a:r>
              <a:rPr lang="en-US" baseline="-25000" dirty="0"/>
              <a:t>10</a:t>
            </a:r>
            <a:r>
              <a:rPr lang="en-US" dirty="0"/>
              <a:t> and N=03250</a:t>
            </a:r>
            <a:r>
              <a:rPr lang="en-US" baseline="-25000" dirty="0"/>
              <a:t>10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Answer: 69282</a:t>
            </a:r>
            <a:r>
              <a:rPr lang="en-US" baseline="-25000" dirty="0">
                <a:solidFill>
                  <a:schemeClr val="bg1">
                    <a:lumMod val="85000"/>
                  </a:schemeClr>
                </a:solidFill>
              </a:rPr>
              <a:t>10</a:t>
            </a:r>
            <a:r>
              <a:rPr lang="en-US" dirty="0"/>
              <a:t>)</a:t>
            </a:r>
            <a:endParaRPr lang="en-US" dirty="0"/>
          </a:p>
          <a:p>
            <a:pPr lvl="1"/>
            <a:r>
              <a:rPr lang="en-US" dirty="0"/>
              <a:t>M=3250</a:t>
            </a:r>
            <a:r>
              <a:rPr lang="en-US" baseline="-25000" dirty="0"/>
              <a:t>10</a:t>
            </a:r>
            <a:r>
              <a:rPr lang="en-US" dirty="0"/>
              <a:t> and N=72532</a:t>
            </a:r>
            <a:r>
              <a:rPr lang="en-US" baseline="-25000" dirty="0"/>
              <a:t>10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Answer: -69282</a:t>
            </a:r>
            <a:r>
              <a:rPr lang="en-US" baseline="-25000" dirty="0">
                <a:solidFill>
                  <a:schemeClr val="bg1">
                    <a:lumMod val="85000"/>
                  </a:schemeClr>
                </a:solidFill>
              </a:rPr>
              <a:t>10</a:t>
            </a:r>
            <a:r>
              <a:rPr lang="en-US" dirty="0"/>
              <a:t>)</a:t>
            </a:r>
            <a:endParaRPr lang="en-US" dirty="0"/>
          </a:p>
          <a:p>
            <a:pPr lvl="1"/>
            <a:r>
              <a:rPr lang="en-US" dirty="0"/>
              <a:t>M=1010100</a:t>
            </a:r>
            <a:r>
              <a:rPr lang="en-US" baseline="-25000" dirty="0"/>
              <a:t>2</a:t>
            </a:r>
            <a:r>
              <a:rPr lang="en-US" dirty="0"/>
              <a:t> and N=1000100</a:t>
            </a:r>
            <a:r>
              <a:rPr lang="en-US" baseline="-25000" dirty="0"/>
              <a:t>2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Answer: 0010000</a:t>
            </a:r>
            <a:r>
              <a:rPr lang="en-US" baseline="-25000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dirty="0"/>
              <a:t>)</a:t>
            </a:r>
            <a:endParaRPr lang="en-US" dirty="0"/>
          </a:p>
          <a:p>
            <a:pPr lvl="1"/>
            <a:r>
              <a:rPr lang="en-US" dirty="0"/>
              <a:t>M=1000100</a:t>
            </a:r>
            <a:r>
              <a:rPr lang="en-US" baseline="-25000" dirty="0"/>
              <a:t>2</a:t>
            </a:r>
            <a:r>
              <a:rPr lang="en-US" dirty="0"/>
              <a:t> and N=1010100</a:t>
            </a:r>
            <a:r>
              <a:rPr lang="en-US" baseline="-25000" dirty="0"/>
              <a:t>2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Answer: -10000</a:t>
            </a:r>
            <a:r>
              <a:rPr lang="en-US" baseline="-25000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dirty="0"/>
              <a:t>)</a:t>
            </a:r>
            <a:endParaRPr lang="en-US" dirty="0"/>
          </a:p>
          <a:p>
            <a:r>
              <a:rPr lang="en-US" b="1" dirty="0"/>
              <a:t>Proof: </a:t>
            </a:r>
            <a:r>
              <a:rPr lang="en-US" dirty="0"/>
              <a:t>Homework 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9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Subtraction with r’s Complement…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Similar</a:t>
            </a:r>
            <a:r>
              <a:rPr lang="en-US" dirty="0"/>
              <a:t> with </a:t>
            </a:r>
            <a:r>
              <a:rPr lang="en-US" u="sng" dirty="0"/>
              <a:t>subtraction with </a:t>
            </a:r>
            <a:r>
              <a:rPr lang="en-US" b="1" i="1" u="sng" dirty="0"/>
              <a:t>r</a:t>
            </a:r>
            <a:r>
              <a:rPr lang="en-US" u="sng" dirty="0"/>
              <a:t>’s complement</a:t>
            </a:r>
            <a:r>
              <a:rPr lang="en-US" dirty="0"/>
              <a:t> except for one variation called “</a:t>
            </a:r>
            <a:r>
              <a:rPr lang="en-US" b="1" dirty="0">
                <a:solidFill>
                  <a:srgbClr val="FF0000"/>
                </a:solidFill>
              </a:rPr>
              <a:t>end around carry</a:t>
            </a:r>
            <a:r>
              <a:rPr lang="en-US" dirty="0"/>
              <a:t>”</a:t>
            </a:r>
            <a:endParaRPr lang="en-US" dirty="0"/>
          </a:p>
          <a:p>
            <a:r>
              <a:rPr lang="en-US" dirty="0"/>
              <a:t>Subtraction of two positive numbers (</a:t>
            </a:r>
            <a:r>
              <a:rPr lang="en-US" i="1" dirty="0"/>
              <a:t>M-N</a:t>
            </a:r>
            <a:r>
              <a:rPr lang="en-US" dirty="0"/>
              <a:t>) both of base </a:t>
            </a:r>
            <a:r>
              <a:rPr lang="en-US" b="1" i="1" dirty="0"/>
              <a:t>r</a:t>
            </a:r>
            <a:r>
              <a:rPr lang="en-US" dirty="0"/>
              <a:t> done as follows: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Add the minuend M to the (</a:t>
            </a:r>
            <a:r>
              <a:rPr lang="en-US" b="1" i="1" dirty="0"/>
              <a:t>r-1</a:t>
            </a:r>
            <a:r>
              <a:rPr lang="en-US" dirty="0"/>
              <a:t>)’s complement of the subtrahend N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Inspect the result </a:t>
            </a:r>
            <a:r>
              <a:rPr lang="en-US" dirty="0"/>
              <a:t>obtained in step 1 for </a:t>
            </a:r>
            <a:r>
              <a:rPr lang="en-US" u="sng" dirty="0"/>
              <a:t>an end carry</a:t>
            </a:r>
            <a:r>
              <a:rPr lang="en-US" dirty="0"/>
              <a:t>:</a:t>
            </a:r>
            <a:endParaRPr lang="en-US" dirty="0"/>
          </a:p>
          <a:p>
            <a:pPr lvl="2"/>
            <a:r>
              <a:rPr lang="en-US" dirty="0"/>
              <a:t>If </a:t>
            </a:r>
            <a:r>
              <a:rPr lang="en-US" dirty="0">
                <a:solidFill>
                  <a:srgbClr val="FF0000"/>
                </a:solidFill>
              </a:rPr>
              <a:t>an end carry occurs</a:t>
            </a:r>
            <a:r>
              <a:rPr lang="en-US" dirty="0"/>
              <a:t>, </a:t>
            </a:r>
            <a:r>
              <a:rPr lang="en-US" u="sng" dirty="0"/>
              <a:t>add 1 to the least significant digit </a:t>
            </a:r>
            <a:r>
              <a:rPr lang="en-US" dirty="0"/>
              <a:t>(end around carry)</a:t>
            </a:r>
            <a:endParaRPr lang="en-US" dirty="0"/>
          </a:p>
          <a:p>
            <a:pPr lvl="2"/>
            <a:r>
              <a:rPr lang="en-US" dirty="0"/>
              <a:t>If </a:t>
            </a:r>
            <a:r>
              <a:rPr lang="en-US" dirty="0">
                <a:solidFill>
                  <a:srgbClr val="FF0000"/>
                </a:solidFill>
              </a:rPr>
              <a:t>an end carry doesn’t occur</a:t>
            </a:r>
            <a:r>
              <a:rPr lang="en-US" dirty="0"/>
              <a:t>, take the (</a:t>
            </a:r>
            <a:r>
              <a:rPr lang="en-US" b="1" i="1" dirty="0"/>
              <a:t>r-1</a:t>
            </a:r>
            <a:r>
              <a:rPr lang="en-US" dirty="0"/>
              <a:t>)’s complement of the result obtained in step 1 and place a negative sign in front 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9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Subtraction with (r-1)’s Complement…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</a:t>
            </a:r>
            <a:endParaRPr lang="en-US" dirty="0"/>
          </a:p>
          <a:p>
            <a:pPr lvl="1"/>
            <a:r>
              <a:rPr lang="en-US" dirty="0"/>
              <a:t>M=72532</a:t>
            </a:r>
            <a:r>
              <a:rPr lang="en-US" baseline="-25000" dirty="0"/>
              <a:t>10</a:t>
            </a:r>
            <a:r>
              <a:rPr lang="en-US" dirty="0"/>
              <a:t> and N=03250</a:t>
            </a:r>
            <a:r>
              <a:rPr lang="en-US" baseline="-25000" dirty="0"/>
              <a:t>10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Answer: 69282</a:t>
            </a:r>
            <a:r>
              <a:rPr lang="en-US" baseline="-25000" dirty="0">
                <a:solidFill>
                  <a:schemeClr val="bg1">
                    <a:lumMod val="95000"/>
                  </a:schemeClr>
                </a:solidFill>
              </a:rPr>
              <a:t>10</a:t>
            </a:r>
            <a:r>
              <a:rPr lang="en-US" dirty="0"/>
              <a:t>)</a:t>
            </a:r>
            <a:endParaRPr lang="en-US" dirty="0"/>
          </a:p>
          <a:p>
            <a:pPr lvl="1"/>
            <a:r>
              <a:rPr lang="en-US" dirty="0"/>
              <a:t>M=3250</a:t>
            </a:r>
            <a:r>
              <a:rPr lang="en-US" baseline="-25000" dirty="0"/>
              <a:t>10</a:t>
            </a:r>
            <a:r>
              <a:rPr lang="en-US" dirty="0"/>
              <a:t> and N=72532</a:t>
            </a:r>
            <a:r>
              <a:rPr lang="en-US" baseline="-25000" dirty="0"/>
              <a:t>10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Answer: -69282</a:t>
            </a:r>
            <a:r>
              <a:rPr lang="en-US" baseline="-25000" dirty="0">
                <a:solidFill>
                  <a:schemeClr val="bg1">
                    <a:lumMod val="95000"/>
                  </a:schemeClr>
                </a:solidFill>
              </a:rPr>
              <a:t>10</a:t>
            </a:r>
            <a:r>
              <a:rPr lang="en-US" dirty="0"/>
              <a:t>)</a:t>
            </a:r>
            <a:endParaRPr lang="en-US" dirty="0"/>
          </a:p>
          <a:p>
            <a:pPr lvl="1"/>
            <a:r>
              <a:rPr lang="en-US" dirty="0"/>
              <a:t>M=1010100</a:t>
            </a:r>
            <a:r>
              <a:rPr lang="en-US" baseline="-25000" dirty="0"/>
              <a:t>2</a:t>
            </a:r>
            <a:r>
              <a:rPr lang="en-US" dirty="0"/>
              <a:t> and N=1000100</a:t>
            </a:r>
            <a:r>
              <a:rPr lang="en-US" baseline="-25000" dirty="0"/>
              <a:t>2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Answer: 0010000</a:t>
            </a:r>
            <a:r>
              <a:rPr lang="en-US" baseline="-25000" dirty="0">
                <a:solidFill>
                  <a:schemeClr val="bg1">
                    <a:lumMod val="95000"/>
                  </a:schemeClr>
                </a:solidFill>
              </a:rPr>
              <a:t>2</a:t>
            </a:r>
            <a:r>
              <a:rPr lang="en-US" dirty="0"/>
              <a:t>)</a:t>
            </a:r>
            <a:endParaRPr lang="en-US" dirty="0"/>
          </a:p>
          <a:p>
            <a:pPr lvl="1"/>
            <a:r>
              <a:rPr lang="en-US" dirty="0"/>
              <a:t>M=1000100</a:t>
            </a:r>
            <a:r>
              <a:rPr lang="en-US" baseline="-25000" dirty="0"/>
              <a:t>2</a:t>
            </a:r>
            <a:r>
              <a:rPr lang="en-US" dirty="0"/>
              <a:t> and N=1010100</a:t>
            </a:r>
            <a:r>
              <a:rPr lang="en-US" baseline="-25000" dirty="0"/>
              <a:t>2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Answer: -10000</a:t>
            </a:r>
            <a:r>
              <a:rPr lang="en-US" baseline="-25000" dirty="0">
                <a:solidFill>
                  <a:schemeClr val="bg1">
                    <a:lumMod val="95000"/>
                  </a:schemeClr>
                </a:solidFill>
              </a:rPr>
              <a:t>2</a:t>
            </a:r>
            <a:r>
              <a:rPr lang="en-US" dirty="0"/>
              <a:t>)</a:t>
            </a:r>
            <a:endParaRPr lang="en-US" dirty="0"/>
          </a:p>
          <a:p>
            <a:r>
              <a:rPr lang="en-US" b="1" dirty="0"/>
              <a:t>Proof: </a:t>
            </a:r>
            <a:r>
              <a:rPr lang="en-US" dirty="0"/>
              <a:t>Homework 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10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Subtraction with (r-1)’s Complement…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Both have the </a:t>
            </a:r>
            <a:r>
              <a:rPr lang="en-US" b="1" dirty="0">
                <a:solidFill>
                  <a:srgbClr val="00B050"/>
                </a:solidFill>
              </a:rPr>
              <a:t>advantages </a:t>
            </a:r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</a:rPr>
              <a:t>disadvantages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/>
              <a:t>Implementation: </a:t>
            </a:r>
            <a:endParaRPr lang="en-US" b="1" dirty="0"/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1’s complement:</a:t>
            </a:r>
            <a:endParaRPr lang="en-US" b="1" dirty="0">
              <a:solidFill>
                <a:srgbClr val="00B050"/>
              </a:solidFill>
            </a:endParaRPr>
          </a:p>
          <a:p>
            <a:pPr lvl="2"/>
            <a:r>
              <a:rPr lang="en-US" dirty="0"/>
              <a:t>Easier to implement (changing of 0s and 1s)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2’s complement:</a:t>
            </a:r>
            <a:endParaRPr lang="en-US" b="1" dirty="0">
              <a:solidFill>
                <a:srgbClr val="00B050"/>
              </a:solidFill>
            </a:endParaRPr>
          </a:p>
          <a:p>
            <a:pPr lvl="2"/>
            <a:r>
              <a:rPr lang="en-US" dirty="0"/>
              <a:t>Implemented in any of the following two easier ways:</a:t>
            </a:r>
            <a:endParaRPr lang="en-US" dirty="0"/>
          </a:p>
          <a:p>
            <a:pPr lvl="3"/>
            <a:r>
              <a:rPr lang="en-US" u="sng" dirty="0"/>
              <a:t>Adding 1</a:t>
            </a:r>
            <a:r>
              <a:rPr lang="en-US" dirty="0"/>
              <a:t> at the least significant digit of the 1’s complement</a:t>
            </a:r>
            <a:endParaRPr lang="en-US" dirty="0"/>
          </a:p>
          <a:p>
            <a:pPr lvl="3"/>
            <a:r>
              <a:rPr lang="en-US" dirty="0"/>
              <a:t>Leaving all ending 0s in the least significant positions and the first 1. Then changing all the 0s and 1s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717644" y="500062"/>
            <a:ext cx="109571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Comparison between 1’s and 2’s Complements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Subtraction:</a:t>
            </a:r>
            <a:endParaRPr lang="en-US" b="1" dirty="0"/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1’s complement:</a:t>
            </a:r>
            <a:endParaRPr lang="en-US" b="1" dirty="0">
              <a:solidFill>
                <a:srgbClr val="00B050"/>
              </a:solidFill>
            </a:endParaRPr>
          </a:p>
          <a:p>
            <a:pPr lvl="2"/>
            <a:r>
              <a:rPr lang="en-US" dirty="0"/>
              <a:t>Requires </a:t>
            </a:r>
            <a:r>
              <a:rPr lang="en-US" u="sng" dirty="0"/>
              <a:t>two arithmetic addition operations </a:t>
            </a:r>
            <a:r>
              <a:rPr lang="en-US" dirty="0"/>
              <a:t>when an </a:t>
            </a:r>
            <a:r>
              <a:rPr lang="en-US" dirty="0">
                <a:solidFill>
                  <a:srgbClr val="00B0F0"/>
                </a:solidFill>
              </a:rPr>
              <a:t>end around carry</a:t>
            </a:r>
            <a:r>
              <a:rPr lang="en-US" dirty="0"/>
              <a:t> occurs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2’s complement:</a:t>
            </a:r>
            <a:endParaRPr lang="en-US" b="1" dirty="0">
              <a:solidFill>
                <a:srgbClr val="00B050"/>
              </a:solidFill>
            </a:endParaRPr>
          </a:p>
          <a:p>
            <a:pPr lvl="2"/>
            <a:r>
              <a:rPr lang="en-US" u="sng" dirty="0"/>
              <a:t>Only one arithmetic addition operation </a:t>
            </a:r>
            <a:r>
              <a:rPr lang="en-US" dirty="0"/>
              <a:t>is required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Another disadvantage of 1’s complement: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Two arithmetic zero: one with all 0s (</a:t>
            </a:r>
            <a:r>
              <a:rPr lang="en-US" b="1" dirty="0"/>
              <a:t>positive zero</a:t>
            </a:r>
            <a:r>
              <a:rPr lang="en-US" dirty="0"/>
              <a:t>) and another with all ones (</a:t>
            </a:r>
            <a:r>
              <a:rPr lang="en-US" b="1" dirty="0"/>
              <a:t>negative zero</a:t>
            </a:r>
            <a:r>
              <a:rPr lang="en-US" dirty="0"/>
              <a:t>)</a:t>
            </a:r>
            <a:endParaRPr lang="en-US" dirty="0"/>
          </a:p>
          <a:p>
            <a:pPr lvl="1"/>
            <a:r>
              <a:rPr lang="en-US" dirty="0"/>
              <a:t>Example: 1100-1100=0 (</a:t>
            </a:r>
            <a:r>
              <a:rPr lang="en-US" dirty="0">
                <a:solidFill>
                  <a:srgbClr val="FF0000"/>
                </a:solidFill>
              </a:rPr>
              <a:t>calculate using 1’s and 2’s complement</a:t>
            </a:r>
            <a:r>
              <a:rPr lang="en-US" dirty="0"/>
              <a:t>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9" name="Title 1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/>
            </a:br>
            <a:endParaRPr lang="en-US" sz="3900" dirty="0"/>
          </a:p>
        </p:txBody>
      </p:sp>
      <p:sp>
        <p:nvSpPr>
          <p:cNvPr id="10" name="Title 1"/>
          <p:cNvSpPr txBox="1"/>
          <p:nvPr/>
        </p:nvSpPr>
        <p:spPr>
          <a:xfrm>
            <a:off x="717644" y="500062"/>
            <a:ext cx="109571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Comparison between 1’s and 2’s Complements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Usage:</a:t>
            </a:r>
            <a:endParaRPr lang="en-US" b="1" dirty="0"/>
          </a:p>
          <a:p>
            <a:pPr lvl="1"/>
            <a:r>
              <a:rPr lang="en-US" dirty="0"/>
              <a:t>1’s complement used in </a:t>
            </a:r>
            <a:r>
              <a:rPr lang="en-US" b="1" dirty="0"/>
              <a:t>logical inversion </a:t>
            </a:r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unary operation</a:t>
            </a:r>
            <a:r>
              <a:rPr lang="en-US" dirty="0"/>
              <a:t>)</a:t>
            </a:r>
            <a:endParaRPr lang="en-US" dirty="0"/>
          </a:p>
          <a:p>
            <a:pPr lvl="2"/>
            <a:r>
              <a:rPr lang="en-US" dirty="0"/>
              <a:t>Seldom used in arithmetic operation because of its some difficulties</a:t>
            </a:r>
            <a:endParaRPr lang="en-US" dirty="0"/>
          </a:p>
          <a:p>
            <a:pPr lvl="1"/>
            <a:r>
              <a:rPr lang="en-US" dirty="0"/>
              <a:t>2’s complement is only used in conjunction with </a:t>
            </a:r>
            <a:r>
              <a:rPr lang="en-US" b="1" dirty="0"/>
              <a:t>arithmetic operation </a:t>
            </a:r>
            <a:r>
              <a:rPr lang="en-US" dirty="0"/>
              <a:t>(specially in subtraction).</a:t>
            </a:r>
            <a:endParaRPr lang="en-US" dirty="0"/>
          </a:p>
          <a:p>
            <a:pPr marL="457200" lvl="1" indent="0">
              <a:buNone/>
            </a:pPr>
            <a:r>
              <a:rPr lang="en-US" b="1" dirty="0">
                <a:solidFill>
                  <a:srgbClr val="FF0000"/>
                </a:solidFill>
              </a:rPr>
              <a:t>Note:</a:t>
            </a:r>
            <a:r>
              <a:rPr lang="en-US" dirty="0"/>
              <a:t> So, when </a:t>
            </a:r>
            <a:r>
              <a:rPr lang="en-US" b="1" dirty="0">
                <a:solidFill>
                  <a:srgbClr val="FF0000"/>
                </a:solidFill>
              </a:rPr>
              <a:t>only</a:t>
            </a:r>
            <a:r>
              <a:rPr lang="en-US" dirty="0"/>
              <a:t> word </a:t>
            </a:r>
            <a:r>
              <a:rPr lang="en-US" b="1" dirty="0"/>
              <a:t>“c</a:t>
            </a:r>
            <a:r>
              <a:rPr lang="en-US" b="1" i="1" dirty="0"/>
              <a:t>omplement”</a:t>
            </a:r>
            <a:r>
              <a:rPr lang="en-US" i="1" dirty="0"/>
              <a:t> </a:t>
            </a:r>
            <a:r>
              <a:rPr lang="en-US" dirty="0"/>
              <a:t>is occurred, </a:t>
            </a:r>
            <a:r>
              <a:rPr lang="en-US" u="sng" dirty="0"/>
              <a:t>it will refer to 1’s complement </a:t>
            </a:r>
            <a:endParaRPr lang="en-US" u="sn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10" name="Title 1"/>
          <p:cNvSpPr txBox="1"/>
          <p:nvPr/>
        </p:nvSpPr>
        <p:spPr>
          <a:xfrm>
            <a:off x="717644" y="500062"/>
            <a:ext cx="109571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Comparison between 1’s and 2’s Complements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Important during operation with </a:t>
            </a:r>
            <a:r>
              <a:rPr lang="en-US" b="1" dirty="0">
                <a:solidFill>
                  <a:srgbClr val="FF0000"/>
                </a:solidFill>
              </a:rPr>
              <a:t>signed binary numbers 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Problem:</a:t>
            </a:r>
            <a:r>
              <a:rPr lang="en-US" dirty="0"/>
              <a:t> the magnitude </a:t>
            </a:r>
            <a:r>
              <a:rPr lang="en-US" b="1" dirty="0"/>
              <a:t>exceeds limit </a:t>
            </a:r>
            <a:r>
              <a:rPr lang="en-US" dirty="0"/>
              <a:t>which can’t be represented with the allotted number of bits. </a:t>
            </a:r>
            <a:endParaRPr lang="en-US" dirty="0"/>
          </a:p>
          <a:p>
            <a:r>
              <a:rPr lang="en-US" b="1" dirty="0"/>
              <a:t>Approach: </a:t>
            </a:r>
            <a:endParaRPr lang="en-US" b="1" dirty="0"/>
          </a:p>
          <a:p>
            <a:pPr lvl="1"/>
            <a:r>
              <a:rPr lang="en-US" dirty="0"/>
              <a:t>If 2 </a:t>
            </a:r>
            <a:r>
              <a:rPr lang="en-US" b="1" dirty="0"/>
              <a:t>Two's Complement </a:t>
            </a:r>
            <a:r>
              <a:rPr lang="en-US" dirty="0"/>
              <a:t>numbers are added, and they both have the same sign (both positive or both negative), then overflow occurs </a:t>
            </a:r>
            <a:r>
              <a:rPr lang="en-US" b="1" dirty="0"/>
              <a:t>if and only if </a:t>
            </a:r>
            <a:r>
              <a:rPr lang="en-US" dirty="0"/>
              <a:t>the result has the opposite sign.</a:t>
            </a:r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Overflow occurs if:</a:t>
            </a:r>
            <a:endParaRPr lang="en-US" b="1" dirty="0">
              <a:solidFill>
                <a:srgbClr val="FF0000"/>
              </a:solidFill>
            </a:endParaRPr>
          </a:p>
          <a:p>
            <a:pPr lvl="2"/>
            <a:r>
              <a:rPr lang="en-US" dirty="0"/>
              <a:t>(+A) + (+B) = −C</a:t>
            </a:r>
            <a:endParaRPr lang="en-US" dirty="0"/>
          </a:p>
          <a:p>
            <a:pPr lvl="2"/>
            <a:r>
              <a:rPr lang="en-US" dirty="0"/>
              <a:t>(−A) + (−B) = +C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10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rgbClr val="FF0000"/>
                </a:solidFill>
                <a:latin typeface="+mn-lt"/>
              </a:rPr>
              <a:t>Overflow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during Addition </a:t>
            </a:r>
            <a:endParaRPr lang="en-US" dirty="0">
              <a:latin typeface="+mn-lt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216068" y="4782483"/>
            <a:ext cx="450273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(−7)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001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 (−6)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010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------------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(−13) 1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011 = 3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Overflow; as the result is positive.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(where the largest −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number is −8)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50600" cy="4351338"/>
          </a:xfrm>
        </p:spPr>
        <p:txBody>
          <a:bodyPr/>
          <a:lstStyle/>
          <a:p>
            <a:r>
              <a:rPr lang="en-US" sz="2400" b="1" dirty="0"/>
              <a:t>For signed integers:</a:t>
            </a:r>
            <a:endParaRPr lang="en-US" sz="2400" b="1" dirty="0"/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Carry of the MSB bit is ignored, and overflow occurs if the addition operation adds two operands of the same sign, and results in a result of the opposite sign. 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r>
              <a:rPr lang="en-US" sz="2400" b="1" i="0" dirty="0">
                <a:solidFill>
                  <a:srgbClr val="000000"/>
                </a:solidFill>
                <a:effectLst/>
              </a:rPr>
              <a:t>For unsigned integers:</a:t>
            </a:r>
            <a:endParaRPr lang="en-US" sz="2400" b="1" i="0" dirty="0">
              <a:solidFill>
                <a:srgbClr val="000000"/>
              </a:solidFill>
              <a:effectLst/>
            </a:endParaRP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Overflow occurs when carry occurs at MSB position. 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r>
              <a:rPr lang="en-US" sz="3000" b="1" dirty="0">
                <a:solidFill>
                  <a:srgbClr val="FF0000"/>
                </a:solidFill>
              </a:rPr>
              <a:t>Underflow:</a:t>
            </a:r>
            <a:endParaRPr lang="en-US" sz="3000" b="1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000000"/>
                </a:solidFill>
              </a:rPr>
              <a:t>If it is impossible to store a small number (floating number/ fractional number) with precision</a:t>
            </a:r>
            <a:endParaRPr lang="en-US" dirty="0">
              <a:solidFill>
                <a:srgbClr val="000000"/>
              </a:solidFill>
            </a:endParaRPr>
          </a:p>
          <a:p>
            <a:pPr lvl="2"/>
            <a:r>
              <a:rPr lang="en-US" dirty="0"/>
              <a:t>If it produces a smaller number than the least possible value, it will exceed the designated space.</a:t>
            </a:r>
            <a:endParaRPr lang="en-US" dirty="0"/>
          </a:p>
          <a:p>
            <a:pPr lvl="2"/>
            <a:r>
              <a:rPr lang="en-US" dirty="0"/>
              <a:t>Ultimately, we treat underflow as an overflow in a sense. 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10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rgbClr val="FF0000"/>
                </a:solidFill>
                <a:latin typeface="+mn-lt"/>
              </a:rPr>
              <a:t>Overflow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: Summary 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351338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b="1" dirty="0">
                <a:solidFill>
                  <a:srgbClr val="00B0F0"/>
                </a:solidFill>
              </a:rPr>
              <a:t>decimal number system </a:t>
            </a:r>
            <a:r>
              <a:rPr lang="en-US" dirty="0"/>
              <a:t>and </a:t>
            </a:r>
            <a:r>
              <a:rPr lang="en-US" b="1" dirty="0">
                <a:solidFill>
                  <a:srgbClr val="00B0F0"/>
                </a:solidFill>
              </a:rPr>
              <a:t>ordinary arithmetic</a:t>
            </a:r>
            <a:r>
              <a:rPr lang="en-US" dirty="0"/>
              <a:t>, it is easier to represent a </a:t>
            </a:r>
            <a:r>
              <a:rPr lang="en-US" b="1" dirty="0">
                <a:solidFill>
                  <a:srgbClr val="FF0000"/>
                </a:solidFill>
              </a:rPr>
              <a:t>positive</a:t>
            </a:r>
            <a:r>
              <a:rPr lang="en-US" dirty="0"/>
              <a:t> and a </a:t>
            </a:r>
            <a:r>
              <a:rPr lang="en-US" b="1" dirty="0">
                <a:solidFill>
                  <a:srgbClr val="FF0000"/>
                </a:solidFill>
              </a:rPr>
              <a:t>negative</a:t>
            </a:r>
            <a:r>
              <a:rPr lang="en-US" dirty="0"/>
              <a:t> number</a:t>
            </a:r>
            <a:endParaRPr lang="en-US" dirty="0"/>
          </a:p>
          <a:p>
            <a:pPr lvl="2"/>
            <a:r>
              <a:rPr lang="en-US" dirty="0"/>
              <a:t>A negative number is indicated by a </a:t>
            </a:r>
            <a:r>
              <a:rPr lang="en-US" b="1" dirty="0"/>
              <a:t>minus sign </a:t>
            </a:r>
            <a:r>
              <a:rPr lang="en-US" dirty="0"/>
              <a:t>and a positive number is indicated by a </a:t>
            </a:r>
            <a:r>
              <a:rPr lang="en-US" b="1" dirty="0"/>
              <a:t>plus sign</a:t>
            </a: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Because of hardware limitation, it is customary to use </a:t>
            </a:r>
            <a:r>
              <a:rPr lang="en-US" b="1" dirty="0"/>
              <a:t>MSB</a:t>
            </a:r>
            <a:r>
              <a:rPr lang="en-US" dirty="0"/>
              <a:t> as </a:t>
            </a:r>
            <a:r>
              <a:rPr lang="en-US" b="1" dirty="0">
                <a:solidFill>
                  <a:srgbClr val="FF0000"/>
                </a:solidFill>
              </a:rPr>
              <a:t>sign bit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Signed-magnitude system </a:t>
            </a:r>
            <a:endParaRPr lang="en-US" b="1" dirty="0">
              <a:solidFill>
                <a:srgbClr val="00B050"/>
              </a:solidFill>
            </a:endParaRPr>
          </a:p>
          <a:p>
            <a:pPr lvl="2"/>
            <a:r>
              <a:rPr lang="en-US" dirty="0"/>
              <a:t>The convention is to make </a:t>
            </a:r>
            <a:r>
              <a:rPr lang="en-US" b="1" dirty="0"/>
              <a:t>sign bit 0</a:t>
            </a:r>
            <a:r>
              <a:rPr lang="en-US" dirty="0"/>
              <a:t> for positive and </a:t>
            </a:r>
            <a:r>
              <a:rPr lang="en-US" b="1" dirty="0"/>
              <a:t>sign  bit 1</a:t>
            </a:r>
            <a:r>
              <a:rPr lang="en-US" dirty="0"/>
              <a:t> for negative number</a:t>
            </a:r>
            <a:endParaRPr lang="en-US" dirty="0"/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Point to be noted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/>
              <a:t>Both signed and unsigned binary numbers consist of 0s and 1s. User himself has to determine if the number is </a:t>
            </a:r>
            <a:r>
              <a:rPr lang="en-US" b="1" dirty="0">
                <a:solidFill>
                  <a:srgbClr val="00B050"/>
                </a:solidFill>
              </a:rPr>
              <a:t>signed </a:t>
            </a:r>
            <a:r>
              <a:rPr lang="en-US" dirty="0"/>
              <a:t>or </a:t>
            </a:r>
            <a:r>
              <a:rPr lang="en-US" b="1" dirty="0">
                <a:solidFill>
                  <a:srgbClr val="00B050"/>
                </a:solidFill>
              </a:rPr>
              <a:t>unsigned</a:t>
            </a:r>
            <a:endParaRPr lang="en-US" b="1" dirty="0">
              <a:solidFill>
                <a:srgbClr val="00B050"/>
              </a:solidFill>
            </a:endParaRPr>
          </a:p>
          <a:p>
            <a:pPr lvl="3"/>
            <a:r>
              <a:rPr lang="en-US" b="1" dirty="0"/>
              <a:t>Example: </a:t>
            </a:r>
            <a:r>
              <a:rPr lang="en-US" b="1" dirty="0">
                <a:solidFill>
                  <a:srgbClr val="00B050"/>
                </a:solidFill>
              </a:rPr>
              <a:t>(11001)</a:t>
            </a:r>
            <a:r>
              <a:rPr lang="en-US" b="1" baseline="-25000" dirty="0">
                <a:solidFill>
                  <a:srgbClr val="00B050"/>
                </a:solidFill>
              </a:rPr>
              <a:t>2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can be equivalent of 25 or -9 as per consideration.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10" name="Title 1"/>
          <p:cNvSpPr txBox="1"/>
          <p:nvPr/>
        </p:nvSpPr>
        <p:spPr>
          <a:xfrm>
            <a:off x="381000" y="500062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Signed Binary Number 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4"/>
            <a:ext cx="11430000" cy="4666616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b="1" dirty="0"/>
              <a:t>Alternatively</a:t>
            </a:r>
            <a:r>
              <a:rPr lang="en-US" b="1" dirty="0">
                <a:solidFill>
                  <a:srgbClr val="7030A0"/>
                </a:solidFill>
              </a:rPr>
              <a:t> for arithmetic operations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signed-complement system</a:t>
            </a:r>
            <a:r>
              <a:rPr lang="en-US" dirty="0"/>
              <a:t> is more convenient to represent a negative number in </a:t>
            </a:r>
            <a:r>
              <a:rPr lang="en-US" b="1" dirty="0">
                <a:solidFill>
                  <a:srgbClr val="0070C0"/>
                </a:solidFill>
              </a:rPr>
              <a:t>binary system</a:t>
            </a:r>
            <a:endParaRPr lang="en-US" b="1" dirty="0">
              <a:solidFill>
                <a:srgbClr val="0070C0"/>
              </a:solidFill>
            </a:endParaRPr>
          </a:p>
          <a:p>
            <a:pPr lvl="2"/>
            <a:r>
              <a:rPr lang="en-US" dirty="0"/>
              <a:t>In this system, </a:t>
            </a:r>
            <a:r>
              <a:rPr lang="en-US" dirty="0">
                <a:solidFill>
                  <a:srgbClr val="7030A0"/>
                </a:solidFill>
              </a:rPr>
              <a:t>a negative number is indicated by its complement </a:t>
            </a:r>
            <a:r>
              <a:rPr lang="en-US" dirty="0"/>
              <a:t>(either </a:t>
            </a:r>
            <a:r>
              <a:rPr lang="en-US" b="1" i="1" dirty="0"/>
              <a:t>r</a:t>
            </a:r>
            <a:r>
              <a:rPr lang="en-US" dirty="0"/>
              <a:t>’s or </a:t>
            </a:r>
            <a:r>
              <a:rPr lang="en-US" b="1" i="1" dirty="0"/>
              <a:t>(r-1)</a:t>
            </a:r>
            <a:r>
              <a:rPr lang="en-US" dirty="0"/>
              <a:t>’s complement)</a:t>
            </a:r>
            <a:endParaRPr lang="en-US" dirty="0"/>
          </a:p>
          <a:p>
            <a:pPr lvl="2"/>
            <a:r>
              <a:rPr lang="en-US" dirty="0">
                <a:solidFill>
                  <a:srgbClr val="FF0000"/>
                </a:solidFill>
              </a:rPr>
              <a:t>Usually, a positive number starts with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, whereas a complement starts with </a:t>
            </a:r>
            <a:r>
              <a:rPr lang="en-US" b="1" dirty="0">
                <a:solidFill>
                  <a:srgbClr val="FF0000"/>
                </a:solidFill>
              </a:rPr>
              <a:t>1 </a:t>
            </a:r>
            <a:r>
              <a:rPr lang="en-US" dirty="0">
                <a:solidFill>
                  <a:srgbClr val="FF0000"/>
                </a:solidFill>
              </a:rPr>
              <a:t>(negative)</a:t>
            </a:r>
            <a:endParaRPr lang="en-US" dirty="0">
              <a:solidFill>
                <a:srgbClr val="FF0000"/>
              </a:solidFill>
            </a:endParaRPr>
          </a:p>
          <a:p>
            <a:pPr lvl="2"/>
            <a:r>
              <a:rPr lang="en-US" dirty="0"/>
              <a:t>Between </a:t>
            </a:r>
            <a:r>
              <a:rPr lang="en-US" b="1" dirty="0"/>
              <a:t>1’s </a:t>
            </a:r>
            <a:r>
              <a:rPr lang="en-US" dirty="0"/>
              <a:t>and </a:t>
            </a:r>
            <a:r>
              <a:rPr lang="en-US" b="1" dirty="0"/>
              <a:t>2’s </a:t>
            </a:r>
            <a:r>
              <a:rPr lang="en-US" dirty="0"/>
              <a:t>complement, </a:t>
            </a:r>
            <a:r>
              <a:rPr lang="en-US" b="1" dirty="0"/>
              <a:t>2’s</a:t>
            </a:r>
            <a:r>
              <a:rPr lang="en-US" dirty="0"/>
              <a:t> complement is more preferable</a:t>
            </a:r>
            <a:endParaRPr lang="en-US" dirty="0"/>
          </a:p>
          <a:p>
            <a:pPr lvl="2"/>
            <a:r>
              <a:rPr lang="en-US" dirty="0"/>
              <a:t>Practically, for any negative number in 1’s or 2’s complement, MSB should be 1. </a:t>
            </a:r>
            <a:endParaRPr lang="en-US" dirty="0"/>
          </a:p>
          <a:p>
            <a:r>
              <a:rPr lang="en-US" b="1" dirty="0"/>
              <a:t>Example:</a:t>
            </a:r>
            <a:endParaRPr lang="en-US" b="1" dirty="0"/>
          </a:p>
          <a:p>
            <a:pPr lvl="1"/>
            <a:r>
              <a:rPr lang="en-US" dirty="0"/>
              <a:t>A number +9 represented in 1 byte storage as 00001001</a:t>
            </a:r>
            <a:endParaRPr lang="en-US" dirty="0"/>
          </a:p>
          <a:p>
            <a:pPr lvl="1"/>
            <a:r>
              <a:rPr lang="en-US" dirty="0"/>
              <a:t>But negative number -9 can be represented as:</a:t>
            </a:r>
            <a:endParaRPr lang="en-US" dirty="0"/>
          </a:p>
          <a:p>
            <a:pPr marL="1828800" lvl="3" indent="-457200">
              <a:buFont typeface="+mj-lt"/>
              <a:buAutoNum type="arabicPeriod"/>
            </a:pPr>
            <a:r>
              <a:rPr lang="en-US" sz="2000" dirty="0"/>
              <a:t>Signed-magnitude representation = 10001001</a:t>
            </a:r>
            <a:endParaRPr lang="en-US" sz="2000" dirty="0"/>
          </a:p>
          <a:p>
            <a:pPr marL="1828800" lvl="3" indent="-457200">
              <a:buFont typeface="+mj-lt"/>
              <a:buAutoNum type="arabicPeriod"/>
            </a:pPr>
            <a:r>
              <a:rPr lang="en-US" sz="2000" dirty="0"/>
              <a:t>Signed-1’s-complement representation = 11110110</a:t>
            </a:r>
            <a:endParaRPr lang="en-US" sz="2000" dirty="0"/>
          </a:p>
          <a:p>
            <a:pPr marL="1828800" lvl="3" indent="-457200">
              <a:buFont typeface="+mj-lt"/>
              <a:buAutoNum type="arabicPeriod"/>
            </a:pPr>
            <a:r>
              <a:rPr lang="en-US" sz="2000" dirty="0"/>
              <a:t>Signed-2’s-complement representation = 11110111</a:t>
            </a:r>
            <a:endParaRPr lang="en-US" sz="2000" dirty="0"/>
          </a:p>
          <a:p>
            <a:pPr marL="914400" lvl="2" indent="0">
              <a:buNone/>
            </a:pPr>
            <a:r>
              <a:rPr lang="en-US" sz="2200" b="1" dirty="0">
                <a:solidFill>
                  <a:srgbClr val="FF0000"/>
                </a:solidFill>
              </a:rPr>
              <a:t>Note: </a:t>
            </a:r>
            <a:r>
              <a:rPr lang="en-US" sz="2200" u="sng" dirty="0"/>
              <a:t>In all cases in negative numbers, we get 1 in MSB position</a:t>
            </a:r>
            <a:endParaRPr lang="en-US" sz="2200" u="sng" dirty="0"/>
          </a:p>
          <a:p>
            <a:pPr marL="1371600" lvl="2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10" name="Title 1"/>
          <p:cNvSpPr txBox="1"/>
          <p:nvPr/>
        </p:nvSpPr>
        <p:spPr>
          <a:xfrm>
            <a:off x="381000" y="500062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Signed Binary Number… 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10" name="Title 1"/>
          <p:cNvSpPr txBox="1"/>
          <p:nvPr/>
        </p:nvSpPr>
        <p:spPr>
          <a:xfrm>
            <a:off x="381000" y="500062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Signed Binary Number: Comparison Table</a:t>
            </a:r>
            <a:endParaRPr lang="en-US" dirty="0">
              <a:latin typeface="+mn-lt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402081"/>
            <a:ext cx="5953456" cy="5455920"/>
          </a:xfr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10" name="Title 1"/>
          <p:cNvSpPr txBox="1"/>
          <p:nvPr/>
        </p:nvSpPr>
        <p:spPr>
          <a:xfrm>
            <a:off x="381000" y="500062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Arithmetic Addition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4"/>
            <a:ext cx="11430000" cy="4742815"/>
          </a:xfrm>
        </p:spPr>
        <p:txBody>
          <a:bodyPr>
            <a:normAutofit/>
          </a:bodyPr>
          <a:lstStyle/>
          <a:p>
            <a:r>
              <a:rPr lang="en-US" dirty="0"/>
              <a:t>If we perform addition following the rules of </a:t>
            </a:r>
            <a:r>
              <a:rPr lang="en-US" b="1" dirty="0"/>
              <a:t>ordinary arithmetic</a:t>
            </a:r>
            <a:r>
              <a:rPr lang="en-US" dirty="0"/>
              <a:t>, we have to consider the </a:t>
            </a:r>
            <a:r>
              <a:rPr lang="en-US" b="1" dirty="0">
                <a:solidFill>
                  <a:srgbClr val="00B050"/>
                </a:solidFill>
              </a:rPr>
              <a:t>sign</a:t>
            </a:r>
            <a:r>
              <a:rPr lang="en-US" dirty="0"/>
              <a:t> and the </a:t>
            </a:r>
            <a:r>
              <a:rPr lang="en-US" b="1" dirty="0">
                <a:solidFill>
                  <a:srgbClr val="00B050"/>
                </a:solidFill>
              </a:rPr>
              <a:t>magnitude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separately</a:t>
            </a:r>
            <a:endParaRPr lang="en-US" b="1" dirty="0">
              <a:solidFill>
                <a:srgbClr val="FF0000"/>
              </a:solidFill>
            </a:endParaRPr>
          </a:p>
          <a:p>
            <a:pPr lvl="2"/>
            <a:r>
              <a:rPr lang="en-US" dirty="0"/>
              <a:t>To calculate the final sign of the result we have to compare those magnitudes</a:t>
            </a:r>
            <a:endParaRPr lang="en-US" dirty="0"/>
          </a:p>
          <a:p>
            <a:pPr lvl="2"/>
            <a:r>
              <a:rPr lang="en-US" dirty="0"/>
              <a:t>Same rules will be applied in binary if </a:t>
            </a:r>
            <a:r>
              <a:rPr lang="en-US" b="1" dirty="0">
                <a:solidFill>
                  <a:srgbClr val="FF0000"/>
                </a:solidFill>
              </a:rPr>
              <a:t>signed-magnitude system </a:t>
            </a:r>
            <a:r>
              <a:rPr lang="en-US" dirty="0"/>
              <a:t>is followed</a:t>
            </a:r>
            <a:endParaRPr lang="en-US" dirty="0"/>
          </a:p>
          <a:p>
            <a:pPr lvl="2"/>
            <a:r>
              <a:rPr lang="en-US" b="1" dirty="0"/>
              <a:t>Example:</a:t>
            </a:r>
            <a:r>
              <a:rPr lang="en-US" dirty="0"/>
              <a:t> addition of +25 and -37</a:t>
            </a:r>
            <a:endParaRPr lang="en-US" dirty="0"/>
          </a:p>
          <a:p>
            <a:r>
              <a:rPr lang="en-US" dirty="0"/>
              <a:t>In contrast, if </a:t>
            </a:r>
            <a:r>
              <a:rPr lang="en-US" b="1" dirty="0">
                <a:solidFill>
                  <a:srgbClr val="00B050"/>
                </a:solidFill>
              </a:rPr>
              <a:t>signed-complement system </a:t>
            </a:r>
            <a:r>
              <a:rPr lang="en-US" dirty="0"/>
              <a:t>is followed, there is </a:t>
            </a:r>
            <a:r>
              <a:rPr lang="en-US" b="1" dirty="0">
                <a:solidFill>
                  <a:srgbClr val="FF0000"/>
                </a:solidFill>
              </a:rPr>
              <a:t>no such difficulties</a:t>
            </a:r>
            <a:r>
              <a:rPr lang="en-US" dirty="0"/>
              <a:t> to compare the magnitudes or handle the signs separately</a:t>
            </a:r>
            <a:endParaRPr lang="en-US" dirty="0"/>
          </a:p>
          <a:p>
            <a:pPr lvl="2"/>
            <a:r>
              <a:rPr lang="en-US" dirty="0"/>
              <a:t>Rather </a:t>
            </a:r>
            <a:r>
              <a:rPr lang="en-US" b="1" dirty="0">
                <a:solidFill>
                  <a:srgbClr val="00B050"/>
                </a:solidFill>
              </a:rPr>
              <a:t>simple addition </a:t>
            </a:r>
            <a:r>
              <a:rPr lang="en-US" dirty="0"/>
              <a:t>is applied here</a:t>
            </a:r>
            <a:endParaRPr lang="en-US" dirty="0"/>
          </a:p>
          <a:p>
            <a:pPr lvl="2"/>
            <a:r>
              <a:rPr lang="en-US" b="1" dirty="0"/>
              <a:t>Concept: </a:t>
            </a:r>
            <a:r>
              <a:rPr lang="en-US" dirty="0"/>
              <a:t>In this type of addition, negative value must be represented in 2’s complement form and carry out of the sign bit position (MSB) is discarded</a:t>
            </a:r>
            <a:endParaRPr lang="en-US" dirty="0"/>
          </a:p>
          <a:p>
            <a:pPr lvl="2"/>
            <a:r>
              <a:rPr lang="en-US" b="1" dirty="0"/>
              <a:t>Advantage: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  <a:latin typeface="Akaash" panose="02000603000000000000" pitchFamily="2" charset="0"/>
                <a:cs typeface="Akaash" panose="02000603000000000000" pitchFamily="2" charset="0"/>
              </a:rPr>
              <a:t>If the result is negative, the result obtained is automatically in 2’s complement form </a:t>
            </a:r>
            <a:endParaRPr lang="en-US" b="1" dirty="0">
              <a:solidFill>
                <a:srgbClr val="FF0000"/>
              </a:solidFill>
              <a:latin typeface="Akaash" panose="02000603000000000000" pitchFamily="2" charset="0"/>
              <a:cs typeface="Akaash" panose="02000603000000000000" pitchFamily="2" charset="0"/>
            </a:endParaRPr>
          </a:p>
          <a:p>
            <a:pPr lvl="3"/>
            <a:r>
              <a:rPr lang="en-US" dirty="0"/>
              <a:t>You might perform the 2’s complement of the result again and put a minus sign in front of it.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10" name="Title 1"/>
          <p:cNvSpPr txBox="1"/>
          <p:nvPr/>
        </p:nvSpPr>
        <p:spPr>
          <a:xfrm>
            <a:off x="381000" y="500062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Arithmetic Addition: Example</a:t>
            </a:r>
            <a:endParaRPr lang="en-US" dirty="0">
              <a:latin typeface="+mn-lt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290" y="2037926"/>
            <a:ext cx="6351781" cy="3097954"/>
          </a:xfrm>
        </p:spPr>
      </p:pic>
      <p:sp>
        <p:nvSpPr>
          <p:cNvPr id="9" name="TextBox 8"/>
          <p:cNvSpPr txBox="1"/>
          <p:nvPr/>
        </p:nvSpPr>
        <p:spPr>
          <a:xfrm>
            <a:off x="673843" y="5516880"/>
            <a:ext cx="108443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Note:</a:t>
            </a:r>
            <a:r>
              <a:rPr lang="en-US" sz="2200" b="1" dirty="0"/>
              <a:t> Overflow problem should be maintained as the storage in computer system is limited</a:t>
            </a:r>
            <a:endParaRPr lang="en-US" sz="2200" b="1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10" name="Title 1"/>
          <p:cNvSpPr txBox="1"/>
          <p:nvPr/>
        </p:nvSpPr>
        <p:spPr>
          <a:xfrm>
            <a:off x="381000" y="500062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Arithmetic Subtraction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351338"/>
          </a:xfrm>
        </p:spPr>
        <p:txBody>
          <a:bodyPr/>
          <a:lstStyle/>
          <a:p>
            <a:r>
              <a:rPr lang="en-US" dirty="0"/>
              <a:t>Subtraction in signed-2’s-complement format:</a:t>
            </a:r>
            <a:endParaRPr lang="en-US" dirty="0"/>
          </a:p>
          <a:p>
            <a:pPr lvl="1"/>
            <a:r>
              <a:rPr lang="en-US" b="1" dirty="0"/>
              <a:t>Concept: </a:t>
            </a:r>
            <a:r>
              <a:rPr lang="en-US" dirty="0"/>
              <a:t>Take the 2’s complement of the subtrahend (including sign bit) and add it to the minuend (including sign bit)</a:t>
            </a:r>
            <a:endParaRPr lang="en-US" dirty="0"/>
          </a:p>
          <a:p>
            <a:pPr lvl="2"/>
            <a:r>
              <a:rPr lang="en-US" sz="2400" dirty="0"/>
              <a:t>A </a:t>
            </a:r>
            <a:r>
              <a:rPr lang="en-US" sz="2400" b="1" dirty="0">
                <a:solidFill>
                  <a:srgbClr val="FF0000"/>
                </a:solidFill>
              </a:rPr>
              <a:t>carry out </a:t>
            </a:r>
            <a:r>
              <a:rPr lang="en-US" sz="2400" dirty="0"/>
              <a:t>of the </a:t>
            </a:r>
            <a:r>
              <a:rPr lang="en-US" sz="2400" b="1" dirty="0"/>
              <a:t>MSB </a:t>
            </a:r>
            <a:r>
              <a:rPr lang="en-US" sz="2400" dirty="0"/>
              <a:t>position is discarded</a:t>
            </a:r>
            <a:endParaRPr lang="en-US" sz="2400" dirty="0"/>
          </a:p>
          <a:p>
            <a:r>
              <a:rPr lang="en-US" dirty="0"/>
              <a:t>In signed-2’s-complement, all subtraction operations are </a:t>
            </a:r>
            <a:r>
              <a:rPr lang="en-US" b="1" dirty="0">
                <a:solidFill>
                  <a:srgbClr val="00B050"/>
                </a:solidFill>
              </a:rPr>
              <a:t>changed to addition </a:t>
            </a:r>
            <a:r>
              <a:rPr lang="en-US" dirty="0"/>
              <a:t>operations as follows: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43" r="2460"/>
          <a:stretch>
            <a:fillRect/>
          </a:stretch>
        </p:blipFill>
        <p:spPr>
          <a:xfrm>
            <a:off x="3931920" y="4503383"/>
            <a:ext cx="4328160" cy="107336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91640"/>
                <a:ext cx="11247120" cy="489204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Electronic Digital system</a:t>
                </a:r>
                <a:endParaRPr lang="en-US" dirty="0"/>
              </a:p>
              <a:p>
                <a:pPr lvl="2"/>
                <a:r>
                  <a:rPr lang="en-US" b="1" dirty="0">
                    <a:solidFill>
                      <a:srgbClr val="FF0000"/>
                    </a:solidFill>
                  </a:rPr>
                  <a:t>Generates</a:t>
                </a:r>
                <a:r>
                  <a:rPr lang="en-US" b="1" dirty="0"/>
                  <a:t> signal</a:t>
                </a:r>
                <a:r>
                  <a:rPr lang="en-US" dirty="0"/>
                  <a:t> – </a:t>
                </a:r>
                <a:r>
                  <a:rPr lang="en-US" u="sng" dirty="0"/>
                  <a:t>two distinct values</a:t>
                </a:r>
                <a:r>
                  <a:rPr lang="en-US" dirty="0"/>
                  <a:t> – 0 and 1</a:t>
                </a:r>
                <a:endParaRPr lang="en-US" dirty="0"/>
              </a:p>
              <a:p>
                <a:pPr lvl="2"/>
                <a:r>
                  <a:rPr lang="en-US" b="1" dirty="0">
                    <a:solidFill>
                      <a:srgbClr val="FF0000"/>
                    </a:solidFill>
                  </a:rPr>
                  <a:t>Has </a:t>
                </a:r>
                <a:r>
                  <a:rPr lang="en-US" b="1" dirty="0"/>
                  <a:t>circuit element </a:t>
                </a:r>
                <a:r>
                  <a:rPr lang="en-US" dirty="0"/>
                  <a:t>– </a:t>
                </a:r>
                <a:r>
                  <a:rPr lang="en-US" u="sng" dirty="0"/>
                  <a:t>two stable states</a:t>
                </a:r>
                <a:r>
                  <a:rPr lang="en-US" dirty="0"/>
                  <a:t> – on and off (</a:t>
                </a:r>
                <a:r>
                  <a:rPr lang="en-US" b="1" i="1" dirty="0"/>
                  <a:t>e.g., </a:t>
                </a:r>
                <a:r>
                  <a:rPr lang="en-US" dirty="0"/>
                  <a:t>LED, Switches)</a:t>
                </a:r>
                <a:endParaRPr lang="en-US" dirty="0"/>
              </a:p>
              <a:p>
                <a:r>
                  <a:rPr lang="en-US" b="1" dirty="0"/>
                  <a:t>Bit </a:t>
                </a:r>
                <a:r>
                  <a:rPr lang="en-US" dirty="0"/>
                  <a:t>– </a:t>
                </a:r>
                <a:r>
                  <a:rPr lang="en-US" u="sng" dirty="0"/>
                  <a:t>basic unit of information</a:t>
                </a:r>
                <a:r>
                  <a:rPr lang="en-US" dirty="0"/>
                  <a:t> – a binary digit (0 or 1)</a:t>
                </a:r>
                <a:endParaRPr lang="en-US" dirty="0"/>
              </a:p>
              <a:p>
                <a:r>
                  <a:rPr lang="en-US" dirty="0"/>
                  <a:t>Moreover, a </a:t>
                </a:r>
                <a:r>
                  <a:rPr lang="en-US" b="1" dirty="0">
                    <a:solidFill>
                      <a:srgbClr val="00B050"/>
                    </a:solidFill>
                  </a:rPr>
                  <a:t>group of discrete elements </a:t>
                </a:r>
                <a:r>
                  <a:rPr lang="en-US" dirty="0"/>
                  <a:t>of information that is distinct among themselves can be separated with a </a:t>
                </a:r>
                <a:r>
                  <a:rPr lang="en-US" b="1" dirty="0"/>
                  <a:t>binary code</a:t>
                </a:r>
                <a:endParaRPr lang="en-US" b="1" dirty="0"/>
              </a:p>
              <a:p>
                <a:pPr lvl="2"/>
                <a:r>
                  <a:rPr lang="en-US" b="1" i="1" dirty="0"/>
                  <a:t>n</a:t>
                </a:r>
                <a:r>
                  <a:rPr lang="en-US" b="1" dirty="0"/>
                  <a:t> distinct bits </a:t>
                </a:r>
                <a:r>
                  <a:rPr lang="en-US" dirty="0"/>
                  <a:t>– can be represented within a group of </a:t>
                </a:r>
                <a:r>
                  <a:rPr lang="en-US" b="1" i="1" dirty="0"/>
                  <a:t>2</a:t>
                </a:r>
                <a:r>
                  <a:rPr lang="en-US" b="1" i="1" baseline="30000" dirty="0"/>
                  <a:t>n</a:t>
                </a:r>
                <a:r>
                  <a:rPr lang="en-US" b="1" i="1" dirty="0"/>
                  <a:t> </a:t>
                </a:r>
                <a:r>
                  <a:rPr lang="en-US" dirty="0"/>
                  <a:t>distinct elements</a:t>
                </a:r>
                <a:endParaRPr lang="en-US" dirty="0"/>
              </a:p>
              <a:p>
                <a:pPr lvl="2"/>
                <a:r>
                  <a:rPr lang="en-US" dirty="0"/>
                  <a:t>A </a:t>
                </a:r>
                <a:r>
                  <a:rPr lang="en-US" b="1" dirty="0">
                    <a:solidFill>
                      <a:srgbClr val="FF0000"/>
                    </a:solidFill>
                  </a:rPr>
                  <a:t>group</a:t>
                </a:r>
                <a:r>
                  <a:rPr lang="en-US" b="1" dirty="0"/>
                  <a:t> </a:t>
                </a:r>
                <a:r>
                  <a:rPr lang="en-US" dirty="0"/>
                  <a:t>of </a:t>
                </a:r>
                <a:r>
                  <a:rPr lang="en-US" b="1" i="1" dirty="0"/>
                  <a:t>2</a:t>
                </a:r>
                <a:r>
                  <a:rPr lang="en-US" b="1" i="1" baseline="30000" dirty="0"/>
                  <a:t>n </a:t>
                </a:r>
                <a:r>
                  <a:rPr lang="en-US" b="1" dirty="0"/>
                  <a:t>distinct elements’ </a:t>
                </a:r>
                <a:r>
                  <a:rPr lang="en-US" dirty="0"/>
                  <a:t>representation– </a:t>
                </a:r>
                <a:r>
                  <a:rPr lang="en-US" b="1" dirty="0">
                    <a:solidFill>
                      <a:srgbClr val="FF0000"/>
                    </a:solidFill>
                  </a:rPr>
                  <a:t>counts</a:t>
                </a:r>
                <a:r>
                  <a:rPr lang="en-US" dirty="0"/>
                  <a:t> in binary number </a:t>
                </a:r>
                <a:r>
                  <a:rPr lang="en-US" b="1" dirty="0">
                    <a:solidFill>
                      <a:schemeClr val="tx2">
                        <a:lumMod val="50000"/>
                      </a:schemeClr>
                    </a:solidFill>
                  </a:rPr>
                  <a:t>from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0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>
                    <a:solidFill>
                      <a:schemeClr val="tx2">
                        <a:lumMod val="50000"/>
                      </a:schemeClr>
                    </a:solidFill>
                  </a:rPr>
                  <a:t>to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(2</a:t>
                </a:r>
                <a:r>
                  <a:rPr lang="en-US" b="1" baseline="30000" dirty="0">
                    <a:solidFill>
                      <a:srgbClr val="FF0000"/>
                    </a:solidFill>
                  </a:rPr>
                  <a:t>n</a:t>
                </a:r>
                <a:r>
                  <a:rPr lang="en-US" b="1" dirty="0">
                    <a:solidFill>
                      <a:srgbClr val="FF0000"/>
                    </a:solidFill>
                  </a:rPr>
                  <a:t>-1)</a:t>
                </a:r>
                <a:endParaRPr lang="en-US" b="1" dirty="0">
                  <a:solidFill>
                    <a:srgbClr val="FF0000"/>
                  </a:solidFill>
                </a:endParaRPr>
              </a:p>
              <a:p>
                <a:pPr lvl="2"/>
                <a:r>
                  <a:rPr lang="en-US" u="sng" dirty="0"/>
                  <a:t>Mostly the </a:t>
                </a:r>
                <a:r>
                  <a:rPr lang="en-US" b="1" u="sng" dirty="0"/>
                  <a:t>binary codes </a:t>
                </a:r>
                <a:r>
                  <a:rPr lang="en-US" u="sng" dirty="0"/>
                  <a:t>are used for coded information rather than </a:t>
                </a:r>
                <a:r>
                  <a:rPr lang="en-US" b="1" u="sng" dirty="0">
                    <a:solidFill>
                      <a:srgbClr val="FF0000"/>
                    </a:solidFill>
                  </a:rPr>
                  <a:t>binary numbers</a:t>
                </a:r>
                <a:endParaRPr lang="en-US" b="1" u="sng" dirty="0">
                  <a:solidFill>
                    <a:srgbClr val="FF0000"/>
                  </a:solidFill>
                </a:endParaRPr>
              </a:p>
              <a:p>
                <a:r>
                  <a:rPr lang="en-US" sz="2300" b="1" dirty="0">
                    <a:solidFill>
                      <a:srgbClr val="FF0000"/>
                    </a:solidFill>
                  </a:rPr>
                  <a:t>Note: </a:t>
                </a:r>
                <a:r>
                  <a:rPr lang="en-US" sz="2300" dirty="0">
                    <a:solidFill>
                      <a:schemeClr val="tx2">
                        <a:lumMod val="50000"/>
                      </a:schemeClr>
                    </a:solidFill>
                  </a:rPr>
                  <a:t>If the total number of distinct elements is not equal to 2</a:t>
                </a:r>
                <a:r>
                  <a:rPr lang="en-US" sz="2300" baseline="30000" dirty="0">
                    <a:solidFill>
                      <a:schemeClr val="tx2">
                        <a:lumMod val="50000"/>
                      </a:schemeClr>
                    </a:solidFill>
                  </a:rPr>
                  <a:t>n </a:t>
                </a:r>
                <a:r>
                  <a:rPr lang="en-US" sz="2300" dirty="0">
                    <a:solidFill>
                      <a:schemeClr val="tx2">
                        <a:lumMod val="50000"/>
                      </a:schemeClr>
                    </a:solidFill>
                  </a:rPr>
                  <a:t>(</a:t>
                </a:r>
                <a:r>
                  <a:rPr lang="en-US" sz="2300" b="1" i="1" dirty="0">
                    <a:solidFill>
                      <a:schemeClr val="tx2">
                        <a:lumMod val="50000"/>
                      </a:schemeClr>
                    </a:solidFill>
                  </a:rPr>
                  <a:t>i.e.,</a:t>
                </a:r>
                <a:r>
                  <a:rPr lang="en-US" sz="2300" dirty="0">
                    <a:solidFill>
                      <a:schemeClr val="tx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300" b="1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𝒕𝒐𝒕𝒂𝒍</m:t>
                    </m:r>
                    <m:r>
                      <a:rPr lang="en-US" sz="2300" b="1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300" b="1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𝒏𝒖𝒎𝒃𝒆𝒓</m:t>
                    </m:r>
                    <m:r>
                      <a:rPr lang="en-US" sz="2300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300" b="1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300" b="1" i="1" baseline="30000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300" dirty="0">
                    <a:solidFill>
                      <a:schemeClr val="tx2">
                        <a:lumMod val="50000"/>
                      </a:schemeClr>
                    </a:solidFill>
                  </a:rPr>
                  <a:t>), some bit combinations will be unassigned (</a:t>
                </a:r>
                <a:r>
                  <a:rPr lang="en-US" sz="2300" b="1" dirty="0">
                    <a:solidFill>
                      <a:schemeClr val="tx2">
                        <a:lumMod val="50000"/>
                      </a:schemeClr>
                    </a:solidFill>
                  </a:rPr>
                  <a:t>e.g., </a:t>
                </a:r>
                <a:r>
                  <a:rPr lang="en-US" sz="2300" dirty="0">
                    <a:solidFill>
                      <a:schemeClr val="tx2">
                        <a:lumMod val="50000"/>
                      </a:schemeClr>
                    </a:solidFill>
                  </a:rPr>
                  <a:t>BCD with 4 bits)</a:t>
                </a:r>
                <a:endParaRPr lang="en-US" sz="23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91640"/>
                <a:ext cx="11247120" cy="489204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 dirty="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500062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Binary Code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076296" cy="4665662"/>
          </a:xfrm>
        </p:spPr>
        <p:txBody>
          <a:bodyPr>
            <a:normAutofit/>
          </a:bodyPr>
          <a:lstStyle/>
          <a:p>
            <a:r>
              <a:rPr lang="en-US" dirty="0"/>
              <a:t>As computer only accepts binary form, numbers are represented in </a:t>
            </a:r>
            <a:r>
              <a:rPr lang="en-US" b="1" dirty="0">
                <a:solidFill>
                  <a:srgbClr val="0070C0"/>
                </a:solidFill>
              </a:rPr>
              <a:t>binary</a:t>
            </a:r>
            <a:r>
              <a:rPr lang="en-US" b="1" dirty="0"/>
              <a:t> </a:t>
            </a:r>
            <a:r>
              <a:rPr lang="en-US" dirty="0"/>
              <a:t>(through conversion) or in </a:t>
            </a:r>
            <a:r>
              <a:rPr lang="en-US" b="1" dirty="0">
                <a:solidFill>
                  <a:srgbClr val="0070C0"/>
                </a:solidFill>
              </a:rPr>
              <a:t>decimal through binary code </a:t>
            </a:r>
            <a:r>
              <a:rPr lang="en-US" b="1" dirty="0"/>
              <a:t>– </a:t>
            </a:r>
            <a:r>
              <a:rPr lang="en-US" dirty="0"/>
              <a:t>used as:</a:t>
            </a:r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Storage</a:t>
            </a:r>
            <a:r>
              <a:rPr lang="en-US" dirty="0"/>
              <a:t> of information</a:t>
            </a:r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Arithmetic operation</a:t>
            </a:r>
            <a:r>
              <a:rPr lang="en-US" dirty="0"/>
              <a:t> as binary form </a:t>
            </a:r>
            <a:r>
              <a:rPr lang="en-US" b="1" dirty="0"/>
              <a:t> </a:t>
            </a:r>
            <a:endParaRPr lang="en-US" b="1" dirty="0"/>
          </a:p>
          <a:p>
            <a:r>
              <a:rPr lang="en-US" dirty="0"/>
              <a:t>Binary codes for </a:t>
            </a:r>
            <a:r>
              <a:rPr lang="en-US" b="1" dirty="0">
                <a:solidFill>
                  <a:srgbClr val="0070C0"/>
                </a:solidFill>
              </a:rPr>
              <a:t>decimal </a:t>
            </a:r>
            <a:r>
              <a:rPr lang="en-US" dirty="0"/>
              <a:t>digits require </a:t>
            </a:r>
            <a:r>
              <a:rPr lang="en-US" b="1" dirty="0">
                <a:solidFill>
                  <a:srgbClr val="FF0000"/>
                </a:solidFill>
              </a:rPr>
              <a:t>minimum 4 bits </a:t>
            </a:r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Why?</a:t>
            </a:r>
            <a:r>
              <a:rPr lang="en-US" dirty="0"/>
              <a:t>)</a:t>
            </a:r>
            <a:endParaRPr lang="en-US" dirty="0"/>
          </a:p>
          <a:p>
            <a:r>
              <a:rPr lang="en-US" b="1" dirty="0"/>
              <a:t>Binary Coded Decimal (BCD) </a:t>
            </a:r>
            <a:r>
              <a:rPr lang="en-US" dirty="0"/>
              <a:t>– as binary equivalent </a:t>
            </a:r>
            <a:endParaRPr lang="en-US" dirty="0"/>
          </a:p>
          <a:p>
            <a:pPr lvl="1"/>
            <a:r>
              <a:rPr lang="en-US" sz="2200" b="1" dirty="0"/>
              <a:t>Weight</a:t>
            </a:r>
            <a:r>
              <a:rPr lang="en-US" sz="2200" dirty="0"/>
              <a:t> – 8,4,2,1</a:t>
            </a:r>
            <a:endParaRPr lang="en-US" sz="2200" dirty="0"/>
          </a:p>
          <a:p>
            <a:pPr lvl="1"/>
            <a:r>
              <a:rPr lang="en-US" sz="2200" b="1" dirty="0"/>
              <a:t>BCDs</a:t>
            </a:r>
            <a:r>
              <a:rPr lang="en-US" sz="2200" dirty="0"/>
              <a:t> are one kind of </a:t>
            </a:r>
            <a:r>
              <a:rPr lang="en-US" sz="2200" b="1" dirty="0">
                <a:solidFill>
                  <a:srgbClr val="0070C0"/>
                </a:solidFill>
              </a:rPr>
              <a:t>decimals</a:t>
            </a:r>
            <a:r>
              <a:rPr lang="en-US" sz="2200" dirty="0"/>
              <a:t> in representation using binary codes rather than 0,1,…9</a:t>
            </a:r>
            <a:endParaRPr lang="en-US" sz="2200" dirty="0"/>
          </a:p>
          <a:p>
            <a:pPr lvl="1"/>
            <a:r>
              <a:rPr lang="en-US" sz="2200" dirty="0"/>
              <a:t>For a </a:t>
            </a:r>
            <a:r>
              <a:rPr lang="en-US" sz="2200" b="1" dirty="0">
                <a:solidFill>
                  <a:srgbClr val="FF0000"/>
                </a:solidFill>
              </a:rPr>
              <a:t>decimal number </a:t>
            </a:r>
            <a:r>
              <a:rPr lang="en-US" sz="2200" dirty="0"/>
              <a:t>greater than 9, </a:t>
            </a:r>
            <a:r>
              <a:rPr lang="en-US" sz="2200" b="1" dirty="0"/>
              <a:t>BCD </a:t>
            </a:r>
            <a:r>
              <a:rPr lang="en-US" sz="2200" dirty="0"/>
              <a:t>representation needs more bits than its equivalent binary number </a:t>
            </a:r>
            <a:endParaRPr lang="en-US" sz="2200" dirty="0"/>
          </a:p>
          <a:p>
            <a:pPr lvl="2"/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A decimal number with </a:t>
            </a:r>
            <a:r>
              <a:rPr lang="en-US" sz="2200" b="1" i="1" dirty="0">
                <a:solidFill>
                  <a:schemeClr val="accent6">
                    <a:lumMod val="75000"/>
                  </a:schemeClr>
                </a:solidFill>
              </a:rPr>
              <a:t>k 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decimal digits requires 4</a:t>
            </a:r>
            <a:r>
              <a:rPr lang="en-US" sz="2200" b="1" i="1" dirty="0">
                <a:solidFill>
                  <a:schemeClr val="accent6">
                    <a:lumMod val="75000"/>
                  </a:schemeClr>
                </a:solidFill>
              </a:rPr>
              <a:t>k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 bits in BCD</a:t>
            </a:r>
            <a:endParaRPr lang="en-US" sz="2200" dirty="0">
              <a:solidFill>
                <a:schemeClr val="accent6">
                  <a:lumMod val="75000"/>
                </a:schemeClr>
              </a:solidFill>
            </a:endParaRPr>
          </a:p>
          <a:p>
            <a:pPr lvl="2"/>
            <a:endParaRPr lang="en-US" sz="1800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Decimal in Binary Code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825625"/>
                <a:ext cx="11643360" cy="466566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For a certain significant position, maximum total sum could be (9+9+1)=19</a:t>
                </a:r>
                <a:endParaRPr lang="en-US" dirty="0"/>
              </a:p>
              <a:p>
                <a:pPr lvl="2"/>
                <a:r>
                  <a:rPr lang="en-US" dirty="0"/>
                  <a:t>Maximum digit = </a:t>
                </a:r>
                <a:r>
                  <a:rPr lang="en-US" b="1" dirty="0"/>
                  <a:t>9 </a:t>
                </a:r>
                <a:r>
                  <a:rPr lang="en-US" dirty="0"/>
                  <a:t>and another </a:t>
                </a:r>
                <a:r>
                  <a:rPr lang="en-US" b="1" dirty="0"/>
                  <a:t>1 </a:t>
                </a:r>
                <a:r>
                  <a:rPr lang="en-US" dirty="0"/>
                  <a:t>could be the carry out from the previous significant position </a:t>
                </a:r>
                <a:endParaRPr lang="en-US" dirty="0"/>
              </a:p>
              <a:p>
                <a:r>
                  <a:rPr lang="en-US" dirty="0"/>
                  <a:t>Addition is performed BCD digit-wise as binary numbers</a:t>
                </a:r>
                <a:endParaRPr lang="en-US" dirty="0"/>
              </a:p>
              <a:p>
                <a:pPr lvl="2"/>
                <a:r>
                  <a:rPr lang="en-US" dirty="0"/>
                  <a:t>Binary sum will be between 0 and 19</a:t>
                </a:r>
                <a:endParaRPr lang="en-US" dirty="0"/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Limitation: </a:t>
                </a:r>
                <a:endParaRPr lang="en-US" b="1" dirty="0">
                  <a:solidFill>
                    <a:srgbClr val="FF0000"/>
                  </a:solidFill>
                </a:endParaRPr>
              </a:p>
              <a:p>
                <a:pPr lvl="2"/>
                <a:r>
                  <a:rPr lang="en-US" sz="2200" dirty="0"/>
                  <a:t>If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𝑠𝑢𝑚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[</m:t>
                    </m:r>
                    <m:d>
                      <m:d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1001</m:t>
                        </m:r>
                      </m:e>
                    </m:d>
                    <m:r>
                      <a:rPr lang="en-US" sz="22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, the result is correct to express in a BCD digit</a:t>
                </a:r>
                <a:endParaRPr lang="en-US" sz="2200" dirty="0"/>
              </a:p>
              <a:p>
                <a:pPr lvl="2"/>
                <a:r>
                  <a:rPr lang="en-US" sz="2200" b="1" dirty="0">
                    <a:solidFill>
                      <a:srgbClr val="FF0000"/>
                    </a:solidFill>
                  </a:rPr>
                  <a:t>But </a:t>
                </a:r>
                <a:r>
                  <a:rPr lang="en-US" sz="2200" dirty="0"/>
                  <a:t>if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𝑠𝑢𝑚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[</m:t>
                    </m:r>
                    <m:d>
                      <m:d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sz="22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, the result is represented in an invalid BCD digit</a:t>
                </a:r>
                <a:endParaRPr lang="en-US" sz="2200" dirty="0"/>
              </a:p>
              <a:p>
                <a:pPr lvl="3"/>
                <a:r>
                  <a:rPr lang="en-US" sz="2200" b="1" dirty="0">
                    <a:solidFill>
                      <a:srgbClr val="00B050"/>
                    </a:solidFill>
                  </a:rPr>
                  <a:t>Solution: </a:t>
                </a:r>
                <a:r>
                  <a:rPr lang="en-US" sz="2200" dirty="0"/>
                  <a:t>Addition of 6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[</m:t>
                    </m:r>
                    <m:d>
                      <m:d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0110</m:t>
                        </m:r>
                      </m:e>
                    </m:d>
                    <m:r>
                      <a:rPr lang="en-US" sz="22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 to the binary sum converts it to the correct digit along with required carry (1)</a:t>
                </a:r>
                <a:endParaRPr lang="en-US" sz="2200" dirty="0"/>
              </a:p>
              <a:p>
                <a:pPr lvl="4"/>
                <a:r>
                  <a:rPr lang="en-US" sz="2200" b="1" dirty="0"/>
                  <a:t>Note:</a:t>
                </a:r>
                <a:r>
                  <a:rPr lang="en-US" sz="2200" dirty="0"/>
                  <a:t> Because difference between decimal carry (10)and BCD carry [(0001 0000)</a:t>
                </a:r>
                <a:r>
                  <a:rPr lang="en-US" sz="2200" b="1" baseline="-25000" dirty="0"/>
                  <a:t>BCD</a:t>
                </a:r>
                <a:r>
                  <a:rPr lang="en-US" sz="2200" dirty="0"/>
                  <a:t> = 16] is 6</a:t>
                </a:r>
                <a:endParaRPr lang="en-US" sz="2200" dirty="0"/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825625"/>
                <a:ext cx="11643360" cy="4665662"/>
              </a:xfrm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500062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BCD Addition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189" y="2148840"/>
            <a:ext cx="6649076" cy="275844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500062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BCD Addition: Example # 1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 dirty="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500062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BCD Addition: Example # 2</a:t>
            </a:r>
            <a:endParaRPr lang="en-US" dirty="0">
              <a:latin typeface="+mn-lt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26720" y="1825625"/>
            <a:ext cx="10927080" cy="4351338"/>
          </a:xfrm>
        </p:spPr>
        <p:txBody>
          <a:bodyPr/>
          <a:lstStyle/>
          <a:p>
            <a:r>
              <a:rPr lang="en-US" dirty="0"/>
              <a:t>Addition of two </a:t>
            </a:r>
            <a:r>
              <a:rPr lang="en-US" b="1" i="1" dirty="0"/>
              <a:t>n</a:t>
            </a:r>
            <a:r>
              <a:rPr lang="en-US" dirty="0"/>
              <a:t>-digit BCD numbers follows same procedure significant position wise: 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479" y="2701186"/>
            <a:ext cx="7049701" cy="294839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 dirty="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500062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BCD Arithmetic </a:t>
            </a:r>
            <a:endParaRPr lang="en-US" dirty="0">
              <a:latin typeface="+mn-lt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26720" y="1825625"/>
            <a:ext cx="10927080" cy="4351338"/>
          </a:xfrm>
        </p:spPr>
        <p:txBody>
          <a:bodyPr/>
          <a:lstStyle/>
          <a:p>
            <a:r>
              <a:rPr lang="en-US" dirty="0"/>
              <a:t>Sign can be mentioned in BCD number using another 4-bits code </a:t>
            </a:r>
            <a:endParaRPr lang="en-US" dirty="0"/>
          </a:p>
          <a:p>
            <a:pPr lvl="2"/>
            <a:r>
              <a:rPr lang="en-US" b="1" dirty="0">
                <a:solidFill>
                  <a:srgbClr val="00B050"/>
                </a:solidFill>
              </a:rPr>
              <a:t>Signed-magnitude system</a:t>
            </a:r>
            <a:endParaRPr lang="en-US" b="1" dirty="0">
              <a:solidFill>
                <a:srgbClr val="00B050"/>
              </a:solidFill>
            </a:endParaRPr>
          </a:p>
          <a:p>
            <a:pPr lvl="2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0000 </a:t>
            </a:r>
            <a:r>
              <a:rPr lang="en-US" dirty="0">
                <a:solidFill>
                  <a:srgbClr val="FF0000"/>
                </a:solidFill>
              </a:rPr>
              <a:t>for positive sign and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1001</a:t>
            </a:r>
            <a:r>
              <a:rPr lang="en-US" dirty="0">
                <a:solidFill>
                  <a:srgbClr val="FF0000"/>
                </a:solidFill>
              </a:rPr>
              <a:t> for negative sign (***)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Also </a:t>
            </a:r>
            <a:r>
              <a:rPr lang="en-US" b="1" dirty="0">
                <a:solidFill>
                  <a:srgbClr val="00B050"/>
                </a:solidFill>
              </a:rPr>
              <a:t>signed-complement system</a:t>
            </a:r>
            <a:r>
              <a:rPr lang="en-US" dirty="0"/>
              <a:t> can also be used either in 9’s or in 10’s complement form</a:t>
            </a:r>
            <a:endParaRPr lang="en-US" dirty="0"/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Signed-10’s complement </a:t>
            </a:r>
            <a:r>
              <a:rPr lang="en-US" dirty="0"/>
              <a:t>is preferable</a:t>
            </a:r>
            <a:endParaRPr lang="en-US" dirty="0"/>
          </a:p>
          <a:p>
            <a:pPr lvl="3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Each BCD digit will be 9’s complemented, and least significant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BCD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digit will be incremented by 1 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Addition is done by summing all digit's position-wise and </a:t>
            </a:r>
            <a:r>
              <a:rPr lang="en-US" b="1" dirty="0"/>
              <a:t>end carry will be discarded</a:t>
            </a:r>
            <a:endParaRPr lang="en-US" b="1" dirty="0"/>
          </a:p>
          <a:p>
            <a:pPr lvl="2"/>
            <a:r>
              <a:rPr lang="en-US" dirty="0"/>
              <a:t>Negative number should be converted to signed-10’s complement form </a:t>
            </a:r>
            <a:endParaRPr lang="en-US" dirty="0"/>
          </a:p>
          <a:p>
            <a:pPr lvl="2"/>
            <a:r>
              <a:rPr lang="en-US" dirty="0"/>
              <a:t>Like the arithmetic in signed-2’s complement system</a:t>
            </a:r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076296" cy="4665662"/>
          </a:xfrm>
        </p:spPr>
        <p:txBody>
          <a:bodyPr>
            <a:normAutofit/>
          </a:bodyPr>
          <a:lstStyle/>
          <a:p>
            <a:r>
              <a:rPr lang="en-US" dirty="0"/>
              <a:t>Other binary codes also requires 4 bits per decimal digit</a:t>
            </a:r>
            <a:endParaRPr lang="en-US" dirty="0"/>
          </a:p>
          <a:p>
            <a:pPr lvl="1"/>
            <a:r>
              <a:rPr lang="en-US" dirty="0"/>
              <a:t>But these 4 bits can be combined in different ways into 10 distinct combinations</a:t>
            </a:r>
            <a:endParaRPr lang="en-US" dirty="0"/>
          </a:p>
          <a:p>
            <a:pPr lvl="2"/>
            <a:r>
              <a:rPr lang="en-US" dirty="0"/>
              <a:t>Other 6 out of 16 combinations have no meaning and should be avoided</a:t>
            </a:r>
            <a:endParaRPr lang="en-US" dirty="0"/>
          </a:p>
          <a:p>
            <a:r>
              <a:rPr lang="en-US" dirty="0"/>
              <a:t>Other binary codes as follows:</a:t>
            </a:r>
            <a:endParaRPr lang="en-US" dirty="0"/>
          </a:p>
          <a:p>
            <a:pPr marL="971550" lvl="1" indent="-514350">
              <a:buFont typeface="+mj-lt"/>
              <a:buAutoNum type="romanLcPeriod"/>
            </a:pPr>
            <a:r>
              <a:rPr lang="en-US" b="1" dirty="0"/>
              <a:t>2421 </a:t>
            </a:r>
            <a:r>
              <a:rPr lang="en-US" dirty="0"/>
              <a:t>– </a:t>
            </a:r>
            <a:r>
              <a:rPr lang="en-US" dirty="0">
                <a:solidFill>
                  <a:srgbClr val="0070C0"/>
                </a:solidFill>
              </a:rPr>
              <a:t>weighting factors </a:t>
            </a:r>
            <a:r>
              <a:rPr lang="en-US" dirty="0"/>
              <a:t>2,4,2,1</a:t>
            </a:r>
            <a:endParaRPr lang="en-US" dirty="0"/>
          </a:p>
          <a:p>
            <a:pPr marL="971550" lvl="1" indent="-514350">
              <a:buFont typeface="+mj-lt"/>
              <a:buAutoNum type="romanLcPeriod"/>
            </a:pPr>
            <a:r>
              <a:rPr lang="en-US" b="1" dirty="0"/>
              <a:t>84-2-1 </a:t>
            </a:r>
            <a:r>
              <a:rPr lang="en-US" dirty="0"/>
              <a:t>– </a:t>
            </a:r>
            <a:r>
              <a:rPr lang="en-US" dirty="0">
                <a:solidFill>
                  <a:srgbClr val="0070C0"/>
                </a:solidFill>
              </a:rPr>
              <a:t>weighting factors </a:t>
            </a:r>
            <a:r>
              <a:rPr lang="en-US" dirty="0"/>
              <a:t>8,4,-2,-1</a:t>
            </a:r>
            <a:endParaRPr lang="en-US" dirty="0"/>
          </a:p>
          <a:p>
            <a:pPr lvl="3"/>
            <a:r>
              <a:rPr lang="en-US" sz="2400" dirty="0"/>
              <a:t>Has both </a:t>
            </a:r>
            <a:r>
              <a:rPr lang="en-US" sz="2400" b="1" dirty="0">
                <a:solidFill>
                  <a:srgbClr val="00B050"/>
                </a:solidFill>
              </a:rPr>
              <a:t>positive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00B050"/>
                </a:solidFill>
              </a:rPr>
              <a:t>negative</a:t>
            </a:r>
            <a:r>
              <a:rPr lang="en-US" sz="2400" dirty="0"/>
              <a:t> weight </a:t>
            </a:r>
            <a:endParaRPr lang="en-US" sz="2400" dirty="0"/>
          </a:p>
          <a:p>
            <a:pPr marL="971550" lvl="1" indent="-514350">
              <a:buFont typeface="+mj-lt"/>
              <a:buAutoNum type="romanLcPeriod"/>
            </a:pPr>
            <a:r>
              <a:rPr lang="en-US" b="1" dirty="0"/>
              <a:t>5043210 (Bi-quinary) </a:t>
            </a:r>
            <a:r>
              <a:rPr lang="en-US" dirty="0"/>
              <a:t>– </a:t>
            </a:r>
            <a:r>
              <a:rPr lang="en-US" dirty="0">
                <a:solidFill>
                  <a:srgbClr val="0070C0"/>
                </a:solidFill>
              </a:rPr>
              <a:t>weighting factors </a:t>
            </a:r>
            <a:r>
              <a:rPr lang="en-US" dirty="0"/>
              <a:t>5,0,4,3,2,1,0 </a:t>
            </a:r>
            <a:endParaRPr lang="en-US" dirty="0"/>
          </a:p>
          <a:p>
            <a:pPr lvl="3"/>
            <a:r>
              <a:rPr lang="en-US" sz="2400" dirty="0"/>
              <a:t>Each code has </a:t>
            </a:r>
            <a:r>
              <a:rPr lang="en-US" sz="2400" b="1" dirty="0">
                <a:solidFill>
                  <a:srgbClr val="00B050"/>
                </a:solidFill>
              </a:rPr>
              <a:t>two</a:t>
            </a:r>
            <a:r>
              <a:rPr lang="en-US" sz="2400" dirty="0"/>
              <a:t> 1s</a:t>
            </a:r>
            <a:endParaRPr lang="en-US" sz="2400" dirty="0"/>
          </a:p>
          <a:p>
            <a:pPr marL="971550" lvl="1" indent="-514350">
              <a:buFont typeface="+mj-lt"/>
              <a:buAutoNum type="romanLcPeriod"/>
            </a:pPr>
            <a:r>
              <a:rPr lang="en-US" b="1" dirty="0"/>
              <a:t>Excess-3 </a:t>
            </a:r>
            <a:r>
              <a:rPr lang="en-US" dirty="0"/>
              <a:t>– </a:t>
            </a:r>
            <a:r>
              <a:rPr lang="en-US" b="1" dirty="0">
                <a:solidFill>
                  <a:srgbClr val="0070C0"/>
                </a:solidFill>
              </a:rPr>
              <a:t>unweighted code</a:t>
            </a:r>
            <a:endParaRPr lang="en-US" b="1" dirty="0">
              <a:solidFill>
                <a:srgbClr val="0070C0"/>
              </a:solidFill>
            </a:endParaRPr>
          </a:p>
          <a:p>
            <a:pPr lvl="3"/>
            <a:r>
              <a:rPr lang="en-US" sz="2400" dirty="0"/>
              <a:t>Obtained from the corresponding </a:t>
            </a:r>
            <a:r>
              <a:rPr lang="en-US" sz="2400" b="1" dirty="0"/>
              <a:t>BCD+3</a:t>
            </a:r>
            <a:endParaRPr lang="en-US" sz="2400" b="1" dirty="0"/>
          </a:p>
          <a:p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Decimal in Other Binary Codes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u="sn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50" y="1371600"/>
            <a:ext cx="6992285" cy="5486400"/>
          </a:xfrm>
        </p:spPr>
      </p:pic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Decimal in Binary Code</a:t>
            </a:r>
            <a:endParaRPr lang="en-US" dirty="0">
              <a:latin typeface="+mn-lt"/>
            </a:endParaRPr>
          </a:p>
        </p:txBody>
      </p:sp>
      <p:pic>
        <p:nvPicPr>
          <p:cNvPr id="9" name="Picture 8" descr="Table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502" y="2329260"/>
            <a:ext cx="3763298" cy="3253581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351338"/>
          </a:xfrm>
        </p:spPr>
        <p:txBody>
          <a:bodyPr/>
          <a:lstStyle/>
          <a:p>
            <a:r>
              <a:rPr lang="en-US" b="1" dirty="0"/>
              <a:t>BCD</a:t>
            </a:r>
            <a:r>
              <a:rPr lang="en-US" dirty="0"/>
              <a:t> – most natural – equivalent to binary number</a:t>
            </a:r>
            <a:endParaRPr lang="en-US" dirty="0"/>
          </a:p>
          <a:p>
            <a:r>
              <a:rPr lang="en-US" b="1" dirty="0"/>
              <a:t>Excess 3, 84-2-1 and 2421</a:t>
            </a:r>
            <a:endParaRPr lang="en-US" b="1" dirty="0"/>
          </a:p>
          <a:p>
            <a:pPr lvl="1"/>
            <a:r>
              <a:rPr lang="en-US" b="1" dirty="0"/>
              <a:t>Self complementary </a:t>
            </a:r>
            <a:endParaRPr lang="en-US" b="1" dirty="0"/>
          </a:p>
          <a:p>
            <a:pPr lvl="2"/>
            <a:r>
              <a:rPr lang="en-US" b="1" dirty="0"/>
              <a:t>9’s complement </a:t>
            </a:r>
            <a:r>
              <a:rPr lang="en-US" dirty="0"/>
              <a:t>can be obtained by flipping 1s and 0s (</a:t>
            </a:r>
            <a:r>
              <a:rPr lang="en-US" dirty="0">
                <a:solidFill>
                  <a:srgbClr val="00B050"/>
                </a:solidFill>
              </a:rPr>
              <a:t>complementing each bit</a:t>
            </a:r>
            <a:r>
              <a:rPr lang="en-US" dirty="0"/>
              <a:t>)</a:t>
            </a:r>
            <a:endParaRPr lang="en-US" dirty="0"/>
          </a:p>
          <a:p>
            <a:pPr lvl="2"/>
            <a:r>
              <a:rPr lang="en-US" b="1" dirty="0"/>
              <a:t>BCD </a:t>
            </a:r>
            <a:r>
              <a:rPr lang="en-US" dirty="0"/>
              <a:t>is </a:t>
            </a:r>
            <a:r>
              <a:rPr lang="en-US" b="1" dirty="0">
                <a:solidFill>
                  <a:srgbClr val="FF0000"/>
                </a:solidFill>
              </a:rPr>
              <a:t>not </a:t>
            </a:r>
            <a:r>
              <a:rPr lang="en-US" dirty="0"/>
              <a:t>self complementary </a:t>
            </a:r>
            <a:endParaRPr lang="en-US" dirty="0"/>
          </a:p>
          <a:p>
            <a:pPr lvl="1"/>
            <a:r>
              <a:rPr lang="en-US" dirty="0"/>
              <a:t>Excess-3 is an </a:t>
            </a:r>
            <a:r>
              <a:rPr lang="en-US" b="1" dirty="0"/>
              <a:t>unweighted code </a:t>
            </a:r>
            <a:r>
              <a:rPr lang="en-US" dirty="0"/>
              <a:t>used in older computer system for complementing  </a:t>
            </a:r>
            <a:endParaRPr lang="en-US" dirty="0"/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Example: </a:t>
            </a:r>
            <a:r>
              <a:rPr lang="en-US" b="1" dirty="0"/>
              <a:t>395</a:t>
            </a:r>
            <a:r>
              <a:rPr lang="en-US" dirty="0"/>
              <a:t> (001111111011)</a:t>
            </a:r>
            <a:r>
              <a:rPr lang="en-US" b="1" baseline="-25000" dirty="0"/>
              <a:t>2421</a:t>
            </a:r>
            <a:r>
              <a:rPr lang="en-US" b="1" dirty="0"/>
              <a:t> </a:t>
            </a:r>
            <a:r>
              <a:rPr lang="en-US" dirty="0"/>
              <a:t>and its </a:t>
            </a:r>
            <a:r>
              <a:rPr lang="en-US" b="1" dirty="0">
                <a:solidFill>
                  <a:srgbClr val="FF0000"/>
                </a:solidFill>
              </a:rPr>
              <a:t>9’s complement </a:t>
            </a:r>
            <a:r>
              <a:rPr lang="en-US" b="1" dirty="0"/>
              <a:t>604</a:t>
            </a:r>
            <a:r>
              <a:rPr lang="en-US" dirty="0"/>
              <a:t> (110000000100)</a:t>
            </a:r>
            <a:r>
              <a:rPr lang="en-US" b="1" baseline="-25000" dirty="0"/>
              <a:t>2421</a:t>
            </a:r>
            <a:endParaRPr lang="en-US" b="1" baseline="-25000" dirty="0"/>
          </a:p>
          <a:p>
            <a:r>
              <a:rPr lang="en-US" dirty="0"/>
              <a:t> </a:t>
            </a:r>
            <a:r>
              <a:rPr lang="en-US" b="1" dirty="0"/>
              <a:t>Bi-quinary coded decimal </a:t>
            </a:r>
            <a:endParaRPr lang="en-US" b="1" dirty="0"/>
          </a:p>
          <a:p>
            <a:pPr lvl="1"/>
            <a:r>
              <a:rPr lang="en-US" b="1" dirty="0"/>
              <a:t>Error detection property </a:t>
            </a:r>
            <a:r>
              <a:rPr lang="en-US" dirty="0"/>
              <a:t>– must have two 1s and five 0s for each digit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500062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Decimal in Binary Code: All at a Glance 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351338"/>
          </a:xfrm>
        </p:spPr>
        <p:txBody>
          <a:bodyPr>
            <a:normAutofit/>
          </a:bodyPr>
          <a:lstStyle/>
          <a:p>
            <a:r>
              <a:rPr lang="en-US" dirty="0"/>
              <a:t>To convert </a:t>
            </a:r>
            <a:r>
              <a:rPr lang="en-US" b="1" dirty="0"/>
              <a:t>continuous (analog) data </a:t>
            </a:r>
            <a:r>
              <a:rPr lang="en-US" dirty="0"/>
              <a:t>to discrete one, sometimes reflected code is more beneficial over binary code</a:t>
            </a:r>
            <a:endParaRPr lang="en-US" dirty="0"/>
          </a:p>
          <a:p>
            <a:r>
              <a:rPr lang="en-US" dirty="0"/>
              <a:t>Primary benefit is that a number in the reflected code </a:t>
            </a:r>
            <a:r>
              <a:rPr lang="en-US" b="1" dirty="0"/>
              <a:t>changes by only one bit </a:t>
            </a:r>
            <a:r>
              <a:rPr lang="en-US" dirty="0"/>
              <a:t>as it proceeds from one number to the next. </a:t>
            </a:r>
            <a:endParaRPr lang="en-US" dirty="0"/>
          </a:p>
          <a:p>
            <a:pPr lvl="1"/>
            <a:r>
              <a:rPr lang="en-US" b="1" dirty="0"/>
              <a:t>Example:</a:t>
            </a:r>
            <a:r>
              <a:rPr lang="en-US" dirty="0"/>
              <a:t> In natural binary number, state 3 (011) and state 4 (100) are in sequence </a:t>
            </a:r>
            <a:r>
              <a:rPr lang="en-US" b="1" dirty="0">
                <a:solidFill>
                  <a:srgbClr val="FF0000"/>
                </a:solidFill>
              </a:rPr>
              <a:t>but</a:t>
            </a:r>
            <a:r>
              <a:rPr lang="en-US" b="1" dirty="0"/>
              <a:t> </a:t>
            </a:r>
            <a:r>
              <a:rPr lang="en-US" dirty="0"/>
              <a:t>all three bits are different whereas reflected code for 3 (010) and 4 (110) overcome this problem</a:t>
            </a:r>
            <a:endParaRPr lang="en-US" dirty="0"/>
          </a:p>
          <a:p>
            <a:r>
              <a:rPr lang="en-US" dirty="0"/>
              <a:t>Reflected code is basically used</a:t>
            </a:r>
            <a:r>
              <a:rPr lang="en-US" b="1" dirty="0"/>
              <a:t> where generating binary numbers </a:t>
            </a:r>
            <a:r>
              <a:rPr lang="en-US" dirty="0"/>
              <a:t>by the hardware </a:t>
            </a:r>
            <a:r>
              <a:rPr lang="en-US" b="1" dirty="0">
                <a:solidFill>
                  <a:srgbClr val="7030A0"/>
                </a:solidFill>
              </a:rPr>
              <a:t>in normal sequence </a:t>
            </a:r>
            <a:r>
              <a:rPr lang="en-US" dirty="0"/>
              <a:t>which may produce </a:t>
            </a:r>
            <a:r>
              <a:rPr lang="en-US" b="1" dirty="0">
                <a:solidFill>
                  <a:srgbClr val="FF0000"/>
                </a:solidFill>
              </a:rPr>
              <a:t>ambiguity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during transition </a:t>
            </a:r>
            <a:r>
              <a:rPr lang="en-US" b="1" dirty="0"/>
              <a:t>from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one state </a:t>
            </a:r>
            <a:r>
              <a:rPr lang="en-US" b="1" dirty="0"/>
              <a:t>to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next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500062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The Reflected Code or Gray Code </a:t>
            </a:r>
            <a:endParaRPr lang="en-US" b="1" i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The Reflected Code: Comparison</a:t>
            </a:r>
            <a:endParaRPr lang="en-US" b="1" i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882" y="1487011"/>
            <a:ext cx="4841163" cy="5297417"/>
          </a:xfr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The Reflected Code: Approach</a:t>
            </a:r>
            <a:endParaRPr lang="en-US" b="1" i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6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365125"/>
          </a:xfrm>
        </p:spPr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068" y="2060312"/>
            <a:ext cx="4114800" cy="3411081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55" y="1960562"/>
            <a:ext cx="4172532" cy="3791479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74564"/>
            <a:ext cx="2743200" cy="365125"/>
          </a:xfrm>
        </p:spPr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483436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The Reflected Code: Real Life Examples</a:t>
            </a:r>
            <a:endParaRPr lang="en-US" b="1" i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259" y="5137194"/>
            <a:ext cx="2180705" cy="12373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6453" y="4794632"/>
            <a:ext cx="2756922" cy="194821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2" b="8689"/>
          <a:stretch>
            <a:fillRect/>
          </a:stretch>
        </p:blipFill>
        <p:spPr>
          <a:xfrm>
            <a:off x="8925889" y="4419757"/>
            <a:ext cx="2206303" cy="243185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75749"/>
            <a:ext cx="11430000" cy="3610899"/>
          </a:xfrm>
        </p:spPr>
        <p:txBody>
          <a:bodyPr>
            <a:normAutofit/>
          </a:bodyPr>
          <a:lstStyle/>
          <a:p>
            <a:r>
              <a:rPr lang="en-US" b="1" dirty="0"/>
              <a:t>Example 1</a:t>
            </a:r>
            <a:r>
              <a:rPr lang="en-US" dirty="0"/>
              <a:t>: To define a particular </a:t>
            </a:r>
            <a:r>
              <a:rPr lang="en-US" dirty="0">
                <a:solidFill>
                  <a:srgbClr val="FF0000"/>
                </a:solidFill>
              </a:rPr>
              <a:t>position/state</a:t>
            </a:r>
            <a:r>
              <a:rPr lang="en-US" dirty="0"/>
              <a:t> through closing or opening switches, some </a:t>
            </a:r>
            <a:r>
              <a:rPr lang="en-US" b="1" dirty="0">
                <a:solidFill>
                  <a:srgbClr val="FF0000"/>
                </a:solidFill>
              </a:rPr>
              <a:t>ambiguous</a:t>
            </a:r>
            <a:r>
              <a:rPr lang="en-US" dirty="0"/>
              <a:t> </a:t>
            </a:r>
            <a:r>
              <a:rPr lang="en-US" b="1" dirty="0"/>
              <a:t>intermediate states </a:t>
            </a:r>
            <a:r>
              <a:rPr lang="en-US" dirty="0"/>
              <a:t>may be generated.</a:t>
            </a:r>
            <a:endParaRPr lang="en-US" dirty="0"/>
          </a:p>
          <a:p>
            <a:pPr lvl="2"/>
            <a:r>
              <a:rPr lang="en-US" dirty="0"/>
              <a:t>Changing from state 3 (011) to state 4 (100), if any switch takes longer time to reflect its own state, it may cause an ambiguity</a:t>
            </a:r>
            <a:endParaRPr lang="en-US" b="1" dirty="0"/>
          </a:p>
          <a:p>
            <a:r>
              <a:rPr lang="en-US" b="1" dirty="0"/>
              <a:t>Example 2</a:t>
            </a:r>
            <a:r>
              <a:rPr lang="en-US" dirty="0"/>
              <a:t>: Representation of analog magnitudes by a continuous change in angular position of a </a:t>
            </a:r>
            <a:r>
              <a:rPr lang="en-US" b="1" dirty="0"/>
              <a:t>shaft</a:t>
            </a:r>
            <a:endParaRPr lang="en-US" b="1" dirty="0">
              <a:solidFill>
                <a:srgbClr val="FF0000"/>
              </a:solidFill>
            </a:endParaRPr>
          </a:p>
          <a:p>
            <a:pPr lvl="2"/>
            <a:r>
              <a:rPr lang="en-US" dirty="0"/>
              <a:t>The circular shaft is partitioned into segments and each segment is designed in such a way that only one sensor will be able to sense a change using </a:t>
            </a:r>
            <a:r>
              <a:rPr lang="en-US" b="1" dirty="0"/>
              <a:t>Gray code sequence</a:t>
            </a:r>
            <a:endParaRPr lang="en-US" b="1" dirty="0"/>
          </a:p>
          <a:p>
            <a:pPr marL="0" indent="0">
              <a:buNone/>
            </a:pPr>
            <a:endParaRPr lang="en-US" i="1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825625"/>
                <a:ext cx="11430000" cy="4351338"/>
              </a:xfrm>
            </p:spPr>
            <p:txBody>
              <a:bodyPr/>
              <a:lstStyle/>
              <a:p>
                <a:r>
                  <a:rPr lang="en-US" dirty="0"/>
                  <a:t>During the brief period of changing, the switches may produce some </a:t>
                </a:r>
                <a:r>
                  <a:rPr lang="en-US" u="sng" dirty="0"/>
                  <a:t>ambiguous position</a:t>
                </a:r>
                <a:r>
                  <a:rPr lang="en-US" dirty="0"/>
                  <a:t>. </a:t>
                </a:r>
                <a:endParaRPr lang="en-US" dirty="0"/>
              </a:p>
              <a:p>
                <a:pPr lvl="2"/>
                <a:r>
                  <a:rPr lang="en-US" b="1" dirty="0"/>
                  <a:t>Transition</a:t>
                </a:r>
                <a:r>
                  <a:rPr lang="en-US" dirty="0"/>
                  <a:t> might look like: 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𝟎𝟏𝟏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𝟎𝟎𝟏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𝟏𝟎𝟏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endParaRPr lang="en-US" b="1" dirty="0"/>
              </a:p>
              <a:p>
                <a:pPr lvl="2"/>
                <a:r>
                  <a:rPr lang="en-US" dirty="0"/>
                  <a:t>The detector can’t differentiate between a </a:t>
                </a:r>
                <a:r>
                  <a:rPr lang="en-US" b="1" dirty="0"/>
                  <a:t>real magnitude </a:t>
                </a:r>
                <a:r>
                  <a:rPr lang="en-US" dirty="0"/>
                  <a:t>and a </a:t>
                </a:r>
                <a:r>
                  <a:rPr lang="en-US" b="1" dirty="0"/>
                  <a:t>transitional state</a:t>
                </a:r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The </a:t>
                </a:r>
                <a:r>
                  <a:rPr lang="en-US" b="1" dirty="0">
                    <a:solidFill>
                      <a:srgbClr val="FF0000"/>
                    </a:solidFill>
                  </a:rPr>
                  <a:t>reflected binary code</a:t>
                </a:r>
                <a:r>
                  <a:rPr lang="en-US" dirty="0">
                    <a:solidFill>
                      <a:srgbClr val="FF0000"/>
                    </a:solidFill>
                  </a:rPr>
                  <a:t> solves this problem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pPr lvl="2"/>
                <a:r>
                  <a:rPr lang="en-US" dirty="0"/>
                  <a:t>Changes only one bit/switch at a time – </a:t>
                </a:r>
                <a:r>
                  <a:rPr lang="en-US" b="1" dirty="0">
                    <a:solidFill>
                      <a:srgbClr val="00B050"/>
                    </a:solidFill>
                  </a:rPr>
                  <a:t>cyclic property</a:t>
                </a:r>
                <a:r>
                  <a:rPr lang="en-US" dirty="0"/>
                  <a:t>.</a:t>
                </a:r>
                <a:endParaRPr lang="en-US" dirty="0"/>
              </a:p>
              <a:p>
                <a:r>
                  <a:rPr lang="en-US" dirty="0"/>
                  <a:t>Also known as </a:t>
                </a:r>
                <a:r>
                  <a:rPr lang="en-US" b="1" dirty="0"/>
                  <a:t>Gray code </a:t>
                </a:r>
                <a:r>
                  <a:rPr lang="en-US" dirty="0"/>
                  <a:t>or </a:t>
                </a:r>
                <a:r>
                  <a:rPr lang="en-US" b="1" dirty="0"/>
                  <a:t>Single distance code </a:t>
                </a:r>
                <a:endParaRPr lang="en-US" b="1" dirty="0"/>
              </a:p>
              <a:p>
                <a:r>
                  <a:rPr lang="en-US" b="1" dirty="0"/>
                  <a:t>Hamming distance </a:t>
                </a:r>
                <a:r>
                  <a:rPr lang="en-US" dirty="0"/>
                  <a:t>is 1 between two adjacent codes 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825625"/>
                <a:ext cx="11430000" cy="4351338"/>
              </a:xfrm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19673"/>
            <a:ext cx="2743200" cy="365125"/>
          </a:xfrm>
        </p:spPr>
        <p:txBody>
          <a:bodyPr/>
          <a:lstStyle/>
          <a:p>
            <a:r>
              <a:rPr lang="en-US" sz="1600" dirty="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500062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The Reflected Code: In Details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825625"/>
                <a:ext cx="11556076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Most of the computer application manipulate not only </a:t>
                </a:r>
                <a:r>
                  <a:rPr lang="en-US" b="1" dirty="0"/>
                  <a:t>numbers</a:t>
                </a:r>
                <a:r>
                  <a:rPr lang="en-US" dirty="0"/>
                  <a:t> but also other </a:t>
                </a:r>
                <a:r>
                  <a:rPr lang="en-US" b="1" dirty="0"/>
                  <a:t>characters or symbols</a:t>
                </a:r>
                <a:endParaRPr lang="en-US" b="1" dirty="0"/>
              </a:p>
              <a:p>
                <a:pPr lvl="2"/>
                <a:r>
                  <a:rPr lang="en-US" dirty="0"/>
                  <a:t>A </a:t>
                </a:r>
                <a:r>
                  <a:rPr lang="en-US" b="1" dirty="0"/>
                  <a:t>binary code </a:t>
                </a:r>
                <a:r>
                  <a:rPr lang="en-US" dirty="0"/>
                  <a:t>represents a group of elements consisting of ten </a:t>
                </a:r>
                <a:r>
                  <a:rPr lang="en-US" b="1" dirty="0"/>
                  <a:t>decimal digits</a:t>
                </a:r>
                <a:r>
                  <a:rPr lang="en-US" dirty="0"/>
                  <a:t>, 26 </a:t>
                </a:r>
                <a:r>
                  <a:rPr lang="en-US" b="1" dirty="0"/>
                  <a:t>letters of the alphabet </a:t>
                </a:r>
                <a:r>
                  <a:rPr lang="en-US" dirty="0"/>
                  <a:t>in both cases, and certain number of </a:t>
                </a:r>
                <a:r>
                  <a:rPr lang="en-US" b="1" dirty="0"/>
                  <a:t>special symbols </a:t>
                </a:r>
                <a:r>
                  <a:rPr lang="en-US" dirty="0"/>
                  <a:t>like {$,#,.,/…} </a:t>
                </a:r>
                <a:endParaRPr lang="en-US" dirty="0"/>
              </a:p>
              <a:p>
                <a:pPr lvl="2"/>
                <a:r>
                  <a:rPr lang="en-US" dirty="0"/>
                  <a:t>This code is also known as </a:t>
                </a:r>
                <a:r>
                  <a:rPr lang="en-US" b="1" i="1" dirty="0"/>
                  <a:t>alphanumeric code</a:t>
                </a:r>
                <a:endParaRPr lang="en-US" b="1" i="1" dirty="0"/>
              </a:p>
              <a:p>
                <a:r>
                  <a:rPr lang="en-US" dirty="0"/>
                  <a:t>More than 36 distinct characters/symbols.</a:t>
                </a:r>
                <a:endParaRPr lang="en-US" dirty="0"/>
              </a:p>
              <a:p>
                <a:pPr lvl="2"/>
                <a:r>
                  <a:rPr lang="en-US" b="1" dirty="0"/>
                  <a:t>Upper- and lower-case </a:t>
                </a:r>
                <a:r>
                  <a:rPr lang="en-US" dirty="0"/>
                  <a:t>letters and other </a:t>
                </a:r>
                <a:r>
                  <a:rPr lang="en-US" b="1" dirty="0"/>
                  <a:t>special characters </a:t>
                </a:r>
                <a:r>
                  <a:rPr lang="en-US" dirty="0"/>
                  <a:t>increase the number of bits</a:t>
                </a:r>
                <a:endParaRPr lang="en-US" dirty="0"/>
              </a:p>
              <a:p>
                <a:r>
                  <a:rPr lang="en-US" dirty="0"/>
                  <a:t>Minimum required number of bits: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36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1699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≈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𝑏𝑖𝑡𝑠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If both cases and other special characters are considered: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32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94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b="0" dirty="0"/>
                  <a:t>6</a:t>
                </a:r>
                <a:endParaRPr lang="en-US" b="0" dirty="0"/>
              </a:p>
              <a:p>
                <a:pPr lvl="3"/>
                <a:r>
                  <a:rPr lang="en-US" dirty="0"/>
                  <a:t>At least 7 bits are required </a:t>
                </a:r>
                <a:endParaRPr lang="en-US" dirty="0"/>
              </a:p>
              <a:p>
                <a:r>
                  <a:rPr lang="en-US" b="1" dirty="0">
                    <a:solidFill>
                      <a:srgbClr val="00B0F0"/>
                    </a:solidFill>
                  </a:rPr>
                  <a:t>Example: </a:t>
                </a:r>
                <a:r>
                  <a:rPr lang="en-US" b="1" dirty="0"/>
                  <a:t>Internal code </a:t>
                </a:r>
                <a:r>
                  <a:rPr lang="en-US" dirty="0"/>
                  <a:t>(6 bits), </a:t>
                </a:r>
                <a:r>
                  <a:rPr lang="en-US" b="1" dirty="0"/>
                  <a:t>ASCII code</a:t>
                </a:r>
                <a:r>
                  <a:rPr lang="en-US" dirty="0"/>
                  <a:t> (7 bits), </a:t>
                </a:r>
                <a:r>
                  <a:rPr lang="en-US" b="1" dirty="0"/>
                  <a:t>E</a:t>
                </a:r>
                <a:r>
                  <a:rPr lang="en-US" b="1" dirty="0">
                    <a:solidFill>
                      <a:srgbClr val="FF0000"/>
                    </a:solidFill>
                  </a:rPr>
                  <a:t>BCD</a:t>
                </a:r>
                <a:r>
                  <a:rPr lang="en-US" b="1" dirty="0"/>
                  <a:t>IC code </a:t>
                </a:r>
                <a:r>
                  <a:rPr lang="en-US" dirty="0"/>
                  <a:t>(8 bits)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825625"/>
                <a:ext cx="11556076" cy="4667250"/>
              </a:xfrm>
              <a:blipFill rotWithShape="1">
                <a:blip r:embed="rId1"/>
                <a:stretch>
                  <a:fillRect r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500062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Alphanumeric Code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Alphanumeric Code: ASCII – Basic Characters</a:t>
            </a:r>
            <a:endParaRPr lang="en-US" b="1" i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114" y="1533063"/>
            <a:ext cx="6729383" cy="5324937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717645" y="500062"/>
            <a:ext cx="111363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Alphanumeric Code: ASCII – Control Characters</a:t>
            </a:r>
            <a:endParaRPr lang="en-US" b="1" i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715" y="1487235"/>
            <a:ext cx="7361485" cy="523424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Alphanumeric Code: Example</a:t>
            </a:r>
            <a:endParaRPr lang="en-US" b="1" i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9961"/>
          <a:stretch>
            <a:fillRect/>
          </a:stretch>
        </p:blipFill>
        <p:spPr>
          <a:xfrm>
            <a:off x="2343258" y="1882230"/>
            <a:ext cx="7505483" cy="4282578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Binary information is usually:</a:t>
            </a:r>
            <a:endParaRPr lang="en-US" b="1" dirty="0"/>
          </a:p>
          <a:p>
            <a:pPr lvl="1"/>
            <a:r>
              <a:rPr lang="en-US" b="1" i="1" dirty="0">
                <a:solidFill>
                  <a:srgbClr val="FF0000"/>
                </a:solidFill>
              </a:rPr>
              <a:t>Transmitted</a:t>
            </a:r>
            <a:r>
              <a:rPr lang="en-US" b="1" dirty="0"/>
              <a:t> </a:t>
            </a:r>
            <a:r>
              <a:rPr lang="en-US" dirty="0"/>
              <a:t>through communication medium such as wires or radio waves</a:t>
            </a:r>
            <a:endParaRPr lang="en-US" dirty="0"/>
          </a:p>
          <a:p>
            <a:pPr lvl="1"/>
            <a:r>
              <a:rPr lang="en-US" b="1" i="1" dirty="0">
                <a:solidFill>
                  <a:srgbClr val="FF0000"/>
                </a:solidFill>
              </a:rPr>
              <a:t>Processed </a:t>
            </a:r>
            <a:r>
              <a:rPr lang="en-US" dirty="0"/>
              <a:t>in different electric circuitry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Problem: </a:t>
            </a:r>
            <a:r>
              <a:rPr lang="en-US" b="1" dirty="0"/>
              <a:t>External Noise</a:t>
            </a:r>
            <a:endParaRPr lang="en-US" b="1" dirty="0"/>
          </a:p>
          <a:p>
            <a:pPr lvl="1"/>
            <a:r>
              <a:rPr lang="en-US" dirty="0"/>
              <a:t>During those above-mentioned operations, medium accidentally changes bit values from 0 to 1 or vice versa (</a:t>
            </a:r>
            <a:r>
              <a:rPr lang="en-US" b="1" dirty="0">
                <a:solidFill>
                  <a:srgbClr val="FF0000"/>
                </a:solidFill>
              </a:rPr>
              <a:t>alteration</a:t>
            </a:r>
            <a:r>
              <a:rPr lang="en-US" dirty="0"/>
              <a:t>)</a:t>
            </a:r>
            <a:endParaRPr lang="en-US" dirty="0"/>
          </a:p>
          <a:p>
            <a:r>
              <a:rPr lang="en-US" b="1" dirty="0">
                <a:solidFill>
                  <a:srgbClr val="00B050"/>
                </a:solidFill>
              </a:rPr>
              <a:t>Solution:</a:t>
            </a:r>
            <a:r>
              <a:rPr lang="en-US" b="1" dirty="0"/>
              <a:t> Error detection code 	</a:t>
            </a:r>
            <a:endParaRPr lang="en-US" b="1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To detect error </a:t>
            </a:r>
            <a:r>
              <a:rPr lang="en-US" dirty="0"/>
              <a:t>during operations</a:t>
            </a:r>
            <a:endParaRPr lang="en-US" dirty="0"/>
          </a:p>
          <a:p>
            <a:pPr lvl="2"/>
            <a:r>
              <a:rPr lang="en-US" dirty="0"/>
              <a:t>Detected error can’t be corrected but identified </a:t>
            </a:r>
            <a:endParaRPr lang="en-US" dirty="0"/>
          </a:p>
          <a:p>
            <a:pPr lvl="2"/>
            <a:r>
              <a:rPr lang="en-US" b="1" dirty="0">
                <a:solidFill>
                  <a:srgbClr val="00B0F0"/>
                </a:solidFill>
              </a:rPr>
              <a:t>Error Correction Code </a:t>
            </a:r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?</a:t>
            </a:r>
            <a:r>
              <a:rPr lang="en-US" dirty="0"/>
              <a:t>) - </a:t>
            </a:r>
            <a:r>
              <a:rPr lang="en-US" b="1" dirty="0"/>
              <a:t>Alternative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Error Detection Code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b="1" i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Error Detection Code: Types of Errors</a:t>
            </a:r>
            <a:endParaRPr lang="en-US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 procedure is to observe the </a:t>
            </a:r>
            <a:r>
              <a:rPr lang="en-US" b="1" dirty="0">
                <a:solidFill>
                  <a:srgbClr val="FF0000"/>
                </a:solidFill>
              </a:rPr>
              <a:t>frequency </a:t>
            </a:r>
            <a:r>
              <a:rPr lang="en-US" dirty="0"/>
              <a:t>of errors:</a:t>
            </a:r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Randomly occurred error</a:t>
            </a:r>
            <a:endParaRPr lang="en-US" b="1" dirty="0">
              <a:solidFill>
                <a:srgbClr val="FF0000"/>
              </a:solidFill>
            </a:endParaRPr>
          </a:p>
          <a:p>
            <a:pPr lvl="2"/>
            <a:r>
              <a:rPr lang="en-US" dirty="0"/>
              <a:t>Nothing to be done: </a:t>
            </a:r>
            <a:r>
              <a:rPr lang="en-US" b="1" dirty="0"/>
              <a:t>Ignore</a:t>
            </a:r>
            <a:endParaRPr lang="en-US" b="1" dirty="0"/>
          </a:p>
          <a:p>
            <a:pPr lvl="2"/>
            <a:r>
              <a:rPr lang="en-US" dirty="0"/>
              <a:t>Retransmission of that message if an error is identified through </a:t>
            </a:r>
            <a:r>
              <a:rPr lang="en-US" b="1" dirty="0"/>
              <a:t>NAK </a:t>
            </a:r>
            <a:r>
              <a:rPr lang="en-US" dirty="0"/>
              <a:t>signal from receiver</a:t>
            </a:r>
            <a:endParaRPr lang="en-US" dirty="0"/>
          </a:p>
          <a:p>
            <a:pPr lvl="2"/>
            <a:r>
              <a:rPr lang="en-US" b="1" dirty="0"/>
              <a:t>Effect:</a:t>
            </a:r>
            <a:r>
              <a:rPr lang="en-US" dirty="0"/>
              <a:t> Not that much effective error instead taking more time</a:t>
            </a:r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Frequent occurred error</a:t>
            </a:r>
            <a:endParaRPr lang="en-US" b="1" dirty="0">
              <a:solidFill>
                <a:srgbClr val="FF0000"/>
              </a:solidFill>
            </a:endParaRPr>
          </a:p>
          <a:p>
            <a:pPr lvl="2"/>
            <a:r>
              <a:rPr lang="en-US" b="1" dirty="0"/>
              <a:t>Severe problem</a:t>
            </a:r>
            <a:r>
              <a:rPr lang="en-US" dirty="0"/>
              <a:t> - System must be checked for malfunction</a:t>
            </a: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74143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Parity bit </a:t>
            </a:r>
            <a:r>
              <a:rPr lang="en-US" dirty="0"/>
              <a:t>– an </a:t>
            </a:r>
            <a:r>
              <a:rPr lang="en-US" b="1" dirty="0">
                <a:solidFill>
                  <a:srgbClr val="FF0000"/>
                </a:solidFill>
              </a:rPr>
              <a:t>extra bit </a:t>
            </a:r>
            <a:r>
              <a:rPr lang="en-US" dirty="0"/>
              <a:t>included with the message to make the total number of 1s either odd or even</a:t>
            </a:r>
            <a:endParaRPr lang="en-US" dirty="0"/>
          </a:p>
          <a:p>
            <a:r>
              <a:rPr lang="en-US" dirty="0"/>
              <a:t>Handle of parity bit during information transfer – </a:t>
            </a:r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Sending end (</a:t>
            </a:r>
            <a:r>
              <a:rPr lang="en-US" b="1" dirty="0"/>
              <a:t>Transmitter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endParaRPr lang="en-US" dirty="0"/>
          </a:p>
          <a:p>
            <a:pPr lvl="2"/>
            <a:r>
              <a:rPr lang="en-US" sz="1800" b="1" dirty="0"/>
              <a:t>Parity Generation </a:t>
            </a:r>
            <a:r>
              <a:rPr lang="en-US" sz="1800" dirty="0"/>
              <a:t>– from the message, generate the parity bit, </a:t>
            </a:r>
            <a:r>
              <a:rPr lang="en-US" sz="1800" b="1" i="1" dirty="0"/>
              <a:t>P</a:t>
            </a:r>
            <a:endParaRPr lang="en-US" sz="1800" b="1" i="1" dirty="0"/>
          </a:p>
          <a:p>
            <a:pPr lvl="2"/>
            <a:r>
              <a:rPr lang="en-US" sz="1800" dirty="0"/>
              <a:t>The message including its parity bit, </a:t>
            </a:r>
            <a:r>
              <a:rPr lang="en-US" sz="1800" b="1" i="1" dirty="0"/>
              <a:t>P</a:t>
            </a:r>
            <a:r>
              <a:rPr lang="en-US" sz="1800" dirty="0"/>
              <a:t> sent to the destination</a:t>
            </a:r>
            <a:endParaRPr lang="en-US" sz="1800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Receiving End (</a:t>
            </a:r>
            <a:r>
              <a:rPr lang="en-US" b="1" dirty="0"/>
              <a:t>Receiver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endParaRPr lang="en-US" b="1" dirty="0">
              <a:solidFill>
                <a:srgbClr val="FF0000"/>
              </a:solidFill>
            </a:endParaRPr>
          </a:p>
          <a:p>
            <a:pPr lvl="2"/>
            <a:r>
              <a:rPr lang="en-US" sz="1800" b="1" dirty="0"/>
              <a:t>Parity Check </a:t>
            </a:r>
            <a:r>
              <a:rPr lang="en-US" sz="1800" dirty="0"/>
              <a:t>– all incoming bits are checked whether </a:t>
            </a:r>
            <a:r>
              <a:rPr lang="en-US" sz="1800" u="sng" dirty="0"/>
              <a:t>proper parity is maintained or not</a:t>
            </a:r>
            <a:r>
              <a:rPr lang="en-US" sz="1800" dirty="0"/>
              <a:t>. If the </a:t>
            </a:r>
            <a:r>
              <a:rPr lang="en-US" sz="1800" u="sng" dirty="0"/>
              <a:t>checked parity </a:t>
            </a:r>
            <a:r>
              <a:rPr lang="en-US" sz="1800" dirty="0"/>
              <a:t>does not correspond to the adopted one, error detected. 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Sends an 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</a:rPr>
              <a:t>NAK 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signal to the sender</a:t>
            </a:r>
            <a:endParaRPr lang="en-US" sz="1800" dirty="0">
              <a:solidFill>
                <a:schemeClr val="accent1">
                  <a:lumMod val="50000"/>
                </a:schemeClr>
              </a:solidFill>
            </a:endParaRPr>
          </a:p>
          <a:p>
            <a:pPr lvl="2"/>
            <a:r>
              <a:rPr lang="en-US" sz="1800" dirty="0"/>
              <a:t>If matched with adopted parity, </a:t>
            </a:r>
            <a:r>
              <a:rPr lang="en-US" sz="1800" u="sng" dirty="0"/>
              <a:t>discard the parity bit, </a:t>
            </a:r>
            <a:r>
              <a:rPr lang="en-US" sz="1800" b="1" i="1" u="sng" dirty="0"/>
              <a:t>P</a:t>
            </a:r>
            <a:r>
              <a:rPr lang="en-US" sz="1800" u="sng" dirty="0"/>
              <a:t> </a:t>
            </a:r>
            <a:r>
              <a:rPr lang="en-US" sz="1800" dirty="0"/>
              <a:t>and sent to the original service. Sends </a:t>
            </a:r>
            <a:r>
              <a:rPr lang="en-US" sz="1800" b="1" dirty="0"/>
              <a:t>ACK </a:t>
            </a:r>
            <a:r>
              <a:rPr lang="en-US" sz="1800" dirty="0"/>
              <a:t>signal to the sender</a:t>
            </a:r>
            <a:endParaRPr lang="en-US" sz="1800" dirty="0"/>
          </a:p>
          <a:p>
            <a:r>
              <a:rPr lang="en-US" b="1" dirty="0">
                <a:solidFill>
                  <a:srgbClr val="FF0000"/>
                </a:solidFill>
              </a:rPr>
              <a:t>Note: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u="sng" dirty="0"/>
              <a:t>The parity method </a:t>
            </a:r>
            <a:r>
              <a:rPr lang="en-US" b="1" u="sng" dirty="0">
                <a:solidFill>
                  <a:srgbClr val="FFC000"/>
                </a:solidFill>
              </a:rPr>
              <a:t>only </a:t>
            </a:r>
            <a:r>
              <a:rPr lang="en-US" u="sng" dirty="0"/>
              <a:t>detects the presence of </a:t>
            </a:r>
            <a:r>
              <a:rPr lang="en-US" b="1" u="sng" dirty="0">
                <a:solidFill>
                  <a:srgbClr val="FFC000"/>
                </a:solidFill>
              </a:rPr>
              <a:t>odd number of errors</a:t>
            </a:r>
            <a:r>
              <a:rPr lang="en-US" u="sng" dirty="0"/>
              <a:t>. Even number of errors are undetectable. (</a:t>
            </a:r>
            <a:r>
              <a:rPr lang="en-US" u="sng" dirty="0">
                <a:solidFill>
                  <a:srgbClr val="FF0000"/>
                </a:solidFill>
              </a:rPr>
              <a:t>Why?</a:t>
            </a:r>
            <a:r>
              <a:rPr lang="en-US" u="sng" dirty="0"/>
              <a:t>)</a:t>
            </a:r>
            <a:endParaRPr lang="en-US" u="sn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500062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Error Detection Code: Approach</a:t>
            </a:r>
            <a:endParaRPr lang="en-US" b="1" i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Error Detection Code: Example # 1 </a:t>
            </a:r>
            <a:endParaRPr lang="en-US" b="1" i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511" y="2214300"/>
            <a:ext cx="3639389" cy="3753373"/>
          </a:xfr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164" y="2214300"/>
            <a:ext cx="4631793" cy="375337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78384" y="6036747"/>
            <a:ext cx="3207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* Even parity is considered here</a:t>
            </a:r>
            <a:endParaRPr lang="en-US" b="1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Error Detection Code: Example # 2</a:t>
            </a:r>
            <a:endParaRPr lang="en-US" b="1" i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14" name="Content Placeholder 1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012" y="2859998"/>
            <a:ext cx="7261976" cy="1265573"/>
          </a:xfrm>
        </p:spPr>
      </p:pic>
      <p:sp>
        <p:nvSpPr>
          <p:cNvPr id="15" name="TextBox 14"/>
          <p:cNvSpPr txBox="1"/>
          <p:nvPr/>
        </p:nvSpPr>
        <p:spPr>
          <a:xfrm>
            <a:off x="7380587" y="5191781"/>
            <a:ext cx="3852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* Parity bit is included in </a:t>
            </a:r>
            <a:r>
              <a:rPr lang="en-US" b="1" dirty="0"/>
              <a:t>MSB </a:t>
            </a:r>
            <a:r>
              <a:rPr lang="en-US" b="1" dirty="0">
                <a:solidFill>
                  <a:srgbClr val="FF0000"/>
                </a:solidFill>
              </a:rPr>
              <a:t>position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351338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Information </a:t>
            </a:r>
            <a:r>
              <a:rPr lang="en-US" dirty="0"/>
              <a:t>in binary format stored in </a:t>
            </a:r>
            <a:r>
              <a:rPr lang="en-US" b="1" dirty="0"/>
              <a:t>binary storage elements</a:t>
            </a:r>
            <a:r>
              <a:rPr lang="en-US" dirty="0"/>
              <a:t> (binary cell) for individual bits as a physical existence </a:t>
            </a:r>
            <a:endParaRPr lang="en-US" dirty="0"/>
          </a:p>
          <a:p>
            <a:pPr lvl="2"/>
            <a:r>
              <a:rPr lang="en-US" sz="2400" b="1" dirty="0">
                <a:solidFill>
                  <a:srgbClr val="00B050"/>
                </a:solidFill>
              </a:rPr>
              <a:t>Binary Cell</a:t>
            </a:r>
            <a:r>
              <a:rPr lang="en-US" sz="2400" dirty="0"/>
              <a:t> – having two stable states – store single bit of discrete information</a:t>
            </a:r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Example: </a:t>
            </a:r>
            <a:r>
              <a:rPr lang="en-US" dirty="0"/>
              <a:t>Binary cells as </a:t>
            </a:r>
            <a:r>
              <a:rPr lang="en-US" b="1" dirty="0">
                <a:solidFill>
                  <a:srgbClr val="002060"/>
                </a:solidFill>
              </a:rPr>
              <a:t>flip-flop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ferrite (magnetic) cores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punch card </a:t>
            </a:r>
            <a:r>
              <a:rPr lang="en-US" dirty="0"/>
              <a:t>with holes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518615"/>
            <a:ext cx="10852245" cy="1307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Binary Storage</a:t>
            </a:r>
            <a:endParaRPr lang="en-US" dirty="0">
              <a:latin typeface="+mn-lt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122278" y="3175604"/>
            <a:ext cx="9947444" cy="1651379"/>
            <a:chOff x="1161834" y="3480179"/>
            <a:chExt cx="8596315" cy="1651379"/>
          </a:xfrm>
        </p:grpSpPr>
        <p:sp>
          <p:nvSpPr>
            <p:cNvPr id="9" name="Rectangle 8"/>
            <p:cNvSpPr/>
            <p:nvPr/>
          </p:nvSpPr>
          <p:spPr>
            <a:xfrm>
              <a:off x="4845842" y="3480179"/>
              <a:ext cx="914400" cy="1651378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1bit Cell</a:t>
              </a:r>
              <a:endParaRPr lang="en-US" dirty="0"/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1161834" y="3480179"/>
              <a:ext cx="3372453" cy="1651379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Excitation signal</a:t>
              </a:r>
              <a:r>
                <a:rPr lang="en-US" dirty="0"/>
                <a:t> to set a state</a:t>
              </a:r>
              <a:endParaRPr lang="en-US" dirty="0"/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6071797" y="3480179"/>
              <a:ext cx="3686352" cy="1651378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Sensing physical mode </a:t>
              </a:r>
              <a:r>
                <a:rPr lang="en-US" dirty="0"/>
                <a:t>that differs between two states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Binary Storage: Examples</a:t>
            </a:r>
            <a:endParaRPr lang="en-US" b="1" i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159" y="2001031"/>
            <a:ext cx="4537881" cy="453788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896" y="2838924"/>
            <a:ext cx="3684895" cy="27849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269" y="2883554"/>
            <a:ext cx="1759291" cy="2764433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graphicFrame>
        <p:nvGraphicFramePr>
          <p:cNvPr id="13" name="Content Placeholder 12"/>
          <p:cNvGraphicFramePr>
            <a:graphicFrameLocks noGrp="1"/>
          </p:cNvGraphicFramePr>
          <p:nvPr>
            <p:ph idx="1"/>
          </p:nvPr>
        </p:nvGraphicFramePr>
        <p:xfrm>
          <a:off x="2209800" y="1825625"/>
          <a:ext cx="777240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518615"/>
            <a:ext cx="10852245" cy="1307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Binary Storage: Memory Hierarchy 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999" y="1825624"/>
            <a:ext cx="11592261" cy="4530725"/>
          </a:xfrm>
        </p:spPr>
        <p:txBody>
          <a:bodyPr>
            <a:normAutofit/>
          </a:bodyPr>
          <a:lstStyle/>
          <a:p>
            <a:r>
              <a:rPr lang="en-US" b="1" dirty="0"/>
              <a:t>Register</a:t>
            </a:r>
            <a:r>
              <a:rPr lang="en-US" dirty="0"/>
              <a:t> – a</a:t>
            </a:r>
            <a:r>
              <a:rPr lang="en-US" b="1" dirty="0"/>
              <a:t> group </a:t>
            </a:r>
            <a:r>
              <a:rPr lang="en-US" dirty="0"/>
              <a:t>of </a:t>
            </a:r>
            <a:r>
              <a:rPr lang="en-US" u="sng" dirty="0"/>
              <a:t>binary cells</a:t>
            </a:r>
            <a:endParaRPr lang="en-US" u="sng" dirty="0"/>
          </a:p>
          <a:p>
            <a:pPr lvl="1"/>
            <a:r>
              <a:rPr lang="en-US" b="1" i="1" dirty="0"/>
              <a:t>n</a:t>
            </a:r>
            <a:r>
              <a:rPr lang="en-US" b="1" dirty="0"/>
              <a:t>-cell register</a:t>
            </a:r>
            <a:r>
              <a:rPr lang="en-US" dirty="0"/>
              <a:t> – store </a:t>
            </a:r>
            <a:r>
              <a:rPr lang="en-US" b="1" i="1" dirty="0"/>
              <a:t>n</a:t>
            </a:r>
            <a:r>
              <a:rPr lang="en-US" dirty="0"/>
              <a:t> bit discrete information of any combination of 0s and 1s</a:t>
            </a:r>
            <a:endParaRPr lang="en-US" dirty="0"/>
          </a:p>
          <a:p>
            <a:r>
              <a:rPr lang="en-US" b="1" dirty="0"/>
              <a:t>A “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state</a:t>
            </a:r>
            <a:r>
              <a:rPr lang="en-US" b="1" dirty="0"/>
              <a:t>” of a </a:t>
            </a:r>
            <a:r>
              <a:rPr lang="en-US" b="1" dirty="0">
                <a:solidFill>
                  <a:srgbClr val="00B050"/>
                </a:solidFill>
              </a:rPr>
              <a:t>register </a:t>
            </a:r>
            <a:r>
              <a:rPr lang="en-US" dirty="0"/>
              <a:t>– an </a:t>
            </a:r>
            <a:r>
              <a:rPr lang="en-US" b="1" dirty="0">
                <a:solidFill>
                  <a:srgbClr val="FF0000"/>
                </a:solidFill>
              </a:rPr>
              <a:t>n-tuple number (???)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of 1s and 0s (</a:t>
            </a:r>
            <a:r>
              <a:rPr lang="en-US" b="1" i="1" dirty="0"/>
              <a:t>i.e., </a:t>
            </a:r>
            <a:r>
              <a:rPr lang="en-US" dirty="0"/>
              <a:t>in binary) </a:t>
            </a:r>
            <a:endParaRPr lang="en-US" dirty="0"/>
          </a:p>
          <a:p>
            <a:pPr lvl="1"/>
            <a:r>
              <a:rPr lang="en-US" dirty="0"/>
              <a:t>Each bit designating the </a:t>
            </a:r>
            <a:r>
              <a:rPr lang="en-US" b="1" dirty="0"/>
              <a:t>state </a:t>
            </a:r>
            <a:r>
              <a:rPr lang="en-US" dirty="0"/>
              <a:t>of </a:t>
            </a:r>
            <a:r>
              <a:rPr lang="en-US" b="1" dirty="0">
                <a:solidFill>
                  <a:srgbClr val="00B050"/>
                </a:solidFill>
              </a:rPr>
              <a:t>one cell </a:t>
            </a:r>
            <a:r>
              <a:rPr lang="en-US" dirty="0"/>
              <a:t>in the register </a:t>
            </a:r>
            <a:endParaRPr lang="en-US" dirty="0"/>
          </a:p>
          <a:p>
            <a:r>
              <a:rPr lang="en-US" b="1" dirty="0"/>
              <a:t>Content of a register</a:t>
            </a:r>
            <a:r>
              <a:rPr lang="en-US" dirty="0"/>
              <a:t> – can be defined as a </a:t>
            </a:r>
            <a:r>
              <a:rPr lang="en-US" b="1" dirty="0">
                <a:solidFill>
                  <a:srgbClr val="00B050"/>
                </a:solidFill>
              </a:rPr>
              <a:t>function</a:t>
            </a:r>
            <a:r>
              <a:rPr lang="en-US" dirty="0"/>
              <a:t> of the </a:t>
            </a:r>
            <a:r>
              <a:rPr lang="en-US" b="1" dirty="0">
                <a:solidFill>
                  <a:srgbClr val="FF0000"/>
                </a:solidFill>
              </a:rPr>
              <a:t>interpretation of stored information</a:t>
            </a:r>
            <a:r>
              <a:rPr lang="en-US" dirty="0"/>
              <a:t> in it.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500062"/>
            <a:ext cx="108522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Registers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4"/>
            <a:ext cx="11430000" cy="4530725"/>
          </a:xfrm>
        </p:spPr>
        <p:txBody>
          <a:bodyPr>
            <a:normAutofit/>
          </a:bodyPr>
          <a:lstStyle/>
          <a:p>
            <a:r>
              <a:rPr lang="en-US" b="1" dirty="0"/>
              <a:t>Example</a:t>
            </a:r>
            <a:r>
              <a:rPr lang="en-US" dirty="0"/>
              <a:t> of 16 bits register: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r>
              <a:rPr lang="en-US" dirty="0"/>
              <a:t>A register with 16 cells can be one of the </a:t>
            </a:r>
            <a:r>
              <a:rPr lang="en-US" b="1" i="1" dirty="0"/>
              <a:t>2</a:t>
            </a:r>
            <a:r>
              <a:rPr lang="en-US" b="1" i="1" baseline="30000" dirty="0"/>
              <a:t>16</a:t>
            </a:r>
            <a:r>
              <a:rPr lang="en-US" b="1" i="1" dirty="0"/>
              <a:t> </a:t>
            </a:r>
            <a:r>
              <a:rPr lang="en-US" dirty="0"/>
              <a:t>possible </a:t>
            </a:r>
            <a:r>
              <a:rPr lang="en-US" b="1" dirty="0">
                <a:solidFill>
                  <a:srgbClr val="00B050"/>
                </a:solidFill>
              </a:rPr>
              <a:t>states 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Same bit configuration </a:t>
            </a:r>
            <a:r>
              <a:rPr lang="en-US" dirty="0">
                <a:solidFill>
                  <a:srgbClr val="FF0000"/>
                </a:solidFill>
              </a:rPr>
              <a:t>may be </a:t>
            </a:r>
            <a:r>
              <a:rPr lang="en-US" b="1" dirty="0">
                <a:solidFill>
                  <a:srgbClr val="FF0000"/>
                </a:solidFill>
              </a:rPr>
              <a:t>interpreted differently </a:t>
            </a:r>
            <a:r>
              <a:rPr lang="en-US" dirty="0">
                <a:solidFill>
                  <a:srgbClr val="FF0000"/>
                </a:solidFill>
              </a:rPr>
              <a:t>for different types of information depending on the application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Types should be synched with the computer – </a:t>
            </a:r>
            <a:r>
              <a:rPr lang="en-US" b="1" i="1" dirty="0"/>
              <a:t>e.g., </a:t>
            </a:r>
            <a:r>
              <a:rPr lang="en-US" dirty="0"/>
              <a:t>string, integer, BCD, Excess-3 floating, image, audio, etc.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500062"/>
            <a:ext cx="108522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Registers…</a:t>
            </a:r>
            <a:endParaRPr lang="en-US" dirty="0">
              <a:latin typeface="+mn-l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331" y="2469587"/>
            <a:ext cx="5979338" cy="1080933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351338"/>
          </a:xfrm>
        </p:spPr>
        <p:txBody>
          <a:bodyPr/>
          <a:lstStyle/>
          <a:p>
            <a:r>
              <a:rPr lang="en-US" dirty="0"/>
              <a:t>Registers in different components:</a:t>
            </a:r>
            <a:endParaRPr lang="en-US" dirty="0"/>
          </a:p>
          <a:p>
            <a:pPr lvl="1"/>
            <a:r>
              <a:rPr lang="en-US" b="1" dirty="0"/>
              <a:t>Processor Unit (ALU): </a:t>
            </a:r>
            <a:endParaRPr lang="en-US" b="1" dirty="0"/>
          </a:p>
          <a:p>
            <a:pPr lvl="2"/>
            <a:r>
              <a:rPr lang="en-US" dirty="0">
                <a:solidFill>
                  <a:srgbClr val="FF0000"/>
                </a:solidFill>
              </a:rPr>
              <a:t>Store operands </a:t>
            </a:r>
            <a:r>
              <a:rPr lang="en-US" dirty="0"/>
              <a:t>upon which operations are performed fetched from memory or I/O devices</a:t>
            </a:r>
            <a:endParaRPr lang="en-US" dirty="0"/>
          </a:p>
          <a:p>
            <a:pPr lvl="1"/>
            <a:r>
              <a:rPr lang="en-US" b="1" dirty="0"/>
              <a:t>Control Unit:</a:t>
            </a:r>
            <a:r>
              <a:rPr lang="en-US" dirty="0"/>
              <a:t> </a:t>
            </a:r>
            <a:endParaRPr lang="en-US" dirty="0"/>
          </a:p>
          <a:p>
            <a:pPr lvl="2"/>
            <a:r>
              <a:rPr lang="en-US" dirty="0">
                <a:solidFill>
                  <a:srgbClr val="FF0000"/>
                </a:solidFill>
              </a:rPr>
              <a:t>Keep track </a:t>
            </a:r>
            <a:r>
              <a:rPr lang="en-US" dirty="0"/>
              <a:t>of various computer resources (</a:t>
            </a:r>
            <a:r>
              <a:rPr lang="en-US" b="1" i="1" dirty="0"/>
              <a:t>i.e., </a:t>
            </a:r>
            <a:r>
              <a:rPr lang="en-US" dirty="0"/>
              <a:t>supervision) as well as</a:t>
            </a:r>
            <a:r>
              <a:rPr lang="en-US" dirty="0">
                <a:solidFill>
                  <a:srgbClr val="FF0000"/>
                </a:solidFill>
              </a:rPr>
              <a:t> store </a:t>
            </a:r>
            <a:r>
              <a:rPr lang="en-US" dirty="0"/>
              <a:t>control and status words for different components of computer</a:t>
            </a:r>
            <a:endParaRPr lang="en-US" dirty="0"/>
          </a:p>
          <a:p>
            <a:pPr lvl="1"/>
            <a:r>
              <a:rPr lang="en-US" b="1" dirty="0"/>
              <a:t>I/O devices: </a:t>
            </a:r>
            <a:endParaRPr lang="en-US" b="1" dirty="0"/>
          </a:p>
          <a:p>
            <a:pPr lvl="2"/>
            <a:r>
              <a:rPr lang="en-US" dirty="0">
                <a:solidFill>
                  <a:srgbClr val="FF0000"/>
                </a:solidFill>
              </a:rPr>
              <a:t>Store information </a:t>
            </a:r>
            <a:r>
              <a:rPr lang="en-US" dirty="0"/>
              <a:t>to be transferred to or from the I/O devices. Also known as “</a:t>
            </a:r>
            <a:r>
              <a:rPr lang="en-US" b="1" dirty="0"/>
              <a:t>buffer</a:t>
            </a:r>
            <a:r>
              <a:rPr lang="en-US" dirty="0"/>
              <a:t>”</a:t>
            </a:r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To process binary information</a:t>
            </a:r>
            <a:r>
              <a:rPr lang="en-US" dirty="0"/>
              <a:t>, a computer must have:</a:t>
            </a:r>
            <a:endParaRPr lang="en-US" dirty="0"/>
          </a:p>
          <a:p>
            <a:pPr lvl="1"/>
            <a:r>
              <a:rPr lang="en-US" b="1" dirty="0"/>
              <a:t>Storages </a:t>
            </a:r>
            <a:r>
              <a:rPr lang="en-US" dirty="0"/>
              <a:t>which hold the data to be processed (</a:t>
            </a:r>
            <a:r>
              <a:rPr lang="en-US" b="1" dirty="0">
                <a:solidFill>
                  <a:srgbClr val="FF0000"/>
                </a:solidFill>
              </a:rPr>
              <a:t>Register</a:t>
            </a:r>
            <a:r>
              <a:rPr lang="en-US" dirty="0"/>
              <a:t>)</a:t>
            </a:r>
            <a:endParaRPr lang="en-US" dirty="0"/>
          </a:p>
          <a:p>
            <a:pPr lvl="1"/>
            <a:r>
              <a:rPr lang="en-US" b="1" dirty="0"/>
              <a:t>Circuit elements </a:t>
            </a:r>
            <a:r>
              <a:rPr lang="en-US" dirty="0"/>
              <a:t>which manipulate data (</a:t>
            </a:r>
            <a:r>
              <a:rPr lang="en-US" b="1" dirty="0">
                <a:solidFill>
                  <a:srgbClr val="FF0000"/>
                </a:solidFill>
              </a:rPr>
              <a:t>Logic circuit – ALU</a:t>
            </a:r>
            <a:r>
              <a:rPr lang="en-US" dirty="0"/>
              <a:t>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500062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Register: Types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Transfer of Information among Registers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57804" y="5987018"/>
            <a:ext cx="2517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Register Level Operation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idx="1"/>
          </p:nvPr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1495591"/>
            <a:ext cx="5029200" cy="5190793"/>
          </a:xfr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Example of Binary Information Processing</a:t>
            </a:r>
            <a:endParaRPr lang="en-US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48983" y="5987018"/>
            <a:ext cx="253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Register Level Operation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idx="1"/>
          </p:nvPr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860" y="1565970"/>
            <a:ext cx="4643700" cy="5155505"/>
          </a:xfr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653215" cy="4530725"/>
          </a:xfrm>
        </p:spPr>
        <p:txBody>
          <a:bodyPr>
            <a:normAutofit/>
          </a:bodyPr>
          <a:lstStyle/>
          <a:p>
            <a:r>
              <a:rPr lang="en-US" b="1" dirty="0"/>
              <a:t>Binary logic</a:t>
            </a:r>
            <a:r>
              <a:rPr lang="en-US" dirty="0"/>
              <a:t> consists of binary </a:t>
            </a:r>
            <a:r>
              <a:rPr lang="en-US" b="1" dirty="0">
                <a:solidFill>
                  <a:srgbClr val="FF0000"/>
                </a:solidFill>
              </a:rPr>
              <a:t>variables </a:t>
            </a:r>
            <a:r>
              <a:rPr lang="en-US" dirty="0"/>
              <a:t>and a set of </a:t>
            </a:r>
            <a:r>
              <a:rPr lang="en-US" b="1" dirty="0">
                <a:solidFill>
                  <a:srgbClr val="0070C0"/>
                </a:solidFill>
              </a:rPr>
              <a:t>logical operations</a:t>
            </a:r>
            <a:endParaRPr lang="en-US" b="1" dirty="0">
              <a:solidFill>
                <a:srgbClr val="0070C0"/>
              </a:solidFill>
            </a:endParaRPr>
          </a:p>
          <a:p>
            <a:pPr lvl="1"/>
            <a:r>
              <a:rPr lang="en-US" dirty="0"/>
              <a:t>Variables can be designated by letters from English alphabet</a:t>
            </a:r>
            <a:endParaRPr lang="en-US" b="1" dirty="0"/>
          </a:p>
          <a:p>
            <a:pPr lvl="1"/>
            <a:r>
              <a:rPr lang="en-US" dirty="0"/>
              <a:t>Deals with </a:t>
            </a:r>
            <a:r>
              <a:rPr lang="en-US" b="1" dirty="0">
                <a:solidFill>
                  <a:srgbClr val="0070C0"/>
                </a:solidFill>
              </a:rPr>
              <a:t>two discrete values </a:t>
            </a:r>
            <a:r>
              <a:rPr lang="en-US" b="1" dirty="0">
                <a:solidFill>
                  <a:srgbClr val="00B050"/>
                </a:solidFill>
              </a:rPr>
              <a:t>(binary)</a:t>
            </a:r>
            <a:endParaRPr lang="en-US" b="1" dirty="0">
              <a:solidFill>
                <a:srgbClr val="00B050"/>
              </a:solidFill>
            </a:endParaRPr>
          </a:p>
          <a:p>
            <a:pPr lvl="2"/>
            <a:r>
              <a:rPr lang="en-US" sz="2400" dirty="0"/>
              <a:t>Values can be defined as either </a:t>
            </a:r>
            <a:r>
              <a:rPr lang="en-US" sz="2400" b="1" dirty="0"/>
              <a:t>true or false</a:t>
            </a:r>
            <a:r>
              <a:rPr lang="en-US" sz="2400" dirty="0"/>
              <a:t>, </a:t>
            </a:r>
            <a:r>
              <a:rPr lang="en-US" sz="2400" b="1" dirty="0"/>
              <a:t>yes or no</a:t>
            </a:r>
            <a:r>
              <a:rPr lang="en-US" sz="2400" dirty="0"/>
              <a:t> and so on</a:t>
            </a:r>
            <a:endParaRPr lang="en-US" sz="2400" dirty="0"/>
          </a:p>
          <a:p>
            <a:r>
              <a:rPr lang="en-US" b="1" u="sng" dirty="0">
                <a:solidFill>
                  <a:srgbClr val="FF0000"/>
                </a:solidFill>
              </a:rPr>
              <a:t>Important: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Binary Logic </a:t>
            </a:r>
            <a:r>
              <a:rPr lang="en-US" dirty="0"/>
              <a:t>and </a:t>
            </a:r>
            <a:r>
              <a:rPr lang="en-US" b="1" dirty="0"/>
              <a:t>Binary Arithmetic </a:t>
            </a:r>
            <a:r>
              <a:rPr lang="en-US" dirty="0"/>
              <a:t>are not same</a:t>
            </a:r>
            <a:r>
              <a:rPr lang="en-US" dirty="0">
                <a:solidFill>
                  <a:srgbClr val="FF0000"/>
                </a:solidFill>
              </a:rPr>
              <a:t>!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b="1" dirty="0"/>
              <a:t>Binary Logic </a:t>
            </a:r>
            <a:r>
              <a:rPr lang="en-US" dirty="0"/>
              <a:t>deals with only logic (1+1=1)</a:t>
            </a:r>
            <a:endParaRPr lang="en-US" dirty="0"/>
          </a:p>
          <a:p>
            <a:pPr lvl="2"/>
            <a:r>
              <a:rPr lang="en-US" dirty="0"/>
              <a:t>All variables represent any of the </a:t>
            </a:r>
            <a:r>
              <a:rPr lang="en-US" b="1" dirty="0"/>
              <a:t>two discrete values </a:t>
            </a:r>
            <a:endParaRPr lang="en-US" b="1" dirty="0"/>
          </a:p>
          <a:p>
            <a:pPr lvl="1"/>
            <a:r>
              <a:rPr lang="en-US" b="1" dirty="0"/>
              <a:t>Binary Arithmetic </a:t>
            </a:r>
            <a:r>
              <a:rPr lang="en-US" dirty="0"/>
              <a:t>deals with binary number (1+1=10)</a:t>
            </a:r>
            <a:endParaRPr lang="en-US" dirty="0"/>
          </a:p>
          <a:p>
            <a:pPr lvl="2"/>
            <a:r>
              <a:rPr lang="en-US" dirty="0"/>
              <a:t>All variables represent a </a:t>
            </a:r>
            <a:r>
              <a:rPr lang="en-US" b="1" dirty="0"/>
              <a:t>binary number </a:t>
            </a:r>
            <a:r>
              <a:rPr lang="en-US" dirty="0"/>
              <a:t>of one or more digits</a:t>
            </a:r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Binary Logic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825624"/>
                <a:ext cx="11430000" cy="453072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AND: </a:t>
                </a:r>
                <a:endParaRPr lang="en-US" b="1" dirty="0"/>
              </a:p>
              <a:p>
                <a:pPr lvl="2"/>
                <a:r>
                  <a:rPr lang="en-US" b="1" dirty="0">
                    <a:solidFill>
                      <a:srgbClr val="00B050"/>
                    </a:solidFill>
                  </a:rPr>
                  <a:t>Denoted</a:t>
                </a:r>
                <a:r>
                  <a:rPr lang="en-US" b="1" dirty="0"/>
                  <a:t> </a:t>
                </a:r>
                <a:r>
                  <a:rPr lang="en-US" dirty="0"/>
                  <a:t>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i="1" dirty="0"/>
                  <a:t> </a:t>
                </a:r>
                <a:endParaRPr lang="en-US" i="1" dirty="0"/>
              </a:p>
              <a:p>
                <a:pPr lvl="2"/>
                <a:r>
                  <a:rPr lang="en-US" b="1" dirty="0">
                    <a:solidFill>
                      <a:srgbClr val="00B050"/>
                    </a:solidFill>
                  </a:rPr>
                  <a:t>Output</a:t>
                </a:r>
                <a:r>
                  <a:rPr lang="en-US" b="1" dirty="0"/>
                  <a:t> </a:t>
                </a:r>
                <a:r>
                  <a:rPr lang="en-US" dirty="0"/>
                  <a:t>will be true when both of the inputs are true. </a:t>
                </a:r>
                <a:endParaRPr lang="en-US" dirty="0"/>
              </a:p>
              <a:p>
                <a:pPr lvl="2"/>
                <a:r>
                  <a:rPr lang="en-US" dirty="0">
                    <a:solidFill>
                      <a:srgbClr val="FF0000"/>
                    </a:solidFill>
                  </a:rPr>
                  <a:t>Similar as multiplication in ordinary arithmetic</a:t>
                </a:r>
                <a:endParaRPr lang="en-US" dirty="0"/>
              </a:p>
              <a:p>
                <a:r>
                  <a:rPr lang="en-US" b="1" dirty="0"/>
                  <a:t>OR: </a:t>
                </a:r>
                <a:endParaRPr lang="en-US" b="1" dirty="0"/>
              </a:p>
              <a:p>
                <a:pPr lvl="2"/>
                <a:r>
                  <a:rPr lang="en-US" b="1" dirty="0">
                    <a:solidFill>
                      <a:srgbClr val="00B050"/>
                    </a:solidFill>
                  </a:rPr>
                  <a:t>Denoted </a:t>
                </a:r>
                <a:r>
                  <a:rPr lang="en-US" dirty="0"/>
                  <a:t>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  <a:endParaRPr lang="en-US" dirty="0"/>
              </a:p>
              <a:p>
                <a:pPr lvl="2"/>
                <a:r>
                  <a:rPr lang="en-US" b="1" dirty="0">
                    <a:solidFill>
                      <a:srgbClr val="00B050"/>
                    </a:solidFill>
                  </a:rPr>
                  <a:t>Output</a:t>
                </a:r>
                <a:r>
                  <a:rPr lang="en-US" dirty="0"/>
                  <a:t> will be true when any of the inputs is true. </a:t>
                </a:r>
                <a:endParaRPr lang="en-US" dirty="0"/>
              </a:p>
              <a:p>
                <a:pPr lvl="2"/>
                <a:r>
                  <a:rPr lang="en-US" dirty="0"/>
                  <a:t>Similar as </a:t>
                </a:r>
                <a:r>
                  <a:rPr lang="en-US" dirty="0">
                    <a:solidFill>
                      <a:srgbClr val="FF0000"/>
                    </a:solidFill>
                  </a:rPr>
                  <a:t>addition in ordinary arithmetic</a:t>
                </a:r>
                <a:endParaRPr lang="en-US" dirty="0"/>
              </a:p>
              <a:p>
                <a:r>
                  <a:rPr lang="en-US" b="1" dirty="0"/>
                  <a:t>NOT:</a:t>
                </a:r>
                <a:endParaRPr lang="en-US" b="1" dirty="0">
                  <a:solidFill>
                    <a:srgbClr val="00B050"/>
                  </a:solidFill>
                </a:endParaRPr>
              </a:p>
              <a:p>
                <a:pPr lvl="2"/>
                <a:r>
                  <a:rPr lang="en-US" b="1" dirty="0">
                    <a:solidFill>
                      <a:srgbClr val="00B050"/>
                    </a:solidFill>
                  </a:rPr>
                  <a:t>Denoted </a:t>
                </a:r>
                <a:r>
                  <a:rPr lang="en-US" dirty="0"/>
                  <a:t>as prime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or overbar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</m:d>
                  </m:oMath>
                </a14:m>
                <a:endParaRPr lang="en-US" i="1" dirty="0"/>
              </a:p>
              <a:p>
                <a:pPr lvl="2"/>
                <a:r>
                  <a:rPr lang="en-US" b="1" dirty="0">
                    <a:solidFill>
                      <a:srgbClr val="00B050"/>
                    </a:solidFill>
                  </a:rPr>
                  <a:t>Output</a:t>
                </a:r>
                <a:r>
                  <a:rPr lang="en-US" dirty="0"/>
                  <a:t> will not be equal to x. </a:t>
                </a:r>
                <a:endParaRPr lang="en-US" dirty="0"/>
              </a:p>
              <a:p>
                <a:pPr lvl="2"/>
                <a:r>
                  <a:rPr lang="en-US" dirty="0"/>
                  <a:t>Similar as </a:t>
                </a:r>
                <a:r>
                  <a:rPr lang="en-US" dirty="0">
                    <a:solidFill>
                      <a:srgbClr val="FF0000"/>
                    </a:solidFill>
                  </a:rPr>
                  <a:t>negation</a:t>
                </a:r>
                <a:r>
                  <a:rPr lang="en-US" dirty="0"/>
                  <a:t> in ordinary arithmetic 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825624"/>
                <a:ext cx="11430000" cy="4530725"/>
              </a:xfrm>
              <a:blipFill rotWithShape="1">
                <a:blip r:embed="rId1"/>
                <a:stretch>
                  <a:fillRect t="-645" b="1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500062"/>
            <a:ext cx="108522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Binary Logic: Basic Logic Operations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351338"/>
          </a:xfrm>
        </p:spPr>
        <p:txBody>
          <a:bodyPr/>
          <a:lstStyle/>
          <a:p>
            <a:r>
              <a:rPr lang="en-US" b="1" dirty="0"/>
              <a:t>Truth Table:</a:t>
            </a:r>
            <a:r>
              <a:rPr lang="en-US" dirty="0"/>
              <a:t> A table consisting of all possible combinations of the input variables along with the corresponding output based on the definition of the logical operation. 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500062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Binary Logic: Truth Table</a:t>
            </a:r>
            <a:endParaRPr lang="en-US" dirty="0">
              <a:latin typeface="+mn-lt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7190" y="3151188"/>
            <a:ext cx="6617619" cy="2779943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4038600" y="2494961"/>
            <a:ext cx="3908666" cy="1868077"/>
            <a:chOff x="4038600" y="2569045"/>
            <a:chExt cx="3908666" cy="1868077"/>
          </a:xfrm>
        </p:grpSpPr>
        <p:grpSp>
          <p:nvGrpSpPr>
            <p:cNvPr id="9" name="Group 8"/>
            <p:cNvGrpSpPr/>
            <p:nvPr/>
          </p:nvGrpSpPr>
          <p:grpSpPr>
            <a:xfrm>
              <a:off x="4038600" y="2682390"/>
              <a:ext cx="1464944" cy="1754732"/>
              <a:chOff x="4038600" y="2682390"/>
              <a:chExt cx="1464944" cy="1754732"/>
            </a:xfrm>
          </p:grpSpPr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38600" y="2682390"/>
                <a:ext cx="1464944" cy="1318450"/>
              </a:xfrm>
              <a:prstGeom prst="rect">
                <a:avLst/>
              </a:prstGeom>
            </p:spPr>
          </p:pic>
          <p:sp>
            <p:nvSpPr>
              <p:cNvPr id="13" name="TextBox 12"/>
              <p:cNvSpPr txBox="1"/>
              <p:nvPr/>
            </p:nvSpPr>
            <p:spPr>
              <a:xfrm>
                <a:off x="4354130" y="4067790"/>
                <a:ext cx="9002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Logic 1</a:t>
                </a:r>
                <a:endParaRPr lang="en-US" b="1" dirty="0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6668924" y="2569045"/>
              <a:ext cx="1278342" cy="1868077"/>
              <a:chOff x="6668924" y="2569045"/>
              <a:chExt cx="1278342" cy="1868077"/>
            </a:xfrm>
          </p:grpSpPr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68924" y="2569045"/>
                <a:ext cx="1278342" cy="1498745"/>
              </a:xfrm>
              <a:prstGeom prst="rect">
                <a:avLst/>
              </a:prstGeom>
            </p:spPr>
          </p:pic>
          <p:sp>
            <p:nvSpPr>
              <p:cNvPr id="14" name="TextBox 13"/>
              <p:cNvSpPr txBox="1"/>
              <p:nvPr/>
            </p:nvSpPr>
            <p:spPr>
              <a:xfrm>
                <a:off x="6889550" y="4067790"/>
                <a:ext cx="8370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Logic 0</a:t>
                </a:r>
                <a:endParaRPr lang="en-US" b="1" dirty="0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Application of Binary logic </a:t>
            </a:r>
            <a:r>
              <a:rPr lang="en-US" dirty="0"/>
              <a:t>– simple switching circuits (made of switches)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Binary logic variable </a:t>
            </a:r>
            <a:r>
              <a:rPr lang="en-US" b="1" i="1" dirty="0">
                <a:solidFill>
                  <a:srgbClr val="FF0000"/>
                </a:solidFill>
              </a:rPr>
              <a:t>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can be represented as a </a:t>
            </a:r>
            <a:r>
              <a:rPr lang="en-US" b="1" dirty="0">
                <a:solidFill>
                  <a:srgbClr val="FF0000"/>
                </a:solidFill>
              </a:rPr>
              <a:t>switch </a:t>
            </a:r>
            <a:r>
              <a:rPr lang="en-US" b="1" i="1" dirty="0">
                <a:solidFill>
                  <a:srgbClr val="FF0000"/>
                </a:solidFill>
              </a:rPr>
              <a:t>A</a:t>
            </a:r>
            <a:r>
              <a:rPr lang="en-US" dirty="0"/>
              <a:t> as following 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Electronic digital circuit uses </a:t>
            </a:r>
            <a:r>
              <a:rPr lang="en-US" b="1" dirty="0">
                <a:solidFill>
                  <a:srgbClr val="0070C0"/>
                </a:solidFill>
              </a:rPr>
              <a:t>transistor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as switches – so named as </a:t>
            </a:r>
            <a:r>
              <a:rPr lang="en-US" dirty="0">
                <a:solidFill>
                  <a:srgbClr val="FF0000"/>
                </a:solidFill>
              </a:rPr>
              <a:t>switching circuit</a:t>
            </a:r>
            <a:r>
              <a:rPr lang="en-US" dirty="0"/>
              <a:t>.</a:t>
            </a:r>
            <a:endParaRPr lang="en-US" dirty="0"/>
          </a:p>
          <a:p>
            <a:pPr lvl="1"/>
            <a:r>
              <a:rPr lang="en-US" dirty="0"/>
              <a:t>Conduct current – </a:t>
            </a:r>
            <a:r>
              <a:rPr lang="en-US" b="1" dirty="0"/>
              <a:t>switch on</a:t>
            </a:r>
            <a:endParaRPr lang="en-US" b="1" dirty="0"/>
          </a:p>
          <a:p>
            <a:pPr lvl="1"/>
            <a:r>
              <a:rPr lang="en-US" dirty="0"/>
              <a:t>Not conducting current – </a:t>
            </a:r>
            <a:r>
              <a:rPr lang="en-US" b="1" dirty="0"/>
              <a:t>switch off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500062"/>
            <a:ext cx="108522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Switching Circuits and Binary Signal</a:t>
            </a:r>
            <a:endParaRPr lang="en-US" dirty="0">
              <a:latin typeface="+mn-lt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6639" y="5216843"/>
            <a:ext cx="1296959" cy="13678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  <a14:imgEffect>
                      <a14:saturation sat="20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632" y="1705894"/>
            <a:ext cx="3088109" cy="2593151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Switching Circuits: Basic Logic Operations </a:t>
            </a:r>
            <a:endParaRPr lang="en-US" dirty="0">
              <a:latin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258" y="1566187"/>
            <a:ext cx="3069044" cy="273285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027594" y="4314251"/>
            <a:ext cx="1476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L = A + B (</a:t>
            </a:r>
            <a:r>
              <a:rPr lang="en-US" b="1" dirty="0">
                <a:solidFill>
                  <a:srgbClr val="FF0000"/>
                </a:solidFill>
              </a:rPr>
              <a:t>OR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420939" y="4314251"/>
            <a:ext cx="15744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L = A . B (</a:t>
            </a:r>
            <a:r>
              <a:rPr lang="en-US" b="1" dirty="0">
                <a:solidFill>
                  <a:srgbClr val="FF0000"/>
                </a:solidFill>
              </a:rPr>
              <a:t>AND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5362075" y="5987018"/>
            <a:ext cx="12975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L = A‘ (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b="1" dirty="0"/>
              <a:t>)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4571627" y="4656534"/>
            <a:ext cx="2946588" cy="1342325"/>
            <a:chOff x="4571627" y="4656534"/>
            <a:chExt cx="2946588" cy="1342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1627" y="4656534"/>
              <a:ext cx="2539232" cy="1342325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6907150" y="5151663"/>
              <a:ext cx="61106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b="1" dirty="0"/>
                <a:t>bulb</a:t>
              </a:r>
              <a:endParaRPr lang="en-US" b="1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763202" y="5063246"/>
              <a:ext cx="731520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/>
                <a:t>Switch </a:t>
              </a:r>
              <a:endParaRPr lang="en-US" sz="1400" b="1" dirty="0"/>
            </a:p>
            <a:p>
              <a:pPr algn="ctr"/>
              <a:r>
                <a:rPr lang="en-US" sz="1400" b="1" dirty="0"/>
                <a:t>A</a:t>
              </a:r>
              <a:endParaRPr lang="en-US" sz="1400" b="1" dirty="0"/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b="1" dirty="0"/>
              <a:t>Switches </a:t>
            </a:r>
            <a:r>
              <a:rPr lang="en-US" dirty="0"/>
              <a:t>control electrical </a:t>
            </a:r>
            <a:r>
              <a:rPr lang="en-US" b="1" dirty="0"/>
              <a:t>signal </a:t>
            </a:r>
            <a:r>
              <a:rPr lang="en-US" dirty="0"/>
              <a:t>based on current or voltage</a:t>
            </a:r>
            <a:endParaRPr lang="en-US" dirty="0"/>
          </a:p>
          <a:p>
            <a:pPr lvl="1"/>
            <a:r>
              <a:rPr lang="en-US" b="1" dirty="0"/>
              <a:t>Voltage </a:t>
            </a:r>
            <a:r>
              <a:rPr lang="en-US" dirty="0"/>
              <a:t>operated/controlled circuit – </a:t>
            </a:r>
            <a:r>
              <a:rPr lang="en-US" dirty="0">
                <a:solidFill>
                  <a:srgbClr val="FF0000"/>
                </a:solidFill>
              </a:rPr>
              <a:t>two separate voltage level</a:t>
            </a:r>
            <a:endParaRPr lang="en-US" dirty="0">
              <a:solidFill>
                <a:srgbClr val="FF0000"/>
              </a:solidFill>
            </a:endParaRPr>
          </a:p>
          <a:p>
            <a:pPr lvl="3"/>
            <a:r>
              <a:rPr lang="en-US" dirty="0"/>
              <a:t>Output depends on input voltage</a:t>
            </a:r>
            <a:endParaRPr lang="en-US" dirty="0"/>
          </a:p>
          <a:p>
            <a:pPr lvl="3"/>
            <a:r>
              <a:rPr lang="en-US" dirty="0"/>
              <a:t>Example of Switch: </a:t>
            </a:r>
            <a:r>
              <a:rPr lang="en-US" b="1" dirty="0"/>
              <a:t>FET (Field Effect Transistor)</a:t>
            </a:r>
            <a:endParaRPr lang="en-US" b="1" dirty="0"/>
          </a:p>
          <a:p>
            <a:pPr lvl="1"/>
            <a:r>
              <a:rPr lang="en-US" b="1" dirty="0"/>
              <a:t>Current </a:t>
            </a:r>
            <a:r>
              <a:rPr lang="en-US" dirty="0"/>
              <a:t>operated/controlled circuit – (in transistors) cut off or saturation states</a:t>
            </a:r>
            <a:endParaRPr lang="en-US" dirty="0"/>
          </a:p>
          <a:p>
            <a:pPr lvl="3"/>
            <a:r>
              <a:rPr lang="en-US" dirty="0"/>
              <a:t>Output depends on input voltage</a:t>
            </a:r>
            <a:endParaRPr lang="en-US" dirty="0"/>
          </a:p>
          <a:p>
            <a:pPr lvl="3"/>
            <a:r>
              <a:rPr lang="en-US" dirty="0"/>
              <a:t>Example of Switch: </a:t>
            </a:r>
            <a:r>
              <a:rPr lang="en-US" b="1" dirty="0"/>
              <a:t>BJT (Bipolar Junction Transistor)</a:t>
            </a:r>
            <a:endParaRPr lang="en-US" b="1" dirty="0"/>
          </a:p>
          <a:p>
            <a:pPr lvl="3"/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Switching Circuits: Basic of Switch </a:t>
            </a:r>
            <a:endParaRPr lang="en-US" dirty="0">
              <a:latin typeface="+mn-l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831" y="4514167"/>
            <a:ext cx="2734505" cy="220730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666" y="4514167"/>
            <a:ext cx="2734505" cy="22073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648225" y="4847509"/>
            <a:ext cx="1002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Not gate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351338"/>
          </a:xfrm>
        </p:spPr>
        <p:txBody>
          <a:bodyPr/>
          <a:lstStyle/>
          <a:p>
            <a:r>
              <a:rPr lang="en-US" b="1" dirty="0"/>
              <a:t>Logic gate: </a:t>
            </a:r>
            <a:r>
              <a:rPr lang="en-US" dirty="0"/>
              <a:t>An </a:t>
            </a:r>
            <a:r>
              <a:rPr lang="en-US" b="1" dirty="0">
                <a:solidFill>
                  <a:srgbClr val="FF0000"/>
                </a:solidFill>
              </a:rPr>
              <a:t>electric circuit </a:t>
            </a:r>
            <a:r>
              <a:rPr lang="en-US" dirty="0"/>
              <a:t>that operate on one or more input signals to generate an output signal based on specific requirement(s)</a:t>
            </a:r>
            <a:endParaRPr lang="en-US" dirty="0"/>
          </a:p>
          <a:p>
            <a:pPr lvl="2"/>
            <a:r>
              <a:rPr lang="en-US" dirty="0"/>
              <a:t>Establish a logical manipulation </a:t>
            </a:r>
            <a:r>
              <a:rPr lang="en-US" b="1" dirty="0"/>
              <a:t>path</a:t>
            </a:r>
            <a:r>
              <a:rPr lang="en-US" dirty="0"/>
              <a:t> </a:t>
            </a:r>
            <a:r>
              <a:rPr lang="en-US" u="sng" dirty="0"/>
              <a:t>producing one bit of information as output</a:t>
            </a:r>
            <a:endParaRPr lang="en-US" u="sng" dirty="0"/>
          </a:p>
          <a:p>
            <a:pPr lvl="2"/>
            <a:r>
              <a:rPr lang="en-US" dirty="0"/>
              <a:t>Also named as </a:t>
            </a:r>
            <a:r>
              <a:rPr lang="en-US" b="1" dirty="0"/>
              <a:t>digital circuit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logic circuit </a:t>
            </a:r>
            <a:r>
              <a:rPr lang="en-US" dirty="0"/>
              <a:t>or </a:t>
            </a:r>
            <a:r>
              <a:rPr lang="en-US" b="1" dirty="0">
                <a:solidFill>
                  <a:srgbClr val="0070C0"/>
                </a:solidFill>
              </a:rPr>
              <a:t>switching circuit</a:t>
            </a:r>
            <a:endParaRPr lang="en-US" b="1" dirty="0">
              <a:solidFill>
                <a:srgbClr val="0070C0"/>
              </a:solidFill>
            </a:endParaRPr>
          </a:p>
          <a:p>
            <a:r>
              <a:rPr lang="en-US" dirty="0"/>
              <a:t>Electrical signal (</a:t>
            </a:r>
            <a:r>
              <a:rPr lang="en-US" b="1" i="1" dirty="0"/>
              <a:t>e.g., </a:t>
            </a:r>
            <a:r>
              <a:rPr lang="en-US" dirty="0"/>
              <a:t>voltage and current) exists as </a:t>
            </a:r>
            <a:r>
              <a:rPr lang="en-US" b="1" dirty="0"/>
              <a:t>analog signal </a:t>
            </a:r>
            <a:r>
              <a:rPr lang="en-US" dirty="0"/>
              <a:t>which has </a:t>
            </a:r>
            <a:r>
              <a:rPr lang="en-US" b="1" dirty="0">
                <a:solidFill>
                  <a:srgbClr val="FF0000"/>
                </a:solidFill>
              </a:rPr>
              <a:t>continuous values </a:t>
            </a:r>
            <a:r>
              <a:rPr lang="en-US" dirty="0"/>
              <a:t>over a range (</a:t>
            </a:r>
            <a:r>
              <a:rPr lang="en-US" b="1" i="1" dirty="0"/>
              <a:t>e.g., </a:t>
            </a:r>
            <a:r>
              <a:rPr lang="en-US" dirty="0"/>
              <a:t>0v to 5v)</a:t>
            </a:r>
            <a:endParaRPr lang="en-US" dirty="0"/>
          </a:p>
          <a:p>
            <a:pPr lvl="2"/>
            <a:r>
              <a:rPr lang="en-US" dirty="0"/>
              <a:t>These analog data must be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interpreted </a:t>
            </a:r>
            <a:r>
              <a:rPr lang="en-US" dirty="0"/>
              <a:t>to either of two discrete values, 0 and 1</a:t>
            </a:r>
            <a:endParaRPr lang="en-US" dirty="0"/>
          </a:p>
          <a:p>
            <a:pPr lvl="2"/>
            <a:r>
              <a:rPr lang="en-US" dirty="0"/>
              <a:t>In </a:t>
            </a:r>
            <a:r>
              <a:rPr lang="en-US" b="1" dirty="0">
                <a:solidFill>
                  <a:srgbClr val="00B050"/>
                </a:solidFill>
              </a:rPr>
              <a:t>ADC</a:t>
            </a:r>
            <a:r>
              <a:rPr lang="en-US" dirty="0"/>
              <a:t>, input signal in the specified range is responded with binary signal in output terminal</a:t>
            </a:r>
            <a:endParaRPr lang="en-US" dirty="0"/>
          </a:p>
          <a:p>
            <a:pPr lvl="3"/>
            <a:r>
              <a:rPr lang="en-US" dirty="0"/>
              <a:t>Region between two allowed regions are crossed during the </a:t>
            </a:r>
            <a:r>
              <a:rPr lang="en-US" b="1" dirty="0">
                <a:solidFill>
                  <a:srgbClr val="00B050"/>
                </a:solidFill>
              </a:rPr>
              <a:t>transition period </a:t>
            </a:r>
            <a:endParaRPr lang="en-US" b="1" dirty="0">
              <a:solidFill>
                <a:srgbClr val="00B05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500062"/>
            <a:ext cx="108522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Logic Gates: Basic Idea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8" name="Title 1"/>
          <p:cNvSpPr txBox="1"/>
          <p:nvPr/>
        </p:nvSpPr>
        <p:spPr>
          <a:xfrm>
            <a:off x="381000" y="500062"/>
            <a:ext cx="108522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Logic Gates: Signal Levels </a:t>
            </a:r>
            <a:endParaRPr lang="en-US" dirty="0">
              <a:latin typeface="+mn-lt"/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42"/>
          <a:stretch>
            <a:fillRect/>
          </a:stretch>
        </p:blipFill>
        <p:spPr>
          <a:xfrm>
            <a:off x="4489481" y="1561209"/>
            <a:ext cx="3543364" cy="5160266"/>
          </a:xfr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Logic Gates: Symbols</a:t>
            </a:r>
            <a:endParaRPr lang="en-US" dirty="0">
              <a:latin typeface="+mn-lt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870811" y="2243067"/>
            <a:ext cx="10450378" cy="3105827"/>
            <a:chOff x="1597779" y="3711590"/>
            <a:chExt cx="8638042" cy="2319294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7779" y="3711591"/>
              <a:ext cx="4377666" cy="231929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5024" y="3711590"/>
              <a:ext cx="3500797" cy="231929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Logic Gates: More than Two Inputs</a:t>
            </a:r>
            <a:endParaRPr lang="en-US" dirty="0">
              <a:latin typeface="+mn-lt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960" y="2245132"/>
            <a:ext cx="9510079" cy="2367736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sz="39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Title 1"/>
          <p:cNvSpPr txBox="1"/>
          <p:nvPr/>
        </p:nvSpPr>
        <p:spPr>
          <a:xfrm>
            <a:off x="717645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Extra…</a:t>
            </a:r>
            <a:endParaRPr lang="en-US" b="1" i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9903044" y="368354"/>
            <a:ext cx="0" cy="457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10055444" y="520754"/>
            <a:ext cx="0" cy="457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10207844" y="673154"/>
            <a:ext cx="0" cy="457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10360244" y="825554"/>
            <a:ext cx="0" cy="457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10512644" y="977954"/>
            <a:ext cx="0" cy="457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365125"/>
          </a:xfrm>
        </p:spPr>
        <p:txBody>
          <a:bodyPr/>
          <a:lstStyle/>
          <a:p>
            <a:r>
              <a:rPr lang="en-US" sz="1600"/>
              <a:t>Chapter 1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1498051" y="1915715"/>
                <a:ext cx="4377231" cy="34411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B</a:t>
                </a:r>
                <a:r>
                  <a:rPr lang="en-US" b="1" baseline="-25000" dirty="0"/>
                  <a:t>3</a:t>
                </a:r>
                <a:r>
                  <a:rPr lang="en-US" b="1" dirty="0"/>
                  <a:t>	B</a:t>
                </a:r>
                <a:r>
                  <a:rPr lang="en-US" b="1" baseline="-25000" dirty="0"/>
                  <a:t>2</a:t>
                </a:r>
                <a:r>
                  <a:rPr lang="en-US" b="1" dirty="0"/>
                  <a:t>	 B</a:t>
                </a:r>
                <a:r>
                  <a:rPr lang="en-US" b="1" baseline="-25000" dirty="0"/>
                  <a:t>1 </a:t>
                </a:r>
                <a:r>
                  <a:rPr lang="en-US" b="1" dirty="0"/>
                  <a:t>	B</a:t>
                </a:r>
                <a:r>
                  <a:rPr lang="en-US" b="1" baseline="-25000" dirty="0"/>
                  <a:t>0 </a:t>
                </a:r>
                <a:r>
                  <a:rPr lang="en-US" b="1" dirty="0"/>
                  <a:t>       Binary</a:t>
                </a:r>
                <a:endParaRPr lang="en-US" b="1" dirty="0"/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</m:t>
                    </m:r>
                    <m:nary>
                      <m:naryPr>
                        <m:chr m:val="⨁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        </m:t>
                        </m:r>
                      </m:e>
                    </m:nary>
                    <m:nary>
                      <m:naryPr>
                        <m:chr m:val="⨁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      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⨁</m:t>
                        </m:r>
                      </m:e>
                    </m:nary>
                  </m:oMath>
                </a14:m>
                <a:r>
                  <a:rPr lang="en-US" dirty="0"/>
                  <a:t> 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G</a:t>
                </a:r>
                <a:r>
                  <a:rPr lang="en-US" b="1" baseline="-25000" dirty="0"/>
                  <a:t>3</a:t>
                </a:r>
                <a:r>
                  <a:rPr lang="en-US" b="1" dirty="0"/>
                  <a:t>	 G</a:t>
                </a:r>
                <a:r>
                  <a:rPr lang="en-US" b="1" baseline="-25000" dirty="0"/>
                  <a:t>2</a:t>
                </a:r>
                <a:r>
                  <a:rPr lang="en-US" b="1" dirty="0"/>
                  <a:t>	  G</a:t>
                </a:r>
                <a:r>
                  <a:rPr lang="en-US" b="1" baseline="-25000" dirty="0"/>
                  <a:t>1</a:t>
                </a:r>
                <a:r>
                  <a:rPr lang="en-US" b="1" dirty="0"/>
                  <a:t> 	 G</a:t>
                </a:r>
                <a:r>
                  <a:rPr lang="en-US" b="1" baseline="-25000" dirty="0"/>
                  <a:t>0</a:t>
                </a:r>
                <a:r>
                  <a:rPr lang="en-US" dirty="0"/>
                  <a:t>       </a:t>
                </a:r>
                <a:r>
                  <a:rPr lang="en-US" b="1" dirty="0"/>
                  <a:t>Gray</a:t>
                </a:r>
                <a:endParaRPr lang="en-US" b="1" dirty="0"/>
              </a:p>
              <a:p>
                <a:endParaRPr lang="en-US" b="1" dirty="0"/>
              </a:p>
              <a:p>
                <a:pPr algn="ctr"/>
                <a:r>
                  <a:rPr lang="en-US" sz="1500" b="1" i="1" dirty="0"/>
                  <a:t>i.e. </a:t>
                </a:r>
                <a:endParaRPr lang="en-US" sz="1500" b="1" i="1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dirty="0" smtClean="0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1500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1500" b="1" i="1" dirty="0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1500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1500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1500" b="1" baseline="-250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dirty="0" smtClean="0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1500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500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500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1500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15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r>
                        <a:rPr lang="en-US" sz="15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US" sz="1500" b="1" i="1" baseline="-25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500" b="1" baseline="-250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dirty="0" smtClean="0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1500" b="1" i="1" baseline="-25000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500" b="1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500" b="1" i="1" dirty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1500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500" b="1" i="1" dirty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5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US" sz="1500" b="1" i="1" baseline="-25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500" b="1" baseline="-250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dirty="0" smtClean="0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1500" b="1" i="1" baseline="-25000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500" b="1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500" b="1" i="1" dirty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1500" b="1" i="1" baseline="-25000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500" b="1" i="1" dirty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5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US" sz="1500" b="1" i="1" baseline="-25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500" b="1" baseline="-25000" dirty="0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051" y="1915715"/>
                <a:ext cx="4377231" cy="3441198"/>
              </a:xfrm>
              <a:prstGeom prst="rect">
                <a:avLst/>
              </a:prstGeom>
              <a:blipFill rotWithShape="1">
                <a:blip r:embed="rId2"/>
                <a:stretch>
                  <a:fillRect l="-2" t="-16" r="6" b="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/>
          <p:nvPr/>
        </p:nvCxnSpPr>
        <p:spPr>
          <a:xfrm>
            <a:off x="1726653" y="2344339"/>
            <a:ext cx="0" cy="12070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650578" y="3068240"/>
            <a:ext cx="0" cy="457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1929471" y="2344012"/>
            <a:ext cx="595312" cy="4926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2650578" y="2334815"/>
            <a:ext cx="0" cy="457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593553" y="2344340"/>
            <a:ext cx="0" cy="457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3593553" y="3068240"/>
            <a:ext cx="0" cy="457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4498428" y="2344340"/>
            <a:ext cx="0" cy="457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4498428" y="3068240"/>
            <a:ext cx="0" cy="457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3774044" y="2338762"/>
            <a:ext cx="595312" cy="4926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2885914" y="2344020"/>
            <a:ext cx="595312" cy="4926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31983</Words>
  <Application>WPS Presentation</Application>
  <PresentationFormat>Widescreen</PresentationFormat>
  <Paragraphs>1450</Paragraphs>
  <Slides>89</Slides>
  <Notes>88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89</vt:i4>
      </vt:variant>
    </vt:vector>
  </HeadingPairs>
  <TitlesOfParts>
    <vt:vector size="102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Cambria Math</vt:lpstr>
      <vt:lpstr>Calibri</vt:lpstr>
      <vt:lpstr>Times New Roman</vt:lpstr>
      <vt:lpstr>Akaash</vt:lpstr>
      <vt:lpstr>Trebuchet MS</vt:lpstr>
      <vt:lpstr>Office Theme</vt:lpstr>
      <vt:lpstr>PowerPoint 演示文稿</vt:lpstr>
      <vt:lpstr>Remaining to Add</vt:lpstr>
      <vt:lpstr>Digital System and Digital Computer</vt:lpstr>
      <vt:lpstr>Generality of Digital Computer</vt:lpstr>
      <vt:lpstr> </vt:lpstr>
      <vt:lpstr> </vt:lpstr>
      <vt:lpstr> </vt:lpstr>
      <vt:lpstr> </vt:lpstr>
      <vt:lpstr> </vt:lpstr>
      <vt:lpstr>PowerPoint 演示文稿</vt:lpstr>
      <vt:lpstr>PowerPoint 演示文稿</vt:lpstr>
      <vt:lpstr> </vt:lpstr>
      <vt:lpstr> </vt:lpstr>
      <vt:lpstr>Number system: Decimal Numbers Power of 10</vt:lpstr>
      <vt:lpstr> </vt:lpstr>
      <vt:lpstr> </vt:lpstr>
      <vt:lpstr> </vt:lpstr>
      <vt:lpstr>Number System: Different Bases</vt:lpstr>
      <vt:lpstr>Special Powers of 2</vt:lpstr>
      <vt:lpstr> </vt:lpstr>
      <vt:lpstr> </vt:lpstr>
      <vt:lpstr>PowerPoint 演示文稿</vt:lpstr>
      <vt:lpstr>PowerPoint 演示文稿</vt:lpstr>
      <vt:lpstr>PowerPoint 演示文稿</vt:lpstr>
      <vt:lpstr> </vt:lpstr>
      <vt:lpstr> </vt:lpstr>
      <vt:lpstr> </vt:lpstr>
      <vt:lpstr> </vt:lpstr>
      <vt:lpstr> </vt:lpstr>
      <vt:lpstr> </vt:lpstr>
      <vt:lpstr> </vt:lpstr>
      <vt:lpstr> </vt:lpstr>
      <vt:lpstr>Subtraction with r’s Complement… </vt:lpstr>
      <vt:lpstr> </vt:lpstr>
      <vt:lpstr> </vt:lpstr>
      <vt:lpstr>PowerPoint 演示文稿</vt:lpstr>
      <vt:lpstr> 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  <vt:lpstr> </vt:lpstr>
      <vt:lpstr> </vt:lpstr>
      <vt:lpstr>PowerPoint 演示文稿</vt:lpstr>
      <vt:lpstr>PowerPoint 演示文稿</vt:lpstr>
      <vt:lpstr>PowerPoint 演示文稿</vt:lpstr>
      <vt:lpstr> </vt:lpstr>
      <vt:lpstr> </vt:lpstr>
      <vt:lpstr> </vt:lpstr>
      <vt:lpstr>PowerPoint 演示文稿</vt:lpstr>
      <vt:lpstr> </vt:lpstr>
      <vt:lpstr> </vt:lpstr>
      <vt:lpstr>PowerPoint 演示文稿</vt:lpstr>
      <vt:lpstr>PowerPoint 演示文稿</vt:lpstr>
      <vt:lpstr> </vt:lpstr>
      <vt:lpstr> </vt:lpstr>
      <vt:lpstr> </vt:lpstr>
      <vt:lpstr> </vt:lpstr>
      <vt:lpstr> </vt:lpstr>
      <vt:lpstr>Error Detection Code: Types of Errors</vt:lpstr>
      <vt:lpstr>PowerPoint 演示文稿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HP</cp:lastModifiedBy>
  <cp:revision>410</cp:revision>
  <dcterms:created xsi:type="dcterms:W3CDTF">2018-07-10T01:49:00Z</dcterms:created>
  <dcterms:modified xsi:type="dcterms:W3CDTF">2023-01-10T10:36:15Z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29C6E707C32E448AA6FE25B698B8EEE8</vt:lpwstr>
  </property>
  <property fmtid="{D5CDD505-2E9C-101B-9397-08002B2CF9AE}" pid="3" name="KSOProductBuildVer">
    <vt:lpwstr>1033-11.2.0.11440</vt:lpwstr>
  </property>
</Properties>
</file>