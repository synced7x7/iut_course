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54"/>
  </p:notesMasterIdLst>
  <p:handoutMasterIdLst>
    <p:handoutMasterId r:id="rId55"/>
  </p:handoutMasterIdLst>
  <p:sldIdLst>
    <p:sldId id="256" r:id="rId3"/>
    <p:sldId id="347" r:id="rId4"/>
    <p:sldId id="260" r:id="rId5"/>
    <p:sldId id="272" r:id="rId6"/>
    <p:sldId id="273" r:id="rId7"/>
    <p:sldId id="326" r:id="rId8"/>
    <p:sldId id="274" r:id="rId9"/>
    <p:sldId id="275" r:id="rId10"/>
    <p:sldId id="276" r:id="rId11"/>
    <p:sldId id="348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324" r:id="rId22"/>
    <p:sldId id="325" r:id="rId23"/>
    <p:sldId id="286" r:id="rId24"/>
    <p:sldId id="287" r:id="rId25"/>
    <p:sldId id="288" r:id="rId26"/>
    <p:sldId id="291" r:id="rId27"/>
    <p:sldId id="289" r:id="rId28"/>
    <p:sldId id="290" r:id="rId29"/>
    <p:sldId id="296" r:id="rId30"/>
    <p:sldId id="292" r:id="rId31"/>
    <p:sldId id="293" r:id="rId32"/>
    <p:sldId id="295" r:id="rId33"/>
    <p:sldId id="294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7" r:id="rId42"/>
    <p:sldId id="304" r:id="rId43"/>
    <p:sldId id="305" r:id="rId44"/>
    <p:sldId id="306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5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65" autoAdjust="0"/>
    <p:restoredTop sz="75322" autoAdjust="0"/>
  </p:normalViewPr>
  <p:slideViewPr>
    <p:cSldViewPr snapToGrid="0">
      <p:cViewPr varScale="1">
        <p:scale>
          <a:sx n="54" d="100"/>
          <a:sy n="54" d="100"/>
        </p:scale>
        <p:origin x="16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C1B9E-036F-4426-B1FE-095181F8A776}" type="datetimeFigureOut">
              <a:rPr lang="en-US" smtClean="0"/>
              <a:t>21-Mar-22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4AD7F4-E4FF-401B-A654-C6B99FAB5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3367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1416C-0C94-4347-BEE5-16334176E4E3}" type="datetimeFigureOut">
              <a:rPr lang="en-US" smtClean="0"/>
              <a:t>21-Mar-22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DAB20-FECD-48F0-A350-11C52BC5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86870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49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digital computer?</a:t>
            </a:r>
            <a:r>
              <a:rPr lang="en-US" baseline="0" dirty="0"/>
              <a:t> Examples where we can use this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E03ABA-567C-4E7A-9095-3D9C26910D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0993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328534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036274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Each input </a:t>
            </a:r>
            <a:r>
              <a:rPr lang="en-US" dirty="0"/>
              <a:t>has its own </a:t>
            </a:r>
            <a:r>
              <a:rPr lang="en-US" b="1" dirty="0"/>
              <a:t>buffer </a:t>
            </a:r>
            <a:r>
              <a:rPr lang="en-US" dirty="0"/>
              <a:t>and </a:t>
            </a:r>
            <a:r>
              <a:rPr lang="en-US" b="1" dirty="0"/>
              <a:t>inverter </a:t>
            </a:r>
            <a:r>
              <a:rPr lang="en-US" dirty="0"/>
              <a:t>internally – So only regular inputs (e.g. x) is required to 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828455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044266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7574393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inputs (blown out) are not undefined after removing rather they are connected as: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Logic-1 for AND gate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Logic-0 for OR gate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732232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641748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265700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2035210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5280163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4009096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738722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8399566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9351262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5790745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Practically, a ROM is implemented for a </a:t>
            </a:r>
            <a:r>
              <a:rPr lang="en-US" b="1" dirty="0"/>
              <a:t>very complex combinational networks </a:t>
            </a:r>
            <a:r>
              <a:rPr lang="en-US" dirty="0"/>
              <a:t>having a large number of inputs and outputs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7343257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8123522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8864857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8400675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1538332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5021848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number of inputs of any AND gate is not important here because all the inputs are present in </a:t>
            </a:r>
            <a:r>
              <a:rPr lang="en-US" b="1" dirty="0"/>
              <a:t>both forms </a:t>
            </a:r>
            <a:r>
              <a:rPr lang="en-US" dirty="0"/>
              <a:t>to each AND gates to be considered or skipped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9837828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9977126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2594103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6356056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2536644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Total number of inputs of any AND is not important here as all the inputs are present in both forms to each AND gates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So to get the fewest number of product terms, simplified expressions for both F and F’ are required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Here, an important point is that we are implementing </a:t>
            </a:r>
            <a:r>
              <a:rPr lang="en-US" b="1" dirty="0"/>
              <a:t>multiple outputs </a:t>
            </a:r>
            <a:r>
              <a:rPr lang="en-US" dirty="0"/>
              <a:t>circuit, </a:t>
            </a:r>
            <a:r>
              <a:rPr lang="en-US" b="1" dirty="0"/>
              <a:t>so we can observe whether any term could be common or not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6306519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total number of different minterms is 6, whereas the given number of AND gates is 4. So simplification is required.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Though the total number of product terms of F1 and F2 is 5, A’C is common for both expressions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Moreover, if the number of AND gates were less, we would better choose alternative to implement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8479391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Program table </a:t>
            </a:r>
            <a:r>
              <a:rPr lang="en-US" dirty="0"/>
              <a:t>is required to specify the input-output relationship to each AND </a:t>
            </a:r>
            <a:r>
              <a:rPr lang="en-US" dirty="0" err="1"/>
              <a:t>and</a:t>
            </a:r>
            <a:r>
              <a:rPr lang="en-US" dirty="0"/>
              <a:t> OR gates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It is required to derive the necessary distinct product terms as well as their total number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It is also required to specify whether the output is expressed in F or F’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Second columns for</a:t>
            </a:r>
            <a:r>
              <a:rPr lang="en-US" b="1" i="1" dirty="0"/>
              <a:t> Inputs </a:t>
            </a:r>
            <a:r>
              <a:rPr lang="en-US" dirty="0"/>
              <a:t>refers the </a:t>
            </a:r>
            <a:r>
              <a:rPr lang="en-US" u="sng" dirty="0"/>
              <a:t>paths between inputs and </a:t>
            </a:r>
            <a:r>
              <a:rPr lang="en-US" u="sng" dirty="0" err="1"/>
              <a:t>AND</a:t>
            </a:r>
            <a:r>
              <a:rPr lang="en-US" u="sng" dirty="0"/>
              <a:t> gates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Third column for </a:t>
            </a:r>
            <a:r>
              <a:rPr lang="en-US" b="1" i="1" dirty="0"/>
              <a:t>Outputs</a:t>
            </a:r>
            <a:r>
              <a:rPr lang="en-US" dirty="0"/>
              <a:t> refers the </a:t>
            </a:r>
            <a:r>
              <a:rPr lang="en-US" u="sng" dirty="0"/>
              <a:t>paths between AND </a:t>
            </a:r>
            <a:r>
              <a:rPr lang="en-US" u="sng" dirty="0" err="1"/>
              <a:t>and</a:t>
            </a:r>
            <a:r>
              <a:rPr lang="en-US" u="sng" dirty="0"/>
              <a:t> OR gates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7076261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0287281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9986664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5496692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the </a:t>
            </a:r>
            <a:r>
              <a:rPr lang="en-US" b="1" dirty="0"/>
              <a:t>bold</a:t>
            </a:r>
            <a:r>
              <a:rPr lang="en-US" dirty="0"/>
              <a:t> dots with OR array denotes the fixed connections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4428464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Here all AND outputs are not connected to all OR gates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Rather it follows the manufacturer’s guidance to connect few AND outputs to an OR gate permanently (fixed)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F1 has three AND gates, F2 has three AND gates and F3 has two AND gates (fixed)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9931661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4297436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Though the PAL has 4 inputs, originally the number of inputs here =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7350309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2623104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61136886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5617002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62896572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78802959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Figure 1:</a:t>
            </a:r>
            <a:r>
              <a:rPr lang="en-US" dirty="0"/>
              <a:t> Internal circuit diagram of an 1-bit ALU</a:t>
            </a:r>
          </a:p>
          <a:p>
            <a:r>
              <a:rPr lang="en-US" b="1" dirty="0"/>
              <a:t>Figure 2</a:t>
            </a:r>
            <a:r>
              <a:rPr lang="en-US" dirty="0"/>
              <a:t>: 4-bit adder with 4 ALUs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03940785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51123490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20755933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60445430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87406574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13708495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07833439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89798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1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1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5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0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47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98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1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2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37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42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43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17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282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148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58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101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9753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8863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2577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9424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619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78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Lecture Demo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70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0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.jpeg"/><Relationship Id="rId4" Type="http://schemas.microsoft.com/office/2007/relationships/hdphoto" Target="../media/hdphoto2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microsoft.com/office/2007/relationships/hdphoto" Target="../media/hdphoto3.wdp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1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4125" y="2751674"/>
            <a:ext cx="9144000" cy="916888"/>
          </a:xfrm>
        </p:spPr>
        <p:txBody>
          <a:bodyPr/>
          <a:lstStyle/>
          <a:p>
            <a:pPr algn="l"/>
            <a:r>
              <a:rPr lang="en-US" b="1" dirty="0">
                <a:latin typeface="+mn-lt"/>
              </a:rPr>
              <a:t>ROM, PLA, PAL, ALU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4125" y="4707506"/>
            <a:ext cx="9144000" cy="1655762"/>
          </a:xfrm>
        </p:spPr>
        <p:txBody>
          <a:bodyPr/>
          <a:lstStyle/>
          <a:p>
            <a:pPr algn="l"/>
            <a:r>
              <a:rPr lang="en-US" b="1" dirty="0"/>
              <a:t>Course Teacher: Md. Hamjajul Ashmafee</a:t>
            </a:r>
          </a:p>
          <a:p>
            <a:pPr algn="l"/>
            <a:r>
              <a:rPr lang="en-US" b="1" dirty="0"/>
              <a:t>Lecturer, CSE, IUT</a:t>
            </a:r>
          </a:p>
          <a:p>
            <a:pPr algn="l"/>
            <a:r>
              <a:rPr lang="en-US" b="1" dirty="0"/>
              <a:t>Email: ashmafee@iut-dhaka.edu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573" y="109679"/>
            <a:ext cx="731108" cy="118872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4125" y="704039"/>
            <a:ext cx="9144000" cy="13908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500" b="1" dirty="0"/>
              <a:t>CSE 4205</a:t>
            </a:r>
            <a:br>
              <a:rPr lang="en-US" sz="4500" b="1" dirty="0"/>
            </a:br>
            <a:r>
              <a:rPr lang="en-US" sz="4500" b="1" dirty="0"/>
              <a:t>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1015783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573" y="109679"/>
            <a:ext cx="731108" cy="118872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3FC56E42-0C73-470E-AC06-355EB3188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Remaining to Add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8C1F6F8-7666-4B8F-A967-DD26827AE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other books and internet resources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1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7011D-92ED-4732-AC78-E5139C3602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308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Introduction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81522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With the advent of </a:t>
            </a:r>
            <a:r>
              <a:rPr lang="en-US" b="1" dirty="0"/>
              <a:t>large-scale integration </a:t>
            </a:r>
            <a:r>
              <a:rPr lang="en-US" dirty="0"/>
              <a:t>technology, it is feasible to fabricate large circuits within a single chip</a:t>
            </a:r>
          </a:p>
          <a:p>
            <a:pPr lvl="1"/>
            <a:r>
              <a:rPr lang="en-US" dirty="0"/>
              <a:t>A consequence – Programmable Logic Devices (PLD)</a:t>
            </a:r>
          </a:p>
          <a:p>
            <a:pPr lvl="2"/>
            <a:r>
              <a:rPr lang="en-US" dirty="0"/>
              <a:t>A kind of LSI</a:t>
            </a:r>
          </a:p>
          <a:p>
            <a:pPr lvl="1"/>
            <a:r>
              <a:rPr lang="en-US" dirty="0"/>
              <a:t>A combinational circuit to implement a set of Boolean functions </a:t>
            </a:r>
          </a:p>
          <a:p>
            <a:r>
              <a:rPr lang="en-US" b="1" dirty="0"/>
              <a:t>Advantages</a:t>
            </a:r>
            <a:r>
              <a:rPr lang="en-US" dirty="0"/>
              <a:t> of PLDs:</a:t>
            </a:r>
          </a:p>
          <a:p>
            <a:pPr lvl="2"/>
            <a:r>
              <a:rPr lang="en-US" dirty="0"/>
              <a:t>Reduced space requirements</a:t>
            </a:r>
          </a:p>
          <a:p>
            <a:pPr lvl="2"/>
            <a:r>
              <a:rPr lang="en-US" dirty="0"/>
              <a:t>Reduced power requirements</a:t>
            </a:r>
          </a:p>
          <a:p>
            <a:pPr lvl="2"/>
            <a:r>
              <a:rPr lang="en-US" dirty="0"/>
              <a:t>Design security</a:t>
            </a:r>
          </a:p>
          <a:p>
            <a:pPr lvl="2"/>
            <a:r>
              <a:rPr lang="en-US" dirty="0"/>
              <a:t>Compact circuitry (Higher density)</a:t>
            </a:r>
          </a:p>
          <a:p>
            <a:pPr lvl="2"/>
            <a:r>
              <a:rPr lang="en-US" dirty="0"/>
              <a:t>Short design cycle – [Analysis, Design, Development, Testing, Deployment]</a:t>
            </a:r>
          </a:p>
          <a:p>
            <a:pPr lvl="2"/>
            <a:r>
              <a:rPr lang="en-US" dirty="0"/>
              <a:t>Higher switching speed (toggling speed)</a:t>
            </a:r>
          </a:p>
          <a:p>
            <a:pPr lvl="2"/>
            <a:r>
              <a:rPr lang="en-US" dirty="0"/>
              <a:t>Low production cost for large quantity production 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26481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Concept to Produce PLDs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Normally Boolean functions are expressed by </a:t>
            </a:r>
            <a:r>
              <a:rPr lang="en-US" b="1" dirty="0"/>
              <a:t>sum of product </a:t>
            </a:r>
            <a:r>
              <a:rPr lang="en-US" dirty="0"/>
              <a:t>forms or </a:t>
            </a:r>
            <a:r>
              <a:rPr lang="en-US" b="1" dirty="0"/>
              <a:t>sum of required minterms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decoder</a:t>
            </a:r>
            <a:r>
              <a:rPr lang="en-US" dirty="0"/>
              <a:t> can be used to generate </a:t>
            </a:r>
            <a:r>
              <a:rPr lang="en-US" b="1" dirty="0"/>
              <a:t>2</a:t>
            </a:r>
            <a:r>
              <a:rPr lang="en-US" b="1" baseline="30000" dirty="0"/>
              <a:t>n</a:t>
            </a:r>
            <a:r>
              <a:rPr lang="en-US" b="1" dirty="0"/>
              <a:t> </a:t>
            </a:r>
            <a:r>
              <a:rPr lang="en-US" dirty="0"/>
              <a:t>minterms for </a:t>
            </a:r>
            <a:r>
              <a:rPr lang="en-US" b="1" dirty="0"/>
              <a:t>n </a:t>
            </a:r>
            <a:r>
              <a:rPr lang="en-US" dirty="0"/>
              <a:t>inputs </a:t>
            </a:r>
          </a:p>
          <a:p>
            <a:pPr lvl="2"/>
            <a:r>
              <a:rPr lang="en-US" dirty="0"/>
              <a:t>One or more OR gates are required to generate the expected function </a:t>
            </a:r>
          </a:p>
          <a:p>
            <a:pPr lvl="1"/>
            <a:r>
              <a:rPr lang="en-US" b="1" dirty="0"/>
              <a:t>IC packages (PLDs) </a:t>
            </a:r>
            <a:r>
              <a:rPr lang="en-US" dirty="0"/>
              <a:t>are developed with larger integration of </a:t>
            </a:r>
            <a:r>
              <a:rPr lang="en-US" b="1" dirty="0">
                <a:solidFill>
                  <a:srgbClr val="FF0000"/>
                </a:solidFill>
              </a:rPr>
              <a:t>decoders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</a:rPr>
              <a:t>OR</a:t>
            </a:r>
            <a:r>
              <a:rPr lang="en-US" dirty="0"/>
              <a:t> gates to generate one or more required outputs at a time</a:t>
            </a:r>
          </a:p>
          <a:p>
            <a:pPr lvl="2"/>
            <a:r>
              <a:rPr lang="en-US" b="1" dirty="0"/>
              <a:t>Advantage: </a:t>
            </a:r>
            <a:r>
              <a:rPr lang="en-US" dirty="0"/>
              <a:t>Reduce the broad space, interconnections and power consumption</a:t>
            </a:r>
          </a:p>
          <a:p>
            <a:r>
              <a:rPr lang="en-US" dirty="0"/>
              <a:t>Specially they are used as a </a:t>
            </a:r>
            <a:r>
              <a:rPr lang="en-US" b="1" dirty="0">
                <a:solidFill>
                  <a:srgbClr val="FF0000"/>
                </a:solidFill>
              </a:rPr>
              <a:t>memory device </a:t>
            </a:r>
          </a:p>
          <a:p>
            <a:pPr lvl="1"/>
            <a:r>
              <a:rPr lang="en-US" dirty="0"/>
              <a:t>In spite of being </a:t>
            </a:r>
            <a:r>
              <a:rPr lang="en-US" b="1" dirty="0"/>
              <a:t>combinational circuit </a:t>
            </a:r>
            <a:r>
              <a:rPr lang="en-US" dirty="0"/>
              <a:t>devices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DD33D-4F8A-4909-B998-CAA4E178866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2370" b="11694"/>
          <a:stretch/>
        </p:blipFill>
        <p:spPr>
          <a:xfrm>
            <a:off x="8966025" y="4457993"/>
            <a:ext cx="2387775" cy="22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600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B3C3BB-0374-44D3-B2DB-8F4982253B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900" y="2056785"/>
            <a:ext cx="7308200" cy="27444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General Structure of PLD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</a:t>
            </a:fld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59BE5B-B2CD-4109-9407-D16EB9255CE7}"/>
              </a:ext>
            </a:extLst>
          </p:cNvPr>
          <p:cNvSpPr txBox="1"/>
          <p:nvPr/>
        </p:nvSpPr>
        <p:spPr>
          <a:xfrm>
            <a:off x="3798277" y="4616549"/>
            <a:ext cx="2553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Product term production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5B95EA-EDE8-4F6B-BDEF-5C9B4C832F4E}"/>
              </a:ext>
            </a:extLst>
          </p:cNvPr>
          <p:cNvSpPr txBox="1"/>
          <p:nvPr/>
        </p:nvSpPr>
        <p:spPr>
          <a:xfrm>
            <a:off x="6573857" y="4616549"/>
            <a:ext cx="2224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Sum term production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092FB6-7699-4768-B9CF-5B52EA7CE376}"/>
              </a:ext>
            </a:extLst>
          </p:cNvPr>
          <p:cNvSpPr/>
          <p:nvPr/>
        </p:nvSpPr>
        <p:spPr>
          <a:xfrm>
            <a:off x="8709402" y="3313220"/>
            <a:ext cx="857799" cy="8692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758E35-57DA-402C-A703-BCBB9FF337D8}"/>
              </a:ext>
            </a:extLst>
          </p:cNvPr>
          <p:cNvSpPr/>
          <p:nvPr/>
        </p:nvSpPr>
        <p:spPr>
          <a:xfrm>
            <a:off x="2792270" y="2138790"/>
            <a:ext cx="893465" cy="7872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448331-B8AC-44FD-9726-1418F7D5FE4B}"/>
              </a:ext>
            </a:extLst>
          </p:cNvPr>
          <p:cNvSpPr/>
          <p:nvPr/>
        </p:nvSpPr>
        <p:spPr>
          <a:xfrm>
            <a:off x="5661585" y="2138790"/>
            <a:ext cx="1219200" cy="7168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5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Internal Structure of PLD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</a:t>
            </a:fld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7E1D43-D2D1-40AB-AF86-615B080A29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502" y="1441979"/>
            <a:ext cx="4877098" cy="534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582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PLD Classification and Summery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Only Memory (ROM)</a:t>
            </a:r>
          </a:p>
          <a:p>
            <a:r>
              <a:rPr lang="en-US" dirty="0"/>
              <a:t>Programmable Logic Array (PLA)</a:t>
            </a:r>
          </a:p>
          <a:p>
            <a:r>
              <a:rPr lang="en-US" dirty="0"/>
              <a:t>Programmable Array Logic (PAL)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7</a:t>
            </a:fld>
            <a:endParaRPr lang="en-US" sz="1800" dirty="0"/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3FF48FD6-F669-4934-B70D-98505BEB5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841" y="3850398"/>
            <a:ext cx="8292318" cy="161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363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Concept: Programmable Array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8</a:t>
            </a:fld>
            <a:endParaRPr lang="en-US" sz="18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5D9524D-5515-47FF-9399-69D410C6E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80531" cy="4351338"/>
          </a:xfrm>
        </p:spPr>
        <p:txBody>
          <a:bodyPr/>
          <a:lstStyle/>
          <a:p>
            <a:r>
              <a:rPr lang="en-US" dirty="0"/>
              <a:t>In a </a:t>
            </a:r>
            <a:r>
              <a:rPr lang="en-US" sz="3200" b="1" dirty="0">
                <a:solidFill>
                  <a:srgbClr val="00B050"/>
                </a:solidFill>
              </a:rPr>
              <a:t>programmable array</a:t>
            </a:r>
            <a:r>
              <a:rPr lang="en-US" dirty="0"/>
              <a:t>, the </a:t>
            </a:r>
            <a:r>
              <a:rPr lang="en-US" b="1" dirty="0"/>
              <a:t>connections</a:t>
            </a:r>
            <a:r>
              <a:rPr lang="en-US" dirty="0"/>
              <a:t> of gates are </a:t>
            </a:r>
            <a:r>
              <a:rPr lang="en-US" b="1" dirty="0">
                <a:solidFill>
                  <a:srgbClr val="0070C0"/>
                </a:solidFill>
              </a:rPr>
              <a:t>flexible</a:t>
            </a:r>
          </a:p>
          <a:p>
            <a:pPr lvl="1"/>
            <a:r>
              <a:rPr lang="en-US" dirty="0"/>
              <a:t>To implement a </a:t>
            </a:r>
            <a:r>
              <a:rPr lang="en-US" b="1" dirty="0"/>
              <a:t>programmable gate</a:t>
            </a:r>
            <a:r>
              <a:rPr lang="en-US" dirty="0"/>
              <a:t>, a </a:t>
            </a:r>
            <a:r>
              <a:rPr lang="en-US" b="1" dirty="0">
                <a:solidFill>
                  <a:srgbClr val="FF0000"/>
                </a:solidFill>
              </a:rPr>
              <a:t>fuse link </a:t>
            </a:r>
            <a:r>
              <a:rPr lang="en-US" dirty="0"/>
              <a:t>is employed</a:t>
            </a:r>
          </a:p>
          <a:p>
            <a:pPr lvl="1"/>
            <a:r>
              <a:rPr lang="en-US" b="1" dirty="0"/>
              <a:t>Example: </a:t>
            </a:r>
            <a:r>
              <a:rPr lang="en-US" dirty="0"/>
              <a:t>a programmable input to an </a:t>
            </a:r>
            <a:r>
              <a:rPr lang="en-US" b="1" dirty="0"/>
              <a:t>AND gate</a:t>
            </a:r>
          </a:p>
          <a:p>
            <a:pPr lvl="2"/>
            <a:r>
              <a:rPr lang="en-US" dirty="0"/>
              <a:t>Some of the fuses are blown out to achieve the desired output of the gate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FAADE5-0460-4A6F-A344-F21FB1A598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7987" y="3748076"/>
            <a:ext cx="3756026" cy="111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177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PLD Notation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simplify the </a:t>
            </a:r>
            <a:r>
              <a:rPr lang="en-US" b="1" dirty="0"/>
              <a:t>representation </a:t>
            </a:r>
            <a:r>
              <a:rPr lang="en-US" dirty="0"/>
              <a:t>of PLD connection: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single line </a:t>
            </a:r>
            <a:r>
              <a:rPr lang="en-US" dirty="0"/>
              <a:t>is drawn into the </a:t>
            </a:r>
            <a:r>
              <a:rPr lang="en-US" b="1" dirty="0">
                <a:solidFill>
                  <a:srgbClr val="FF0000"/>
                </a:solidFill>
              </a:rPr>
              <a:t>logic gate</a:t>
            </a:r>
            <a:r>
              <a:rPr lang="en-US" dirty="0"/>
              <a:t> where the inputs are shown with </a:t>
            </a:r>
            <a:r>
              <a:rPr lang="en-US" b="1" dirty="0"/>
              <a:t>perpendicular lines </a:t>
            </a:r>
          </a:p>
          <a:p>
            <a:pPr lvl="1"/>
            <a:r>
              <a:rPr lang="en-US" dirty="0"/>
              <a:t>The connected inputs are indicated by </a:t>
            </a:r>
            <a:r>
              <a:rPr lang="en-US" b="1" dirty="0"/>
              <a:t>cross (x)</a:t>
            </a:r>
            <a:r>
              <a:rPr lang="en-US" dirty="0"/>
              <a:t> at the junctions [fusible] and unconnected inputs are left </a:t>
            </a:r>
            <a:r>
              <a:rPr lang="en-US" b="1" dirty="0"/>
              <a:t>blanks </a:t>
            </a:r>
          </a:p>
          <a:p>
            <a:pPr lvl="1"/>
            <a:r>
              <a:rPr lang="en-US" dirty="0"/>
              <a:t>Sometimes junctions are presented with </a:t>
            </a:r>
            <a:r>
              <a:rPr lang="en-US" b="1" dirty="0">
                <a:solidFill>
                  <a:srgbClr val="FF0000"/>
                </a:solidFill>
              </a:rPr>
              <a:t>‘bold’ dots </a:t>
            </a:r>
            <a:r>
              <a:rPr lang="en-US" b="1" dirty="0"/>
              <a:t>indicating permanent junctions 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9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F0A3DB-678E-4111-9FC7-FBF3906528C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32" t="560" r="13016" b="77327"/>
          <a:stretch/>
        </p:blipFill>
        <p:spPr>
          <a:xfrm>
            <a:off x="7790209" y="4838323"/>
            <a:ext cx="4341831" cy="1119346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657F518-2917-4274-A4EB-FA40629184E6}"/>
              </a:ext>
            </a:extLst>
          </p:cNvPr>
          <p:cNvGrpSpPr/>
          <p:nvPr/>
        </p:nvGrpSpPr>
        <p:grpSpPr>
          <a:xfrm>
            <a:off x="968057" y="4739477"/>
            <a:ext cx="6656150" cy="1218192"/>
            <a:chOff x="1580295" y="4651553"/>
            <a:chExt cx="6656150" cy="121819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960D110-0EEF-4E9D-9A80-44949DA1E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0295" y="4750399"/>
              <a:ext cx="3756026" cy="1119346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61C8B79-1FB8-4BDE-94D1-A2B86B9C0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6321" y="4651553"/>
              <a:ext cx="2900124" cy="1119346"/>
            </a:xfrm>
            <a:prstGeom prst="rect">
              <a:avLst/>
            </a:prstGeom>
          </p:spPr>
        </p:pic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28C6D5DD-6D56-488B-B454-24455A01457D}"/>
              </a:ext>
            </a:extLst>
          </p:cNvPr>
          <p:cNvSpPr/>
          <p:nvPr/>
        </p:nvSpPr>
        <p:spPr>
          <a:xfrm>
            <a:off x="9759462" y="5313693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PLD Types in Details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10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87502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4205: Digital Logic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73956D-1C83-40CE-BDDB-EBDEA76D6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6451" y="5040596"/>
            <a:ext cx="5679744" cy="168087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Read Only Memory (ROM)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552"/>
            <a:ext cx="10996246" cy="4600411"/>
          </a:xfrm>
        </p:spPr>
        <p:txBody>
          <a:bodyPr/>
          <a:lstStyle/>
          <a:p>
            <a:r>
              <a:rPr lang="en-US" dirty="0"/>
              <a:t>Common Notation – 2</a:t>
            </a:r>
            <a:r>
              <a:rPr lang="en-US" baseline="30000" dirty="0"/>
              <a:t>n</a:t>
            </a:r>
            <a:r>
              <a:rPr lang="en-US" dirty="0"/>
              <a:t> x m ROM</a:t>
            </a:r>
          </a:p>
          <a:p>
            <a:pPr lvl="1"/>
            <a:r>
              <a:rPr lang="en-US" dirty="0"/>
              <a:t>n input lines and m output lines </a:t>
            </a:r>
          </a:p>
          <a:p>
            <a:pPr lvl="2"/>
            <a:r>
              <a:rPr lang="en-US" dirty="0"/>
              <a:t>2</a:t>
            </a:r>
            <a:r>
              <a:rPr lang="en-US" baseline="30000" dirty="0"/>
              <a:t>n</a:t>
            </a:r>
            <a:r>
              <a:rPr lang="en-US" dirty="0"/>
              <a:t> intermediate ANDed (</a:t>
            </a:r>
            <a:r>
              <a:rPr lang="en-US" b="1" i="1" dirty="0"/>
              <a:t>i.e. </a:t>
            </a:r>
            <a:r>
              <a:rPr lang="en-US" dirty="0"/>
              <a:t>product/minterm) terms which are </a:t>
            </a:r>
            <a:r>
              <a:rPr lang="en-US" sz="2400" b="1" dirty="0">
                <a:solidFill>
                  <a:srgbClr val="FF0000"/>
                </a:solidFill>
              </a:rPr>
              <a:t>fixed</a:t>
            </a:r>
          </a:p>
          <a:p>
            <a:pPr lvl="2"/>
            <a:r>
              <a:rPr lang="en-US" dirty="0"/>
              <a:t>m outlines lines are </a:t>
            </a:r>
            <a:r>
              <a:rPr lang="en-US" sz="2500" b="1" dirty="0">
                <a:solidFill>
                  <a:srgbClr val="FF0000"/>
                </a:solidFill>
              </a:rPr>
              <a:t>programmable </a:t>
            </a:r>
            <a:r>
              <a:rPr lang="en-US" b="1" dirty="0"/>
              <a:t> </a:t>
            </a:r>
          </a:p>
          <a:p>
            <a:pPr lvl="1"/>
            <a:r>
              <a:rPr lang="en-US" b="1" dirty="0"/>
              <a:t>Also, this notation is considered as </a:t>
            </a:r>
            <a:r>
              <a:rPr lang="en-US" b="1" dirty="0">
                <a:solidFill>
                  <a:srgbClr val="FF0000"/>
                </a:solidFill>
              </a:rPr>
              <a:t>total number of bits </a:t>
            </a:r>
            <a:r>
              <a:rPr lang="en-US" b="1" dirty="0"/>
              <a:t>stored.</a:t>
            </a:r>
          </a:p>
          <a:p>
            <a:pPr lvl="1"/>
            <a:r>
              <a:rPr lang="en-US" dirty="0"/>
              <a:t>Also, 2</a:t>
            </a:r>
            <a:r>
              <a:rPr lang="en-US" baseline="30000" dirty="0"/>
              <a:t>n</a:t>
            </a:r>
            <a:r>
              <a:rPr lang="en-US" dirty="0"/>
              <a:t> denotes the </a:t>
            </a:r>
            <a:r>
              <a:rPr lang="en-US" b="1" dirty="0"/>
              <a:t>total number of addresses </a:t>
            </a:r>
            <a:r>
              <a:rPr lang="en-US" dirty="0"/>
              <a:t>and m denotes </a:t>
            </a:r>
            <a:r>
              <a:rPr lang="en-US" b="1" dirty="0"/>
              <a:t>the total number of bits per word 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two level logic representation</a:t>
            </a:r>
            <a:r>
              <a:rPr lang="en-US" dirty="0"/>
              <a:t> in </a:t>
            </a:r>
            <a:r>
              <a:rPr lang="en-US" b="1" dirty="0">
                <a:solidFill>
                  <a:srgbClr val="FF0000"/>
                </a:solidFill>
              </a:rPr>
              <a:t>sum of minterms </a:t>
            </a:r>
            <a:r>
              <a:rPr lang="en-US" dirty="0"/>
              <a:t>form </a:t>
            </a:r>
          </a:p>
          <a:p>
            <a:pPr lvl="1"/>
            <a:r>
              <a:rPr lang="en-US" b="1" dirty="0"/>
              <a:t>Block Diagram: 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11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58681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ROM…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a pattern is established, it would be erased even if power supply is off (</a:t>
            </a:r>
            <a:r>
              <a:rPr lang="en-US" b="1" dirty="0"/>
              <a:t>Non- volatile</a:t>
            </a:r>
            <a:r>
              <a:rPr lang="en-US" dirty="0"/>
              <a:t>)</a:t>
            </a:r>
          </a:p>
          <a:p>
            <a:r>
              <a:rPr lang="en-US" dirty="0"/>
              <a:t>Bit combination of </a:t>
            </a:r>
            <a:r>
              <a:rPr lang="en-US" b="1" dirty="0"/>
              <a:t>n</a:t>
            </a:r>
            <a:r>
              <a:rPr lang="en-US" dirty="0"/>
              <a:t> input variables are called </a:t>
            </a:r>
            <a:r>
              <a:rPr lang="en-US" b="1" dirty="0"/>
              <a:t>addresses</a:t>
            </a:r>
          </a:p>
          <a:p>
            <a:pPr lvl="1"/>
            <a:r>
              <a:rPr lang="en-US" dirty="0"/>
              <a:t>Each address combination (one of the minterm) is connected with required output lines (</a:t>
            </a:r>
            <a:r>
              <a:rPr lang="en-US" b="1" i="1" dirty="0">
                <a:solidFill>
                  <a:srgbClr val="FF0000"/>
                </a:solidFill>
              </a:rPr>
              <a:t>m bit</a:t>
            </a:r>
            <a:r>
              <a:rPr lang="en-US" dirty="0"/>
              <a:t>) to make a specific word </a:t>
            </a:r>
            <a:r>
              <a:rPr lang="en-US" b="1" i="1" dirty="0">
                <a:solidFill>
                  <a:srgbClr val="00B0F0"/>
                </a:solidFill>
              </a:rPr>
              <a:t>– n-bit long address </a:t>
            </a:r>
          </a:p>
          <a:p>
            <a:pPr lvl="1"/>
            <a:r>
              <a:rPr lang="en-US" dirty="0"/>
              <a:t>Each bit-combination of output lines is called a </a:t>
            </a:r>
            <a:r>
              <a:rPr lang="en-US" b="1" i="1" dirty="0"/>
              <a:t>word –</a:t>
            </a:r>
            <a:r>
              <a:rPr lang="en-US" dirty="0"/>
              <a:t> </a:t>
            </a:r>
            <a:r>
              <a:rPr lang="en-US" b="1" i="1" dirty="0">
                <a:solidFill>
                  <a:srgbClr val="00B0F0"/>
                </a:solidFill>
              </a:rPr>
              <a:t>m-bit long word</a:t>
            </a:r>
          </a:p>
          <a:p>
            <a:r>
              <a:rPr lang="en-US" b="1" dirty="0"/>
              <a:t>Example:</a:t>
            </a:r>
          </a:p>
          <a:p>
            <a:pPr lvl="1"/>
            <a:r>
              <a:rPr lang="en-US" dirty="0"/>
              <a:t>32x8 ROM = 2</a:t>
            </a:r>
            <a:r>
              <a:rPr lang="en-US" baseline="30000" dirty="0"/>
              <a:t>5</a:t>
            </a:r>
            <a:r>
              <a:rPr lang="en-US" dirty="0"/>
              <a:t>x8 ROM = 5 input variables, 32 addresses and word length = 8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12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52349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ROM with Decoder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decoder</a:t>
            </a:r>
            <a:r>
              <a:rPr lang="en-US" dirty="0"/>
              <a:t> could be used to implement a ROM</a:t>
            </a:r>
          </a:p>
          <a:p>
            <a:pPr lvl="1"/>
            <a:r>
              <a:rPr lang="en-US" b="1" dirty="0"/>
              <a:t>Decoder – </a:t>
            </a:r>
            <a:r>
              <a:rPr lang="en-US" dirty="0"/>
              <a:t>a combinational circuit that generates </a:t>
            </a:r>
            <a:r>
              <a:rPr lang="en-US" b="1" dirty="0">
                <a:solidFill>
                  <a:srgbClr val="00B0F0"/>
                </a:solidFill>
              </a:rPr>
              <a:t>2</a:t>
            </a:r>
            <a:r>
              <a:rPr lang="en-US" b="1" baseline="30000" dirty="0">
                <a:solidFill>
                  <a:srgbClr val="00B0F0"/>
                </a:solidFill>
              </a:rPr>
              <a:t>n</a:t>
            </a:r>
            <a:r>
              <a:rPr lang="en-US" b="1" dirty="0">
                <a:solidFill>
                  <a:srgbClr val="00B0F0"/>
                </a:solidFill>
              </a:rPr>
              <a:t> number of minterms </a:t>
            </a:r>
            <a:r>
              <a:rPr lang="en-US" dirty="0"/>
              <a:t>from n input variables </a:t>
            </a:r>
          </a:p>
          <a:p>
            <a:pPr lvl="2"/>
            <a:r>
              <a:rPr lang="en-US" dirty="0"/>
              <a:t>Each minterm then is applied to required number of </a:t>
            </a:r>
            <a:r>
              <a:rPr lang="en-US" b="1" dirty="0"/>
              <a:t>OR gates </a:t>
            </a:r>
            <a:r>
              <a:rPr lang="en-US" dirty="0"/>
              <a:t>using </a:t>
            </a:r>
            <a:r>
              <a:rPr lang="en-US" b="1" dirty="0"/>
              <a:t>fusible </a:t>
            </a:r>
            <a:r>
              <a:rPr lang="en-US" dirty="0"/>
              <a:t>links which could be </a:t>
            </a:r>
            <a:r>
              <a:rPr lang="en-US" b="1" dirty="0"/>
              <a:t>blown up </a:t>
            </a:r>
            <a:r>
              <a:rPr lang="en-US" dirty="0"/>
              <a:t>selectively as per requirement (shown in logic diagram)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13</a:t>
            </a:fld>
            <a:endParaRPr lang="en-US" sz="18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79ED231-477E-4D95-BEF6-32BF4F7B7364}"/>
              </a:ext>
            </a:extLst>
          </p:cNvPr>
          <p:cNvGrpSpPr/>
          <p:nvPr/>
        </p:nvGrpSpPr>
        <p:grpSpPr>
          <a:xfrm>
            <a:off x="2930856" y="3737377"/>
            <a:ext cx="5679744" cy="1960974"/>
            <a:chOff x="2930856" y="3526361"/>
            <a:chExt cx="5679744" cy="196097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DCE37FD-80C6-40BC-9E29-67C712112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30856" y="3526361"/>
              <a:ext cx="5679744" cy="1680879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A6143B2-D836-409C-91DF-E372D6D220F7}"/>
                </a:ext>
              </a:extLst>
            </p:cNvPr>
            <p:cNvSpPr txBox="1"/>
            <p:nvPr/>
          </p:nvSpPr>
          <p:spPr>
            <a:xfrm>
              <a:off x="4378569" y="5118003"/>
              <a:ext cx="9778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Decoder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5356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2</a:t>
            </a:r>
            <a:r>
              <a:rPr lang="en-US" b="1" i="1" baseline="300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xm ROM: Logic Diagram </a:t>
            </a:r>
            <a:endParaRPr lang="en-US" sz="39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66C62B-54FC-461A-9DCE-CD7190D7E3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663" y="1915123"/>
            <a:ext cx="7214673" cy="3891952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14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51658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3664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2</a:t>
            </a:r>
            <a:r>
              <a:rPr lang="en-US" b="1" i="1" baseline="300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xm ROM: Logic Diagram with PLD Notation </a:t>
            </a:r>
            <a:endParaRPr lang="en-US" sz="39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3706C7-562B-4470-AEBB-E6E84300B0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469" y="2153754"/>
            <a:ext cx="7479061" cy="373953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15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82369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ROM: Applications 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143594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Basically to design different </a:t>
            </a:r>
            <a:r>
              <a:rPr lang="en-US" b="1" dirty="0"/>
              <a:t>components</a:t>
            </a:r>
            <a:r>
              <a:rPr lang="en-US" dirty="0"/>
              <a:t> of a digital computer system like:</a:t>
            </a:r>
          </a:p>
          <a:p>
            <a:pPr lvl="1"/>
            <a:r>
              <a:rPr lang="en-US" dirty="0"/>
              <a:t>Complex combinational circuit</a:t>
            </a:r>
          </a:p>
          <a:p>
            <a:pPr lvl="1"/>
            <a:r>
              <a:rPr lang="en-US" dirty="0"/>
              <a:t>Code conversion</a:t>
            </a:r>
          </a:p>
          <a:p>
            <a:pPr lvl="1"/>
            <a:r>
              <a:rPr lang="en-US" dirty="0"/>
              <a:t>Bit pattern generation for characters</a:t>
            </a:r>
          </a:p>
          <a:p>
            <a:pPr lvl="1"/>
            <a:r>
              <a:rPr lang="en-US" dirty="0"/>
              <a:t>Multipliers</a:t>
            </a:r>
          </a:p>
          <a:p>
            <a:pPr lvl="1"/>
            <a:r>
              <a:rPr lang="en-US" dirty="0"/>
              <a:t>Look up table</a:t>
            </a:r>
          </a:p>
          <a:p>
            <a:r>
              <a:rPr lang="en-US" dirty="0"/>
              <a:t>Especially they are used as a </a:t>
            </a:r>
            <a:r>
              <a:rPr lang="en-US" b="1" dirty="0"/>
              <a:t>multiple-output combinational circuit </a:t>
            </a:r>
            <a:r>
              <a:rPr lang="en-US" dirty="0"/>
              <a:t>with same set of inputs </a:t>
            </a:r>
          </a:p>
          <a:p>
            <a:r>
              <a:rPr lang="en-US" b="1" dirty="0"/>
              <a:t>Storage of a fixed bit pattern </a:t>
            </a:r>
            <a:r>
              <a:rPr lang="en-US" dirty="0"/>
              <a:t>– memory storage ROM</a:t>
            </a:r>
          </a:p>
          <a:p>
            <a:r>
              <a:rPr lang="en-US" dirty="0"/>
              <a:t>Also, used with microprocessors and microcontrollers 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16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38366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09728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ROM: Implementation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999" y="1825624"/>
            <a:ext cx="11594123" cy="4530725"/>
          </a:xfrm>
        </p:spPr>
        <p:txBody>
          <a:bodyPr>
            <a:normAutofit fontScale="92500"/>
          </a:bodyPr>
          <a:lstStyle/>
          <a:p>
            <a:r>
              <a:rPr lang="en-US" dirty="0"/>
              <a:t>Similar to the </a:t>
            </a:r>
            <a:r>
              <a:rPr lang="en-US" b="1" dirty="0"/>
              <a:t>application of decoder </a:t>
            </a:r>
            <a:r>
              <a:rPr lang="en-US" dirty="0"/>
              <a:t>along with an </a:t>
            </a:r>
            <a:r>
              <a:rPr lang="en-US" b="1" dirty="0"/>
              <a:t>OR gate</a:t>
            </a:r>
          </a:p>
          <a:p>
            <a:pPr lvl="1"/>
            <a:r>
              <a:rPr lang="en-US" dirty="0"/>
              <a:t>Within a single chip</a:t>
            </a:r>
          </a:p>
          <a:p>
            <a:r>
              <a:rPr lang="en-US" dirty="0"/>
              <a:t>A set of Boolean functions should be expressed with </a:t>
            </a:r>
            <a:r>
              <a:rPr lang="en-US" b="1" dirty="0"/>
              <a:t>minterms</a:t>
            </a:r>
            <a:r>
              <a:rPr lang="en-US" dirty="0"/>
              <a:t> or a truth table 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No further simplification is required</a:t>
            </a:r>
          </a:p>
          <a:p>
            <a:r>
              <a:rPr lang="en-US" dirty="0"/>
              <a:t>A ROM should be selected with required number input (</a:t>
            </a:r>
            <a:r>
              <a:rPr lang="en-US" b="1" dirty="0"/>
              <a:t>n</a:t>
            </a:r>
            <a:r>
              <a:rPr lang="en-US" dirty="0"/>
              <a:t>) and output lines (</a:t>
            </a:r>
            <a:r>
              <a:rPr lang="en-US" b="1" dirty="0"/>
              <a:t>m</a:t>
            </a:r>
            <a:r>
              <a:rPr lang="en-US" dirty="0"/>
              <a:t>)</a:t>
            </a:r>
          </a:p>
          <a:p>
            <a:r>
              <a:rPr lang="en-US" dirty="0"/>
              <a:t>Blowing off the appropriate fuses (an open terminal) is referred to as programming</a:t>
            </a:r>
          </a:p>
          <a:p>
            <a:pPr lvl="1"/>
            <a:r>
              <a:rPr lang="en-US" b="1" dirty="0"/>
              <a:t>Note 1: </a:t>
            </a:r>
            <a:r>
              <a:rPr lang="en-US" dirty="0"/>
              <a:t>Open terminal with AND logic gate behaves like logic-1</a:t>
            </a:r>
          </a:p>
          <a:p>
            <a:pPr lvl="1"/>
            <a:r>
              <a:rPr lang="en-US" b="1" dirty="0"/>
              <a:t>Note 2:</a:t>
            </a:r>
            <a:r>
              <a:rPr lang="en-US" dirty="0"/>
              <a:t> Open terminal with OR logic gate behaves like logic-0</a:t>
            </a:r>
          </a:p>
          <a:p>
            <a:r>
              <a:rPr lang="en-US" dirty="0"/>
              <a:t>A ROM </a:t>
            </a:r>
            <a:r>
              <a:rPr lang="en-US" b="1" dirty="0"/>
              <a:t>program table </a:t>
            </a:r>
            <a:r>
              <a:rPr lang="en-US" dirty="0"/>
              <a:t>(or </a:t>
            </a:r>
            <a:r>
              <a:rPr lang="en-US" b="1" dirty="0"/>
              <a:t>truth table</a:t>
            </a:r>
            <a:r>
              <a:rPr lang="en-US" dirty="0"/>
              <a:t>) should be specified for required paths in it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17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75115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2042"/>
            <a:ext cx="105156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ROM: Example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000" b="1" i="1" dirty="0">
                <a:solidFill>
                  <a:srgbClr val="FF0000"/>
                </a:solidFill>
                <a:latin typeface="+mn-lt"/>
              </a:rPr>
              <a:t>Too simple to implement with a ROM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2766F1-6231-48FA-9D02-A54D0ABEB2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44504"/>
            <a:ext cx="3518361" cy="89425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18</a:t>
            </a:fld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7E3250-8110-4F52-8088-65B049CF6728}"/>
              </a:ext>
            </a:extLst>
          </p:cNvPr>
          <p:cNvSpPr txBox="1"/>
          <p:nvPr/>
        </p:nvSpPr>
        <p:spPr>
          <a:xfrm>
            <a:off x="838200" y="2373521"/>
            <a:ext cx="4450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i.e.</a:t>
            </a:r>
            <a:r>
              <a:rPr lang="en-US" sz="2400" dirty="0"/>
              <a:t> a </a:t>
            </a:r>
            <a:r>
              <a:rPr lang="en-US" sz="2400" b="1" dirty="0"/>
              <a:t>2</a:t>
            </a:r>
            <a:r>
              <a:rPr lang="en-US" sz="2400" b="1" baseline="30000" dirty="0"/>
              <a:t>3</a:t>
            </a:r>
            <a:r>
              <a:rPr lang="en-US" sz="2400" b="1" dirty="0"/>
              <a:t>x2</a:t>
            </a:r>
            <a:r>
              <a:rPr lang="en-US" sz="2400" dirty="0"/>
              <a:t> or </a:t>
            </a:r>
            <a:r>
              <a:rPr lang="en-US" sz="2400" b="1" dirty="0"/>
              <a:t>8x2 </a:t>
            </a:r>
            <a:r>
              <a:rPr lang="en-US" sz="2400" dirty="0"/>
              <a:t>ROM is required.</a:t>
            </a:r>
            <a:endParaRPr lang="en-US" sz="24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5D213E-7BC2-4142-B4D3-91545C4F8A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171" y="3338955"/>
            <a:ext cx="6873035" cy="33345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E8938E-C1A4-4C2D-9BB6-E552EED5089B}"/>
              </a:ext>
            </a:extLst>
          </p:cNvPr>
          <p:cNvSpPr txBox="1"/>
          <p:nvPr/>
        </p:nvSpPr>
        <p:spPr>
          <a:xfrm>
            <a:off x="3894133" y="2881352"/>
            <a:ext cx="4973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Program table or truth table for ROM:</a:t>
            </a:r>
            <a:endParaRPr lang="en-US" sz="2400" u="sng" dirty="0"/>
          </a:p>
        </p:txBody>
      </p:sp>
    </p:spTree>
    <p:extLst>
      <p:ext uri="{BB962C8B-B14F-4D97-AF65-F5344CB8AC3E}">
        <p14:creationId xmlns:p14="http://schemas.microsoft.com/office/powerpoint/2010/main" val="4033720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ROM: Example…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b="1" dirty="0"/>
              <a:t>Logic diagram: </a:t>
            </a:r>
          </a:p>
          <a:p>
            <a:pPr lvl="1"/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19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34468F-B25D-4AD6-8E0A-B72D189256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416" y="2263488"/>
            <a:ext cx="5732627" cy="370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843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ROM: Example…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b="1" dirty="0"/>
              <a:t>Logic diagram with PLD notation : </a:t>
            </a:r>
          </a:p>
          <a:p>
            <a:pPr lvl="1"/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20</a:t>
            </a:fld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94CFFF-F1E7-4536-BB8B-A1DDD00A7F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725332"/>
            <a:ext cx="4114800" cy="334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378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ROM: Example…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448" y="1825625"/>
            <a:ext cx="11422592" cy="4351338"/>
          </a:xfrm>
        </p:spPr>
        <p:txBody>
          <a:bodyPr/>
          <a:lstStyle/>
          <a:p>
            <a:r>
              <a:rPr lang="en-US" dirty="0"/>
              <a:t>Some ROMs are available with </a:t>
            </a:r>
            <a:r>
              <a:rPr lang="en-US" b="1" dirty="0">
                <a:solidFill>
                  <a:srgbClr val="FF0000"/>
                </a:solidFill>
              </a:rPr>
              <a:t>inverter logic gate (NOT) </a:t>
            </a:r>
            <a:r>
              <a:rPr lang="en-US" dirty="0"/>
              <a:t>with each OR gates </a:t>
            </a:r>
          </a:p>
          <a:p>
            <a:pPr lvl="1"/>
            <a:r>
              <a:rPr lang="en-US" b="1" i="1" dirty="0"/>
              <a:t>Then those minterms should be blown off which are logic-1 in the truth table </a:t>
            </a:r>
          </a:p>
          <a:p>
            <a:pPr lvl="1"/>
            <a:r>
              <a:rPr lang="en-US" b="1" i="1" dirty="0"/>
              <a:t>Implementing F’ functions with less number of minterms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21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102698-F32A-473E-A483-B7B1612BEA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751" y="3263462"/>
            <a:ext cx="4337538" cy="345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83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ROM: Types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066585" cy="4351338"/>
          </a:xfrm>
        </p:spPr>
        <p:txBody>
          <a:bodyPr/>
          <a:lstStyle/>
          <a:p>
            <a:r>
              <a:rPr lang="en-US" dirty="0"/>
              <a:t>Types of </a:t>
            </a:r>
            <a:r>
              <a:rPr lang="en-US" b="1" i="1" dirty="0"/>
              <a:t>programming</a:t>
            </a:r>
            <a:r>
              <a:rPr lang="en-US" dirty="0"/>
              <a:t>: </a:t>
            </a:r>
          </a:p>
          <a:p>
            <a:pPr lvl="1"/>
            <a:r>
              <a:rPr lang="en-US" b="1" i="1" dirty="0"/>
              <a:t>Mask</a:t>
            </a:r>
            <a:r>
              <a:rPr lang="en-US" dirty="0"/>
              <a:t> Programming: </a:t>
            </a:r>
          </a:p>
          <a:p>
            <a:pPr lvl="2"/>
            <a:r>
              <a:rPr lang="en-US" dirty="0"/>
              <a:t>Done by manufacturer</a:t>
            </a:r>
          </a:p>
          <a:p>
            <a:pPr lvl="1"/>
            <a:r>
              <a:rPr lang="en-US" b="1" i="1" dirty="0"/>
              <a:t>Field </a:t>
            </a:r>
            <a:r>
              <a:rPr lang="en-US" dirty="0"/>
              <a:t>Programming: </a:t>
            </a:r>
          </a:p>
          <a:p>
            <a:pPr lvl="2"/>
            <a:r>
              <a:rPr lang="en-US" dirty="0"/>
              <a:t>Done by user by means of following certain procedures and  having programming equipment</a:t>
            </a:r>
          </a:p>
          <a:p>
            <a:r>
              <a:rPr lang="en-US" dirty="0"/>
              <a:t>Types of ROM (field programmable):</a:t>
            </a:r>
          </a:p>
          <a:p>
            <a:pPr lvl="1"/>
            <a:r>
              <a:rPr lang="en-US" dirty="0"/>
              <a:t>PROM – programmable only once</a:t>
            </a:r>
          </a:p>
          <a:p>
            <a:pPr lvl="1"/>
            <a:r>
              <a:rPr lang="en-US" dirty="0"/>
              <a:t>EPROM – erasable with </a:t>
            </a:r>
            <a:r>
              <a:rPr lang="en-US" b="1" dirty="0"/>
              <a:t>UV light chamber</a:t>
            </a:r>
          </a:p>
          <a:p>
            <a:pPr lvl="1"/>
            <a:r>
              <a:rPr lang="en-US" dirty="0"/>
              <a:t>EEPROM – resettable to the original state of 1s and 0s with a </a:t>
            </a:r>
            <a:r>
              <a:rPr lang="en-US" b="1" dirty="0"/>
              <a:t>special electrical signal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22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02001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Programmable Logic Array (PLA)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b="1" dirty="0"/>
              <a:t>Motivation: </a:t>
            </a:r>
          </a:p>
          <a:p>
            <a:pPr lvl="1"/>
            <a:r>
              <a:rPr lang="en-US" dirty="0"/>
              <a:t>A combinational circuit may contain </a:t>
            </a:r>
            <a:r>
              <a:rPr lang="en-US" b="1" i="1" dirty="0">
                <a:solidFill>
                  <a:srgbClr val="FF0000"/>
                </a:solidFill>
              </a:rPr>
              <a:t>don’t care conditions</a:t>
            </a:r>
            <a:r>
              <a:rPr lang="en-US" b="1" i="1" dirty="0"/>
              <a:t> </a:t>
            </a:r>
            <a:r>
              <a:rPr lang="en-US" dirty="0"/>
              <a:t>which will never occur </a:t>
            </a:r>
          </a:p>
          <a:p>
            <a:pPr lvl="2"/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waste of memory </a:t>
            </a:r>
            <a:r>
              <a:rPr lang="en-US" dirty="0"/>
              <a:t>considering </a:t>
            </a:r>
            <a:r>
              <a:rPr lang="en-US" b="1" i="1" dirty="0"/>
              <a:t>don’t cares </a:t>
            </a:r>
            <a:r>
              <a:rPr lang="en-US" dirty="0"/>
              <a:t>as valid </a:t>
            </a:r>
            <a:r>
              <a:rPr lang="en-US" b="1" i="1" dirty="0"/>
              <a:t>minterms</a:t>
            </a:r>
            <a:r>
              <a:rPr lang="en-US" dirty="0"/>
              <a:t> </a:t>
            </a:r>
          </a:p>
          <a:p>
            <a:pPr lvl="2"/>
            <a:r>
              <a:rPr lang="en-US" b="1" dirty="0"/>
              <a:t>Example:</a:t>
            </a:r>
            <a:r>
              <a:rPr lang="en-US" dirty="0"/>
              <a:t> Code conversion from BCD to Excess 3 where 6 addresses will not be used for a 16x4 ROM </a:t>
            </a:r>
          </a:p>
          <a:p>
            <a:pPr lvl="3"/>
            <a:r>
              <a:rPr lang="en-US" dirty="0"/>
              <a:t>A waste of </a:t>
            </a:r>
            <a:r>
              <a:rPr lang="en-US" sz="2200" b="1" i="1" dirty="0"/>
              <a:t>6x4 </a:t>
            </a:r>
            <a:r>
              <a:rPr lang="en-US" dirty="0"/>
              <a:t>bit locations</a:t>
            </a:r>
          </a:p>
          <a:p>
            <a:pPr lvl="1"/>
            <a:r>
              <a:rPr lang="en-US" dirty="0"/>
              <a:t>PLA (kind of LSI) is </a:t>
            </a:r>
            <a:r>
              <a:rPr lang="en-US" b="1" dirty="0">
                <a:solidFill>
                  <a:srgbClr val="FF0000"/>
                </a:solidFill>
              </a:rPr>
              <a:t>more economical</a:t>
            </a:r>
            <a:r>
              <a:rPr lang="en-US" dirty="0"/>
              <a:t> to use where don’t care cases are excessive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23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446498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Concept of PLA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667250"/>
          </a:xfrm>
        </p:spPr>
        <p:txBody>
          <a:bodyPr>
            <a:normAutofit/>
          </a:bodyPr>
          <a:lstStyle/>
          <a:p>
            <a:r>
              <a:rPr lang="en-US" dirty="0"/>
              <a:t>PLA </a:t>
            </a:r>
            <a:r>
              <a:rPr lang="en-US" b="1" dirty="0">
                <a:solidFill>
                  <a:srgbClr val="FF0000"/>
                </a:solidFill>
              </a:rPr>
              <a:t>doesn’t produce all minterms </a:t>
            </a:r>
            <a:r>
              <a:rPr lang="en-US" dirty="0"/>
              <a:t>like ROM or decoder</a:t>
            </a:r>
          </a:p>
          <a:p>
            <a:pPr lvl="1"/>
            <a:r>
              <a:rPr lang="en-US" dirty="0"/>
              <a:t>Rather some </a:t>
            </a:r>
            <a:r>
              <a:rPr lang="en-US" b="1" dirty="0"/>
              <a:t>essential AND gates </a:t>
            </a:r>
            <a:r>
              <a:rPr lang="en-US" dirty="0"/>
              <a:t>with buffer/inverters are used to generate some required product terms </a:t>
            </a:r>
          </a:p>
          <a:p>
            <a:pPr lvl="2"/>
            <a:r>
              <a:rPr lang="en-US" dirty="0"/>
              <a:t>These product terms are used to realize the expected output functions in turn. </a:t>
            </a:r>
          </a:p>
          <a:p>
            <a:r>
              <a:rPr lang="en-US" dirty="0"/>
              <a:t>Here, Boolean functions are implemented in </a:t>
            </a:r>
            <a:r>
              <a:rPr lang="en-US" b="1" dirty="0">
                <a:solidFill>
                  <a:srgbClr val="00B050"/>
                </a:solidFill>
              </a:rPr>
              <a:t>sum of products </a:t>
            </a:r>
            <a:r>
              <a:rPr lang="en-US" dirty="0"/>
              <a:t>form rather than </a:t>
            </a:r>
            <a:r>
              <a:rPr lang="en-US" b="1" dirty="0">
                <a:solidFill>
                  <a:srgbClr val="FF0000"/>
                </a:solidFill>
              </a:rPr>
              <a:t>sum of minterms </a:t>
            </a:r>
            <a:r>
              <a:rPr lang="en-US" dirty="0"/>
              <a:t>form</a:t>
            </a:r>
          </a:p>
          <a:p>
            <a:r>
              <a:rPr lang="en-US" dirty="0"/>
              <a:t>The AND </a:t>
            </a:r>
            <a:r>
              <a:rPr lang="en-US" dirty="0" err="1"/>
              <a:t>and</a:t>
            </a:r>
            <a:r>
              <a:rPr lang="en-US" dirty="0"/>
              <a:t> OR gates are fabricated with </a:t>
            </a:r>
            <a:r>
              <a:rPr lang="en-US" b="1" dirty="0">
                <a:solidFill>
                  <a:srgbClr val="00B050"/>
                </a:solidFill>
              </a:rPr>
              <a:t>fusible links </a:t>
            </a:r>
            <a:r>
              <a:rPr lang="en-US" dirty="0"/>
              <a:t>inside the PLA</a:t>
            </a:r>
          </a:p>
          <a:p>
            <a:pPr lvl="1"/>
            <a:r>
              <a:rPr lang="en-US" dirty="0"/>
              <a:t>All inputs to the AND </a:t>
            </a:r>
            <a:r>
              <a:rPr lang="en-US" dirty="0" err="1"/>
              <a:t>and</a:t>
            </a:r>
            <a:r>
              <a:rPr lang="en-US" dirty="0"/>
              <a:t> OR gates have fusible links </a:t>
            </a:r>
          </a:p>
          <a:p>
            <a:pPr lvl="1"/>
            <a:r>
              <a:rPr lang="en-US" dirty="0"/>
              <a:t>Even the outputs have inverter (NOT gate) with fusible links to be available both in </a:t>
            </a:r>
            <a:r>
              <a:rPr lang="en-US" b="1" i="1" dirty="0"/>
              <a:t>F</a:t>
            </a:r>
            <a:r>
              <a:rPr lang="en-US" dirty="0"/>
              <a:t> and </a:t>
            </a:r>
            <a:r>
              <a:rPr lang="en-US" b="1" i="1" dirty="0"/>
              <a:t>F’ </a:t>
            </a:r>
            <a:r>
              <a:rPr lang="en-US" dirty="0"/>
              <a:t>format</a:t>
            </a:r>
          </a:p>
          <a:p>
            <a:pPr lvl="1"/>
            <a:r>
              <a:rPr lang="en-US" dirty="0"/>
              <a:t>The required functions are realized opening (blowing off) required links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24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25677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Concept of PLA…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/>
              <a:t>Common notation: </a:t>
            </a:r>
            <a:r>
              <a:rPr lang="en-US" b="1" dirty="0"/>
              <a:t>n </a:t>
            </a:r>
            <a:r>
              <a:rPr lang="en-US" dirty="0"/>
              <a:t>x </a:t>
            </a:r>
            <a:r>
              <a:rPr lang="en-US" b="1" dirty="0"/>
              <a:t>p</a:t>
            </a:r>
            <a:r>
              <a:rPr lang="en-US" dirty="0"/>
              <a:t> x </a:t>
            </a:r>
            <a:r>
              <a:rPr lang="en-US" b="1" dirty="0"/>
              <a:t>m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n</a:t>
            </a:r>
            <a:r>
              <a:rPr lang="en-US" dirty="0"/>
              <a:t> = number of inputs</a:t>
            </a:r>
          </a:p>
          <a:p>
            <a:pPr lvl="1"/>
            <a:r>
              <a:rPr lang="en-US" b="1" dirty="0"/>
              <a:t>p</a:t>
            </a:r>
            <a:r>
              <a:rPr lang="en-US" dirty="0"/>
              <a:t> = number of product terms</a:t>
            </a:r>
          </a:p>
          <a:p>
            <a:pPr lvl="1"/>
            <a:r>
              <a:rPr lang="en-US" b="1" dirty="0"/>
              <a:t>m</a:t>
            </a:r>
            <a:r>
              <a:rPr lang="en-US" dirty="0"/>
              <a:t> = number of outputs (or sum terms)</a:t>
            </a:r>
          </a:p>
          <a:p>
            <a:r>
              <a:rPr lang="en-US" dirty="0"/>
              <a:t>Total number of</a:t>
            </a:r>
            <a:r>
              <a:rPr lang="en-US" b="1" i="1" dirty="0"/>
              <a:t> programmable links </a:t>
            </a:r>
            <a:r>
              <a:rPr lang="en-US" dirty="0"/>
              <a:t>= 2n x 2p x 2m</a:t>
            </a:r>
          </a:p>
          <a:p>
            <a:r>
              <a:rPr lang="en-US" dirty="0"/>
              <a:t>The basic difference between ROM and PLA is in the</a:t>
            </a:r>
            <a:r>
              <a:rPr lang="en-US" b="1" dirty="0"/>
              <a:t> number of the product term</a:t>
            </a:r>
          </a:p>
          <a:p>
            <a:pPr lvl="1"/>
            <a:r>
              <a:rPr lang="en-US" b="1" i="1" dirty="0"/>
              <a:t>i.e.</a:t>
            </a:r>
            <a:r>
              <a:rPr lang="en-US" dirty="0"/>
              <a:t> 2</a:t>
            </a:r>
            <a:r>
              <a:rPr lang="en-US" baseline="30000" dirty="0"/>
              <a:t>n</a:t>
            </a:r>
            <a:r>
              <a:rPr lang="en-US" dirty="0"/>
              <a:t> (ROM) &gt;&gt; p (PLA)</a:t>
            </a:r>
          </a:p>
          <a:p>
            <a:pPr lvl="1"/>
            <a:r>
              <a:rPr lang="en-US" b="1" i="1" dirty="0"/>
              <a:t>e.g.</a:t>
            </a:r>
            <a:r>
              <a:rPr lang="en-US" dirty="0"/>
              <a:t> 16 x </a:t>
            </a:r>
            <a:r>
              <a:rPr lang="en-US" b="1" dirty="0">
                <a:solidFill>
                  <a:srgbClr val="00B050"/>
                </a:solidFill>
              </a:rPr>
              <a:t>48 </a:t>
            </a:r>
            <a:r>
              <a:rPr lang="en-US" dirty="0"/>
              <a:t>x 8 PLA. Here the number of product term is drastically reduced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25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15844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PLA: Block Diagram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26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E83EA2-2475-4664-AE54-54A19E3870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210" y="2030224"/>
            <a:ext cx="9437449" cy="255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369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PLA: General Structure or Logic Diagram </a:t>
            </a:r>
            <a:endParaRPr lang="en-US" sz="39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EAF938-F1EE-42D6-A0CA-5E12A690CF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36" y="1460500"/>
            <a:ext cx="4978364" cy="489585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27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298320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PLA: Types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/>
              <a:t>Types of programming:</a:t>
            </a:r>
          </a:p>
          <a:p>
            <a:pPr lvl="1"/>
            <a:r>
              <a:rPr lang="en-US" b="1" i="1" dirty="0"/>
              <a:t>Mask </a:t>
            </a:r>
            <a:r>
              <a:rPr lang="en-US" dirty="0"/>
              <a:t>programming</a:t>
            </a:r>
          </a:p>
          <a:p>
            <a:pPr lvl="2"/>
            <a:r>
              <a:rPr lang="en-US" dirty="0"/>
              <a:t>User must provide the PLA program table to the manufacturer </a:t>
            </a:r>
          </a:p>
          <a:p>
            <a:pPr lvl="1"/>
            <a:r>
              <a:rPr lang="en-US" b="1" i="1" dirty="0"/>
              <a:t>Field </a:t>
            </a:r>
            <a:r>
              <a:rPr lang="en-US" dirty="0"/>
              <a:t>programming </a:t>
            </a:r>
          </a:p>
          <a:p>
            <a:pPr lvl="2"/>
            <a:r>
              <a:rPr lang="en-US" dirty="0"/>
              <a:t>User can program it by means of certain procedures and equipment 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28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791073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PLA: Implementation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080531" cy="435133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Constraint: </a:t>
            </a:r>
            <a:r>
              <a:rPr lang="en-US" dirty="0"/>
              <a:t>All minterms are not present in the AND array like ROM </a:t>
            </a:r>
          </a:p>
          <a:p>
            <a:r>
              <a:rPr lang="en-US" dirty="0"/>
              <a:t>So, SOP is </a:t>
            </a:r>
            <a:r>
              <a:rPr lang="en-US" b="1" dirty="0"/>
              <a:t>more preferred </a:t>
            </a:r>
            <a:r>
              <a:rPr lang="en-US" dirty="0"/>
              <a:t>over SOM [</a:t>
            </a:r>
            <a:r>
              <a:rPr lang="en-US" b="1" i="1" dirty="0"/>
              <a:t>standard form over canonical form</a:t>
            </a:r>
            <a:r>
              <a:rPr lang="en-US" dirty="0"/>
              <a:t>]</a:t>
            </a:r>
          </a:p>
          <a:p>
            <a:r>
              <a:rPr lang="en-US" dirty="0"/>
              <a:t>Some </a:t>
            </a:r>
            <a:r>
              <a:rPr lang="en-US" b="1" dirty="0">
                <a:solidFill>
                  <a:srgbClr val="00B050"/>
                </a:solidFill>
              </a:rPr>
              <a:t>degree of simplification </a:t>
            </a:r>
            <a:r>
              <a:rPr lang="en-US" dirty="0"/>
              <a:t>of Boolean functions is required to meet the </a:t>
            </a:r>
            <a:r>
              <a:rPr lang="en-US" b="1" dirty="0"/>
              <a:t>required number of product terms </a:t>
            </a:r>
          </a:p>
          <a:p>
            <a:r>
              <a:rPr lang="en-US" dirty="0"/>
              <a:t>Extra intelligence is required to choose between </a:t>
            </a:r>
            <a:r>
              <a:rPr lang="en-US" b="1" i="1" dirty="0"/>
              <a:t>F </a:t>
            </a:r>
            <a:r>
              <a:rPr lang="en-US" dirty="0"/>
              <a:t>and </a:t>
            </a:r>
            <a:r>
              <a:rPr lang="en-US" b="1" i="1" dirty="0"/>
              <a:t>F’ </a:t>
            </a:r>
          </a:p>
          <a:p>
            <a:pPr lvl="1"/>
            <a:r>
              <a:rPr lang="en-US" dirty="0"/>
              <a:t>So that the number of product terms does not exceed the number of AND gates 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29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258377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PLA: Example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Too simple to implement with a PLA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sz="2600" b="1" dirty="0"/>
              <a:t>Example:</a:t>
            </a:r>
            <a:r>
              <a:rPr lang="en-US" sz="2600" dirty="0"/>
              <a:t> Use a </a:t>
            </a:r>
            <a:r>
              <a:rPr lang="en-US" sz="2600" b="1" i="1" dirty="0">
                <a:solidFill>
                  <a:srgbClr val="00B050"/>
                </a:solidFill>
              </a:rPr>
              <a:t>3 x 4 x 2 </a:t>
            </a:r>
            <a:r>
              <a:rPr lang="en-US" sz="2600" dirty="0"/>
              <a:t>PLA to implement the following Boolean expressions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get required and reduced product terms, </a:t>
            </a:r>
            <a:r>
              <a:rPr lang="en-US" b="1" dirty="0"/>
              <a:t>simplified expressions </a:t>
            </a:r>
            <a:r>
              <a:rPr lang="en-US" dirty="0"/>
              <a:t>are: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30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F4C72B-33C8-441B-807D-6E2711A12E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132" y="2317586"/>
            <a:ext cx="3520535" cy="81549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7755AEF-ECD6-4DC0-96C3-158D2B11800B}"/>
              </a:ext>
            </a:extLst>
          </p:cNvPr>
          <p:cNvGrpSpPr/>
          <p:nvPr/>
        </p:nvGrpSpPr>
        <p:grpSpPr>
          <a:xfrm>
            <a:off x="2209800" y="4001294"/>
            <a:ext cx="3256764" cy="2023553"/>
            <a:chOff x="838200" y="4001294"/>
            <a:chExt cx="3256764" cy="202355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C87E673-FDE3-4A2D-8DF2-1433F6D0D5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7876" b="19204"/>
            <a:stretch/>
          </p:blipFill>
          <p:spPr>
            <a:xfrm>
              <a:off x="838200" y="4001294"/>
              <a:ext cx="3256764" cy="164336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F314DA5-A6A8-46AC-9069-0F1618D908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9112"/>
            <a:stretch/>
          </p:blipFill>
          <p:spPr>
            <a:xfrm>
              <a:off x="1377966" y="5644662"/>
              <a:ext cx="2177232" cy="380185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0AAA8B2-0CFC-4A8A-A836-33370D5AE5EB}"/>
              </a:ext>
            </a:extLst>
          </p:cNvPr>
          <p:cNvGrpSpPr/>
          <p:nvPr/>
        </p:nvGrpSpPr>
        <p:grpSpPr>
          <a:xfrm>
            <a:off x="6700619" y="4001294"/>
            <a:ext cx="3200400" cy="2067016"/>
            <a:chOff x="4920933" y="4001294"/>
            <a:chExt cx="3200400" cy="206701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B007367-485C-4E06-A359-DA4DA3E55A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333" b="19204"/>
            <a:stretch/>
          </p:blipFill>
          <p:spPr>
            <a:xfrm>
              <a:off x="4920933" y="4001294"/>
              <a:ext cx="3200400" cy="1522503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8DC0B53-E967-47EE-9924-8ED276136C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1025"/>
            <a:stretch/>
          </p:blipFill>
          <p:spPr>
            <a:xfrm>
              <a:off x="5458922" y="5703184"/>
              <a:ext cx="2343064" cy="3651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9511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PLA: Example…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b="1" dirty="0"/>
              <a:t>PLA program table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31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C4FFB8-DEA3-4A22-BCA1-D0287D38D6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041" y="2584405"/>
            <a:ext cx="8169918" cy="29195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2480EB-2373-4A6B-B9F9-B7EB63A17023}"/>
              </a:ext>
            </a:extLst>
          </p:cNvPr>
          <p:cNvSpPr txBox="1"/>
          <p:nvPr/>
        </p:nvSpPr>
        <p:spPr>
          <a:xfrm>
            <a:off x="6840416" y="5665569"/>
            <a:ext cx="43109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= in its original form, </a:t>
            </a:r>
            <a:r>
              <a:rPr lang="en-US" u="sng" dirty="0"/>
              <a:t>inverter</a:t>
            </a:r>
            <a:r>
              <a:rPr lang="en-US" dirty="0"/>
              <a:t> is blown up</a:t>
            </a:r>
          </a:p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dirty="0"/>
              <a:t> = in its complement form, </a:t>
            </a:r>
            <a:r>
              <a:rPr lang="en-US" u="sng" dirty="0"/>
              <a:t>inverted</a:t>
            </a:r>
            <a:r>
              <a:rPr lang="en-US" dirty="0"/>
              <a:t> is used</a:t>
            </a:r>
          </a:p>
        </p:txBody>
      </p:sp>
    </p:spTree>
    <p:extLst>
      <p:ext uri="{BB962C8B-B14F-4D97-AF65-F5344CB8AC3E}">
        <p14:creationId xmlns:p14="http://schemas.microsoft.com/office/powerpoint/2010/main" val="10602421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PLA: Example…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b="1" dirty="0"/>
              <a:t>Internal connections of PLA </a:t>
            </a:r>
            <a:r>
              <a:rPr lang="en-US" dirty="0"/>
              <a:t>with PLD notation: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32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E9EF0A-90BD-43DA-A9E6-C77298430F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530" y="2268591"/>
            <a:ext cx="6742940" cy="445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02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Programmable Array Logic (PAL)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/>
              <a:t>General structure of PAL is very similar to PLA </a:t>
            </a:r>
          </a:p>
          <a:p>
            <a:pPr lvl="1"/>
            <a:r>
              <a:rPr lang="en-US" b="1" dirty="0"/>
              <a:t>But, </a:t>
            </a:r>
            <a:r>
              <a:rPr lang="en-US" dirty="0"/>
              <a:t>only difference between these is in a PAL device, only </a:t>
            </a:r>
            <a:r>
              <a:rPr lang="en-US" b="1" dirty="0">
                <a:solidFill>
                  <a:srgbClr val="FF0000"/>
                </a:solidFill>
              </a:rPr>
              <a:t>AND gates are programmable</a:t>
            </a:r>
            <a:r>
              <a:rPr lang="en-US" dirty="0"/>
              <a:t> whereas </a:t>
            </a:r>
            <a:r>
              <a:rPr lang="en-US" b="1" dirty="0">
                <a:solidFill>
                  <a:srgbClr val="00B050"/>
                </a:solidFill>
              </a:rPr>
              <a:t>OR gates are fixed </a:t>
            </a:r>
            <a:r>
              <a:rPr lang="en-US" dirty="0"/>
              <a:t>by manufacturer. </a:t>
            </a:r>
          </a:p>
          <a:p>
            <a:pPr lvl="2"/>
            <a:r>
              <a:rPr lang="en-US" dirty="0"/>
              <a:t>So, PLA is less expensive, </a:t>
            </a:r>
            <a:r>
              <a:rPr lang="en-US" sz="2400" b="1" dirty="0">
                <a:solidFill>
                  <a:srgbClr val="FF0000"/>
                </a:solidFill>
              </a:rPr>
              <a:t>more flexible </a:t>
            </a:r>
            <a:r>
              <a:rPr lang="en-US" dirty="0"/>
              <a:t>and more easier than PAL   </a:t>
            </a:r>
            <a:r>
              <a:rPr lang="en-US" b="1" dirty="0"/>
              <a:t> 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33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514359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Concept of PAL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/>
              <a:t>External inputs are connected with the AND gates with programmable links </a:t>
            </a:r>
          </a:p>
          <a:p>
            <a:pPr lvl="1"/>
            <a:r>
              <a:rPr lang="en-US" dirty="0"/>
              <a:t>Whereas, </a:t>
            </a:r>
            <a:r>
              <a:rPr lang="en-US" b="1" dirty="0">
                <a:solidFill>
                  <a:srgbClr val="FF0000"/>
                </a:solidFill>
              </a:rPr>
              <a:t>the output of AND gates are fed to OR array with fixed connections </a:t>
            </a:r>
          </a:p>
          <a:p>
            <a:r>
              <a:rPr lang="en-US" b="1" i="1" dirty="0">
                <a:solidFill>
                  <a:srgbClr val="00B050"/>
                </a:solidFill>
              </a:rPr>
              <a:t>All the AND outputs are not fed to all OR gates  </a:t>
            </a:r>
          </a:p>
          <a:p>
            <a:pPr lvl="1"/>
            <a:r>
              <a:rPr lang="en-US" dirty="0"/>
              <a:t>Rather, few AND outputs are connected to an OR gate based on the manufacturer’s direction (Figure shown)</a:t>
            </a:r>
          </a:p>
          <a:p>
            <a:r>
              <a:rPr lang="en-US" dirty="0"/>
              <a:t>Similar </a:t>
            </a:r>
            <a:r>
              <a:rPr lang="en-US" b="1" dirty="0"/>
              <a:t>n</a:t>
            </a:r>
            <a:r>
              <a:rPr lang="en-US" dirty="0"/>
              <a:t> x </a:t>
            </a:r>
            <a:r>
              <a:rPr lang="en-US" b="1" dirty="0"/>
              <a:t>p </a:t>
            </a:r>
            <a:r>
              <a:rPr lang="en-US" dirty="0"/>
              <a:t>x </a:t>
            </a:r>
            <a:r>
              <a:rPr lang="en-US" b="1" dirty="0"/>
              <a:t>m </a:t>
            </a:r>
            <a:r>
              <a:rPr lang="en-US" dirty="0"/>
              <a:t>notation for PAL as PLA:</a:t>
            </a:r>
          </a:p>
          <a:p>
            <a:pPr lvl="1"/>
            <a:r>
              <a:rPr lang="en-US" b="1" dirty="0"/>
              <a:t>n</a:t>
            </a:r>
            <a:r>
              <a:rPr lang="en-US" dirty="0"/>
              <a:t> = number of inputs</a:t>
            </a:r>
          </a:p>
          <a:p>
            <a:pPr lvl="1"/>
            <a:r>
              <a:rPr lang="en-US" b="1" dirty="0"/>
              <a:t>p</a:t>
            </a:r>
            <a:r>
              <a:rPr lang="en-US" dirty="0"/>
              <a:t> = number of product terms</a:t>
            </a:r>
          </a:p>
          <a:p>
            <a:pPr lvl="1"/>
            <a:r>
              <a:rPr lang="en-US" b="1" dirty="0"/>
              <a:t>m</a:t>
            </a:r>
            <a:r>
              <a:rPr lang="en-US" dirty="0"/>
              <a:t> = number of outputs (or sum terms)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34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519976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PAL: General Structure </a:t>
            </a:r>
            <a:endParaRPr lang="en-US" sz="39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8E541A-6846-4BAB-9C12-A822ED8877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01" y="2245432"/>
            <a:ext cx="10153430" cy="2817619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35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348660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 Generic </a:t>
            </a:r>
            <a:r>
              <a:rPr lang="en-US" b="1" i="1" dirty="0">
                <a:solidFill>
                  <a:srgbClr val="FF0000"/>
                </a:solidFill>
                <a:latin typeface="+mn-lt"/>
              </a:rPr>
              <a:t>4 x 8 x 3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PAL</a:t>
            </a:r>
            <a:endParaRPr lang="en-US" sz="39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12A3D7-75A6-4F9D-BA37-C93A809014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489" y="1307265"/>
            <a:ext cx="7151022" cy="4697991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36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574218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PAL: Implementation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/>
              <a:t>Some degree of simplification is required to </a:t>
            </a:r>
            <a:r>
              <a:rPr lang="en-US" b="1" dirty="0"/>
              <a:t>reduce</a:t>
            </a:r>
            <a:r>
              <a:rPr lang="en-US" dirty="0"/>
              <a:t> the total number of product terms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37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615952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PAL: Example with a 4 x 8 x 3 PAL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Too simple to implement with a PAL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sz="2600" b="1" dirty="0"/>
              <a:t>Example:</a:t>
            </a:r>
            <a:r>
              <a:rPr lang="en-US" sz="2600" dirty="0"/>
              <a:t> Use a </a:t>
            </a:r>
            <a:r>
              <a:rPr lang="en-US" sz="2600" b="1" i="1" dirty="0">
                <a:solidFill>
                  <a:srgbClr val="00B050"/>
                </a:solidFill>
                <a:hlinkClick r:id="rId3" action="ppaction://hlinksldjump"/>
              </a:rPr>
              <a:t>4 x 8 x 3 </a:t>
            </a:r>
            <a:r>
              <a:rPr lang="en-US" sz="2600" dirty="0"/>
              <a:t>PAL to implement the following Boolean expressions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get required and reduced product terms, </a:t>
            </a:r>
            <a:r>
              <a:rPr lang="en-US" b="1" dirty="0"/>
              <a:t>simplified expressions </a:t>
            </a:r>
            <a:r>
              <a:rPr lang="en-US" dirty="0"/>
              <a:t>are: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38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0DEF95-8CA5-48B0-8DD5-E1F348019F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178" y="2327439"/>
            <a:ext cx="2717582" cy="7569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B85E3A-ADB7-4C59-8547-67C87E89EE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834" y="3914312"/>
            <a:ext cx="8829371" cy="18399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602F4C-9A62-425D-8D6A-C60719C7345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033"/>
          <a:stretch/>
        </p:blipFill>
        <p:spPr>
          <a:xfrm>
            <a:off x="2076658" y="5876731"/>
            <a:ext cx="4405848" cy="4382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3CC74A-6E11-445A-AEAE-E4F9BC1285B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398" b="-7365"/>
          <a:stretch/>
        </p:blipFill>
        <p:spPr>
          <a:xfrm>
            <a:off x="7376848" y="5866074"/>
            <a:ext cx="4405848" cy="43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0833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PAL: Example with a 4 x 8 x 3 PAL…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/>
              <a:t>But, in the specified PAL, there is </a:t>
            </a:r>
            <a:r>
              <a:rPr lang="en-US" b="1" dirty="0">
                <a:solidFill>
                  <a:srgbClr val="FF0000"/>
                </a:solidFill>
              </a:rPr>
              <a:t>no</a:t>
            </a:r>
            <a:r>
              <a:rPr lang="en-US" dirty="0"/>
              <a:t> OR gate </a:t>
            </a:r>
            <a:r>
              <a:rPr lang="en-US" b="1" dirty="0">
                <a:solidFill>
                  <a:srgbClr val="FF0000"/>
                </a:solidFill>
              </a:rPr>
              <a:t>with 4 product terms </a:t>
            </a:r>
          </a:p>
          <a:p>
            <a:pPr lvl="1"/>
            <a:r>
              <a:rPr lang="en-US" dirty="0"/>
              <a:t>So alternative realization could be: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Now these three functions could realize the specified Boolean expressions where F</a:t>
            </a:r>
            <a:r>
              <a:rPr lang="en-US" baseline="-25000" dirty="0"/>
              <a:t>3</a:t>
            </a:r>
            <a:r>
              <a:rPr lang="en-US" dirty="0"/>
              <a:t> (sub-function) has to be inserted as input to the F</a:t>
            </a:r>
            <a:r>
              <a:rPr lang="en-US" baseline="-25000" dirty="0"/>
              <a:t>1</a:t>
            </a:r>
            <a:r>
              <a:rPr lang="en-US" dirty="0"/>
              <a:t> again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39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92FDAD-CD6A-46D2-92E5-0391F86C6E5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564"/>
          <a:stretch/>
        </p:blipFill>
        <p:spPr>
          <a:xfrm>
            <a:off x="3710141" y="2725332"/>
            <a:ext cx="4046696" cy="7309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AABE73-9F3D-4149-B5E0-67F5D237E228}"/>
              </a:ext>
            </a:extLst>
          </p:cNvPr>
          <p:cNvSpPr txBox="1"/>
          <p:nvPr/>
        </p:nvSpPr>
        <p:spPr>
          <a:xfrm>
            <a:off x="2890493" y="3645224"/>
            <a:ext cx="819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E0F870-5056-4EE5-AEBC-248AA0A5A4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569" r="54492" b="5848"/>
          <a:stretch/>
        </p:blipFill>
        <p:spPr>
          <a:xfrm>
            <a:off x="3727726" y="3712951"/>
            <a:ext cx="1776261" cy="26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3726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PAL: Example with a 4 x 8 x 3 PAL…</a:t>
            </a:r>
            <a:endParaRPr lang="en-US" sz="39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DE0524-BDE8-4342-9BA1-06FAE5C8D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890" y="1690688"/>
            <a:ext cx="6230219" cy="4296375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40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264897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Other PLDs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/>
              <a:t>Registered PAL devices</a:t>
            </a:r>
          </a:p>
          <a:p>
            <a:pPr lvl="1"/>
            <a:r>
              <a:rPr lang="en-US" dirty="0"/>
              <a:t>For </a:t>
            </a:r>
            <a:r>
              <a:rPr lang="en-US" b="1" dirty="0"/>
              <a:t>sequential circuits </a:t>
            </a:r>
          </a:p>
          <a:p>
            <a:r>
              <a:rPr lang="en-US" b="1" dirty="0"/>
              <a:t>Generic Array Logic </a:t>
            </a:r>
            <a:r>
              <a:rPr lang="en-US" dirty="0"/>
              <a:t>Devices (GAL)</a:t>
            </a:r>
          </a:p>
          <a:p>
            <a:r>
              <a:rPr lang="en-US" b="1" dirty="0"/>
              <a:t>Field Programmable Gate Array </a:t>
            </a:r>
            <a:r>
              <a:rPr lang="en-US" dirty="0"/>
              <a:t>(FPGA)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41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123530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ALU as Logic Device</a:t>
            </a:r>
            <a:endParaRPr lang="en-US" sz="3900" dirty="0"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42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228FDD-39FC-404A-822E-556E3D78EAD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8366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ALU is a part of CPU that performs the </a:t>
            </a:r>
            <a:r>
              <a:rPr lang="en-US" b="1" dirty="0"/>
              <a:t>calculation </a:t>
            </a:r>
            <a:r>
              <a:rPr lang="en-US" dirty="0"/>
              <a:t>and </a:t>
            </a:r>
            <a:r>
              <a:rPr lang="en-US" b="1" dirty="0"/>
              <a:t>condition testing  </a:t>
            </a:r>
          </a:p>
          <a:p>
            <a:pPr lvl="1"/>
            <a:r>
              <a:rPr lang="en-US" dirty="0"/>
              <a:t>Considered as fundamental </a:t>
            </a:r>
            <a:r>
              <a:rPr lang="en-US" b="1" dirty="0"/>
              <a:t>building block</a:t>
            </a:r>
            <a:r>
              <a:rPr lang="en-US" dirty="0"/>
              <a:t> of CPU</a:t>
            </a:r>
          </a:p>
          <a:p>
            <a:pPr lvl="1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C45909-6B6C-42C5-8179-63FC6B729A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644" y="2840121"/>
            <a:ext cx="5772956" cy="3343742"/>
          </a:xfrm>
        </p:spPr>
      </p:pic>
    </p:spTree>
    <p:extLst>
      <p:ext uri="{BB962C8B-B14F-4D97-AF65-F5344CB8AC3E}">
        <p14:creationId xmlns:p14="http://schemas.microsoft.com/office/powerpoint/2010/main" val="13792939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ALU: Basic Concept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/>
              <a:t>Consists of millions of </a:t>
            </a:r>
            <a:r>
              <a:rPr lang="en-US" b="1" dirty="0"/>
              <a:t>transistors</a:t>
            </a:r>
          </a:p>
          <a:p>
            <a:r>
              <a:rPr lang="en-US" dirty="0"/>
              <a:t>Performs:</a:t>
            </a:r>
          </a:p>
          <a:p>
            <a:pPr lvl="1"/>
            <a:r>
              <a:rPr lang="en-US" b="1" dirty="0"/>
              <a:t>Arithmetic</a:t>
            </a:r>
            <a:r>
              <a:rPr lang="en-US" dirty="0"/>
              <a:t> operations – Add, subtract, …</a:t>
            </a:r>
          </a:p>
          <a:p>
            <a:pPr lvl="1"/>
            <a:r>
              <a:rPr lang="en-US" b="1" dirty="0"/>
              <a:t>Logical </a:t>
            </a:r>
            <a:r>
              <a:rPr lang="en-US" dirty="0"/>
              <a:t>operations – AND, OR, Rotate, Shift, …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43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366014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ALU: Example of ALU</a:t>
            </a:r>
            <a:endParaRPr lang="en-US" sz="39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219B03-2251-4702-AA26-19C505299C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827" y="1690688"/>
            <a:ext cx="5273546" cy="4351338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44</a:t>
            </a:fld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9F17E8-F823-42E2-A70C-F51E85C328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0693" y="1702005"/>
            <a:ext cx="3404519" cy="43400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46595D6-E4EC-4321-ADE4-0DC4A9F9E0B7}"/>
              </a:ext>
            </a:extLst>
          </p:cNvPr>
          <p:cNvSpPr txBox="1"/>
          <p:nvPr/>
        </p:nvSpPr>
        <p:spPr>
          <a:xfrm>
            <a:off x="2412962" y="6123543"/>
            <a:ext cx="16526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Circuit Diagram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of 1-bit ALU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41E47B-8CE6-4271-A892-5BB40C692731}"/>
              </a:ext>
            </a:extLst>
          </p:cNvPr>
          <p:cNvSpPr txBox="1"/>
          <p:nvPr/>
        </p:nvSpPr>
        <p:spPr>
          <a:xfrm>
            <a:off x="8329503" y="6123543"/>
            <a:ext cx="22597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Block Diagram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of multiple 1-bit ALUs</a:t>
            </a:r>
          </a:p>
        </p:txBody>
      </p:sp>
    </p:spTree>
    <p:extLst>
      <p:ext uri="{BB962C8B-B14F-4D97-AF65-F5344CB8AC3E}">
        <p14:creationId xmlns:p14="http://schemas.microsoft.com/office/powerpoint/2010/main" val="34551757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ALU: More Complex Example</a:t>
            </a:r>
            <a:endParaRPr lang="en-US" sz="39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62FEB6-194C-4FC0-A6E0-2EFAFCECBC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331" y="1825625"/>
            <a:ext cx="7502013" cy="4351338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45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971026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 err="1"/>
              <a:t>abc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46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68379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 err="1"/>
              <a:t>abc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47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187255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 err="1"/>
              <a:t>abc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48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655109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 err="1"/>
              <a:t>abc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49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787400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 err="1"/>
              <a:t>abc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50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812914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6640" cy="4351338"/>
          </a:xfrm>
        </p:spPr>
        <p:txBody>
          <a:bodyPr/>
          <a:lstStyle/>
          <a:p>
            <a:r>
              <a:rPr lang="en-US" dirty="0" err="1"/>
              <a:t>abc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Demo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51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32473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2803</TotalTime>
  <Words>2845</Words>
  <Application>Microsoft Office PowerPoint</Application>
  <PresentationFormat>Widescreen</PresentationFormat>
  <Paragraphs>501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Calibri</vt:lpstr>
      <vt:lpstr>Calibri Light</vt:lpstr>
      <vt:lpstr>Office Theme</vt:lpstr>
      <vt:lpstr>1_Office Theme</vt:lpstr>
      <vt:lpstr>ROM, PLA, PAL, ALU</vt:lpstr>
      <vt:lpstr>Remaining to Add</vt:lpstr>
      <vt:lpstr>Introduction</vt:lpstr>
      <vt:lpstr>Concept to Produce PLDs</vt:lpstr>
      <vt:lpstr>General Structure of PLD</vt:lpstr>
      <vt:lpstr>Internal Structure of PLD</vt:lpstr>
      <vt:lpstr>PLD Classification and Summery</vt:lpstr>
      <vt:lpstr>Concept: Programmable Array</vt:lpstr>
      <vt:lpstr>PLD Notation </vt:lpstr>
      <vt:lpstr>PLD Types in Details</vt:lpstr>
      <vt:lpstr>Read Only Memory (ROM)</vt:lpstr>
      <vt:lpstr>ROM…</vt:lpstr>
      <vt:lpstr>ROM with Decoder</vt:lpstr>
      <vt:lpstr>2nxm ROM: Logic Diagram </vt:lpstr>
      <vt:lpstr>2nxm ROM: Logic Diagram with PLD Notation </vt:lpstr>
      <vt:lpstr>ROM: Applications </vt:lpstr>
      <vt:lpstr>ROM: Implementation </vt:lpstr>
      <vt:lpstr>ROM: Example Too simple to implement with a ROM</vt:lpstr>
      <vt:lpstr>ROM: Example…</vt:lpstr>
      <vt:lpstr>ROM: Example…</vt:lpstr>
      <vt:lpstr>ROM: Example…</vt:lpstr>
      <vt:lpstr>ROM: Types</vt:lpstr>
      <vt:lpstr>Programmable Logic Array (PLA)</vt:lpstr>
      <vt:lpstr>Concept of PLA</vt:lpstr>
      <vt:lpstr>Concept of PLA…</vt:lpstr>
      <vt:lpstr>PLA: Block Diagram </vt:lpstr>
      <vt:lpstr>PLA: General Structure or Logic Diagram </vt:lpstr>
      <vt:lpstr>PLA: Types</vt:lpstr>
      <vt:lpstr>PLA: Implementation </vt:lpstr>
      <vt:lpstr>PLA: Example Too simple to implement with a PLA</vt:lpstr>
      <vt:lpstr>PLA: Example…</vt:lpstr>
      <vt:lpstr>PLA: Example…</vt:lpstr>
      <vt:lpstr>Programmable Array Logic (PAL)</vt:lpstr>
      <vt:lpstr>Concept of PAL</vt:lpstr>
      <vt:lpstr>PAL: General Structure </vt:lpstr>
      <vt:lpstr>A Generic 4 x 8 x 3 PAL</vt:lpstr>
      <vt:lpstr>PAL: Implementation</vt:lpstr>
      <vt:lpstr>PAL: Example with a 4 x 8 x 3 PAL Too simple to implement with a PAL</vt:lpstr>
      <vt:lpstr>PAL: Example with a 4 x 8 x 3 PAL…</vt:lpstr>
      <vt:lpstr>PAL: Example with a 4 x 8 x 3 PAL…</vt:lpstr>
      <vt:lpstr>Other PLDs</vt:lpstr>
      <vt:lpstr>ALU as Logic Device</vt:lpstr>
      <vt:lpstr>ALU: Basic Concept</vt:lpstr>
      <vt:lpstr>ALU: Example of ALU</vt:lpstr>
      <vt:lpstr>ALU: More Complex Example</vt:lpstr>
      <vt:lpstr>ABC</vt:lpstr>
      <vt:lpstr>ABC</vt:lpstr>
      <vt:lpstr>ABC</vt:lpstr>
      <vt:lpstr>ABC</vt:lpstr>
      <vt:lpstr>ABC</vt:lpstr>
      <vt:lpstr>ABC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4205 Digital Logic Design</dc:title>
  <dc:creator>Admin</dc:creator>
  <cp:lastModifiedBy>Md. Hamjajul Ashmafee , Lecturer,CSE</cp:lastModifiedBy>
  <cp:revision>161</cp:revision>
  <dcterms:created xsi:type="dcterms:W3CDTF">2018-06-27T14:59:12Z</dcterms:created>
  <dcterms:modified xsi:type="dcterms:W3CDTF">2022-03-21T02:06:44Z</dcterms:modified>
</cp:coreProperties>
</file>