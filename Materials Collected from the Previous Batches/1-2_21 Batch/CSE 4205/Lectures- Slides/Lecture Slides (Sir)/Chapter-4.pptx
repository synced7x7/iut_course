
<file path=[Content_Types].xml><?xml version="1.0" encoding="utf-8"?>
<Types xmlns="http://schemas.openxmlformats.org/package/2006/content-types">
  <Default Extension="crdownload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ink/ink1.xml" ContentType="application/inkml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01"/>
  </p:notesMasterIdLst>
  <p:handoutMasterIdLst>
    <p:handoutMasterId r:id="rId102"/>
  </p:handoutMasterIdLst>
  <p:sldIdLst>
    <p:sldId id="256" r:id="rId3"/>
    <p:sldId id="391" r:id="rId4"/>
    <p:sldId id="337" r:id="rId5"/>
    <p:sldId id="260" r:id="rId6"/>
    <p:sldId id="272" r:id="rId7"/>
    <p:sldId id="295" r:id="rId8"/>
    <p:sldId id="338" r:id="rId9"/>
    <p:sldId id="273" r:id="rId10"/>
    <p:sldId id="339" r:id="rId11"/>
    <p:sldId id="341" r:id="rId12"/>
    <p:sldId id="343" r:id="rId13"/>
    <p:sldId id="340" r:id="rId14"/>
    <p:sldId id="342" r:id="rId15"/>
    <p:sldId id="274" r:id="rId16"/>
    <p:sldId id="344" r:id="rId17"/>
    <p:sldId id="276" r:id="rId18"/>
    <p:sldId id="345" r:id="rId19"/>
    <p:sldId id="275" r:id="rId20"/>
    <p:sldId id="346" r:id="rId21"/>
    <p:sldId id="347" r:id="rId22"/>
    <p:sldId id="348" r:id="rId23"/>
    <p:sldId id="349" r:id="rId24"/>
    <p:sldId id="350" r:id="rId25"/>
    <p:sldId id="279" r:id="rId26"/>
    <p:sldId id="280" r:id="rId27"/>
    <p:sldId id="282" r:id="rId28"/>
    <p:sldId id="283" r:id="rId29"/>
    <p:sldId id="284" r:id="rId30"/>
    <p:sldId id="286" r:id="rId31"/>
    <p:sldId id="288" r:id="rId32"/>
    <p:sldId id="351" r:id="rId33"/>
    <p:sldId id="392" r:id="rId34"/>
    <p:sldId id="352" r:id="rId35"/>
    <p:sldId id="353" r:id="rId36"/>
    <p:sldId id="354" r:id="rId37"/>
    <p:sldId id="355" r:id="rId38"/>
    <p:sldId id="289" r:id="rId39"/>
    <p:sldId id="290" r:id="rId40"/>
    <p:sldId id="393" r:id="rId41"/>
    <p:sldId id="291" r:id="rId42"/>
    <p:sldId id="292" r:id="rId43"/>
    <p:sldId id="293" r:id="rId44"/>
    <p:sldId id="294" r:id="rId45"/>
    <p:sldId id="323" r:id="rId46"/>
    <p:sldId id="359" r:id="rId47"/>
    <p:sldId id="394" r:id="rId48"/>
    <p:sldId id="395" r:id="rId49"/>
    <p:sldId id="356" r:id="rId50"/>
    <p:sldId id="357" r:id="rId51"/>
    <p:sldId id="360" r:id="rId52"/>
    <p:sldId id="363" r:id="rId53"/>
    <p:sldId id="362" r:id="rId54"/>
    <p:sldId id="361" r:id="rId55"/>
    <p:sldId id="364" r:id="rId56"/>
    <p:sldId id="365" r:id="rId57"/>
    <p:sldId id="366" r:id="rId58"/>
    <p:sldId id="367" r:id="rId59"/>
    <p:sldId id="396" r:id="rId60"/>
    <p:sldId id="368" r:id="rId61"/>
    <p:sldId id="369" r:id="rId62"/>
    <p:sldId id="397" r:id="rId63"/>
    <p:sldId id="370" r:id="rId64"/>
    <p:sldId id="371" r:id="rId65"/>
    <p:sldId id="404" r:id="rId66"/>
    <p:sldId id="372" r:id="rId67"/>
    <p:sldId id="373" r:id="rId68"/>
    <p:sldId id="374" r:id="rId69"/>
    <p:sldId id="375" r:id="rId70"/>
    <p:sldId id="376" r:id="rId71"/>
    <p:sldId id="377" r:id="rId72"/>
    <p:sldId id="378" r:id="rId73"/>
    <p:sldId id="379" r:id="rId74"/>
    <p:sldId id="380" r:id="rId75"/>
    <p:sldId id="405" r:id="rId76"/>
    <p:sldId id="398" r:id="rId77"/>
    <p:sldId id="407" r:id="rId78"/>
    <p:sldId id="408" r:id="rId79"/>
    <p:sldId id="409" r:id="rId80"/>
    <p:sldId id="262" r:id="rId81"/>
    <p:sldId id="270" r:id="rId82"/>
    <p:sldId id="382" r:id="rId83"/>
    <p:sldId id="402" r:id="rId84"/>
    <p:sldId id="399" r:id="rId85"/>
    <p:sldId id="400" r:id="rId86"/>
    <p:sldId id="401" r:id="rId87"/>
    <p:sldId id="403" r:id="rId88"/>
    <p:sldId id="381" r:id="rId89"/>
    <p:sldId id="313" r:id="rId90"/>
    <p:sldId id="314" r:id="rId91"/>
    <p:sldId id="315" r:id="rId92"/>
    <p:sldId id="316" r:id="rId93"/>
    <p:sldId id="317" r:id="rId94"/>
    <p:sldId id="318" r:id="rId95"/>
    <p:sldId id="319" r:id="rId96"/>
    <p:sldId id="322" r:id="rId97"/>
    <p:sldId id="324" r:id="rId98"/>
    <p:sldId id="325" r:id="rId99"/>
    <p:sldId id="326" r:id="rId10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74854" autoAdjust="0"/>
  </p:normalViewPr>
  <p:slideViewPr>
    <p:cSldViewPr snapToGrid="0">
      <p:cViewPr varScale="1">
        <p:scale>
          <a:sx n="50" d="100"/>
          <a:sy n="50" d="100"/>
        </p:scale>
        <p:origin x="11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54C1B9E-036F-4426-B1FE-095181F8A776}" type="datetimeFigureOut">
              <a:rPr lang="en-US" smtClean="0"/>
              <a:t>01-Feb-22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44AD7F4-E4FF-401B-A654-C6B99FAB5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36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9T05:23:43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111 288 0 0 0,'0'0'0'0'0,"-60"-232"0"0"0,57 220 0 0 0,-1 3 0 0 0,-4 0 0 0 0,0-1 0 0 0,0 4 0 0 0,0 1 0 0 0,0 3 0 0 0,4-1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4B1416C-0C94-4347-BEE5-16334176E4E3}" type="datetimeFigureOut">
              <a:rPr lang="en-US" smtClean="0"/>
              <a:t>01-Feb-22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DBDAB20-FECD-48F0-A350-11C52BC5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87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digital computer?</a:t>
            </a:r>
            <a:r>
              <a:rPr lang="en-US" baseline="0" dirty="0"/>
              <a:t> Examples where we can use this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612">
              <a:defRPr/>
            </a:pPr>
            <a:fld id="{BCE03ABA-567C-4E7A-9095-3D9C26910DBA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612">
                <a:defRPr/>
              </a:pPr>
              <a:t>2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5099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learn to perform two tasks:</a:t>
            </a:r>
          </a:p>
          <a:p>
            <a:pPr marL="241653" indent="-241653">
              <a:buFont typeface="+mj-lt"/>
              <a:buAutoNum type="arabicPeriod"/>
            </a:pPr>
            <a:r>
              <a:rPr lang="en-US" dirty="0"/>
              <a:t>Analyze the behavior of the given logic circuit</a:t>
            </a:r>
          </a:p>
          <a:p>
            <a:pPr marL="241653" indent="-241653">
              <a:buFont typeface="+mj-lt"/>
              <a:buAutoNum type="arabicPeriod"/>
            </a:pPr>
            <a:r>
              <a:rPr lang="en-US" dirty="0"/>
              <a:t>Synthesize (build) a circuit which will endorse that behavior</a:t>
            </a:r>
          </a:p>
          <a:p>
            <a:pPr marL="241653" indent="-241653">
              <a:buFont typeface="+mj-lt"/>
              <a:buAutoNum type="arabicPeriod"/>
            </a:pPr>
            <a:r>
              <a:rPr lang="en-US" b="1" dirty="0"/>
              <a:t>Extra:</a:t>
            </a:r>
            <a:r>
              <a:rPr lang="en-US" dirty="0"/>
              <a:t> write a HDL code to model the combinational circuit </a:t>
            </a:r>
          </a:p>
          <a:p>
            <a:endParaRPr lang="en-US" dirty="0"/>
          </a:p>
          <a:p>
            <a:r>
              <a:rPr lang="en-US" dirty="0"/>
              <a:t>We will introduce some most important </a:t>
            </a:r>
            <a:r>
              <a:rPr lang="en-US" b="1" dirty="0"/>
              <a:t>standard combinational circuits </a:t>
            </a:r>
            <a:r>
              <a:rPr lang="en-US" dirty="0"/>
              <a:t>which are commonly used in higher level digital system design as well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They are available as ICs 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Also known as </a:t>
            </a:r>
            <a:r>
              <a:rPr lang="en-US" b="1" dirty="0"/>
              <a:t>MSI circuits </a:t>
            </a:r>
            <a:r>
              <a:rPr lang="en-US" dirty="0"/>
              <a:t>which are </a:t>
            </a:r>
            <a:r>
              <a:rPr lang="en-US" b="1" dirty="0"/>
              <a:t>unit </a:t>
            </a:r>
            <a:r>
              <a:rPr lang="en-US" dirty="0"/>
              <a:t>standard cells for </a:t>
            </a:r>
            <a:r>
              <a:rPr lang="en-US" b="1" dirty="0"/>
              <a:t>VLSI 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b="0" dirty="0"/>
              <a:t>This design procedure is called </a:t>
            </a:r>
            <a:r>
              <a:rPr lang="en-US" b="1" dirty="0"/>
              <a:t>hierarchical design </a:t>
            </a:r>
            <a:r>
              <a:rPr lang="en-US" b="0" dirty="0"/>
              <a:t>where creation of higher level circuits depends on lower level circuits which are already produced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1454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28534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26211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1824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72435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25503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success of an investigation/analysis such circuit is enhanced, if one has previous experience and familiarity with a variety of digital circuits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98823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success of an investigation/analysis such circuit is enhanced, if one has previous experience and familiarity with a variety of digital circuits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373138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success of an investigation/analysis such circuit is enhanced, if one has previous experience and familiarity with a variety of digital circuits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94719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success of an investigation/analysis such circuit is enhanced, if one has previous experience and familiarity with a variety of digital circuits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064104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success of an investigation/analysis such circuit is enhanced, if one has previous experience and familiarity with a variety of digital circuits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58768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11750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It is important that the problem statement is interpreted correctly in the truth table, otherwise for any kind of incompleteness, it may result in an incorrect truth table. </a:t>
            </a:r>
          </a:p>
          <a:p>
            <a:pPr marL="181240" indent="-181240" defTabSz="966612">
              <a:buFont typeface="Arial" panose="020B0604020202020204" pitchFamily="34" charset="0"/>
              <a:buChar char="•"/>
              <a:defRPr/>
            </a:pPr>
            <a:r>
              <a:rPr lang="en-US" dirty="0"/>
              <a:t>A </a:t>
            </a:r>
            <a:r>
              <a:rPr lang="en-US" b="1" dirty="0"/>
              <a:t>logic diagram </a:t>
            </a:r>
            <a:r>
              <a:rPr lang="en-US" dirty="0"/>
              <a:t>is useful to visualize the gate implementation of the expression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929337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83483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674055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360962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Six combinations </a:t>
            </a:r>
            <a:r>
              <a:rPr lang="en-US" dirty="0"/>
              <a:t>are not listed in this truth table are </a:t>
            </a:r>
            <a:r>
              <a:rPr lang="en-US" b="1" dirty="0"/>
              <a:t>don’t care </a:t>
            </a:r>
            <a:r>
              <a:rPr lang="en-US" dirty="0"/>
              <a:t>combinations </a:t>
            </a:r>
          </a:p>
          <a:p>
            <a:pPr marL="664546" lvl="1" indent="-181240">
              <a:buFont typeface="Arial" panose="020B0604020202020204" pitchFamily="34" charset="0"/>
              <a:buChar char="•"/>
            </a:pPr>
            <a:r>
              <a:rPr lang="en-US" dirty="0"/>
              <a:t>These values have no meaning in BCD and they will never occur in actual operation of the circuit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563491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1s are obtained from the truth table which make their functions true – represents corresponding minterms that makes the function true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58239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It is performed to employ less number of gates including inverters of the input variables. Moreover, only two input gates are used here which is not practiced in two level implementation 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Here (C+D) is used over more than one expression. So it could be implemented only once. For multiple outputs.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832957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51250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9423573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04009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To be noted 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b="1" dirty="0"/>
              </a:p>
              <a:p>
                <a:pPr lvl="1" algn="l"/>
                <a:r>
                  <a:rPr lang="en-US" b="1" dirty="0"/>
                  <a:t>De Morgan’s Law: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)′=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To be noted :</a:t>
                </a:r>
              </a:p>
              <a:p>
                <a:pPr lvl="1"/>
                <a:r>
                  <a:rPr lang="en-US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𝐱⊕𝒚=(𝒙+𝒚)(𝒙^′+𝒚′)</a:t>
                </a:r>
                <a:endParaRPr lang="en-US" b="1" dirty="0"/>
              </a:p>
              <a:p>
                <a:pPr lvl="1"/>
                <a:r>
                  <a:rPr lang="en-US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𝐱⊙𝒚=𝒙𝒚+𝒙^′ 𝒚′</a:t>
                </a:r>
                <a:endParaRPr lang="en-US" b="1" dirty="0"/>
              </a:p>
              <a:p>
                <a:pPr lvl="1" algn="l"/>
                <a:r>
                  <a:rPr lang="en-US" b="1" dirty="0"/>
                  <a:t>De Morgan’s Law: </a:t>
                </a:r>
                <a:r>
                  <a:rPr lang="en-US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(𝐱+𝒚)′=𝒙^′ 𝒚′</a:t>
                </a:r>
                <a:endParaRPr lang="en-US" b="1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190275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451801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776095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369128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87647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Ripple carry adder</a:t>
            </a:r>
            <a:r>
              <a:rPr lang="en-US" dirty="0"/>
              <a:t>: The input carry to the adder is C</a:t>
            </a:r>
            <a:r>
              <a:rPr lang="en-US" baseline="-25000" dirty="0"/>
              <a:t>0</a:t>
            </a:r>
            <a:r>
              <a:rPr lang="en-US" dirty="0"/>
              <a:t> and it </a:t>
            </a:r>
            <a:r>
              <a:rPr lang="en-US" b="1" i="1" u="sng" dirty="0"/>
              <a:t>ripples</a:t>
            </a:r>
            <a:r>
              <a:rPr lang="en-US" dirty="0"/>
              <a:t> (</a:t>
            </a:r>
            <a:r>
              <a:rPr lang="en-US" b="1" dirty="0"/>
              <a:t>flows</a:t>
            </a:r>
            <a:r>
              <a:rPr lang="en-US" dirty="0"/>
              <a:t>) through the full adders to the output carry C</a:t>
            </a:r>
            <a:r>
              <a:rPr lang="en-US" baseline="-25000" dirty="0"/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107455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80883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118785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02066" indent="-302066">
              <a:buFont typeface="Arial" panose="020B0604020202020204" pitchFamily="34" charset="0"/>
              <a:buChar char="•"/>
            </a:pPr>
            <a:r>
              <a:rPr lang="en-US" dirty="0"/>
              <a:t>Here, subscript </a:t>
            </a:r>
            <a:r>
              <a:rPr lang="en-US" b="1" i="1" dirty="0" err="1"/>
              <a:t>i</a:t>
            </a:r>
            <a:r>
              <a:rPr lang="en-US" dirty="0"/>
              <a:t> denotes a typical stage</a:t>
            </a:r>
          </a:p>
          <a:p>
            <a:pPr marL="302066" indent="-302066">
              <a:buFont typeface="Arial" panose="020B0604020202020204" pitchFamily="34" charset="0"/>
              <a:buChar char="•"/>
            </a:pPr>
            <a:r>
              <a:rPr lang="en-US" dirty="0"/>
              <a:t>From the input carry C</a:t>
            </a:r>
            <a:r>
              <a:rPr lang="en-US" baseline="-25000" dirty="0"/>
              <a:t>i</a:t>
            </a:r>
            <a:r>
              <a:rPr lang="en-US" dirty="0"/>
              <a:t> to output carry C</a:t>
            </a:r>
            <a:r>
              <a:rPr lang="en-US" baseline="-25000" dirty="0"/>
              <a:t>i+1</a:t>
            </a:r>
            <a:r>
              <a:rPr lang="en-US" dirty="0"/>
              <a:t>, carry, signal propagates through 2 gates</a:t>
            </a:r>
          </a:p>
          <a:p>
            <a:pPr marL="785372" lvl="1" indent="-302066">
              <a:buFont typeface="Arial" panose="020B0604020202020204" pitchFamily="34" charset="0"/>
              <a:buChar char="•"/>
            </a:pPr>
            <a:r>
              <a:rPr lang="en-US" sz="1600" dirty="0"/>
              <a:t>For n-bit adder, there will be 2n gate levels for carry propagation</a:t>
            </a:r>
          </a:p>
          <a:p>
            <a:pPr marL="302066" indent="-302066">
              <a:buFont typeface="Arial" panose="020B0604020202020204" pitchFamily="34" charset="0"/>
              <a:buChar char="•"/>
            </a:pPr>
            <a:r>
              <a:rPr lang="en-US" sz="1600" dirty="0"/>
              <a:t>G = carry generator, it generates the carry for sure</a:t>
            </a:r>
          </a:p>
          <a:p>
            <a:pPr marL="302066" indent="-302066">
              <a:buFont typeface="Arial" panose="020B0604020202020204" pitchFamily="34" charset="0"/>
              <a:buChar char="•"/>
            </a:pPr>
            <a:r>
              <a:rPr lang="en-US" sz="1600" dirty="0"/>
              <a:t>P = carry propagate, Not sure, but it determines if a carry will propagate or not in the next stage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402242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688356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Now, C3 doesn’t need to wait for C2 and C1 being propagated to generate the its output.</a:t>
            </a:r>
          </a:p>
          <a:p>
            <a:pPr marL="664546" lvl="1" indent="-181240">
              <a:buFont typeface="Arial" panose="020B0604020202020204" pitchFamily="34" charset="0"/>
              <a:buChar char="•"/>
            </a:pPr>
            <a:r>
              <a:rPr lang="en-US" dirty="0"/>
              <a:t>This gain is achieved at the expense of complex circuit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9293576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baseline="-25000" dirty="0"/>
              <a:t>i</a:t>
            </a:r>
            <a:r>
              <a:rPr lang="en-US" dirty="0"/>
              <a:t>= P</a:t>
            </a:r>
            <a:r>
              <a:rPr lang="en-US" baseline="-25000" dirty="0"/>
              <a:t>i </a:t>
            </a:r>
            <a:r>
              <a:rPr lang="en-US" dirty="0" err="1"/>
              <a:t>xor</a:t>
            </a:r>
            <a:r>
              <a:rPr lang="en-US" dirty="0"/>
              <a:t> C</a:t>
            </a:r>
            <a:r>
              <a:rPr lang="en-US" baseline="-25000" dirty="0"/>
              <a:t>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44164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1’s complement is easy to implement using inverters.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402662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747340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620599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091570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272708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961988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870580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501418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 = 0, this circuit works as adder, other wise subtractor using 2’s complement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4018525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4968180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371300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979177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949383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12806413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LSB of the result (product) is directly produced by the first AND gate (</a:t>
            </a:r>
            <a:r>
              <a:rPr lang="en-US" b="1" i="1" dirty="0"/>
              <a:t>i.e. </a:t>
            </a:r>
            <a:r>
              <a:rPr lang="en-US" dirty="0"/>
              <a:t>A</a:t>
            </a:r>
            <a:r>
              <a:rPr lang="en-US" baseline="-25000" dirty="0"/>
              <a:t>0</a:t>
            </a:r>
            <a:r>
              <a:rPr lang="en-US" dirty="0"/>
              <a:t>B</a:t>
            </a:r>
            <a:r>
              <a:rPr lang="en-US" baseline="-25000" dirty="0"/>
              <a:t>0</a:t>
            </a:r>
            <a:r>
              <a:rPr lang="en-US" dirty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301622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4790056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025378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057719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7732903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05767725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9386612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891171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possible input combination, there are seven outputs that are equal to 0 and only one that is equal to 1 in the truth table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3440403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Home task: </a:t>
            </a:r>
            <a:r>
              <a:rPr lang="en-US" dirty="0"/>
              <a:t>Decoder with NOR gates and Enable input for Five input variables (15 marks – first 10, 10 marks – next 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1130676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Home task: </a:t>
            </a:r>
            <a:r>
              <a:rPr lang="en-US" dirty="0"/>
              <a:t>Decoder with NOR and OR gates and Enable input for Five input variables (15 marks – first 10, 10 marks – next 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585162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70954027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general, enable inputs are a convenient feature for interconnecting two or more standard components for the purpose of combining them into a similar function with more inputs and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7991286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98016312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1844909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Home task: </a:t>
            </a:r>
            <a:r>
              <a:rPr lang="en-US" b="0" dirty="0"/>
              <a:t>I</a:t>
            </a:r>
            <a:r>
              <a:rPr lang="en-US" dirty="0"/>
              <a:t>mplement the Full adder with a Decoder where two level NOR gate implementation is maintained (10 marks – first 10, 5 marks – next 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7587396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408693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5018738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4603113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V is for valid bit </a:t>
            </a:r>
            <a:r>
              <a:rPr lang="en-US" dirty="0"/>
              <a:t>= this is </a:t>
            </a:r>
            <a:r>
              <a:rPr lang="en-US" b="1" dirty="0"/>
              <a:t>a valid bit indicator </a:t>
            </a:r>
            <a:r>
              <a:rPr lang="en-US" dirty="0"/>
              <a:t>that is set to 1 when one or more inputs are equal to 1. If all inputs are 0, there is no valid input and V is equal to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6001345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1473323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Wedge shaped symbol </a:t>
            </a:r>
            <a:r>
              <a:rPr lang="en-US" dirty="0"/>
              <a:t>which has one thick edge and narrowed down to one thin edge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9033390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586591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34802470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4755550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599700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1844645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80984226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149820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4140226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04709995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8243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i="1" u="sng" dirty="0" err="1"/>
              <a:t>buf</a:t>
            </a:r>
            <a:r>
              <a:rPr lang="en-US" sz="1400" b="1" i="1" u="sng" dirty="0"/>
              <a:t> </a:t>
            </a:r>
            <a:r>
              <a:rPr lang="en-US" dirty="0"/>
              <a:t>means buffer controlled by 0 or 1</a:t>
            </a:r>
          </a:p>
          <a:p>
            <a:r>
              <a:rPr lang="en-US" b="1" i="1" dirty="0"/>
              <a:t>not </a:t>
            </a:r>
            <a:r>
              <a:rPr lang="en-US" dirty="0"/>
              <a:t>means buffer controlled by 0 or 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6010855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40811307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52678969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0173570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7582628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0683775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66243838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8817061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68497411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8573631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4167670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527790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8498705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5978331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4053217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5527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0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4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4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43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18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75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74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04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37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56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77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16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08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82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0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9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microsoft.com/office/2007/relationships/hdphoto" Target="../media/hdphoto5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4.wdp"/><Relationship Id="rId4" Type="http://schemas.openxmlformats.org/officeDocument/2006/relationships/image" Target="../media/image5.png"/><Relationship Id="rId9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microsoft.com/office/2007/relationships/hdphoto" Target="../media/hdphoto7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9.wdp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1.wdp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4.wd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13.wdp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6.wdp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microsoft.com/office/2007/relationships/hdphoto" Target="../media/hdphoto15.wdp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7.wdp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microsoft.com/office/2007/relationships/hdphoto" Target="../media/hdphoto19.wdp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microsoft.com/office/2007/relationships/hdphoto" Target="../media/hdphoto18.wdp"/><Relationship Id="rId4" Type="http://schemas.openxmlformats.org/officeDocument/2006/relationships/image" Target="../media/image21.png"/><Relationship Id="rId9" Type="http://schemas.microsoft.com/office/2007/relationships/hdphoto" Target="../media/hdphoto20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1.wdp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5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crdownload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.jpe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23.wdp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microsoft.com/office/2007/relationships/hdphoto" Target="../media/hdphoto22.wdp"/><Relationship Id="rId4" Type="http://schemas.openxmlformats.org/officeDocument/2006/relationships/image" Target="../media/image7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1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1.jpe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1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5" y="3429000"/>
            <a:ext cx="10374556" cy="916888"/>
          </a:xfrm>
        </p:spPr>
        <p:txBody>
          <a:bodyPr>
            <a:noAutofit/>
          </a:bodyPr>
          <a:lstStyle/>
          <a:p>
            <a:pPr algn="l"/>
            <a:r>
              <a:rPr lang="en-US" sz="6600" b="1" dirty="0">
                <a:latin typeface="+mn-lt"/>
              </a:rPr>
              <a:t>Combinational Logic </a:t>
            </a:r>
            <a:br>
              <a:rPr lang="en-US" sz="6600" b="1" dirty="0">
                <a:latin typeface="+mn-lt"/>
              </a:rPr>
            </a:br>
            <a:r>
              <a:rPr lang="en-US" sz="5000" b="1" dirty="0">
                <a:latin typeface="+mn-lt"/>
              </a:rPr>
              <a:t>with MSI &amp; LSI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125" y="4707506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Course Teacher: Md. Hamjajul Ashmafee</a:t>
            </a:r>
          </a:p>
          <a:p>
            <a:pPr algn="l"/>
            <a:r>
              <a:rPr lang="en-US" b="1" dirty="0"/>
              <a:t>Lecturer, CSE, IUT</a:t>
            </a:r>
          </a:p>
          <a:p>
            <a:pPr algn="l"/>
            <a:r>
              <a:rPr lang="en-US" b="1" dirty="0"/>
              <a:t>Email: ashmafee@iut-dhaka.edu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01578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3FC56E42-0C73-470E-AC06-355EB318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Remaining to Add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C1F6F8-7666-4B8F-A967-DD26827A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other books and online resources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1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7011D-92ED-4732-AC78-E5139C360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30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77" y="416739"/>
            <a:ext cx="10088337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Review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977" y="1825625"/>
            <a:ext cx="115141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have already learned about</a:t>
            </a:r>
          </a:p>
          <a:p>
            <a:pPr lvl="1" algn="just"/>
            <a:r>
              <a:rPr lang="en-US" b="1" dirty="0"/>
              <a:t>Binary numbers </a:t>
            </a:r>
            <a:r>
              <a:rPr lang="en-US" dirty="0"/>
              <a:t>and </a:t>
            </a:r>
            <a:r>
              <a:rPr lang="en-US" b="1" dirty="0"/>
              <a:t>Binary codes </a:t>
            </a:r>
            <a:r>
              <a:rPr lang="en-US" dirty="0"/>
              <a:t>are representation of discrete quantities of information.</a:t>
            </a:r>
          </a:p>
          <a:p>
            <a:pPr lvl="1" algn="just"/>
            <a:r>
              <a:rPr lang="en-US" dirty="0"/>
              <a:t>These </a:t>
            </a:r>
            <a:r>
              <a:rPr lang="en-US" b="1" dirty="0"/>
              <a:t>binary variables (signals) </a:t>
            </a:r>
            <a:r>
              <a:rPr lang="en-US" dirty="0"/>
              <a:t>are applied by electric voltages or some other means.</a:t>
            </a:r>
          </a:p>
          <a:p>
            <a:pPr lvl="1" algn="just"/>
            <a:r>
              <a:rPr lang="en-US" dirty="0"/>
              <a:t>This signal can be manipulated through different </a:t>
            </a:r>
            <a:r>
              <a:rPr lang="en-US" b="1" dirty="0"/>
              <a:t>digital logic gates </a:t>
            </a:r>
            <a:r>
              <a:rPr lang="en-US" dirty="0"/>
              <a:t>to perform required functions.</a:t>
            </a:r>
          </a:p>
          <a:p>
            <a:pPr lvl="1" algn="just"/>
            <a:r>
              <a:rPr lang="en-US" b="1" dirty="0"/>
              <a:t>Boolean algebra</a:t>
            </a:r>
            <a:r>
              <a:rPr lang="en-US" dirty="0"/>
              <a:t> is used to express and manipulate the Boolean functions</a:t>
            </a:r>
          </a:p>
          <a:p>
            <a:pPr lvl="1" algn="just"/>
            <a:r>
              <a:rPr lang="en-US" dirty="0"/>
              <a:t>Several </a:t>
            </a:r>
            <a:r>
              <a:rPr lang="en-US" b="1" dirty="0"/>
              <a:t>methods</a:t>
            </a:r>
            <a:r>
              <a:rPr lang="en-US" dirty="0"/>
              <a:t> (K-map, tabular method,…) can be used </a:t>
            </a:r>
            <a:r>
              <a:rPr lang="en-US" b="1" dirty="0"/>
              <a:t>to simplify </a:t>
            </a:r>
            <a:r>
              <a:rPr lang="en-US" dirty="0"/>
              <a:t>the Boolean functions and optimize the gate implementations  </a:t>
            </a:r>
          </a:p>
          <a:p>
            <a:pPr marL="0" indent="0">
              <a:buNone/>
            </a:pPr>
            <a:r>
              <a:rPr lang="en-US" i="1" dirty="0"/>
              <a:t>In this chapter, we will learn how to formulate various </a:t>
            </a:r>
            <a:r>
              <a:rPr lang="en-US" b="1" i="1" dirty="0"/>
              <a:t>systematic design</a:t>
            </a:r>
            <a:r>
              <a:rPr lang="en-US" i="1" dirty="0"/>
              <a:t> and analysis the </a:t>
            </a:r>
            <a:r>
              <a:rPr lang="en-US" b="1" i="1" dirty="0"/>
              <a:t>procedures</a:t>
            </a:r>
            <a:r>
              <a:rPr lang="en-US" i="1" dirty="0"/>
              <a:t> of combinational circuits.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57165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Introduction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50378"/>
            <a:ext cx="11430000" cy="470597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Logic circuits of any digital system may be any of: </a:t>
            </a:r>
          </a:p>
          <a:p>
            <a:pPr lvl="2" algn="just"/>
            <a:r>
              <a:rPr lang="en-US" dirty="0"/>
              <a:t>Combinational Logic Circuit</a:t>
            </a:r>
          </a:p>
          <a:p>
            <a:pPr lvl="2" algn="just"/>
            <a:r>
              <a:rPr lang="en-US" dirty="0"/>
              <a:t>Sequential Logic Circuit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combinational circuit </a:t>
            </a:r>
            <a:r>
              <a:rPr lang="en-US" dirty="0"/>
              <a:t>is the circuit whose outputs at any time are </a:t>
            </a:r>
            <a:r>
              <a:rPr lang="en-US" b="1" dirty="0">
                <a:solidFill>
                  <a:srgbClr val="00B0F0"/>
                </a:solidFill>
              </a:rPr>
              <a:t>determined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directly from the </a:t>
            </a:r>
            <a:r>
              <a:rPr lang="en-US" b="1" dirty="0">
                <a:solidFill>
                  <a:srgbClr val="FF0000"/>
                </a:solidFill>
              </a:rPr>
              <a:t>present combination of inputs </a:t>
            </a:r>
            <a:r>
              <a:rPr lang="en-US" b="1" dirty="0"/>
              <a:t>without</a:t>
            </a:r>
            <a:r>
              <a:rPr lang="en-US" dirty="0"/>
              <a:t> regarding to previous inputs or outputs.</a:t>
            </a:r>
          </a:p>
          <a:p>
            <a:pPr lvl="2" algn="just"/>
            <a:r>
              <a:rPr lang="en-US" dirty="0"/>
              <a:t>Operation of any combinational circuit can be specified by a set of Boolean functions </a:t>
            </a:r>
          </a:p>
          <a:p>
            <a:pPr algn="just"/>
            <a:r>
              <a:rPr lang="en-US" dirty="0"/>
              <a:t>On the other hand, </a:t>
            </a:r>
            <a:r>
              <a:rPr lang="en-US" b="1" dirty="0"/>
              <a:t>Sequential circuits</a:t>
            </a:r>
            <a:r>
              <a:rPr lang="en-US" dirty="0"/>
              <a:t> employ </a:t>
            </a:r>
            <a:r>
              <a:rPr lang="en-US" b="1" dirty="0">
                <a:solidFill>
                  <a:srgbClr val="FF0000"/>
                </a:solidFill>
              </a:rPr>
              <a:t>memory elements</a:t>
            </a:r>
            <a:r>
              <a:rPr lang="en-US" dirty="0"/>
              <a:t> (binary memory cells) in addition to the logic gates.</a:t>
            </a:r>
          </a:p>
          <a:p>
            <a:pPr lvl="2" algn="just"/>
            <a:r>
              <a:rPr lang="en-US" dirty="0"/>
              <a:t>Their </a:t>
            </a:r>
            <a:r>
              <a:rPr lang="en-US" b="1" dirty="0"/>
              <a:t>outputs </a:t>
            </a:r>
            <a:r>
              <a:rPr lang="en-US" dirty="0"/>
              <a:t>are the </a:t>
            </a:r>
            <a:r>
              <a:rPr lang="en-US" b="1" dirty="0">
                <a:solidFill>
                  <a:srgbClr val="00B050"/>
                </a:solidFill>
              </a:rPr>
              <a:t>function </a:t>
            </a:r>
            <a:r>
              <a:rPr lang="en-US" dirty="0"/>
              <a:t>of the </a:t>
            </a:r>
            <a:r>
              <a:rPr lang="en-US" b="1" dirty="0">
                <a:solidFill>
                  <a:srgbClr val="0070C0"/>
                </a:solidFill>
              </a:rPr>
              <a:t>present inputs </a:t>
            </a:r>
            <a:r>
              <a:rPr lang="en-US" dirty="0"/>
              <a:t>and the </a:t>
            </a:r>
            <a:r>
              <a:rPr lang="en-US" b="1" dirty="0">
                <a:solidFill>
                  <a:srgbClr val="7030A0"/>
                </a:solidFill>
              </a:rPr>
              <a:t>state of the memory elements</a:t>
            </a:r>
            <a:r>
              <a:rPr lang="en-US" dirty="0"/>
              <a:t>.</a:t>
            </a:r>
          </a:p>
          <a:p>
            <a:pPr lvl="2" algn="just"/>
            <a:r>
              <a:rPr lang="en-US" dirty="0"/>
              <a:t>Its behavior must be specified by a </a:t>
            </a:r>
            <a:r>
              <a:rPr lang="en-US" b="1" dirty="0">
                <a:solidFill>
                  <a:srgbClr val="FF0000"/>
                </a:solidFill>
              </a:rPr>
              <a:t>time sequence </a:t>
            </a:r>
            <a:r>
              <a:rPr lang="en-US" b="1" dirty="0"/>
              <a:t>of inputs and internal states of memory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2648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Combinational Circuit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Combinational circuits consists of interconnection of logic gates </a:t>
            </a:r>
          </a:p>
          <a:p>
            <a:pPr lvl="2"/>
            <a:r>
              <a:rPr lang="en-US" dirty="0"/>
              <a:t>Logic gates react to the values of the signal at the inputs and produce required output based on the definition </a:t>
            </a:r>
          </a:p>
          <a:p>
            <a:pPr lvl="2"/>
            <a:r>
              <a:rPr lang="en-US" dirty="0"/>
              <a:t>These input and output signal exists physically as analog signal which must be interpreted as a binary signal representing either logic-1 or logic-0</a:t>
            </a:r>
          </a:p>
          <a:p>
            <a:r>
              <a:rPr lang="en-US" dirty="0"/>
              <a:t>But, In many application, the source and destination of the combination circuit are storage registers </a:t>
            </a:r>
          </a:p>
          <a:p>
            <a:pPr lvl="2"/>
            <a:r>
              <a:rPr lang="en-US" dirty="0"/>
              <a:t>If the registers are included with the combinational circuit, then total circuit must be considered as a </a:t>
            </a:r>
            <a:r>
              <a:rPr lang="en-US" b="1" i="1" dirty="0"/>
              <a:t>sequential circuit</a:t>
            </a:r>
          </a:p>
          <a:p>
            <a:r>
              <a:rPr lang="en-US" b="1" dirty="0"/>
              <a:t>Note: </a:t>
            </a:r>
            <a:r>
              <a:rPr lang="en-US" dirty="0"/>
              <a:t>A sequential circuit is circuit which has logic gates with feedback path or memory elements </a:t>
            </a:r>
          </a:p>
          <a:p>
            <a:pPr lvl="2"/>
            <a:r>
              <a:rPr lang="en-US" b="1" dirty="0"/>
              <a:t>A feedback path is a connection from output of any logic gate partially forms an input to any previous gate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789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Combinational Circuit: Block Diagram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</a:t>
            </a:fld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DBCAC-24AF-46A2-8CD2-3FC7245A9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 diagram of a combinational circuit with </a:t>
            </a:r>
            <a:r>
              <a:rPr lang="en-US" b="1" i="1" dirty="0"/>
              <a:t>n</a:t>
            </a:r>
            <a:r>
              <a:rPr lang="en-US" dirty="0"/>
              <a:t> input and </a:t>
            </a:r>
            <a:r>
              <a:rPr lang="en-US" b="1" i="1" dirty="0"/>
              <a:t>m </a:t>
            </a:r>
            <a:r>
              <a:rPr lang="en-US" dirty="0"/>
              <a:t>output binary variables: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1F271-3907-4281-8E50-9AE16F3A5FE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072" y="2585223"/>
            <a:ext cx="6773855" cy="2454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5394FE-C113-42EE-B9DC-DC28B1F9DA3E}"/>
              </a:ext>
            </a:extLst>
          </p:cNvPr>
          <p:cNvSpPr txBox="1"/>
          <p:nvPr/>
        </p:nvSpPr>
        <p:spPr>
          <a:xfrm>
            <a:off x="747579" y="5218899"/>
            <a:ext cx="108410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b="1" i="1" dirty="0"/>
              <a:t>n</a:t>
            </a:r>
            <a:r>
              <a:rPr lang="en-US" dirty="0"/>
              <a:t> input variables, there are </a:t>
            </a:r>
            <a:r>
              <a:rPr lang="en-US" b="1" i="1" dirty="0"/>
              <a:t>2</a:t>
            </a:r>
            <a:r>
              <a:rPr lang="en-US" b="1" i="1" baseline="30000" dirty="0"/>
              <a:t>n</a:t>
            </a:r>
            <a:r>
              <a:rPr lang="en-US" b="1" i="1" dirty="0"/>
              <a:t> </a:t>
            </a:r>
            <a:r>
              <a:rPr lang="en-US" dirty="0"/>
              <a:t>possible combinations of the binary inputs (from external sources)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each input combination, there is one possible value for each output variable (to external destinations)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combinational circuit can be specified as a truth table that enlists output values for each input combination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is also specified as a Boolean function expressed in terms of the </a:t>
            </a:r>
            <a:r>
              <a:rPr lang="en-US" b="1" i="1" dirty="0"/>
              <a:t>n </a:t>
            </a:r>
            <a:r>
              <a:rPr lang="en-US" dirty="0"/>
              <a:t>input 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25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Combinational and Sequential Circuit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</a:t>
            </a:fld>
            <a:endParaRPr lang="en-US" sz="1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50A5A6D-67BC-4CB4-BC1B-157426F8C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16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50" b="6397"/>
          <a:stretch/>
        </p:blipFill>
        <p:spPr>
          <a:xfrm>
            <a:off x="2808825" y="1818048"/>
            <a:ext cx="6574350" cy="4132809"/>
          </a:xfrm>
        </p:spPr>
      </p:pic>
    </p:spTree>
    <p:extLst>
      <p:ext uri="{BB962C8B-B14F-4D97-AF65-F5344CB8AC3E}">
        <p14:creationId xmlns:p14="http://schemas.microsoft.com/office/powerpoint/2010/main" val="917646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Analysis of a Combinational Circuit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4"/>
            <a:ext cx="11430000" cy="4530725"/>
          </a:xfrm>
        </p:spPr>
        <p:txBody>
          <a:bodyPr>
            <a:normAutofit/>
          </a:bodyPr>
          <a:lstStyle/>
          <a:p>
            <a:r>
              <a:rPr lang="en-US" dirty="0"/>
              <a:t>Analysis of any combinational circuit starts with a logic diagram</a:t>
            </a:r>
          </a:p>
          <a:p>
            <a:pPr lvl="1"/>
            <a:r>
              <a:rPr lang="en-US" dirty="0"/>
              <a:t>Finally we will </a:t>
            </a:r>
            <a:r>
              <a:rPr lang="en-US" b="1" dirty="0">
                <a:solidFill>
                  <a:srgbClr val="00B050"/>
                </a:solidFill>
              </a:rPr>
              <a:t>determine the function </a:t>
            </a:r>
            <a:r>
              <a:rPr lang="en-US" dirty="0"/>
              <a:t>that the circuit implements, </a:t>
            </a:r>
            <a:r>
              <a:rPr lang="en-US" b="1" dirty="0">
                <a:solidFill>
                  <a:srgbClr val="00B0F0"/>
                </a:solidFill>
              </a:rPr>
              <a:t>generates the truth table </a:t>
            </a:r>
            <a:r>
              <a:rPr lang="en-US" dirty="0"/>
              <a:t>and feasibly </a:t>
            </a:r>
            <a:r>
              <a:rPr lang="en-US" b="1" dirty="0">
                <a:solidFill>
                  <a:srgbClr val="002060"/>
                </a:solidFill>
              </a:rPr>
              <a:t>explains the operation </a:t>
            </a:r>
            <a:r>
              <a:rPr lang="en-US" dirty="0"/>
              <a:t>of the circuit. </a:t>
            </a:r>
          </a:p>
          <a:p>
            <a:pPr lvl="1"/>
            <a:r>
              <a:rPr lang="en-US" dirty="0"/>
              <a:t>If the function name or its explanation are already mentioned with logic circuit, then we need to verify it (</a:t>
            </a:r>
            <a:r>
              <a:rPr lang="en-US" b="1" dirty="0"/>
              <a:t>verification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Another way to analyze any circuit with </a:t>
            </a:r>
            <a:r>
              <a:rPr lang="en-US" b="1" dirty="0"/>
              <a:t>logic simulation</a:t>
            </a:r>
            <a:r>
              <a:rPr lang="en-US" dirty="0"/>
              <a:t> if the number of inputs is very large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8942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Analysis Procedure: To Obtain Boolean Function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4"/>
            <a:ext cx="11430000" cy="45307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Make sure that the given circuit is a combinational circuit, not sequential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obtain Boolean function:</a:t>
            </a:r>
          </a:p>
          <a:p>
            <a:pPr marL="1428750" lvl="2" indent="-514350">
              <a:buFont typeface="+mj-lt"/>
              <a:buAutoNum type="alphaLcParenR"/>
            </a:pPr>
            <a:r>
              <a:rPr lang="en-US" dirty="0"/>
              <a:t>Label all the gate outputs that are the function of input variables with arbitrary symbols</a:t>
            </a:r>
          </a:p>
          <a:p>
            <a:pPr lvl="3"/>
            <a:r>
              <a:rPr lang="en-US" dirty="0"/>
              <a:t>Determine those functions  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Also label the intermediate gate outputs that are the function of any input variables or previously defined symbols (</a:t>
            </a:r>
            <a:r>
              <a:rPr lang="en-US" b="1" i="1" dirty="0"/>
              <a:t>i.e. </a:t>
            </a:r>
            <a:r>
              <a:rPr lang="en-US" dirty="0"/>
              <a:t>already labeled gate outputs)</a:t>
            </a:r>
          </a:p>
          <a:p>
            <a:pPr lvl="3"/>
            <a:r>
              <a:rPr lang="en-US" dirty="0"/>
              <a:t>Find those functions as well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Repeat the process of step (b) until the output of the logic circuit is obtained 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By repeated substation of previously defined intermediate functions, obtain the output Boolean function in terms of input variables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9766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AP: To Obtain a Boolean Function – Example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Given Logic Circuit 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6AF1CD-F0AB-4170-9D62-604035E10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221" y="1690688"/>
            <a:ext cx="6371557" cy="5030787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5149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AP: To Obtain a Boolean Function – Example…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Following procedure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11</a:t>
            </a:fld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CA272-ECFA-4972-A513-5F32D9EEA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(a):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Step (b and c):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(d):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CB809D-8B02-49A6-B096-467AEE8669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94" y="1971192"/>
            <a:ext cx="2548288" cy="1257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F56018-5C0C-47A9-9532-A43A90C7EE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94" y="3612319"/>
            <a:ext cx="1685024" cy="8602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247DC3-DC12-4DDD-B80B-5491BF0181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51" y="5186202"/>
            <a:ext cx="8664989" cy="15352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7EABBC-B876-4EDC-8D81-F60ABA6699CE}"/>
              </a:ext>
            </a:extLst>
          </p:cNvPr>
          <p:cNvSpPr/>
          <p:nvPr/>
        </p:nvSpPr>
        <p:spPr>
          <a:xfrm>
            <a:off x="3673394" y="1971192"/>
            <a:ext cx="2548288" cy="4331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EB8D80-2DBA-41AC-BA75-E690E86E14A3}"/>
              </a:ext>
            </a:extLst>
          </p:cNvPr>
          <p:cNvSpPr/>
          <p:nvPr/>
        </p:nvSpPr>
        <p:spPr>
          <a:xfrm>
            <a:off x="3207493" y="6304396"/>
            <a:ext cx="4699378" cy="4331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6005CA-12F9-4312-B5B2-845A40094511}"/>
              </a:ext>
            </a:extLst>
          </p:cNvPr>
          <p:cNvSpPr txBox="1"/>
          <p:nvPr/>
        </p:nvSpPr>
        <p:spPr>
          <a:xfrm>
            <a:off x="3207493" y="630543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71225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Analysis Procedure: To Obtain Truth Table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4"/>
            <a:ext cx="11430000" cy="45307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Make sure that the given circuit is a combinational circuit, not sequential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obtain the truth table from the logic diagram directly:</a:t>
            </a:r>
          </a:p>
          <a:p>
            <a:pPr marL="1428750" lvl="2" indent="-514350">
              <a:buFont typeface="+mj-lt"/>
              <a:buAutoNum type="alphaLcParenR"/>
            </a:pPr>
            <a:r>
              <a:rPr lang="en-US" dirty="0"/>
              <a:t>Determine the number of input variables in the circuit 	</a:t>
            </a:r>
          </a:p>
          <a:p>
            <a:pPr lvl="3"/>
            <a:r>
              <a:rPr lang="en-US" dirty="0"/>
              <a:t>For </a:t>
            </a:r>
            <a:r>
              <a:rPr lang="en-US" b="1" i="1" dirty="0"/>
              <a:t>n</a:t>
            </a:r>
            <a:r>
              <a:rPr lang="en-US" dirty="0"/>
              <a:t> inputs, form the </a:t>
            </a:r>
            <a:r>
              <a:rPr lang="en-US" b="1" i="1" dirty="0"/>
              <a:t>2</a:t>
            </a:r>
            <a:r>
              <a:rPr lang="en-US" b="1" i="1" baseline="30000" dirty="0"/>
              <a:t>n</a:t>
            </a:r>
            <a:r>
              <a:rPr lang="en-US" dirty="0"/>
              <a:t> possible input combinations and list them as binary number from 0 to (2</a:t>
            </a:r>
            <a:r>
              <a:rPr lang="en-US" baseline="30000" dirty="0"/>
              <a:t>n</a:t>
            </a:r>
            <a:r>
              <a:rPr lang="en-US" dirty="0"/>
              <a:t>-1)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Label the intermediate gate outputs that are the function of any input variables or previously labeled gate outputs 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Obtain the truth table for those intermediate outputs 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dirty="0"/>
              <a:t>Proceed to obtain for the outputs of those gates which are the function of previously defined values until the columns for all outputs are determined 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Otherwise, from the derived function, it can be obtained very easily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28326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AP: To Obtain Truth Table - Example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4740D7-7CD5-40B6-BD81-0741569B3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221" y="1667724"/>
            <a:ext cx="6451558" cy="3522551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13</a:t>
            </a:fld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C6275-DEAB-49D7-AE01-ED70774C2E8F}"/>
              </a:ext>
            </a:extLst>
          </p:cNvPr>
          <p:cNvSpPr txBox="1"/>
          <p:nvPr/>
        </p:nvSpPr>
        <p:spPr>
          <a:xfrm>
            <a:off x="2824912" y="5719485"/>
            <a:ext cx="6542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Note</a:t>
            </a:r>
            <a:r>
              <a:rPr lang="en-US" b="1" dirty="0"/>
              <a:t>: </a:t>
            </a:r>
            <a:r>
              <a:rPr lang="en-US" dirty="0"/>
              <a:t>This truth table is identical to the truth table of the full adder</a:t>
            </a:r>
          </a:p>
        </p:txBody>
      </p:sp>
    </p:spTree>
    <p:extLst>
      <p:ext uri="{BB962C8B-B14F-4D97-AF65-F5344CB8AC3E}">
        <p14:creationId xmlns:p14="http://schemas.microsoft.com/office/powerpoint/2010/main" val="2561549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of Any Combinational Circuit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629766"/>
          </a:xfrm>
        </p:spPr>
        <p:txBody>
          <a:bodyPr>
            <a:normAutofit/>
          </a:bodyPr>
          <a:lstStyle/>
          <a:p>
            <a:r>
              <a:rPr lang="en-US" dirty="0"/>
              <a:t>Design of a combinational </a:t>
            </a:r>
            <a:r>
              <a:rPr lang="en-US" b="1" dirty="0"/>
              <a:t>circuit starts from a problem statement (design objective) </a:t>
            </a:r>
          </a:p>
          <a:p>
            <a:pPr lvl="1"/>
            <a:r>
              <a:rPr lang="en-US" dirty="0"/>
              <a:t>And it </a:t>
            </a:r>
            <a:r>
              <a:rPr lang="en-US" b="1" dirty="0"/>
              <a:t>ends in a logic circuit diagram or a set of Boolean functions </a:t>
            </a:r>
            <a:r>
              <a:rPr lang="en-US" dirty="0"/>
              <a:t>from where the logic diagram can be obtained.</a:t>
            </a:r>
          </a:p>
          <a:p>
            <a:r>
              <a:rPr lang="en-US" dirty="0"/>
              <a:t>There are some steps to be followed to achieve the requested combinational circuit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65693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261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Procedure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6425"/>
            <a:ext cx="10836640" cy="542364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From the specification of the circuit, determine the required number of inputs and outputs</a:t>
            </a:r>
          </a:p>
          <a:p>
            <a:pPr lvl="3"/>
            <a:r>
              <a:rPr lang="en-US" sz="2200" dirty="0"/>
              <a:t>Assign a symbol to each input and output variables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Derive the truth table from the specification that defines the required relationship between inputs and outputs </a:t>
            </a:r>
          </a:p>
          <a:p>
            <a:pPr lvl="3"/>
            <a:r>
              <a:rPr lang="en-US" sz="2200" dirty="0"/>
              <a:t>Input columns have </a:t>
            </a:r>
            <a:r>
              <a:rPr lang="en-US" sz="2200" b="1" i="1" dirty="0"/>
              <a:t>2</a:t>
            </a:r>
            <a:r>
              <a:rPr lang="en-US" sz="2200" b="1" i="1" baseline="30000" dirty="0"/>
              <a:t>n</a:t>
            </a:r>
            <a:r>
              <a:rPr lang="en-US" sz="2200" dirty="0"/>
              <a:t> different combinations for </a:t>
            </a:r>
            <a:r>
              <a:rPr lang="en-US" sz="2200" b="1" i="1" dirty="0"/>
              <a:t>n</a:t>
            </a:r>
            <a:r>
              <a:rPr lang="en-US" sz="2200" dirty="0"/>
              <a:t> input variables </a:t>
            </a:r>
          </a:p>
          <a:p>
            <a:pPr lvl="3"/>
            <a:r>
              <a:rPr lang="en-US" sz="2200" dirty="0"/>
              <a:t>Output values are determined from the problem statement </a:t>
            </a:r>
          </a:p>
          <a:p>
            <a:pPr lvl="3"/>
            <a:r>
              <a:rPr lang="en-US" sz="2200" dirty="0"/>
              <a:t>The specifications may indicate that some input combinations will not occur – </a:t>
            </a:r>
            <a:r>
              <a:rPr lang="en-US" sz="2200" b="1" dirty="0"/>
              <a:t>don’t care conditions</a:t>
            </a:r>
            <a:endParaRPr 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Obtain the simplified Boolean functions for each output as a function of the input variables </a:t>
            </a:r>
          </a:p>
          <a:p>
            <a:pPr lvl="3"/>
            <a:r>
              <a:rPr lang="en-US" sz="2200" dirty="0"/>
              <a:t>These output functions gives the exact definition of the circuit </a:t>
            </a:r>
          </a:p>
          <a:p>
            <a:pPr lvl="3"/>
            <a:r>
              <a:rPr lang="en-US" sz="2200" b="1" dirty="0"/>
              <a:t>These output functions </a:t>
            </a:r>
            <a:r>
              <a:rPr lang="en-US" sz="2200" dirty="0"/>
              <a:t>should be</a:t>
            </a:r>
            <a:r>
              <a:rPr lang="en-US" sz="2200" b="1" dirty="0"/>
              <a:t> simplified by any simplification method </a:t>
            </a:r>
            <a:r>
              <a:rPr lang="en-US" sz="2200" dirty="0"/>
              <a:t>like k-map, tabular method, algebraic manipulation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Draw the logic diagram and verify the correctness of the design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16647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Procedure: Considerations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particular application, certain criteria will serve as a guide to choose an implementation among different alternatives </a:t>
            </a:r>
          </a:p>
          <a:p>
            <a:r>
              <a:rPr lang="en-US" dirty="0"/>
              <a:t>A practical design method considers such constraints:</a:t>
            </a:r>
          </a:p>
          <a:p>
            <a:pPr lvl="2"/>
            <a:r>
              <a:rPr lang="en-US" dirty="0"/>
              <a:t>Minimum number of </a:t>
            </a:r>
            <a:r>
              <a:rPr lang="en-US" b="1" dirty="0"/>
              <a:t>gates</a:t>
            </a:r>
          </a:p>
          <a:p>
            <a:pPr lvl="2"/>
            <a:r>
              <a:rPr lang="en-US" dirty="0"/>
              <a:t>Minimum number of </a:t>
            </a:r>
            <a:r>
              <a:rPr lang="en-US" b="1" dirty="0"/>
              <a:t>inputs to a gate</a:t>
            </a:r>
          </a:p>
          <a:p>
            <a:pPr lvl="2"/>
            <a:r>
              <a:rPr lang="en-US" dirty="0"/>
              <a:t>Minimum </a:t>
            </a:r>
            <a:r>
              <a:rPr lang="en-US" b="1" dirty="0"/>
              <a:t>propagation time of the signal</a:t>
            </a:r>
            <a:r>
              <a:rPr lang="en-US" dirty="0"/>
              <a:t> through the circuit</a:t>
            </a:r>
          </a:p>
          <a:p>
            <a:pPr lvl="2"/>
            <a:r>
              <a:rPr lang="en-US" dirty="0"/>
              <a:t>Minimum number of </a:t>
            </a:r>
            <a:r>
              <a:rPr lang="en-US" b="1" dirty="0"/>
              <a:t>interconnections</a:t>
            </a:r>
          </a:p>
          <a:p>
            <a:pPr lvl="2"/>
            <a:r>
              <a:rPr lang="en-US" dirty="0"/>
              <a:t>Limitations of the </a:t>
            </a:r>
            <a:r>
              <a:rPr lang="en-US" b="1" dirty="0"/>
              <a:t>driving capabilities of each gate (</a:t>
            </a:r>
            <a:r>
              <a:rPr lang="en-US" b="1" i="1" dirty="0"/>
              <a:t>i.e. </a:t>
            </a:r>
            <a:r>
              <a:rPr lang="en-US" dirty="0"/>
              <a:t>the number of gates to which this output may be connected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Based on the application, those constraints will be prioritized.</a:t>
            </a:r>
          </a:p>
          <a:p>
            <a:pPr lvl="1"/>
            <a:r>
              <a:rPr lang="en-US" dirty="0"/>
              <a:t>So there is no general statement to constitute an acceptable implementation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56148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Procedure: Considerations…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of the cases, the implementation begins with producing the simplified Boolean functions in standard form</a:t>
            </a:r>
          </a:p>
          <a:p>
            <a:pPr lvl="1"/>
            <a:r>
              <a:rPr lang="en-US" dirty="0"/>
              <a:t>It may proceed to further steps to meet other performance criteria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60577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Procedure: Example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Circuit specification:</a:t>
            </a:r>
          </a:p>
          <a:p>
            <a:pPr lvl="1" algn="just"/>
            <a:r>
              <a:rPr lang="en-US" dirty="0"/>
              <a:t>In practical different digital systems may use different codes and they may need to exchange information</a:t>
            </a:r>
          </a:p>
          <a:p>
            <a:pPr lvl="1" algn="just"/>
            <a:r>
              <a:rPr lang="en-US" dirty="0"/>
              <a:t>So a code converter circuit is required between them to make these two systems compatible even though they uses different binary codes </a:t>
            </a:r>
          </a:p>
          <a:p>
            <a:pPr algn="just"/>
            <a:r>
              <a:rPr lang="en-US" b="1" dirty="0"/>
              <a:t>Initial Consideration:</a:t>
            </a:r>
          </a:p>
          <a:p>
            <a:pPr lvl="1" algn="just"/>
            <a:r>
              <a:rPr lang="en-US" dirty="0"/>
              <a:t>To convert from binary code A to binary code B, the input lines must have the bit combinations specified by code A</a:t>
            </a:r>
          </a:p>
          <a:p>
            <a:pPr lvl="2" algn="just"/>
            <a:r>
              <a:rPr lang="en-US" dirty="0"/>
              <a:t>The output lines must generate the corresponding bit combinations specified by code B</a:t>
            </a:r>
          </a:p>
          <a:p>
            <a:pPr lvl="2" algn="just"/>
            <a:r>
              <a:rPr lang="en-US" dirty="0"/>
              <a:t>Now we have to design this combinational circuit assuming code A as BCD and code B as excess-3 for decimal digits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52964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Procedure: Example…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Truth Table </a:t>
            </a:r>
            <a:r>
              <a:rPr lang="en-US" dirty="0"/>
              <a:t>for 4 input and 4 output variables</a:t>
            </a:r>
            <a:r>
              <a:rPr lang="en-US" b="1" dirty="0"/>
              <a:t>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19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8FDEB-C1C9-453F-AC8F-D3B900534B9C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918" y="2564008"/>
            <a:ext cx="6148163" cy="408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30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Procedure: Example…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K-map </a:t>
            </a:r>
            <a:r>
              <a:rPr lang="en-US" dirty="0"/>
              <a:t>for 4 output variables to obtain their simplified Boolean functions</a:t>
            </a:r>
            <a:r>
              <a:rPr lang="en-US" b="1" dirty="0"/>
              <a:t>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20</a:t>
            </a:fld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8AA2DE-376C-43C8-BE35-E8ECAA5CCE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01" b="47934"/>
          <a:stretch/>
        </p:blipFill>
        <p:spPr>
          <a:xfrm>
            <a:off x="143431" y="2723949"/>
            <a:ext cx="5989320" cy="32316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B5E380-7FDF-49A9-BAC2-CF88CA68B1E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804" t="50129"/>
          <a:stretch/>
        </p:blipFill>
        <p:spPr>
          <a:xfrm>
            <a:off x="6044545" y="2831526"/>
            <a:ext cx="5943600" cy="308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4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Procedure: Example…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Two level logic diagrams of each output variables can be produced directly from their respective simplified expression in SOP forms </a:t>
            </a:r>
          </a:p>
          <a:p>
            <a:pPr lvl="2" algn="just"/>
            <a:r>
              <a:rPr lang="en-US" sz="2400" dirty="0"/>
              <a:t>But with multiple-output system, these expressions can be manipulated algebraically further to obtain flexibility of common gates</a:t>
            </a:r>
          </a:p>
          <a:p>
            <a:pPr lvl="3" algn="just"/>
            <a:r>
              <a:rPr lang="en-US" sz="2400" dirty="0"/>
              <a:t>Here, gate implementation might require three or more level of gates	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21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1324FC-7D77-479F-A8F2-C48C62556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517" y="4177285"/>
            <a:ext cx="6318001" cy="199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02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Design Procedure: Example – Logic Diagram 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	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22</a:t>
            </a:fld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DE0884-881E-4A8A-A2D0-119DBA494E2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852" y="1470491"/>
            <a:ext cx="7056296" cy="525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03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123" y="365125"/>
            <a:ext cx="10808677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Adder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123" y="1825624"/>
            <a:ext cx="11101754" cy="453072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Addition</a:t>
            </a:r>
            <a:r>
              <a:rPr lang="en-US" dirty="0"/>
              <a:t> – most common and basic arithmetic operation two binary digits </a:t>
            </a:r>
          </a:p>
          <a:p>
            <a:pPr lvl="2" algn="just"/>
            <a:r>
              <a:rPr lang="en-US" dirty="0"/>
              <a:t>Four possible operations: 0+0=0, 0+1=1, 1+0=1, and 1+1=10 </a:t>
            </a:r>
          </a:p>
          <a:p>
            <a:pPr lvl="2" algn="just"/>
            <a:r>
              <a:rPr lang="en-US" dirty="0"/>
              <a:t>Carry is produced in fourth operation which may be propagated to the next significant digits</a:t>
            </a:r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Half Adder </a:t>
            </a:r>
            <a:r>
              <a:rPr lang="en-US" dirty="0"/>
              <a:t>– a combinational circuit that performs addition of two bits</a:t>
            </a:r>
          </a:p>
          <a:p>
            <a:pPr algn="just"/>
            <a:r>
              <a:rPr lang="en-US" b="1" dirty="0"/>
              <a:t>Full Adder </a:t>
            </a:r>
            <a:r>
              <a:rPr lang="en-US" dirty="0"/>
              <a:t>– a combinational circuit that performs addition of three bits (</a:t>
            </a:r>
            <a:r>
              <a:rPr lang="en-US" b="1" i="1" dirty="0"/>
              <a:t>i.e. </a:t>
            </a:r>
            <a:r>
              <a:rPr lang="en-US" dirty="0"/>
              <a:t>two significant bits and a previous carry) </a:t>
            </a:r>
          </a:p>
          <a:p>
            <a:pPr lvl="1" algn="just"/>
            <a:r>
              <a:rPr lang="en-US" dirty="0"/>
              <a:t>Two half adders can be employed to implement a full adder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23</a:t>
            </a:fld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2E1E0-AEC4-4404-8456-00EBA470C0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4" r="9702"/>
          <a:stretch/>
        </p:blipFill>
        <p:spPr>
          <a:xfrm>
            <a:off x="4712676" y="2955625"/>
            <a:ext cx="2479432" cy="149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6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Half Adder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Two binary input bits (augend and addend) and two binary output bits (sum and carry)</a:t>
            </a:r>
          </a:p>
          <a:p>
            <a:pPr lvl="2" algn="just"/>
            <a:r>
              <a:rPr lang="en-US" dirty="0"/>
              <a:t>Two input and two output variables </a:t>
            </a:r>
          </a:p>
          <a:p>
            <a:pPr algn="just"/>
            <a:r>
              <a:rPr lang="en-US" b="1" dirty="0"/>
              <a:t>Assignment of symbols </a:t>
            </a:r>
            <a:r>
              <a:rPr lang="en-US" dirty="0"/>
              <a:t>– two inputs [x &amp; y] and two outputs [S &amp; C] </a:t>
            </a:r>
          </a:p>
          <a:p>
            <a:pPr lvl="2" algn="just"/>
            <a:r>
              <a:rPr lang="en-US" b="1" i="1" dirty="0"/>
              <a:t>S </a:t>
            </a:r>
            <a:r>
              <a:rPr lang="en-US" dirty="0"/>
              <a:t>represents the LSB and </a:t>
            </a:r>
            <a:r>
              <a:rPr lang="en-US" b="1" i="1" dirty="0"/>
              <a:t>C </a:t>
            </a:r>
            <a:r>
              <a:rPr lang="en-US" dirty="0"/>
              <a:t>represents the MSB of the sum </a:t>
            </a:r>
          </a:p>
          <a:p>
            <a:pPr algn="just"/>
            <a:r>
              <a:rPr lang="en-US" dirty="0"/>
              <a:t>Truth table to identify the function of the half adder: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24</a:t>
            </a:fld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437" y="4466481"/>
            <a:ext cx="2525042" cy="197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74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Half Adder – Function and Circuit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Simplified </a:t>
            </a:r>
            <a:r>
              <a:rPr lang="en-US" b="1" dirty="0"/>
              <a:t>Boolean functions </a:t>
            </a:r>
            <a:r>
              <a:rPr lang="en-US" dirty="0"/>
              <a:t>for two outputs: 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These functions could be implemented in different ways as well. </a:t>
            </a:r>
          </a:p>
          <a:p>
            <a:r>
              <a:rPr lang="en-US" b="1" dirty="0"/>
              <a:t>Circuit implementation </a:t>
            </a:r>
            <a:r>
              <a:rPr lang="en-US" dirty="0"/>
              <a:t>of half adder: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25</a:t>
            </a:fld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978"/>
          <a:stretch/>
        </p:blipFill>
        <p:spPr>
          <a:xfrm>
            <a:off x="5118436" y="2369211"/>
            <a:ext cx="2447042" cy="986031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B3C7FF75-7CA3-4AC2-B13E-B7B92707535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64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690" b="5404"/>
          <a:stretch/>
        </p:blipFill>
        <p:spPr>
          <a:xfrm>
            <a:off x="2848707" y="4220310"/>
            <a:ext cx="6717324" cy="260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49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680" y="365125"/>
            <a:ext cx="1067612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Full Adder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680" y="1825625"/>
            <a:ext cx="1083664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For addition of n-bit binary numbers, it requires the use of a full adder</a:t>
            </a:r>
          </a:p>
          <a:p>
            <a:pPr lvl="1" algn="just"/>
            <a:r>
              <a:rPr lang="en-US" dirty="0"/>
              <a:t>Bit by bit addition will be occurred beginning from the LSB</a:t>
            </a:r>
          </a:p>
          <a:p>
            <a:pPr algn="just"/>
            <a:r>
              <a:rPr lang="en-US" dirty="0"/>
              <a:t>A full adder is a </a:t>
            </a:r>
            <a:r>
              <a:rPr lang="en-US" b="1" dirty="0"/>
              <a:t>combinational circuit </a:t>
            </a:r>
            <a:r>
              <a:rPr lang="en-US" dirty="0"/>
              <a:t>that performs the </a:t>
            </a:r>
            <a:r>
              <a:rPr lang="en-US" b="1" dirty="0"/>
              <a:t>arithmetic sum </a:t>
            </a:r>
            <a:r>
              <a:rPr lang="en-US" dirty="0"/>
              <a:t>of </a:t>
            </a:r>
            <a:r>
              <a:rPr lang="en-US" b="1" dirty="0"/>
              <a:t>three input bits</a:t>
            </a:r>
          </a:p>
          <a:p>
            <a:pPr algn="just"/>
            <a:r>
              <a:rPr lang="en-US" dirty="0"/>
              <a:t>Three inputs (x, y and z) and two outputs (S and C)</a:t>
            </a:r>
          </a:p>
          <a:p>
            <a:pPr lvl="2" algn="just"/>
            <a:r>
              <a:rPr lang="en-US" b="1" i="1" dirty="0"/>
              <a:t>x</a:t>
            </a:r>
            <a:r>
              <a:rPr lang="en-US" dirty="0"/>
              <a:t> and </a:t>
            </a:r>
            <a:r>
              <a:rPr lang="en-US" b="1" i="1" dirty="0"/>
              <a:t>y</a:t>
            </a:r>
            <a:r>
              <a:rPr lang="en-US" dirty="0"/>
              <a:t> are </a:t>
            </a:r>
            <a:r>
              <a:rPr lang="en-US" b="1" dirty="0"/>
              <a:t>two significant bits to be added</a:t>
            </a:r>
          </a:p>
          <a:p>
            <a:pPr lvl="2" algn="just"/>
            <a:r>
              <a:rPr lang="en-US" b="1" i="1" dirty="0"/>
              <a:t>z</a:t>
            </a:r>
            <a:r>
              <a:rPr lang="en-US" dirty="0"/>
              <a:t> represents the </a:t>
            </a:r>
            <a:r>
              <a:rPr lang="en-US" b="1" dirty="0"/>
              <a:t>carry</a:t>
            </a:r>
            <a:r>
              <a:rPr lang="en-US" dirty="0"/>
              <a:t> from the </a:t>
            </a:r>
            <a:r>
              <a:rPr lang="en-US" b="1" dirty="0"/>
              <a:t>previous lower significant position</a:t>
            </a:r>
          </a:p>
          <a:p>
            <a:pPr lvl="2"/>
            <a:r>
              <a:rPr lang="en-US" dirty="0"/>
              <a:t>Two outputs are necessary because the arithmetic sum of three binary digits ranges in value from 0 to 3 </a:t>
            </a:r>
          </a:p>
          <a:p>
            <a:pPr lvl="2"/>
            <a:r>
              <a:rPr lang="en-US" b="1" i="1" dirty="0"/>
              <a:t>S</a:t>
            </a:r>
            <a:r>
              <a:rPr lang="en-US" i="1" dirty="0"/>
              <a:t> </a:t>
            </a:r>
            <a:r>
              <a:rPr lang="en-US" dirty="0"/>
              <a:t>is the LSB of the sum and </a:t>
            </a:r>
            <a:r>
              <a:rPr lang="en-US" b="1" i="1" dirty="0"/>
              <a:t>C </a:t>
            </a:r>
            <a:r>
              <a:rPr lang="en-US" dirty="0"/>
              <a:t>is the MSB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86154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831" y="365125"/>
            <a:ext cx="10626969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Full Adder – Truth table and K-map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27</a:t>
            </a:fld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31" y="1870075"/>
            <a:ext cx="3876790" cy="3927282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018CF881-43D2-422A-AF18-EBA64D725B0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24" r="7626"/>
          <a:stretch/>
        </p:blipFill>
        <p:spPr>
          <a:xfrm>
            <a:off x="5140569" y="2601265"/>
            <a:ext cx="6324600" cy="28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86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Full Adder – Implementation in SOP form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28</a:t>
            </a:fld>
            <a:endParaRPr lang="en-US" sz="1800" dirty="0"/>
          </a:p>
        </p:txBody>
      </p:sp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CFEDB466-3F9A-4942-8F12-003BDD575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886" y="1861894"/>
            <a:ext cx="9872227" cy="4323250"/>
          </a:xfrm>
        </p:spPr>
      </p:pic>
    </p:spTree>
    <p:extLst>
      <p:ext uri="{BB962C8B-B14F-4D97-AF65-F5344CB8AC3E}">
        <p14:creationId xmlns:p14="http://schemas.microsoft.com/office/powerpoint/2010/main" val="1812684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664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Full Adder – Implementation with Half Adder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29</a:t>
            </a:fld>
            <a:endParaRPr lang="en-US" sz="1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43" r="5602"/>
          <a:stretch/>
        </p:blipFill>
        <p:spPr>
          <a:xfrm>
            <a:off x="517160" y="1582688"/>
            <a:ext cx="8310317" cy="3324248"/>
          </a:xfrm>
        </p:spPr>
      </p:pic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1904D411-962E-497A-B476-8C21A68B29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767" y="4142120"/>
            <a:ext cx="4277579" cy="16314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F79C1C-9B93-4918-A12E-5770396A1D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016" y="5894858"/>
            <a:ext cx="5140569" cy="52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25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Adder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Binary Ripple Carry Adder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Binary adder</a:t>
            </a:r>
            <a:r>
              <a:rPr lang="en-US" sz="2400" dirty="0"/>
              <a:t> – a digital circuit that produces the arithmetic sum of </a:t>
            </a:r>
            <a:r>
              <a:rPr lang="en-US" sz="2400" b="1" dirty="0"/>
              <a:t>two binary numbers </a:t>
            </a:r>
            <a:r>
              <a:rPr lang="en-US" sz="2400" dirty="0"/>
              <a:t>of n number of bits </a:t>
            </a:r>
            <a:endParaRPr lang="en-US" sz="2400" b="1" dirty="0"/>
          </a:p>
          <a:p>
            <a:pPr lvl="2" algn="just"/>
            <a:r>
              <a:rPr lang="en-US" dirty="0"/>
              <a:t>It requires a chain of </a:t>
            </a:r>
            <a:r>
              <a:rPr lang="en-US" i="1" dirty="0"/>
              <a:t>n </a:t>
            </a:r>
            <a:r>
              <a:rPr lang="en-US" b="1" dirty="0"/>
              <a:t>full adders </a:t>
            </a:r>
            <a:r>
              <a:rPr lang="en-US" dirty="0"/>
              <a:t>or a chain of one </a:t>
            </a:r>
            <a:r>
              <a:rPr lang="en-US" b="1" dirty="0"/>
              <a:t>half adder</a:t>
            </a:r>
            <a:r>
              <a:rPr lang="en-US" dirty="0"/>
              <a:t> and (</a:t>
            </a:r>
            <a:r>
              <a:rPr lang="en-US" i="1" dirty="0"/>
              <a:t>n </a:t>
            </a:r>
            <a:r>
              <a:rPr lang="en-US" dirty="0"/>
              <a:t>– 1) </a:t>
            </a:r>
            <a:r>
              <a:rPr lang="en-US" b="1" dirty="0"/>
              <a:t>full adders </a:t>
            </a:r>
            <a:r>
              <a:rPr lang="en-US" dirty="0"/>
              <a:t>in cascade. </a:t>
            </a:r>
          </a:p>
          <a:p>
            <a:pPr lvl="3" algn="just"/>
            <a:r>
              <a:rPr lang="en-US" sz="2000" dirty="0"/>
              <a:t>Subscript 0 denotes the LSB and </a:t>
            </a:r>
            <a:r>
              <a:rPr lang="en-US" sz="2000" b="1" dirty="0"/>
              <a:t>(n-1) </a:t>
            </a:r>
            <a:r>
              <a:rPr lang="en-US" sz="2000" dirty="0"/>
              <a:t>denotes the MSB</a:t>
            </a:r>
            <a:endParaRPr lang="en-US" sz="2000" b="1" dirty="0"/>
          </a:p>
          <a:p>
            <a:pPr lvl="3" algn="just"/>
            <a:r>
              <a:rPr lang="en-US" sz="2000" dirty="0"/>
              <a:t>The input carry </a:t>
            </a:r>
            <a:r>
              <a:rPr lang="en-US" sz="2000" i="1" dirty="0"/>
              <a:t>C</a:t>
            </a:r>
            <a:r>
              <a:rPr lang="en-US" sz="2000" baseline="-25000" dirty="0"/>
              <a:t>0</a:t>
            </a:r>
            <a:r>
              <a:rPr lang="en-US" sz="2000" dirty="0"/>
              <a:t> in the least significant position of the first case must be 0.</a:t>
            </a:r>
          </a:p>
          <a:p>
            <a:pPr lvl="2" algn="just"/>
            <a:r>
              <a:rPr lang="en-US" dirty="0"/>
              <a:t>Output carry of any full adder is connected to the input carry of the next full adder in the chain </a:t>
            </a:r>
          </a:p>
          <a:p>
            <a:pPr lvl="2" algn="just"/>
            <a:r>
              <a:rPr lang="en-US" dirty="0"/>
              <a:t>Example: A=1011 and B=0011 will produce the sum, S=1110 with four bit adder as  follows: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30</a:t>
            </a:fld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A2C4B7-C907-4A9C-AAB4-E921D3A83A79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267" y="4673661"/>
            <a:ext cx="5379333" cy="204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72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Adder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Binary Ripple Carry Adder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If we follow the classical method, it would require a truth table with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baseline="30000" dirty="0">
                <a:solidFill>
                  <a:srgbClr val="FF0000"/>
                </a:solidFill>
              </a:rPr>
              <a:t>9</a:t>
            </a:r>
            <a:r>
              <a:rPr lang="en-US" sz="2400" b="1" dirty="0">
                <a:solidFill>
                  <a:srgbClr val="FF0000"/>
                </a:solidFill>
              </a:rPr>
              <a:t>=512 </a:t>
            </a:r>
            <a:r>
              <a:rPr lang="en-US" sz="2400" dirty="0"/>
              <a:t>entries</a:t>
            </a:r>
          </a:p>
          <a:p>
            <a:pPr lvl="1"/>
            <a:r>
              <a:rPr lang="en-US" sz="2000" dirty="0"/>
              <a:t>By using an </a:t>
            </a:r>
            <a:r>
              <a:rPr lang="en-US" sz="2000" b="1" dirty="0"/>
              <a:t>iterative method </a:t>
            </a:r>
            <a:r>
              <a:rPr lang="en-US" sz="2000" dirty="0"/>
              <a:t>of </a:t>
            </a:r>
            <a:r>
              <a:rPr lang="en-US" sz="2000" b="1" dirty="0">
                <a:solidFill>
                  <a:srgbClr val="00B050"/>
                </a:solidFill>
              </a:rPr>
              <a:t>cascading a standard function</a:t>
            </a:r>
            <a:r>
              <a:rPr lang="en-US" sz="2000" dirty="0"/>
              <a:t>, it is possible to obtain a simple and straightforward implementation.</a:t>
            </a:r>
          </a:p>
          <a:p>
            <a:pPr lvl="1"/>
            <a:r>
              <a:rPr lang="en-US" sz="2000" dirty="0"/>
              <a:t>All the carries must be generated to obtain correct sum at the outputs. 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31</a:t>
            </a:fld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331" y="3283286"/>
            <a:ext cx="7345337" cy="23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17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Carry Propagation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32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2FF60F5-5E0C-4914-BF70-91BC0E95EB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36640" cy="4351338"/>
              </a:xfrm>
            </p:spPr>
            <p:txBody>
              <a:bodyPr/>
              <a:lstStyle/>
              <a:p>
                <a:r>
                  <a:rPr lang="en-US" dirty="0"/>
                  <a:t>As any combinational circuit, the signal must be propagated through the gates before the correct outputs are present in the output terminals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𝑻𝒐𝒕𝒂𝒍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𝒑𝒓𝒐𝒑𝒂𝒈𝒂𝒕𝒊𝒐𝒏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𝒅𝒆𝒍𝒂𝒚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𝐷𝑒𝑙𝑎𝑦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𝑔𝑎𝑡𝑒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𝑁𝑢𝑚𝑏𝑒𝑟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𝑔𝑎𝑡𝑒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𝑙𝑒𝑣𝑒𝑙𝑠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Any combinational circuit will always have some value at its outputs</a:t>
                </a:r>
              </a:p>
              <a:p>
                <a:pPr lvl="1"/>
                <a:r>
                  <a:rPr lang="en-US" sz="2000" dirty="0"/>
                  <a:t>These outputs will not be correct unless the enough propagation delay is maintained </a:t>
                </a:r>
              </a:p>
              <a:p>
                <a:r>
                  <a:rPr lang="en-US" sz="2400" dirty="0"/>
                  <a:t>This propagation delay is crucial if a system uses this type of adder successively </a:t>
                </a:r>
              </a:p>
              <a:p>
                <a:pPr lvl="1"/>
                <a:r>
                  <a:rPr lang="en-US" sz="2000" dirty="0"/>
                  <a:t>Solution:</a:t>
                </a:r>
              </a:p>
              <a:p>
                <a:pPr lvl="2"/>
                <a:r>
                  <a:rPr lang="en-US" sz="1600" dirty="0"/>
                  <a:t>Faster gates in this circuit – 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but </a:t>
                </a:r>
                <a:r>
                  <a:rPr lang="en-US" sz="1600" dirty="0"/>
                  <a:t>impractical </a:t>
                </a:r>
              </a:p>
              <a:p>
                <a:pPr lvl="2"/>
                <a:r>
                  <a:rPr lang="en-US" sz="1600" dirty="0"/>
                  <a:t>Complex circuit – </a:t>
                </a:r>
                <a:r>
                  <a:rPr lang="en-US" sz="1600" b="1" dirty="0"/>
                  <a:t>carry lookahead logic </a:t>
                </a:r>
              </a:p>
              <a:p>
                <a:pPr marL="1371600" lvl="3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2FF60F5-5E0C-4914-BF70-91BC0E95E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36640" cy="4351338"/>
              </a:xfrm>
              <a:blipFill>
                <a:blip r:embed="rId4"/>
                <a:stretch>
                  <a:fillRect l="-1013" t="-2241" r="-1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42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Carry Propagation with Full Adder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41BBE9-8F51-4D51-B03D-CF9E05E33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66" y="2338405"/>
            <a:ext cx="7796064" cy="2769379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33</a:t>
            </a:fld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1DD328-33DE-4581-91E9-736497FAC0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08" y="2338405"/>
            <a:ext cx="2277032" cy="178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0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Carry Propagation with 4-bit Full Adder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To generate Carry </a:t>
            </a:r>
            <a:r>
              <a:rPr lang="en-US" sz="3000" b="1" i="1" dirty="0">
                <a:solidFill>
                  <a:srgbClr val="FF0000"/>
                </a:solidFill>
                <a:latin typeface="+mn-lt"/>
              </a:rPr>
              <a:t>Lookahead</a:t>
            </a:r>
            <a:endParaRPr lang="en-US" sz="3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A964E4-01EE-48B9-9B22-E9E6F9247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947" y="2953981"/>
            <a:ext cx="1781424" cy="666843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34</a:t>
            </a:fld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448027-137E-4C8E-A6B7-F7A054E44B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074" y="3576756"/>
            <a:ext cx="6277851" cy="7621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4E6FA1-E169-4B74-9463-9ED68F5DDC1A}"/>
              </a:ext>
            </a:extLst>
          </p:cNvPr>
          <p:cNvSpPr txBox="1"/>
          <p:nvPr/>
        </p:nvSpPr>
        <p:spPr>
          <a:xfrm>
            <a:off x="6902605" y="391320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526024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Carry Lookahead Generator Circuit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For 4-bit Adder 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A9BC27-7C27-40B7-A368-DBCB9F836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627" y="1825625"/>
            <a:ext cx="4384745" cy="435133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76251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4-bit Binary Adder with Carry Lookahead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9CC56-BAB1-4396-AB31-A6FF91276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347" y="1541613"/>
            <a:ext cx="4211935" cy="4699843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3540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Subtractor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subtraction of two unsigned binary numbers – </a:t>
            </a:r>
            <a:r>
              <a:rPr lang="en-US" i="1" dirty="0">
                <a:solidFill>
                  <a:srgbClr val="00B050"/>
                </a:solidFill>
              </a:rPr>
              <a:t>taking the complement of the subtrahend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u="sng" dirty="0">
                <a:solidFill>
                  <a:srgbClr val="00B0F0"/>
                </a:solidFill>
              </a:rPr>
              <a:t>adding it to the minuend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Complement of a number can be obtained by 1’s or 2’s complement </a:t>
            </a:r>
          </a:p>
          <a:p>
            <a:pPr algn="just"/>
            <a:r>
              <a:rPr lang="en-US" dirty="0"/>
              <a:t>So subtraction is a kind of addition operation – needs </a:t>
            </a:r>
            <a:r>
              <a:rPr lang="en-US" b="1" dirty="0"/>
              <a:t>full adder </a:t>
            </a:r>
            <a:r>
              <a:rPr lang="en-US" dirty="0"/>
              <a:t>for machine implementation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If the minuend bit is smaller than the subtrahend bit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a 1 is borrowed from the next significant position </a:t>
            </a:r>
            <a:r>
              <a:rPr lang="en-US" dirty="0"/>
              <a:t>– </a:t>
            </a:r>
            <a:r>
              <a:rPr lang="en-US" i="1" dirty="0"/>
              <a:t>also must be conveyed to the next higher pair of bits by means of a binary signal from current stage to next higher stage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84991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Subtractor…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kind of subtractor based on the number of inputs:</a:t>
            </a:r>
          </a:p>
          <a:p>
            <a:pPr lvl="1"/>
            <a:r>
              <a:rPr lang="en-US" dirty="0"/>
              <a:t>Half-subtractor</a:t>
            </a:r>
          </a:p>
          <a:p>
            <a:pPr lvl="1"/>
            <a:r>
              <a:rPr lang="en-US" dirty="0"/>
              <a:t>Full subtractor</a:t>
            </a:r>
          </a:p>
          <a:p>
            <a:r>
              <a:rPr lang="en-US" dirty="0"/>
              <a:t>For </a:t>
            </a:r>
            <a:r>
              <a:rPr lang="en-US" b="1" dirty="0"/>
              <a:t>signed-complement system</a:t>
            </a:r>
            <a:r>
              <a:rPr lang="en-US" dirty="0"/>
              <a:t>, addition and subtraction could be implemented using same circuit like unsigned number system.</a:t>
            </a:r>
          </a:p>
          <a:p>
            <a:pPr lvl="1"/>
            <a:r>
              <a:rPr lang="en-US" dirty="0"/>
              <a:t>Users should </a:t>
            </a:r>
            <a:r>
              <a:rPr lang="en-US" b="1" dirty="0"/>
              <a:t>interpret </a:t>
            </a:r>
            <a:r>
              <a:rPr lang="en-US" dirty="0"/>
              <a:t>the system wisely considering it is signed or unsigned number </a:t>
            </a:r>
          </a:p>
          <a:p>
            <a:pPr lvl="1"/>
            <a:r>
              <a:rPr lang="en-US" dirty="0"/>
              <a:t>So </a:t>
            </a:r>
            <a:r>
              <a:rPr lang="en-US" b="1" dirty="0"/>
              <a:t>same circuit </a:t>
            </a:r>
            <a:r>
              <a:rPr lang="en-US" dirty="0"/>
              <a:t>could be used to handle both types of arithmetic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222208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Half-Subtractor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combinational circuit – subtracts two bits and produces </a:t>
            </a:r>
            <a:r>
              <a:rPr lang="en-US" b="1" dirty="0"/>
              <a:t>their differences </a:t>
            </a:r>
            <a:r>
              <a:rPr lang="en-US" dirty="0"/>
              <a:t>and </a:t>
            </a:r>
            <a:r>
              <a:rPr lang="en-US" b="1" dirty="0"/>
              <a:t>an output </a:t>
            </a:r>
            <a:r>
              <a:rPr lang="en-US" dirty="0"/>
              <a:t>that specifies if a 1 is </a:t>
            </a:r>
            <a:r>
              <a:rPr lang="en-US" b="1" dirty="0"/>
              <a:t>borrowed </a:t>
            </a:r>
            <a:r>
              <a:rPr lang="en-US" dirty="0"/>
              <a:t>or not to next stage.</a:t>
            </a:r>
          </a:p>
          <a:p>
            <a:r>
              <a:rPr lang="en-US" dirty="0"/>
              <a:t>Designation of the input variables – minuend (x) and subtrahend (y)</a:t>
            </a:r>
          </a:p>
          <a:p>
            <a:r>
              <a:rPr lang="en-US" i="1" dirty="0"/>
              <a:t>D = 2B + x – y, [if x&lt;y, B=1]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39</a:t>
            </a:fld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320" y="3905874"/>
            <a:ext cx="3883891" cy="227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58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Half-Subtractor…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Boolean functions of two outputs of the half-subtractor:</a:t>
                </a:r>
              </a:p>
              <a:p>
                <a:pPr marL="3657600" lvl="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sz="2400" i="1" dirty="0"/>
              </a:p>
              <a:p>
                <a:pPr marL="3657600" lvl="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i="1" dirty="0"/>
              </a:p>
              <a:p>
                <a:r>
                  <a:rPr lang="en-US" dirty="0"/>
                  <a:t>Logic for D is same as the logic for S in half-adder</a:t>
                </a:r>
              </a:p>
              <a:p>
                <a:r>
                  <a:rPr lang="en-US" dirty="0"/>
                  <a:t>Circuit Implementation of half-subtractor: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40</a:t>
            </a:fld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319" y="4093646"/>
            <a:ext cx="2520432" cy="181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112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Full-Subtractor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09538"/>
                <a:ext cx="10637293" cy="4346812"/>
              </a:xfrm>
            </p:spPr>
            <p:txBody>
              <a:bodyPr/>
              <a:lstStyle/>
              <a:p>
                <a:pPr algn="just"/>
                <a:r>
                  <a:rPr lang="en-US" dirty="0"/>
                  <a:t>A combinational circuit – performs a subtraction between two bits considering the </a:t>
                </a:r>
                <a:r>
                  <a:rPr lang="en-US" b="1" dirty="0"/>
                  <a:t>previous borrow </a:t>
                </a:r>
                <a:r>
                  <a:rPr lang="en-US" dirty="0"/>
                  <a:t>– three inputs and two outputs</a:t>
                </a:r>
              </a:p>
              <a:p>
                <a:pPr algn="just"/>
                <a:r>
                  <a:rPr lang="en-US" dirty="0"/>
                  <a:t>Designation of variables – inputs [minuend(x), subtrahend(y), previous borrow(z)] and outputs [difference(D) and current borrow (B)]</a:t>
                </a:r>
              </a:p>
              <a:p>
                <a:r>
                  <a:rPr lang="en-US" dirty="0"/>
                  <a:t>Considering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if z=0, it will be same as half-subtractor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B=1</a:t>
                </a:r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09538"/>
                <a:ext cx="10637293" cy="4346812"/>
              </a:xfrm>
              <a:blipFill>
                <a:blip r:embed="rId3"/>
                <a:stretch>
                  <a:fillRect l="-1032" t="-2384" r="-1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963245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Full-Subtractor…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42</a:t>
            </a:fld>
            <a:endParaRPr lang="en-US" sz="1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Truth table of the full-subtractor: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K-map for full-subtractor to simplify: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112" y="2276190"/>
            <a:ext cx="3533775" cy="21145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377" y="4841305"/>
            <a:ext cx="4349243" cy="178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235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Full-Subtractor…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The simplified Boolean function of full-subtractor:</a:t>
                </a:r>
              </a:p>
              <a:p>
                <a:pPr marL="0" indent="0" algn="just">
                  <a:buNone/>
                </a:pPr>
                <a:r>
                  <a:rPr lang="en-US" b="0" dirty="0"/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z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𝑦𝑧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dirty="0"/>
                  <a:t>The output of </a:t>
                </a:r>
                <a:r>
                  <a:rPr lang="en-US" b="1" dirty="0"/>
                  <a:t>B</a:t>
                </a:r>
                <a:r>
                  <a:rPr lang="en-US" dirty="0"/>
                  <a:t> resembles the function for </a:t>
                </a:r>
                <a:r>
                  <a:rPr lang="en-US" b="1" dirty="0"/>
                  <a:t>C</a:t>
                </a:r>
                <a:r>
                  <a:rPr lang="en-US" dirty="0"/>
                  <a:t> in the full adder </a:t>
                </a:r>
                <a:r>
                  <a:rPr lang="en-US" b="1" dirty="0"/>
                  <a:t>– except x is complemented</a:t>
                </a:r>
              </a:p>
              <a:p>
                <a:pPr algn="just"/>
                <a:r>
                  <a:rPr lang="en-US" dirty="0"/>
                  <a:t>The output of </a:t>
                </a:r>
                <a:r>
                  <a:rPr lang="en-US" b="1" dirty="0"/>
                  <a:t>D</a:t>
                </a:r>
                <a:r>
                  <a:rPr lang="en-US" dirty="0"/>
                  <a:t> is exactly same as the output </a:t>
                </a:r>
                <a:r>
                  <a:rPr lang="en-US" b="1" dirty="0"/>
                  <a:t>S</a:t>
                </a:r>
                <a:r>
                  <a:rPr lang="en-US" dirty="0"/>
                  <a:t> in the full adder</a:t>
                </a:r>
              </a:p>
              <a:p>
                <a:pPr algn="just"/>
                <a:r>
                  <a:rPr lang="en-US" dirty="0"/>
                  <a:t>Because of these similarities, it is possible to convert a full adder into a full subtractor - </a:t>
                </a:r>
                <a:r>
                  <a:rPr lang="en-US" dirty="0">
                    <a:solidFill>
                      <a:srgbClr val="FF0000"/>
                    </a:solidFill>
                  </a:rPr>
                  <a:t>???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157921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Full-Subtractor with Half-Subtractors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44</a:t>
            </a:fld>
            <a:endParaRPr lang="en-US" sz="1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6" y="1924334"/>
            <a:ext cx="8555920" cy="3277595"/>
          </a:xfrm>
        </p:spPr>
      </p:pic>
    </p:spTree>
    <p:extLst>
      <p:ext uri="{BB962C8B-B14F-4D97-AF65-F5344CB8AC3E}">
        <p14:creationId xmlns:p14="http://schemas.microsoft.com/office/powerpoint/2010/main" val="2409488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4-bit Full Adder-Subtractor 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A5C46A-5760-4DF1-9AD8-323605B27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115" y="1880258"/>
            <a:ext cx="8145769" cy="4130249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72419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Overflow 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46</a:t>
            </a:fld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9F6C9-A7FE-4566-8825-7E40B0C91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3605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When two numbers with </a:t>
            </a:r>
            <a:r>
              <a:rPr lang="en-US" b="1" i="1" dirty="0">
                <a:solidFill>
                  <a:srgbClr val="FF0000"/>
                </a:solidFill>
              </a:rPr>
              <a:t>n</a:t>
            </a:r>
            <a:r>
              <a:rPr lang="en-US" dirty="0"/>
              <a:t> digits each are added and the sum is a number occupying </a:t>
            </a:r>
            <a:r>
              <a:rPr lang="en-US" b="1" i="1" dirty="0">
                <a:solidFill>
                  <a:srgbClr val="FF0000"/>
                </a:solidFill>
              </a:rPr>
              <a:t>n + 1</a:t>
            </a:r>
            <a:r>
              <a:rPr lang="en-US" dirty="0"/>
              <a:t> digits</a:t>
            </a:r>
          </a:p>
          <a:p>
            <a:pPr lvl="1" algn="just"/>
            <a:r>
              <a:rPr lang="en-US" sz="1800" dirty="0"/>
              <a:t>Problem in digital computers, as there is a finite number of bits </a:t>
            </a:r>
          </a:p>
          <a:p>
            <a:pPr lvl="2" algn="just"/>
            <a:r>
              <a:rPr lang="en-US" sz="1800" dirty="0"/>
              <a:t>Overflow detection is required to handle this occurrence</a:t>
            </a:r>
          </a:p>
          <a:p>
            <a:pPr lvl="1" algn="just"/>
            <a:r>
              <a:rPr lang="en-US" sz="1800" dirty="0"/>
              <a:t>Not possible with paper and pencil as there is no limit of space 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Only happens during addition</a:t>
            </a:r>
            <a:r>
              <a:rPr lang="en-US" dirty="0"/>
              <a:t>, but not for subtraction </a:t>
            </a:r>
          </a:p>
          <a:p>
            <a:pPr lvl="1" algn="just"/>
            <a:r>
              <a:rPr lang="en-US" sz="1800" dirty="0"/>
              <a:t>When both numbers are either positive or negative </a:t>
            </a:r>
          </a:p>
          <a:p>
            <a:pPr algn="just"/>
            <a:r>
              <a:rPr lang="en-US" dirty="0"/>
              <a:t>Also depends on the types of numbers:</a:t>
            </a:r>
          </a:p>
          <a:p>
            <a:pPr lvl="1" algn="just"/>
            <a:r>
              <a:rPr lang="en-US" sz="1800" b="1" dirty="0"/>
              <a:t>Unsigned numbers: </a:t>
            </a:r>
          </a:p>
          <a:p>
            <a:pPr lvl="2" algn="just"/>
            <a:r>
              <a:rPr lang="en-US" sz="1800" dirty="0"/>
              <a:t>Overflow detected by </a:t>
            </a:r>
            <a:r>
              <a:rPr lang="en-US" sz="1800" b="1" dirty="0">
                <a:solidFill>
                  <a:srgbClr val="FF0000"/>
                </a:solidFill>
              </a:rPr>
              <a:t>end carry of the MSB </a:t>
            </a:r>
          </a:p>
          <a:p>
            <a:pPr lvl="1" algn="just"/>
            <a:r>
              <a:rPr lang="en-US" sz="1800" b="1" dirty="0"/>
              <a:t>Signed numbers </a:t>
            </a:r>
            <a:r>
              <a:rPr lang="en-US" sz="1800" dirty="0"/>
              <a:t>: </a:t>
            </a:r>
          </a:p>
          <a:p>
            <a:pPr lvl="2" algn="just"/>
            <a:r>
              <a:rPr lang="en-US" sz="1800" b="1" dirty="0">
                <a:solidFill>
                  <a:srgbClr val="FF0000"/>
                </a:solidFill>
              </a:rPr>
              <a:t>A range is maintained from max positive to min negative. If the sum crosses the range, an overflow occurs </a:t>
            </a:r>
          </a:p>
          <a:p>
            <a:pPr lvl="3" algn="just"/>
            <a:r>
              <a:rPr lang="en-US" sz="1600" b="1" dirty="0">
                <a:solidFill>
                  <a:srgbClr val="FF0000"/>
                </a:solidFill>
              </a:rPr>
              <a:t>(n+1)</a:t>
            </a:r>
            <a:r>
              <a:rPr lang="en-US" sz="1600" b="1" dirty="0" err="1">
                <a:solidFill>
                  <a:srgbClr val="FF0000"/>
                </a:solidFill>
              </a:rPr>
              <a:t>th</a:t>
            </a:r>
            <a:r>
              <a:rPr lang="en-US" sz="1600" b="1" dirty="0">
                <a:solidFill>
                  <a:srgbClr val="FF0000"/>
                </a:solidFill>
              </a:rPr>
              <a:t> bit indicates the sign bit of the result </a:t>
            </a:r>
          </a:p>
          <a:p>
            <a:pPr lvl="2" algn="just"/>
            <a:r>
              <a:rPr lang="en-US" sz="1800" b="1" dirty="0">
                <a:solidFill>
                  <a:srgbClr val="FF0000"/>
                </a:solidFill>
              </a:rPr>
              <a:t>Note:</a:t>
            </a:r>
            <a:r>
              <a:rPr lang="en-US" sz="1800" b="1" dirty="0"/>
              <a:t> </a:t>
            </a:r>
            <a:r>
              <a:rPr lang="en-US" sz="1800" dirty="0"/>
              <a:t>Sign bit is treated as a part of a number and carry doesn’t indicate an overflow </a:t>
            </a:r>
          </a:p>
        </p:txBody>
      </p:sp>
    </p:spTree>
    <p:extLst>
      <p:ext uri="{BB962C8B-B14F-4D97-AF65-F5344CB8AC3E}">
        <p14:creationId xmlns:p14="http://schemas.microsoft.com/office/powerpoint/2010/main" val="6423253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Overflow - Example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47</a:t>
            </a:fld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2D906A-0037-4CD4-8236-6F264C051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6935"/>
            <a:ext cx="10307735" cy="215658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B3AC2D-99C3-475C-9A10-9354C6022C07}"/>
              </a:ext>
            </a:extLst>
          </p:cNvPr>
          <p:cNvSpPr txBox="1"/>
          <p:nvPr/>
        </p:nvSpPr>
        <p:spPr>
          <a:xfrm>
            <a:off x="1152437" y="4374456"/>
            <a:ext cx="102163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solidFill>
                  <a:srgbClr val="231F20"/>
                </a:solidFill>
                <a:effectLst/>
              </a:rPr>
              <a:t>Note that the eight-bit result that should have been positive has a negative sign bit (i.e., the eighth bit) and the eight-bit result that should have been negative has a positive sign </a:t>
            </a:r>
            <a:r>
              <a:rPr lang="en-US" sz="1800" b="0" i="0" dirty="0">
                <a:solidFill>
                  <a:srgbClr val="231F20"/>
                </a:solidFill>
                <a:effectLst/>
                <a:latin typeface="TimesTenLTStd-Roman"/>
              </a:rPr>
              <a:t>bit. </a:t>
            </a:r>
            <a:r>
              <a:rPr lang="en-US" dirty="0">
                <a:solidFill>
                  <a:srgbClr val="231F20"/>
                </a:solidFill>
                <a:latin typeface="TimesTenLTStd-Roman"/>
              </a:rPr>
              <a:t>As 9-bit storage is not possible, an overflow has occurred.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Overflow condition</a:t>
            </a:r>
            <a:r>
              <a:rPr lang="en-US" dirty="0"/>
              <a:t>: carry in and out in the MSB position is not same. (Try +70 and +50 to check overflow) </a:t>
            </a:r>
          </a:p>
        </p:txBody>
      </p:sp>
    </p:spTree>
    <p:extLst>
      <p:ext uri="{BB962C8B-B14F-4D97-AF65-F5344CB8AC3E}">
        <p14:creationId xmlns:p14="http://schemas.microsoft.com/office/powerpoint/2010/main" val="22771788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BCD Adder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48</a:t>
            </a:fld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4E6CCE-CF03-4A95-B816-39376088D7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3522" y="5735942"/>
            <a:ext cx="2231318" cy="3651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FAD0B3-8A6A-44D6-9B0B-A95D0B684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3113"/>
            <a:ext cx="7772400" cy="5294108"/>
          </a:xfrm>
        </p:spPr>
      </p:pic>
    </p:spTree>
    <p:extLst>
      <p:ext uri="{BB962C8B-B14F-4D97-AF65-F5344CB8AC3E}">
        <p14:creationId xmlns:p14="http://schemas.microsoft.com/office/powerpoint/2010/main" val="4959592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BCD Adder – Block Diagram 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82B50C-46D6-4162-9148-30AE52D00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877" y="1690688"/>
            <a:ext cx="4656425" cy="443469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53763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4205: Digital Logic Design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66B537-F611-4337-A1F1-EB38BC7D3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46017" y="4520928"/>
            <a:ext cx="2927094" cy="20968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Multiplier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50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686393" cy="4351338"/>
              </a:xfrm>
            </p:spPr>
            <p:txBody>
              <a:bodyPr/>
              <a:lstStyle/>
              <a:p>
                <a:r>
                  <a:rPr lang="en-US" dirty="0"/>
                  <a:t>Multiplication in binary is performed in the same way as multiplication in decimal</a:t>
                </a:r>
              </a:p>
              <a:p>
                <a:pPr lvl="1"/>
                <a:r>
                  <a:rPr lang="en-US" dirty="0"/>
                  <a:t>Multiplicand is multiplied by the each bit of the multiplier starting from the LSB </a:t>
                </a:r>
              </a:p>
              <a:p>
                <a:pPr lvl="2"/>
                <a:r>
                  <a:rPr lang="en-US" dirty="0"/>
                  <a:t>Each such multiplication forms a partial product </a:t>
                </a:r>
              </a:p>
              <a:p>
                <a:pPr lvl="2"/>
                <a:r>
                  <a:rPr lang="en-US" dirty="0"/>
                  <a:t>Successive partial products are shifted one position to the left</a:t>
                </a:r>
              </a:p>
              <a:p>
                <a:pPr lvl="2"/>
                <a:r>
                  <a:rPr lang="en-US" dirty="0"/>
                  <a:t>Final product is obtained from the sum of the partial products  </a:t>
                </a:r>
              </a:p>
              <a:p>
                <a:pPr lvl="1"/>
                <a:r>
                  <a:rPr lang="en-US" b="1" dirty="0"/>
                  <a:t>Example:</a:t>
                </a:r>
                <a:r>
                  <a:rPr lang="en-US" dirty="0"/>
                  <a:t> If </a:t>
                </a:r>
                <a:r>
                  <a:rPr lang="en-US" b="1" i="1" dirty="0"/>
                  <a:t>A</a:t>
                </a:r>
                <a:r>
                  <a:rPr lang="en-US" dirty="0"/>
                  <a:t>, </a:t>
                </a:r>
                <a:r>
                  <a:rPr lang="en-US" b="1" i="1" dirty="0"/>
                  <a:t>B </a:t>
                </a:r>
                <a:r>
                  <a:rPr lang="en-US" dirty="0"/>
                  <a:t>and </a:t>
                </a:r>
                <a:r>
                  <a:rPr lang="en-US" b="1" i="1" dirty="0"/>
                  <a:t>C </a:t>
                </a:r>
                <a:r>
                  <a:rPr lang="en-US" dirty="0"/>
                  <a:t>are binary variables: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686393" cy="4351338"/>
              </a:xfrm>
              <a:blipFill>
                <a:blip r:embed="rId5"/>
                <a:stretch>
                  <a:fillRect l="-969" t="-2241" r="-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79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Two Bit Binary Multiplier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51</a:t>
            </a:fld>
            <a:endParaRPr lang="en-US" sz="1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9FD501-517E-4153-AD75-4FB576B2BF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83205"/>
            <a:ext cx="3335465" cy="430099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381C6A-1055-4EF8-812C-0DC7E98693DA}"/>
              </a:ext>
            </a:extLst>
          </p:cNvPr>
          <p:cNvSpPr txBox="1"/>
          <p:nvPr/>
        </p:nvSpPr>
        <p:spPr>
          <a:xfrm>
            <a:off x="838200" y="5885608"/>
            <a:ext cx="854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 Multiplier with more bits can be constructed in a similar fashion</a:t>
            </a:r>
          </a:p>
        </p:txBody>
      </p:sp>
    </p:spTree>
    <p:extLst>
      <p:ext uri="{BB962C8B-B14F-4D97-AF65-F5344CB8AC3E}">
        <p14:creationId xmlns:p14="http://schemas.microsoft.com/office/powerpoint/2010/main" val="26326782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Binary Multiplier – Important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52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number of partial products (levels of AND gates) is same as the number of bits in the multiplier </a:t>
                </a:r>
              </a:p>
              <a:p>
                <a:r>
                  <a:rPr lang="en-US" b="1" i="1" dirty="0"/>
                  <a:t>J</a:t>
                </a:r>
                <a:r>
                  <a:rPr lang="en-US" dirty="0"/>
                  <a:t> multiplier bits and </a:t>
                </a:r>
                <a:r>
                  <a:rPr lang="en-US" b="1" i="1" dirty="0"/>
                  <a:t>K </a:t>
                </a:r>
                <a:r>
                  <a:rPr lang="en-US" dirty="0"/>
                  <a:t>multiplicand bits will require in multiplication: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gates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K</a:t>
                </a:r>
                <a:r>
                  <a:rPr lang="en-US" dirty="0"/>
                  <a:t>-bit adders </a:t>
                </a:r>
              </a:p>
              <a:p>
                <a:pPr lvl="1"/>
                <a:r>
                  <a:rPr lang="en-US" dirty="0"/>
                  <a:t>to produce a product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bits 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91B63A7-85C0-4362-BE3D-3E0E7AE797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4648" y="3839002"/>
            <a:ext cx="2927094" cy="209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868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433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Example – Binary Multiplier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53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300" dirty="0"/>
                  <a:t>Example: </a:t>
                </a:r>
                <a14:m>
                  <m:oMath xmlns:m="http://schemas.openxmlformats.org/officeDocument/2006/math">
                    <m:r>
                      <a:rPr lang="en-US" sz="2300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300" b="1" i="1" dirty="0" smtClean="0">
                        <a:latin typeface="Cambria Math" panose="02040503050406030204" pitchFamily="18" charset="0"/>
                      </a:rPr>
                      <m:t> (?) = </m:t>
                    </m:r>
                    <m:r>
                      <a:rPr lang="en-US" sz="23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300" b="1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3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3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23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300" b="1" i="1" dirty="0">
                        <a:latin typeface="Cambria Math" panose="02040503050406030204" pitchFamily="18" charset="0"/>
                      </a:rPr>
                      <m:t>) × </m:t>
                    </m:r>
                    <m:r>
                      <a:rPr lang="en-US" sz="2300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300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3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23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3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23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sz="23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3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3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4351338"/>
              </a:xfrm>
              <a:blipFill>
                <a:blip r:embed="rId4"/>
                <a:stretch>
                  <a:fillRect l="-696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5362567-27A9-4182-91BF-D4BDA17AFB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828" y="1700280"/>
            <a:ext cx="5429572" cy="49933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5DFF62-46B8-4F44-9FF5-E38BC378DD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13104"/>
            <a:ext cx="4676775" cy="25336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A6E66D-8EAE-4CC7-9838-002BB133C179}"/>
              </a:ext>
            </a:extLst>
          </p:cNvPr>
          <p:cNvSpPr txBox="1"/>
          <p:nvPr/>
        </p:nvSpPr>
        <p:spPr>
          <a:xfrm>
            <a:off x="9857678" y="4196972"/>
            <a:ext cx="84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shifted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6068C6-B74D-4F16-9B09-C9A8AB2F6294}"/>
              </a:ext>
            </a:extLst>
          </p:cNvPr>
          <p:cNvSpPr txBox="1"/>
          <p:nvPr/>
        </p:nvSpPr>
        <p:spPr>
          <a:xfrm>
            <a:off x="10622612" y="2630557"/>
            <a:ext cx="84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shifted</a:t>
            </a:r>
          </a:p>
        </p:txBody>
      </p:sp>
    </p:spTree>
    <p:extLst>
      <p:ext uri="{BB962C8B-B14F-4D97-AF65-F5344CB8AC3E}">
        <p14:creationId xmlns:p14="http://schemas.microsoft.com/office/powerpoint/2010/main" val="6250603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Binary Magnitude Comparator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54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Comparison operation determines between two numbers whether one number is greater than, less than or equal to the other number </a:t>
                </a:r>
              </a:p>
              <a:p>
                <a:r>
                  <a:rPr lang="en-US" dirty="0"/>
                  <a:t>Binary magnitude comparator:</a:t>
                </a:r>
              </a:p>
              <a:p>
                <a:pPr lvl="2"/>
                <a:r>
                  <a:rPr lang="en-US" dirty="0"/>
                  <a:t>A combinational circuit that compares two binary numbers </a:t>
                </a:r>
                <a:r>
                  <a:rPr lang="en-US" b="1" i="1" dirty="0"/>
                  <a:t>A </a:t>
                </a:r>
                <a:r>
                  <a:rPr lang="en-US" dirty="0"/>
                  <a:t>and </a:t>
                </a:r>
                <a:r>
                  <a:rPr lang="en-US" b="1" i="1" dirty="0"/>
                  <a:t>B</a:t>
                </a:r>
                <a:r>
                  <a:rPr lang="en-US" dirty="0"/>
                  <a:t>  </a:t>
                </a:r>
              </a:p>
              <a:p>
                <a:pPr lvl="2"/>
                <a:r>
                  <a:rPr lang="en-US" dirty="0"/>
                  <a:t>Outcome of the comparison is specified by three binary variables that indicate whether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Note: </a:t>
                </a:r>
                <a:r>
                  <a:rPr lang="en-US" dirty="0"/>
                  <a:t>If ordinary design procedure is followed, for two n-bit numbers, the truth table will have 2</a:t>
                </a:r>
                <a:r>
                  <a:rPr lang="en-US" baseline="30000" dirty="0"/>
                  <a:t>2n</a:t>
                </a:r>
                <a:r>
                  <a:rPr lang="en-US" dirty="0"/>
                  <a:t> entries </a:t>
                </a:r>
              </a:p>
              <a:p>
                <a:pPr lvl="2"/>
                <a:r>
                  <a:rPr lang="en-US" dirty="0"/>
                  <a:t>Too cumbersome to handle</a:t>
                </a:r>
              </a:p>
              <a:p>
                <a:pPr lvl="2"/>
                <a:r>
                  <a:rPr lang="en-US" dirty="0"/>
                  <a:t>Example: with n=3, the truth table will have 64 rows</a:t>
                </a:r>
              </a:p>
              <a:p>
                <a:pPr lvl="1"/>
                <a:r>
                  <a:rPr lang="en-US" dirty="0"/>
                  <a:t>Rather a pattern is followed (an algorithm) to solve this problem</a:t>
                </a:r>
              </a:p>
              <a:p>
                <a:pPr lvl="2"/>
                <a:r>
                  <a:rPr lang="en-US" sz="1500" dirty="0"/>
                  <a:t>Some patterns occurs frequently which makes it easy build a simple combinational circuit.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3081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04574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Four Bit Magnitude Comparator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55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Comparator with single bit:</a:t>
            </a:r>
          </a:p>
          <a:p>
            <a:pPr lvl="1"/>
            <a:r>
              <a:rPr lang="en-US" dirty="0"/>
              <a:t>If A&gt;B</a:t>
            </a:r>
          </a:p>
          <a:p>
            <a:pPr lvl="1"/>
            <a:r>
              <a:rPr lang="en-US" dirty="0"/>
              <a:t>If A=B</a:t>
            </a:r>
          </a:p>
          <a:p>
            <a:pPr lvl="1"/>
            <a:r>
              <a:rPr lang="en-US" dirty="0"/>
              <a:t>If A&lt;B</a:t>
            </a:r>
          </a:p>
          <a:p>
            <a:r>
              <a:rPr lang="en-US" dirty="0"/>
              <a:t>Comparator with Four bits:</a:t>
            </a:r>
          </a:p>
          <a:p>
            <a:pPr lvl="1"/>
            <a:r>
              <a:rPr lang="en-US" dirty="0"/>
              <a:t>Try the above methods four times and add them up</a:t>
            </a:r>
          </a:p>
          <a:p>
            <a:r>
              <a:rPr lang="en-US" dirty="0"/>
              <a:t>Expressions: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A6403-0872-405B-8449-23F025AD5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666" y="5189993"/>
            <a:ext cx="1966216" cy="3955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BDAC2F-7014-450B-9C24-2E9F456468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783" y="5477438"/>
            <a:ext cx="5009873" cy="7172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CC2EEC-1D1F-4747-9953-C92700A40D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774" y="4744862"/>
            <a:ext cx="3785219" cy="53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044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Four Bit Magnitude Comparator Circuit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56</a:t>
            </a:fld>
            <a:endParaRPr lang="en-US" sz="1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3B2F6A-176A-4679-88A3-5346C38D1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738" y="1479352"/>
            <a:ext cx="5226862" cy="5242123"/>
          </a:xfrm>
        </p:spPr>
      </p:pic>
    </p:spTree>
    <p:extLst>
      <p:ext uri="{BB962C8B-B14F-4D97-AF65-F5344CB8AC3E}">
        <p14:creationId xmlns:p14="http://schemas.microsoft.com/office/powerpoint/2010/main" val="33900019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Encoder-Decoder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57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9790" cy="4351338"/>
          </a:xfrm>
        </p:spPr>
        <p:txBody>
          <a:bodyPr/>
          <a:lstStyle/>
          <a:p>
            <a:r>
              <a:rPr lang="en-US" dirty="0"/>
              <a:t>Normally, any discrete information can be represented in binary code</a:t>
            </a:r>
          </a:p>
          <a:p>
            <a:pPr lvl="1"/>
            <a:r>
              <a:rPr lang="en-US" dirty="0"/>
              <a:t>Here, a n-bit binary code can represent 2</a:t>
            </a:r>
            <a:r>
              <a:rPr lang="en-US" baseline="30000" dirty="0"/>
              <a:t>n</a:t>
            </a:r>
            <a:r>
              <a:rPr lang="en-US" dirty="0"/>
              <a:t> different elements  </a:t>
            </a:r>
          </a:p>
          <a:p>
            <a:r>
              <a:rPr lang="en-US" b="1" i="0" dirty="0">
                <a:solidFill>
                  <a:srgbClr val="273239"/>
                </a:solidFill>
                <a:effectLst/>
              </a:rPr>
              <a:t>Encoders </a:t>
            </a:r>
            <a:r>
              <a:rPr lang="en-US" i="0" dirty="0">
                <a:solidFill>
                  <a:srgbClr val="273239"/>
                </a:solidFill>
                <a:effectLst/>
              </a:rPr>
              <a:t>convert 2</a:t>
            </a:r>
            <a:r>
              <a:rPr lang="en-US" i="0" baseline="30000" dirty="0">
                <a:solidFill>
                  <a:srgbClr val="273239"/>
                </a:solidFill>
                <a:effectLst/>
              </a:rPr>
              <a:t>n</a:t>
            </a:r>
            <a:r>
              <a:rPr lang="en-US" i="0" dirty="0">
                <a:solidFill>
                  <a:srgbClr val="273239"/>
                </a:solidFill>
                <a:effectLst/>
              </a:rPr>
              <a:t> unique lines of input into </a:t>
            </a:r>
            <a:r>
              <a:rPr lang="en-US" b="1" i="1" dirty="0">
                <a:solidFill>
                  <a:srgbClr val="FF0000"/>
                </a:solidFill>
                <a:effectLst/>
              </a:rPr>
              <a:t>a code </a:t>
            </a:r>
            <a:r>
              <a:rPr lang="en-US" i="0" dirty="0">
                <a:solidFill>
                  <a:srgbClr val="273239"/>
                </a:solidFill>
                <a:effectLst/>
              </a:rPr>
              <a:t>of n bits and </a:t>
            </a:r>
            <a:r>
              <a:rPr lang="en-US" b="1" i="0" dirty="0">
                <a:solidFill>
                  <a:srgbClr val="273239"/>
                </a:solidFill>
                <a:effectLst/>
              </a:rPr>
              <a:t>Decoders </a:t>
            </a:r>
            <a:r>
              <a:rPr lang="en-US" i="0" dirty="0">
                <a:solidFill>
                  <a:srgbClr val="273239"/>
                </a:solidFill>
                <a:effectLst/>
              </a:rPr>
              <a:t>decode the n bits into 2</a:t>
            </a:r>
            <a:r>
              <a:rPr lang="en-US" i="0" baseline="30000" dirty="0">
                <a:solidFill>
                  <a:srgbClr val="273239"/>
                </a:solidFill>
                <a:effectLst/>
              </a:rPr>
              <a:t>n</a:t>
            </a:r>
            <a:r>
              <a:rPr lang="en-US" i="0" dirty="0">
                <a:solidFill>
                  <a:srgbClr val="273239"/>
                </a:solidFill>
                <a:effectLst/>
              </a:rPr>
              <a:t> unique lines.</a:t>
            </a:r>
          </a:p>
        </p:txBody>
      </p:sp>
    </p:spTree>
    <p:extLst>
      <p:ext uri="{BB962C8B-B14F-4D97-AF65-F5344CB8AC3E}">
        <p14:creationId xmlns:p14="http://schemas.microsoft.com/office/powerpoint/2010/main" val="3125476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Decoder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58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59790" cy="4351338"/>
              </a:xfrm>
            </p:spPr>
            <p:txBody>
              <a:bodyPr/>
              <a:lstStyle/>
              <a:p>
                <a:r>
                  <a:rPr lang="en-US" dirty="0"/>
                  <a:t>For a decoder, if it has unused combinations for a n-bit code, it will produce the output lines less than </a:t>
                </a:r>
                <a:r>
                  <a:rPr lang="en-US" i="0" dirty="0">
                    <a:solidFill>
                      <a:srgbClr val="273239"/>
                    </a:solidFill>
                    <a:effectLst/>
                  </a:rPr>
                  <a:t>2</a:t>
                </a:r>
                <a:r>
                  <a:rPr lang="en-US" i="0" baseline="30000" dirty="0">
                    <a:solidFill>
                      <a:srgbClr val="273239"/>
                    </a:solidFill>
                    <a:effectLst/>
                  </a:rPr>
                  <a:t>n </a:t>
                </a:r>
              </a:p>
              <a:p>
                <a:r>
                  <a:rPr lang="en-US" b="1" i="0" dirty="0">
                    <a:solidFill>
                      <a:srgbClr val="273239"/>
                    </a:solidFill>
                    <a:effectLst/>
                  </a:rPr>
                  <a:t>Representation of a decoder: </a:t>
                </a:r>
                <a:r>
                  <a:rPr lang="en-US" b="1" i="1" dirty="0">
                    <a:solidFill>
                      <a:srgbClr val="FF0000"/>
                    </a:solidFill>
                    <a:effectLst/>
                  </a:rPr>
                  <a:t>n-to-m line </a:t>
                </a:r>
                <a:r>
                  <a:rPr lang="en-US" b="1" i="0" dirty="0">
                    <a:solidFill>
                      <a:srgbClr val="273239"/>
                    </a:solidFill>
                    <a:effectLst/>
                  </a:rPr>
                  <a:t>decoder</a:t>
                </a:r>
              </a:p>
              <a:p>
                <a:pPr lvl="1"/>
                <a:r>
                  <a:rPr lang="en-US" dirty="0">
                    <a:solidFill>
                      <a:srgbClr val="273239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273239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273239"/>
                        </a:solidFill>
                        <a:latin typeface="Cambria Math" panose="02040503050406030204" pitchFamily="18" charset="0"/>
                      </a:rPr>
                      <m:t> ≤ 2</m:t>
                    </m:r>
                    <m:r>
                      <a:rPr lang="en-US" i="1" baseline="30000" dirty="0" smtClean="0">
                        <a:solidFill>
                          <a:srgbClr val="273239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273239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b="1" i="0" dirty="0">
                    <a:solidFill>
                      <a:srgbClr val="273239"/>
                    </a:solidFill>
                    <a:effectLst/>
                  </a:rPr>
                  <a:t>Usage of decoder:</a:t>
                </a:r>
              </a:p>
              <a:p>
                <a:pPr lvl="1"/>
                <a:r>
                  <a:rPr lang="en-US" dirty="0">
                    <a:solidFill>
                      <a:srgbClr val="273239"/>
                    </a:solidFill>
                  </a:rPr>
                  <a:t>To generate the </a:t>
                </a:r>
                <a:r>
                  <a:rPr lang="en-US" i="0" dirty="0">
                    <a:solidFill>
                      <a:srgbClr val="273239"/>
                    </a:solidFill>
                    <a:effectLst/>
                  </a:rPr>
                  <a:t>2</a:t>
                </a:r>
                <a:r>
                  <a:rPr lang="en-US" i="0" baseline="30000" dirty="0">
                    <a:solidFill>
                      <a:srgbClr val="273239"/>
                    </a:solidFill>
                    <a:effectLst/>
                  </a:rPr>
                  <a:t>n</a:t>
                </a:r>
                <a:r>
                  <a:rPr lang="en-US" i="0" dirty="0">
                    <a:solidFill>
                      <a:srgbClr val="273239"/>
                    </a:solidFill>
                    <a:effectLst/>
                  </a:rPr>
                  <a:t> (or fewer) </a:t>
                </a:r>
                <a:r>
                  <a:rPr lang="en-US" b="1" i="0" dirty="0">
                    <a:solidFill>
                      <a:srgbClr val="273239"/>
                    </a:solidFill>
                    <a:effectLst/>
                  </a:rPr>
                  <a:t>minterms </a:t>
                </a:r>
                <a:r>
                  <a:rPr lang="en-US" i="0" dirty="0">
                    <a:solidFill>
                      <a:srgbClr val="273239"/>
                    </a:solidFill>
                    <a:effectLst/>
                  </a:rPr>
                  <a:t>of </a:t>
                </a:r>
                <a:r>
                  <a:rPr lang="en-US" b="1" i="1" dirty="0">
                    <a:solidFill>
                      <a:srgbClr val="FF0000"/>
                    </a:solidFill>
                    <a:effectLst/>
                  </a:rPr>
                  <a:t>n </a:t>
                </a:r>
                <a:r>
                  <a:rPr lang="en-US" i="0" dirty="0">
                    <a:solidFill>
                      <a:srgbClr val="273239"/>
                    </a:solidFill>
                    <a:effectLst/>
                  </a:rPr>
                  <a:t>input variables </a:t>
                </a:r>
              </a:p>
              <a:p>
                <a:pPr lvl="1"/>
                <a:r>
                  <a:rPr lang="en-US" dirty="0">
                    <a:solidFill>
                      <a:srgbClr val="273239"/>
                    </a:solidFill>
                  </a:rPr>
                  <a:t>Moreover, this circuit could be used for code conversion (e.g. </a:t>
                </a:r>
                <a:r>
                  <a:rPr lang="en-US" b="1" i="1" dirty="0">
                    <a:solidFill>
                      <a:srgbClr val="273239"/>
                    </a:solidFill>
                  </a:rPr>
                  <a:t>binary to octal</a:t>
                </a:r>
                <a:r>
                  <a:rPr lang="en-US" dirty="0">
                    <a:solidFill>
                      <a:srgbClr val="273239"/>
                    </a:solidFill>
                  </a:rPr>
                  <a:t>)</a:t>
                </a:r>
                <a:endParaRPr lang="en-US" i="0" dirty="0">
                  <a:solidFill>
                    <a:srgbClr val="273239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59790" cy="4351338"/>
              </a:xfrm>
              <a:blipFill>
                <a:blip r:embed="rId4"/>
                <a:stretch>
                  <a:fillRect l="-1002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9355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3x8 Decoder: as a Binary to Octal Converter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59</a:t>
            </a:fld>
            <a:endParaRPr lang="en-US" sz="1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3C88193-D45B-4929-9430-323B0C2B3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08" y="1503335"/>
            <a:ext cx="5036399" cy="52181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D74CEF-3856-460C-8F9B-F111735C9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211" y="2910209"/>
            <a:ext cx="6271229" cy="222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131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293841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Decoder with NAND Gate and Enable Input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60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decoders are constructed with NAND gates to make it more economical </a:t>
            </a:r>
          </a:p>
          <a:p>
            <a:pPr lvl="1"/>
            <a:r>
              <a:rPr lang="en-US" dirty="0"/>
              <a:t>In this case, minterms are generated in the complemented form </a:t>
            </a:r>
          </a:p>
          <a:p>
            <a:pPr lvl="1"/>
            <a:r>
              <a:rPr lang="en-US" dirty="0"/>
              <a:t>Similarly, the operation of the decoder can be controlled with 0s instead of 1s. </a:t>
            </a:r>
          </a:p>
          <a:p>
            <a:r>
              <a:rPr lang="en-US" dirty="0"/>
              <a:t>Some of them can include one or more </a:t>
            </a:r>
            <a:r>
              <a:rPr lang="en-US" b="1" dirty="0"/>
              <a:t>enable inputs </a:t>
            </a:r>
            <a:r>
              <a:rPr lang="en-US" dirty="0"/>
              <a:t>to control the circuit operations </a:t>
            </a:r>
          </a:p>
          <a:p>
            <a:pPr lvl="1"/>
            <a:r>
              <a:rPr lang="en-US" b="1" dirty="0"/>
              <a:t>Variants</a:t>
            </a:r>
            <a:r>
              <a:rPr lang="en-US" dirty="0"/>
              <a:t>: Active-low and active-high enable 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208B5-B1FB-4BFC-8D4B-9918D10C2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906" y="5064125"/>
            <a:ext cx="5916187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091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293841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Decoder with NAND gates and Enable Input (E)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61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 is considered “</a:t>
            </a:r>
            <a:r>
              <a:rPr lang="en-US" b="1" i="1" dirty="0"/>
              <a:t>enable</a:t>
            </a:r>
            <a:r>
              <a:rPr lang="en-US" dirty="0"/>
              <a:t>”</a:t>
            </a:r>
            <a:r>
              <a:rPr lang="en-US" b="1" i="1" dirty="0"/>
              <a:t> </a:t>
            </a:r>
            <a:r>
              <a:rPr lang="en-US" dirty="0"/>
              <a:t>for both inputs and E because of </a:t>
            </a:r>
            <a:r>
              <a:rPr lang="en-US" b="1" i="1" dirty="0">
                <a:solidFill>
                  <a:srgbClr val="FF0000"/>
                </a:solidFill>
              </a:rPr>
              <a:t>NAND gate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2F9AB0-A590-4530-9EE7-F0DA67C19B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570" y="2985643"/>
            <a:ext cx="4544059" cy="3191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3F793B-E254-4918-878D-0DA80539F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785" y="2985643"/>
            <a:ext cx="3810791" cy="25537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03DAAF-6A58-4A3E-8CAC-5377C33CB740}"/>
              </a:ext>
            </a:extLst>
          </p:cNvPr>
          <p:cNvSpPr txBox="1"/>
          <p:nvPr/>
        </p:nvSpPr>
        <p:spPr>
          <a:xfrm>
            <a:off x="6631734" y="5736795"/>
            <a:ext cx="521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Specialty with “X” in inputs </a:t>
            </a:r>
            <a:r>
              <a:rPr lang="en-US" b="1" dirty="0"/>
              <a:t>condense </a:t>
            </a:r>
            <a:r>
              <a:rPr lang="en-US" dirty="0"/>
              <a:t>the truth table  </a:t>
            </a:r>
          </a:p>
        </p:txBody>
      </p:sp>
    </p:spTree>
    <p:extLst>
      <p:ext uri="{BB962C8B-B14F-4D97-AF65-F5344CB8AC3E}">
        <p14:creationId xmlns:p14="http://schemas.microsoft.com/office/powerpoint/2010/main" val="29562157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Demultiplexer with Decoder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62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 later on in this chapter </a:t>
            </a:r>
          </a:p>
          <a:p>
            <a:pPr lvl="1"/>
            <a:r>
              <a:rPr lang="en-US" dirty="0"/>
              <a:t>At first we have to know about multiplexer  </a:t>
            </a:r>
          </a:p>
        </p:txBody>
      </p:sp>
    </p:spTree>
    <p:extLst>
      <p:ext uri="{BB962C8B-B14F-4D97-AF65-F5344CB8AC3E}">
        <p14:creationId xmlns:p14="http://schemas.microsoft.com/office/powerpoint/2010/main" val="28426587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Larger Decoder with Smaller Ones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63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4x16 decoder with two 3x8 decoders: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96118-C327-4325-9117-B13CE3D24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420" y="2794689"/>
            <a:ext cx="4702186" cy="338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0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Significance of Enable Input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64</a:t>
            </a:fld>
            <a:endParaRPr lang="en-US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7EFEEA-BFAA-4959-A7FB-E18855A1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90258"/>
          </a:xfrm>
        </p:spPr>
        <p:txBody>
          <a:bodyPr/>
          <a:lstStyle/>
          <a:p>
            <a:pPr algn="just"/>
            <a:r>
              <a:rPr lang="en-US" dirty="0"/>
              <a:t>In general, </a:t>
            </a:r>
            <a:r>
              <a:rPr lang="en-US" sz="3000" b="1" i="1" dirty="0">
                <a:solidFill>
                  <a:srgbClr val="FF0000"/>
                </a:solidFill>
              </a:rPr>
              <a:t>enable inputs </a:t>
            </a:r>
            <a:r>
              <a:rPr lang="en-US" dirty="0"/>
              <a:t>are a convenient feature for interconnecting </a:t>
            </a:r>
            <a:r>
              <a:rPr lang="en-US" b="1" dirty="0"/>
              <a:t>two or more standard components </a:t>
            </a:r>
            <a:r>
              <a:rPr lang="en-US" dirty="0"/>
              <a:t>for the purpose of combining them into a similar function with more inputs and outputs.</a:t>
            </a:r>
          </a:p>
        </p:txBody>
      </p:sp>
    </p:spTree>
    <p:extLst>
      <p:ext uri="{BB962C8B-B14F-4D97-AF65-F5344CB8AC3E}">
        <p14:creationId xmlns:p14="http://schemas.microsoft.com/office/powerpoint/2010/main" val="37573078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Combinational Circuit with Decoders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65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consider the minterms of any function from the truth table of certain Boolean function and add them with  an external OR gate for each output variable </a:t>
            </a:r>
          </a:p>
          <a:p>
            <a:r>
              <a:rPr lang="en-US" b="1" dirty="0"/>
              <a:t>Example:</a:t>
            </a:r>
            <a:r>
              <a:rPr lang="en-US" dirty="0"/>
              <a:t> Full Adder with 3x8 decoder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07510-8FC5-4E17-9669-3A9A64397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201" y="4129155"/>
            <a:ext cx="3486286" cy="1109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604ED3-BC4B-4CF3-A977-E79E6440C3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950" y="3531065"/>
            <a:ext cx="5170352" cy="319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315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Combinational Circuit with Decoders…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66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number of minterms (</a:t>
            </a:r>
            <a:r>
              <a:rPr lang="en-US" b="1" i="1" dirty="0"/>
              <a:t>k</a:t>
            </a:r>
            <a:r>
              <a:rPr lang="en-US" dirty="0"/>
              <a:t>) is so many (&gt;2</a:t>
            </a:r>
            <a:r>
              <a:rPr lang="en-US" baseline="30000" dirty="0"/>
              <a:t>n</a:t>
            </a:r>
            <a:r>
              <a:rPr lang="en-US" dirty="0"/>
              <a:t>/2) we can consider the F’ with (2</a:t>
            </a:r>
            <a:r>
              <a:rPr lang="en-US" baseline="30000" dirty="0"/>
              <a:t>n</a:t>
            </a:r>
            <a:r>
              <a:rPr lang="en-US" dirty="0"/>
              <a:t>-k) number of minterms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Then NOR gate will be used instead of OR gate </a:t>
            </a:r>
          </a:p>
          <a:p>
            <a:r>
              <a:rPr lang="en-US" dirty="0"/>
              <a:t>If the internal gate of the Decoder is NAND gate, the external gate will be also a NAND gate instead of an OR gate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Two level NAND </a:t>
            </a:r>
            <a:r>
              <a:rPr lang="en-US" dirty="0"/>
              <a:t>gate implementation  </a:t>
            </a:r>
          </a:p>
        </p:txBody>
      </p:sp>
    </p:spTree>
    <p:extLst>
      <p:ext uri="{BB962C8B-B14F-4D97-AF65-F5344CB8AC3E}">
        <p14:creationId xmlns:p14="http://schemas.microsoft.com/office/powerpoint/2010/main" val="2662357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Encoder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67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Inverse of Decoder</a:t>
            </a:r>
          </a:p>
          <a:p>
            <a:r>
              <a:rPr lang="en-US" sz="3200" b="1" i="1" dirty="0"/>
              <a:t>2</a:t>
            </a:r>
            <a:r>
              <a:rPr lang="en-US" sz="3200" b="1" i="1" baseline="30000" dirty="0"/>
              <a:t>n</a:t>
            </a:r>
            <a:r>
              <a:rPr lang="en-US" sz="3200" b="1" i="1" dirty="0"/>
              <a:t> </a:t>
            </a:r>
            <a:r>
              <a:rPr lang="en-US" dirty="0"/>
              <a:t>inputs and </a:t>
            </a:r>
            <a:r>
              <a:rPr lang="en-US" sz="3200" b="1" i="1" dirty="0"/>
              <a:t>n</a:t>
            </a:r>
            <a:r>
              <a:rPr lang="en-US" b="1" i="1" dirty="0"/>
              <a:t> </a:t>
            </a:r>
            <a:r>
              <a:rPr lang="en-US" dirty="0"/>
              <a:t>outputs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Only one input will be 1 at a time</a:t>
            </a:r>
          </a:p>
          <a:p>
            <a:r>
              <a:rPr lang="en-US" dirty="0"/>
              <a:t>Another kind of converter or coder or cryptographer </a:t>
            </a:r>
          </a:p>
        </p:txBody>
      </p:sp>
    </p:spTree>
    <p:extLst>
      <p:ext uri="{BB962C8B-B14F-4D97-AF65-F5344CB8AC3E}">
        <p14:creationId xmlns:p14="http://schemas.microsoft.com/office/powerpoint/2010/main" val="12070362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8x3 Encoder: Truth Table and Circuit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68</a:t>
            </a:fld>
            <a:endParaRPr lang="en-US" sz="1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110CB7-F510-416A-B806-E227599CD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961" y="2026857"/>
            <a:ext cx="2606731" cy="982536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E347E4-95C5-4A92-B8CA-6D77782B67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95" y="3054787"/>
            <a:ext cx="6516009" cy="26387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BEBEA4-7025-477F-B23E-7160D4E6B9CD}"/>
              </a:ext>
            </a:extLst>
          </p:cNvPr>
          <p:cNvSpPr txBox="1"/>
          <p:nvPr/>
        </p:nvSpPr>
        <p:spPr>
          <a:xfrm>
            <a:off x="838200" y="1960597"/>
            <a:ext cx="3694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Octal to Binary Encoder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A70D34-8D7D-4F03-AC93-B92D9F53C6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659" y="3389710"/>
            <a:ext cx="3090746" cy="27816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0BB74E3-2BB6-426F-969A-1E57470ECC9F}"/>
                  </a:ext>
                </a:extLst>
              </p14:cNvPr>
              <p14:cNvContentPartPr/>
              <p14:nvPr/>
            </p14:nvContentPartPr>
            <p14:xfrm>
              <a:off x="4748000" y="3787640"/>
              <a:ext cx="39960" cy="104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0BB74E3-2BB6-426F-969A-1E57470ECC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39000" y="3778640"/>
                <a:ext cx="57600" cy="12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39815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Problems: Ambiguity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69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If there are 1s in more than one inputs, output could be </a:t>
            </a:r>
            <a:r>
              <a:rPr lang="en-US" b="1" dirty="0">
                <a:solidFill>
                  <a:srgbClr val="FF0000"/>
                </a:solidFill>
              </a:rPr>
              <a:t>undefined </a:t>
            </a:r>
          </a:p>
          <a:p>
            <a:pPr lvl="1"/>
            <a:r>
              <a:rPr lang="en-US" b="1" dirty="0"/>
              <a:t>Solution: </a:t>
            </a:r>
            <a:r>
              <a:rPr lang="en-US" dirty="0"/>
              <a:t>Priority encoder to ensure the input priority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0 for two different representations – (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) when all the inputs are 0 and (ii) D</a:t>
            </a:r>
            <a:r>
              <a:rPr lang="en-US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= 1</a:t>
            </a:r>
          </a:p>
          <a:p>
            <a:pPr lvl="1"/>
            <a:r>
              <a:rPr lang="en-US" b="1" dirty="0"/>
              <a:t>Solution: </a:t>
            </a:r>
            <a:r>
              <a:rPr lang="en-US" dirty="0"/>
              <a:t>Add another output to observe</a:t>
            </a:r>
          </a:p>
        </p:txBody>
      </p:sp>
    </p:spTree>
    <p:extLst>
      <p:ext uri="{BB962C8B-B14F-4D97-AF65-F5344CB8AC3E}">
        <p14:creationId xmlns:p14="http://schemas.microsoft.com/office/powerpoint/2010/main" val="36400672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Priority Encoder with additional Output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70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includes the priority function for  the inputs  </a:t>
            </a:r>
          </a:p>
          <a:p>
            <a:r>
              <a:rPr lang="en-US" b="1" dirty="0"/>
              <a:t>Truth table and K-map: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0BEF4-F90A-4B9E-81B6-25F799BCF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73" y="3077246"/>
            <a:ext cx="4392090" cy="2083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302DC4-AF47-4482-B9A6-D59981950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844" y="2459033"/>
            <a:ext cx="5500429" cy="25266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916F12-A86B-4666-9E36-026402C382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206" y="5319593"/>
            <a:ext cx="2553056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094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Priority Encoder with additional Output…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71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Circuit: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FA6F4C-359C-4AD8-BCAE-EFB678A6CB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357" y="2522087"/>
            <a:ext cx="6678843" cy="295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040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Multiplexer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72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 as </a:t>
            </a:r>
            <a:r>
              <a:rPr lang="en-US" b="1" i="1" dirty="0"/>
              <a:t>data selector </a:t>
            </a:r>
          </a:p>
          <a:p>
            <a:r>
              <a:rPr lang="en-US" dirty="0"/>
              <a:t>A combinational circuit:</a:t>
            </a:r>
          </a:p>
          <a:p>
            <a:pPr lvl="1"/>
            <a:r>
              <a:rPr lang="en-US" dirty="0"/>
              <a:t>Selects from one of many input lines and directs it to a single output line </a:t>
            </a:r>
          </a:p>
          <a:p>
            <a:pPr lvl="2"/>
            <a:r>
              <a:rPr lang="en-US" dirty="0"/>
              <a:t>Selection is controlled by a set of selection lines</a:t>
            </a:r>
          </a:p>
          <a:p>
            <a:pPr lvl="1"/>
            <a:r>
              <a:rPr lang="en-US" dirty="0"/>
              <a:t>There are 2</a:t>
            </a:r>
            <a:r>
              <a:rPr lang="en-US" baseline="30000" dirty="0"/>
              <a:t>n</a:t>
            </a:r>
            <a:r>
              <a:rPr lang="en-US" dirty="0"/>
              <a:t> input lines and n selection lines </a:t>
            </a:r>
          </a:p>
          <a:p>
            <a:r>
              <a:rPr lang="en-US" dirty="0"/>
              <a:t>Often labeled as </a:t>
            </a:r>
            <a:r>
              <a:rPr lang="en-US" b="1" i="1" dirty="0"/>
              <a:t>MUX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222DD-9857-44EA-A608-F4A2361DF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980" y="4351703"/>
            <a:ext cx="7200358" cy="228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474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4-to-1 MUX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73</a:t>
            </a:fld>
            <a:endParaRPr lang="en-US" sz="1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9E831D-7631-4EFE-B513-6C886163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703" y="1909050"/>
            <a:ext cx="5918011" cy="4228937"/>
          </a:xfrm>
        </p:spPr>
      </p:pic>
    </p:spTree>
    <p:extLst>
      <p:ext uri="{BB962C8B-B14F-4D97-AF65-F5344CB8AC3E}">
        <p14:creationId xmlns:p14="http://schemas.microsoft.com/office/powerpoint/2010/main" val="825305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Multiplexer from Decoder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74</a:t>
            </a:fld>
            <a:endParaRPr lang="en-US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4E64A2-1063-44D7-AD89-30ABA1401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0512" cy="4351338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AND gates </a:t>
            </a:r>
            <a:r>
              <a:rPr lang="en-US" dirty="0"/>
              <a:t>and </a:t>
            </a:r>
            <a:r>
              <a:rPr lang="en-US" b="1" dirty="0"/>
              <a:t>inverters</a:t>
            </a:r>
            <a:r>
              <a:rPr lang="en-US" dirty="0"/>
              <a:t> in the multiplexer resemble a decoder circuit</a:t>
            </a:r>
          </a:p>
          <a:p>
            <a:pPr lvl="1"/>
            <a:r>
              <a:rPr lang="en-US" dirty="0"/>
              <a:t>Indeed, they decode the selection input lines</a:t>
            </a:r>
          </a:p>
          <a:p>
            <a:pPr lvl="1"/>
            <a:r>
              <a:rPr lang="en-US" dirty="0"/>
              <a:t>In general, a </a:t>
            </a:r>
            <a:r>
              <a:rPr lang="en-US" b="1" i="1" dirty="0"/>
              <a:t>2</a:t>
            </a:r>
            <a:r>
              <a:rPr lang="en-US" b="1" i="1" baseline="30000" dirty="0"/>
              <a:t>n</a:t>
            </a:r>
            <a:r>
              <a:rPr lang="en-US" b="1" i="1" dirty="0"/>
              <a:t>-to-1-line multiplexer </a:t>
            </a:r>
            <a:r>
              <a:rPr lang="en-US" dirty="0"/>
              <a:t>is constructed from an </a:t>
            </a:r>
            <a:r>
              <a:rPr lang="en-US" b="1" i="1" dirty="0">
                <a:solidFill>
                  <a:srgbClr val="FF0000"/>
                </a:solidFill>
              </a:rPr>
              <a:t>n-to-2</a:t>
            </a:r>
            <a:r>
              <a:rPr lang="en-US" b="1" i="1" baseline="30000" dirty="0">
                <a:solidFill>
                  <a:srgbClr val="FF0000"/>
                </a:solidFill>
              </a:rPr>
              <a:t>n</a:t>
            </a:r>
            <a:r>
              <a:rPr lang="en-US" b="1" i="1" dirty="0">
                <a:solidFill>
                  <a:srgbClr val="FF0000"/>
                </a:solidFill>
              </a:rPr>
              <a:t> decoder </a:t>
            </a:r>
            <a:r>
              <a:rPr lang="en-US" dirty="0"/>
              <a:t>by adding </a:t>
            </a:r>
            <a:r>
              <a:rPr lang="en-US" b="1" i="1" dirty="0">
                <a:solidFill>
                  <a:srgbClr val="00B050"/>
                </a:solidFill>
              </a:rPr>
              <a:t>2</a:t>
            </a:r>
            <a:r>
              <a:rPr lang="en-US" b="1" i="1" baseline="30000" dirty="0">
                <a:solidFill>
                  <a:srgbClr val="00B050"/>
                </a:solidFill>
              </a:rPr>
              <a:t>n</a:t>
            </a:r>
            <a:r>
              <a:rPr lang="en-US" b="1" i="1" dirty="0">
                <a:solidFill>
                  <a:srgbClr val="00B050"/>
                </a:solidFill>
              </a:rPr>
              <a:t> input lines </a:t>
            </a:r>
            <a:r>
              <a:rPr lang="en-US" dirty="0"/>
              <a:t>to it, one to each AND gate.</a:t>
            </a:r>
          </a:p>
          <a:p>
            <a:pPr lvl="2"/>
            <a:r>
              <a:rPr lang="en-US" dirty="0"/>
              <a:t>The outputs of the AND gates are applied to a single OR gate.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99E297-E429-47E0-84BD-C7C2F4507FA4}"/>
              </a:ext>
            </a:extLst>
          </p:cNvPr>
          <p:cNvGrpSpPr/>
          <p:nvPr/>
        </p:nvGrpSpPr>
        <p:grpSpPr>
          <a:xfrm>
            <a:off x="3860667" y="3942112"/>
            <a:ext cx="4292733" cy="2414238"/>
            <a:chOff x="3860667" y="4031476"/>
            <a:chExt cx="4292733" cy="24142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1872BA-64E4-4D7F-911D-59D3DEE4B8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853" b="10012"/>
            <a:stretch/>
          </p:blipFill>
          <p:spPr>
            <a:xfrm>
              <a:off x="4038600" y="4257209"/>
              <a:ext cx="4114800" cy="2054691"/>
            </a:xfrm>
            <a:prstGeom prst="rect">
              <a:avLst/>
            </a:prstGeom>
          </p:spPr>
        </p:pic>
        <p:sp>
          <p:nvSpPr>
            <p:cNvPr id="12" name="L-Shape 11">
              <a:extLst>
                <a:ext uri="{FF2B5EF4-FFF2-40B4-BE49-F238E27FC236}">
                  <a16:creationId xmlns:a16="http://schemas.microsoft.com/office/drawing/2014/main" id="{770C148F-65DF-46EA-9081-A51C29FB8062}"/>
                </a:ext>
              </a:extLst>
            </p:cNvPr>
            <p:cNvSpPr/>
            <p:nvPr/>
          </p:nvSpPr>
          <p:spPr>
            <a:xfrm flipH="1">
              <a:off x="3860667" y="4031476"/>
              <a:ext cx="3021980" cy="2414238"/>
            </a:xfrm>
            <a:prstGeom prst="corner">
              <a:avLst>
                <a:gd name="adj1" fmla="val 37529"/>
                <a:gd name="adj2" fmla="val 59238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47556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Circuit Implementation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with Multiplexer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75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32" y="2506662"/>
            <a:ext cx="47485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/>
              <a:t>Multiplexer circuits (</a:t>
            </a:r>
            <a:r>
              <a:rPr lang="en-US" sz="2500" b="1" i="1" dirty="0"/>
              <a:t>more than one</a:t>
            </a:r>
            <a:r>
              <a:rPr lang="en-US" sz="2500" dirty="0"/>
              <a:t>) can be combined with common selection inputs to provide </a:t>
            </a:r>
            <a:r>
              <a:rPr lang="en-US" sz="2500" b="1" i="1" dirty="0">
                <a:solidFill>
                  <a:srgbClr val="00B050"/>
                </a:solidFill>
              </a:rPr>
              <a:t>multiple-bit selection logic </a:t>
            </a:r>
            <a:r>
              <a:rPr lang="en-US" sz="2500" dirty="0"/>
              <a:t>for all of them.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97FF0-011D-4826-B922-5515F8F75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138" y="365126"/>
            <a:ext cx="5384846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167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Circuit Implementation with Multiplexer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Normal way</a:t>
            </a:r>
            <a:endParaRPr lang="en-US" sz="25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76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5047784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individual minterms can be selected by the data inputs of the multiplexer</a:t>
            </a:r>
          </a:p>
          <a:p>
            <a:pPr lvl="1" algn="just"/>
            <a:r>
              <a:rPr lang="en-US" dirty="0"/>
              <a:t>Implement a Boolean function of </a:t>
            </a:r>
            <a:r>
              <a:rPr lang="en-US" b="1" i="1" dirty="0"/>
              <a:t>n </a:t>
            </a:r>
            <a:r>
              <a:rPr lang="en-US" dirty="0"/>
              <a:t>variables with a multiplexer that has </a:t>
            </a:r>
            <a:r>
              <a:rPr lang="en-US" b="1" i="1" dirty="0"/>
              <a:t>n </a:t>
            </a:r>
            <a:r>
              <a:rPr lang="en-US" dirty="0"/>
              <a:t>selection inputs and </a:t>
            </a:r>
            <a:r>
              <a:rPr lang="en-US" b="1" i="1" dirty="0"/>
              <a:t>2</a:t>
            </a:r>
            <a:r>
              <a:rPr lang="en-US" b="1" i="1" baseline="30000" dirty="0"/>
              <a:t>n</a:t>
            </a:r>
            <a:r>
              <a:rPr lang="en-US" b="1" i="1" dirty="0"/>
              <a:t> </a:t>
            </a:r>
            <a:r>
              <a:rPr lang="en-US" dirty="0"/>
              <a:t>data inputs – one for each minterm.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69290-973E-48CF-9603-926ED12E3E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2" t="30690" r="5040" b="9960"/>
          <a:stretch/>
        </p:blipFill>
        <p:spPr>
          <a:xfrm>
            <a:off x="6608469" y="1421427"/>
            <a:ext cx="5066371" cy="26569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D09DA2-F31A-4615-927D-3ADCA0D365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480" y="4299745"/>
            <a:ext cx="4480348" cy="242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5328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Circuit Implementation with Multiplexer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More efficient way (Example 1)</a:t>
            </a:r>
            <a:endParaRPr lang="en-US" sz="24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77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7850"/>
                <a:ext cx="4748561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(1,2,6,7)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7850"/>
                <a:ext cx="4748561" cy="435133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B1C0BE0-1EE0-46CC-9322-05DF0E0786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956" y="2372190"/>
            <a:ext cx="6619717" cy="372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105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Circuit Implementation with Multiplexer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More efficient way (Example 2)</a:t>
            </a:r>
            <a:endParaRPr lang="en-US" sz="24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78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7850"/>
                <a:ext cx="6945351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1, 3, 4, 11, 12, 13, 14, 15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AE176C-7229-4C95-9D65-7AB028330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7850"/>
                <a:ext cx="6945351" cy="435133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45F8A21-DF02-48BF-B7BC-CAE7AA1C3D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838" y="2408217"/>
            <a:ext cx="6536864" cy="431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708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441" y="365125"/>
            <a:ext cx="10811359" cy="1153709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Demultiplexer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441" y="1518834"/>
            <a:ext cx="11589599" cy="4658129"/>
          </a:xfrm>
        </p:spPr>
        <p:txBody>
          <a:bodyPr>
            <a:normAutofit/>
          </a:bodyPr>
          <a:lstStyle/>
          <a:p>
            <a:r>
              <a:rPr lang="en-US" dirty="0"/>
              <a:t>Also called as </a:t>
            </a:r>
            <a:r>
              <a:rPr lang="en-US" b="1" i="1" dirty="0"/>
              <a:t>data distributor </a:t>
            </a:r>
            <a:endParaRPr lang="en-US" b="1" dirty="0"/>
          </a:p>
          <a:p>
            <a:r>
              <a:rPr lang="en-US" b="1" dirty="0"/>
              <a:t>Definition</a:t>
            </a:r>
            <a:r>
              <a:rPr lang="en-US" dirty="0"/>
              <a:t>: A circuit that receives information from a single line and directs it to one of 2</a:t>
            </a:r>
            <a:r>
              <a:rPr lang="en-US" baseline="30000" dirty="0"/>
              <a:t>n</a:t>
            </a:r>
            <a:r>
              <a:rPr lang="en-US" dirty="0"/>
              <a:t> possible output lines </a:t>
            </a:r>
          </a:p>
          <a:p>
            <a:r>
              <a:rPr lang="en-US" dirty="0"/>
              <a:t>Selection of a specific output will be controlled by </a:t>
            </a:r>
            <a:r>
              <a:rPr lang="en-US" b="1" dirty="0"/>
              <a:t>bit combination of n selection lines 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decoder</a:t>
            </a:r>
            <a:r>
              <a:rPr lang="en-US" b="1" dirty="0"/>
              <a:t> </a:t>
            </a:r>
            <a:r>
              <a:rPr lang="en-US" dirty="0"/>
              <a:t>could be used as a demultiplexer </a:t>
            </a:r>
          </a:p>
          <a:p>
            <a:pPr lvl="1"/>
            <a:r>
              <a:rPr lang="en-US" dirty="0"/>
              <a:t>Here, the </a:t>
            </a:r>
            <a:r>
              <a:rPr lang="en-US" b="1" dirty="0">
                <a:solidFill>
                  <a:srgbClr val="FF0000"/>
                </a:solidFill>
              </a:rPr>
              <a:t>enable input </a:t>
            </a:r>
            <a:r>
              <a:rPr lang="en-US" dirty="0"/>
              <a:t>in decoder works as the original input in demultiplexer</a:t>
            </a:r>
          </a:p>
          <a:p>
            <a:pPr lvl="2"/>
            <a:r>
              <a:rPr lang="en-US" dirty="0"/>
              <a:t>Connected with each of the outputs , but only one will be activated specified by the binary combination of the input bits of the decoder </a:t>
            </a:r>
          </a:p>
          <a:p>
            <a:pPr lvl="1"/>
            <a:r>
              <a:rPr lang="en-US" dirty="0"/>
              <a:t>Decoder with enable input referred as </a:t>
            </a:r>
            <a:r>
              <a:rPr lang="en-US"/>
              <a:t>a </a:t>
            </a:r>
            <a:r>
              <a:rPr lang="en-US" b="1" i="1"/>
              <a:t>decoder-demultiplexer </a:t>
            </a:r>
            <a:endParaRPr lang="en-US" b="1" i="1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13006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Demultiplexer: Symbol and Circuit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4</a:t>
            </a:r>
          </a:p>
        </p:txBody>
      </p:sp>
      <p:pic>
        <p:nvPicPr>
          <p:cNvPr id="11" name="Picture 10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78F87EC5-C975-474E-A981-EC9AA9CACA2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9" y="2450664"/>
            <a:ext cx="3153938" cy="2417556"/>
          </a:xfrm>
          <a:prstGeom prst="rect">
            <a:avLst/>
          </a:prstGeom>
        </p:spPr>
      </p:pic>
      <p:pic>
        <p:nvPicPr>
          <p:cNvPr id="12" name="Picture 11" descr="Diagram, schematic&#10;&#10;Description automatically generated">
            <a:extLst>
              <a:ext uri="{FF2B5EF4-FFF2-40B4-BE49-F238E27FC236}">
                <a16:creationId xmlns:a16="http://schemas.microsoft.com/office/drawing/2014/main" id="{62F8FC04-FEB5-4066-810D-B91019216D1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939" y="1884556"/>
            <a:ext cx="2832921" cy="32924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21A282-9FC3-4834-906B-2916C9FD7E76}"/>
              </a:ext>
            </a:extLst>
          </p:cNvPr>
          <p:cNvSpPr/>
          <p:nvPr/>
        </p:nvSpPr>
        <p:spPr>
          <a:xfrm>
            <a:off x="3356516" y="3167667"/>
            <a:ext cx="157976" cy="2404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972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Three State Gates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81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3966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In digital electronics, </a:t>
            </a:r>
            <a:r>
              <a:rPr lang="en-US" b="1" dirty="0">
                <a:solidFill>
                  <a:srgbClr val="00B0F0"/>
                </a:solidFill>
              </a:rPr>
              <a:t>three-state logic</a:t>
            </a:r>
            <a:r>
              <a:rPr lang="en-US" dirty="0"/>
              <a:t>, </a:t>
            </a:r>
            <a:r>
              <a:rPr lang="en-US" b="1" dirty="0"/>
              <a:t>tri-state logic</a:t>
            </a:r>
            <a:r>
              <a:rPr lang="en-US" dirty="0"/>
              <a:t>, or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3-state logic </a:t>
            </a:r>
            <a:r>
              <a:rPr lang="en-US" dirty="0"/>
              <a:t>allows an </a:t>
            </a:r>
            <a:r>
              <a:rPr lang="en-US" b="1" dirty="0"/>
              <a:t>output </a:t>
            </a:r>
            <a:r>
              <a:rPr lang="en-US" dirty="0"/>
              <a:t>or </a:t>
            </a:r>
            <a:r>
              <a:rPr lang="en-US" b="1" dirty="0"/>
              <a:t>input </a:t>
            </a:r>
            <a:r>
              <a:rPr lang="en-US" dirty="0"/>
              <a:t>pin to be in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 high impedance state </a:t>
            </a:r>
            <a:r>
              <a:rPr lang="en-US" b="1" dirty="0"/>
              <a:t>(</a:t>
            </a:r>
            <a:r>
              <a:rPr lang="en-US" b="1" dirty="0">
                <a:solidFill>
                  <a:srgbClr val="FF0000"/>
                </a:solidFill>
              </a:rPr>
              <a:t>additional</a:t>
            </a:r>
            <a:r>
              <a:rPr lang="en-US" b="1" dirty="0"/>
              <a:t>)</a:t>
            </a:r>
            <a:r>
              <a:rPr lang="en-US" dirty="0"/>
              <a:t>, which  means effectively removing that output or input from the circuit. </a:t>
            </a:r>
          </a:p>
          <a:p>
            <a:pPr lvl="1" algn="just"/>
            <a:r>
              <a:rPr lang="en-US" sz="2200" dirty="0"/>
              <a:t>This is in addition to the </a:t>
            </a:r>
            <a:r>
              <a:rPr lang="en-US" sz="2200" b="1" dirty="0"/>
              <a:t>0 </a:t>
            </a:r>
            <a:r>
              <a:rPr lang="en-US" sz="2200" dirty="0"/>
              <a:t>and </a:t>
            </a:r>
            <a:r>
              <a:rPr lang="en-US" sz="2200" b="1" dirty="0"/>
              <a:t>1 </a:t>
            </a:r>
            <a:r>
              <a:rPr lang="en-US" sz="2200" dirty="0"/>
              <a:t>logic levels that are used in digital electronics.</a:t>
            </a:r>
          </a:p>
          <a:p>
            <a:pPr lvl="1" algn="just"/>
            <a:r>
              <a:rPr lang="en-US" sz="2200" dirty="0"/>
              <a:t>Sometimes denoted as 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</a:rPr>
              <a:t>Hi-Z</a:t>
            </a:r>
          </a:p>
          <a:p>
            <a:pPr algn="just"/>
            <a:r>
              <a:rPr lang="en-US" dirty="0"/>
              <a:t>Tri-state gates have additional circuitry via which the gate outputs can be </a:t>
            </a:r>
            <a:r>
              <a:rPr lang="en-US" b="1" dirty="0"/>
              <a:t>enabled or disabled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This allows </a:t>
            </a:r>
            <a:r>
              <a:rPr lang="en-US" b="1" dirty="0"/>
              <a:t>multiple circuits </a:t>
            </a:r>
            <a:r>
              <a:rPr lang="en-US" dirty="0"/>
              <a:t>to share the </a:t>
            </a:r>
            <a:r>
              <a:rPr lang="en-US" b="1" dirty="0">
                <a:solidFill>
                  <a:srgbClr val="FF0000"/>
                </a:solidFill>
              </a:rPr>
              <a:t>same output </a:t>
            </a:r>
            <a:r>
              <a:rPr lang="en-US" dirty="0"/>
              <a:t>line or lines </a:t>
            </a:r>
          </a:p>
          <a:p>
            <a:pPr lvl="1" algn="just"/>
            <a:r>
              <a:rPr lang="en-US" sz="2200" dirty="0"/>
              <a:t>Such as a communication </a:t>
            </a:r>
            <a:r>
              <a:rPr lang="en-US" sz="2200" b="1" dirty="0">
                <a:solidFill>
                  <a:srgbClr val="FF0000"/>
                </a:solidFill>
              </a:rPr>
              <a:t>bus</a:t>
            </a:r>
            <a:r>
              <a:rPr lang="en-US" sz="2200" dirty="0"/>
              <a:t> which cannot listen to more than one device at a time but they are connected all together with tri-states.</a:t>
            </a:r>
          </a:p>
          <a:p>
            <a:pPr algn="just"/>
            <a:r>
              <a:rPr lang="en-US" dirty="0"/>
              <a:t>Sometimes, they are implemented with </a:t>
            </a:r>
            <a:r>
              <a:rPr lang="en-US" b="1" dirty="0"/>
              <a:t>conventional logic</a:t>
            </a:r>
            <a:r>
              <a:rPr lang="en-US" dirty="0"/>
              <a:t> like AND or NAND</a:t>
            </a:r>
          </a:p>
          <a:p>
            <a:pPr lvl="1" algn="just"/>
            <a:r>
              <a:rPr lang="en-US" sz="2200" dirty="0"/>
              <a:t>But most commonly used with buffer gate </a:t>
            </a:r>
          </a:p>
        </p:txBody>
      </p:sp>
    </p:spTree>
    <p:extLst>
      <p:ext uri="{BB962C8B-B14F-4D97-AF65-F5344CB8AC3E}">
        <p14:creationId xmlns:p14="http://schemas.microsoft.com/office/powerpoint/2010/main" val="15647333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Tri-state Buffer - Symbol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82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93840" cy="4351338"/>
          </a:xfrm>
        </p:spPr>
        <p:txBody>
          <a:bodyPr/>
          <a:lstStyle/>
          <a:p>
            <a:r>
              <a:rPr lang="en-US" sz="2500" dirty="0"/>
              <a:t>A normal buffer with </a:t>
            </a:r>
            <a:r>
              <a:rPr lang="en-US" sz="2500" b="1" dirty="0"/>
              <a:t>additional control line </a:t>
            </a:r>
            <a:r>
              <a:rPr lang="en-US" sz="2500" dirty="0"/>
              <a:t>entering the bottom/top of the symbol </a:t>
            </a:r>
          </a:p>
          <a:p>
            <a:pPr lvl="1"/>
            <a:r>
              <a:rPr lang="en-US" sz="2200" dirty="0"/>
              <a:t>This tri-state buffer has a normal input, an output and a control input which determines the state of the output </a:t>
            </a:r>
          </a:p>
          <a:p>
            <a:pPr lvl="2"/>
            <a:r>
              <a:rPr lang="en-US" sz="1800" dirty="0"/>
              <a:t>When the control input is 1, the output is enabled and the buffer gate behaves like a conventional buffer.</a:t>
            </a:r>
          </a:p>
          <a:p>
            <a:pPr lvl="2"/>
            <a:r>
              <a:rPr lang="en-US" sz="1800" dirty="0"/>
              <a:t>When the control input is 0, the output is disabled and the gate goes to a high-impedance (Hi-Z) state. </a:t>
            </a:r>
          </a:p>
          <a:p>
            <a:pPr lvl="1"/>
            <a:r>
              <a:rPr lang="en-US" sz="2200" dirty="0"/>
              <a:t>Because of this feature, a large number of tri-state gate outputs are connected with wires to form a common line </a:t>
            </a:r>
            <a:r>
              <a:rPr lang="en-US" sz="2200" b="1" dirty="0"/>
              <a:t>without endangering the loading eff</a:t>
            </a:r>
            <a:r>
              <a:rPr lang="en-US" sz="2200" dirty="0"/>
              <a:t>ects 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D2A2614B-C2C4-41ED-B060-A0E0F3EDFA6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36"/>
          <a:stretch/>
        </p:blipFill>
        <p:spPr>
          <a:xfrm>
            <a:off x="552637" y="4496168"/>
            <a:ext cx="3485963" cy="16807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217EAE-1A70-4D40-ADB8-9664753B09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498" y="4157252"/>
            <a:ext cx="2743200" cy="2310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99E582-6353-4D33-AB44-DC6D36D3E3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915" y="4995105"/>
            <a:ext cx="4754134" cy="99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367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Tri-state gate – More gates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83</a:t>
            </a:fld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15D388-C33A-4193-AA9F-255457290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06" y="2081235"/>
            <a:ext cx="5606194" cy="314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125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5185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Consequence of a High Impedance State (Hi-Z)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84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third state is a high-impedance state (Hi-Z) </a:t>
            </a:r>
            <a:r>
              <a:rPr lang="en-US" b="1" dirty="0"/>
              <a:t>in which </a:t>
            </a:r>
          </a:p>
          <a:p>
            <a:pPr lvl="1"/>
            <a:r>
              <a:rPr lang="en-US" dirty="0"/>
              <a:t>The logic behaves like an open circuit</a:t>
            </a:r>
          </a:p>
          <a:p>
            <a:pPr lvl="2"/>
            <a:r>
              <a:rPr lang="en-US" dirty="0"/>
              <a:t>Which means that the output appears to be disconnected</a:t>
            </a:r>
          </a:p>
          <a:p>
            <a:pPr lvl="1"/>
            <a:r>
              <a:rPr lang="en-US" dirty="0"/>
              <a:t>The circuit has no logic significance</a:t>
            </a:r>
          </a:p>
          <a:p>
            <a:pPr lvl="1"/>
            <a:r>
              <a:rPr lang="en-US" dirty="0"/>
              <a:t>The circuit connected to the output of the three-state gate is not affected by the inputs to the tri-state gate.</a:t>
            </a:r>
          </a:p>
        </p:txBody>
      </p:sp>
    </p:spTree>
    <p:extLst>
      <p:ext uri="{BB962C8B-B14F-4D97-AF65-F5344CB8AC3E}">
        <p14:creationId xmlns:p14="http://schemas.microsoft.com/office/powerpoint/2010/main" val="10293129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Multiplexer with 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Tri-state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Buffer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85</a:t>
            </a:fld>
            <a:endParaRPr lang="en-US" sz="1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C4D05E-BA31-416A-994F-E9D5C7656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456293"/>
            <a:ext cx="7412902" cy="394541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042ABD-2562-409A-A337-E095842F7878}"/>
              </a:ext>
            </a:extLst>
          </p:cNvPr>
          <p:cNvSpPr txBox="1"/>
          <p:nvPr/>
        </p:nvSpPr>
        <p:spPr>
          <a:xfrm>
            <a:off x="1984917" y="5710019"/>
            <a:ext cx="8560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Note: </a:t>
            </a:r>
            <a:r>
              <a:rPr lang="en-US" dirty="0"/>
              <a:t>Outputs are connected together to form a single output line.</a:t>
            </a:r>
          </a:p>
          <a:p>
            <a:r>
              <a:rPr lang="en-US" dirty="0"/>
              <a:t>Also, if </a:t>
            </a:r>
            <a:r>
              <a:rPr lang="en-US" b="1" i="1" dirty="0"/>
              <a:t>enable input </a:t>
            </a:r>
            <a:r>
              <a:rPr lang="en-US" dirty="0"/>
              <a:t>of the tri-state is 0, all the outputs are 0 and bus line is in a </a:t>
            </a:r>
            <a:r>
              <a:rPr lang="en-US" b="1" i="1" dirty="0"/>
              <a:t>Hi-Z </a:t>
            </a:r>
            <a:r>
              <a:rPr lang="en-US" dirty="0"/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39374915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86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0236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87</a:t>
            </a:fld>
            <a:endParaRPr lang="en-US" sz="1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AE176C-7229-4C95-9D65-7AB0283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72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Implementation: Analysis Procedure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Reverse process </a:t>
            </a:r>
            <a:r>
              <a:rPr lang="en-US" dirty="0"/>
              <a:t>– </a:t>
            </a:r>
            <a:r>
              <a:rPr lang="en-US" b="1" dirty="0"/>
              <a:t>starts</a:t>
            </a:r>
            <a:r>
              <a:rPr lang="en-US" dirty="0"/>
              <a:t> from given NAND logic diagram and </a:t>
            </a:r>
            <a:r>
              <a:rPr lang="en-US" b="1" dirty="0"/>
              <a:t>ends </a:t>
            </a:r>
            <a:r>
              <a:rPr lang="en-US" dirty="0"/>
              <a:t>with a Boolean expression or truth table</a:t>
            </a:r>
          </a:p>
          <a:p>
            <a:r>
              <a:rPr lang="en-US" dirty="0"/>
              <a:t>Specialty – Application of De Morgan’s Law</a:t>
            </a:r>
          </a:p>
          <a:p>
            <a:r>
              <a:rPr lang="en-US" b="1" dirty="0"/>
              <a:t>Derivation of Boolean  Function from NAND Logic Diagram</a:t>
            </a:r>
          </a:p>
          <a:p>
            <a:pPr lvl="1"/>
            <a:r>
              <a:rPr lang="en-US" dirty="0"/>
              <a:t>All gates’ outputs are </a:t>
            </a:r>
            <a:r>
              <a:rPr lang="en-US" b="1" dirty="0"/>
              <a:t>labeled with arbitrary </a:t>
            </a:r>
            <a:r>
              <a:rPr lang="en-US" dirty="0"/>
              <a:t>symbols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Boolean functions for the outputs </a:t>
            </a:r>
            <a:r>
              <a:rPr lang="en-US" dirty="0"/>
              <a:t>of gates that receive only external inputs are derived. It may follow </a:t>
            </a:r>
            <a:r>
              <a:rPr lang="en-US" b="1" dirty="0"/>
              <a:t>De Morgan’s law </a:t>
            </a:r>
            <a:r>
              <a:rPr lang="en-US" dirty="0"/>
              <a:t>to make it convenient to use</a:t>
            </a:r>
            <a:endParaRPr lang="en-US" b="1" dirty="0"/>
          </a:p>
          <a:p>
            <a:pPr lvl="1"/>
            <a:r>
              <a:rPr lang="en-US" b="1" dirty="0"/>
              <a:t>Boolean output functions of gates </a:t>
            </a:r>
            <a:r>
              <a:rPr lang="en-US" dirty="0"/>
              <a:t>which have inputs from previously derived functions are determined in consecutive order </a:t>
            </a:r>
            <a:r>
              <a:rPr lang="en-US" b="1" dirty="0"/>
              <a:t>until the output is expressed in terms of input variables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346220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Imp.: Analysis Procedure …</a:t>
            </a:r>
            <a:endParaRPr lang="en-US" sz="3900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663" y="2706263"/>
            <a:ext cx="2454237" cy="85016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89</a:t>
            </a:fld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307" y="3626689"/>
            <a:ext cx="3951247" cy="19289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292" y="2706263"/>
            <a:ext cx="4653857" cy="26345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42143" y="1928684"/>
            <a:ext cx="145225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76555972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Imp.: Derivation of Truth Table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Same as before.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90</a:t>
            </a:fld>
            <a:endParaRPr lang="en-US" sz="1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58" y="2684038"/>
            <a:ext cx="4653857" cy="26345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373" y="1870075"/>
            <a:ext cx="5386491" cy="388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07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Imp.: Derivation of Truth Table 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Now we can use K-map to get the simplified expression of the given NAND logic circuit.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91</a:t>
            </a:fld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442" y="2591325"/>
            <a:ext cx="3938958" cy="31711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781" y="5791747"/>
            <a:ext cx="5512438" cy="54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129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Imp.: Block Diagram Transformation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Without employing </a:t>
            </a:r>
            <a:r>
              <a:rPr lang="en-US" b="1" dirty="0"/>
              <a:t>De Morgan’s Law.</a:t>
            </a:r>
          </a:p>
          <a:p>
            <a:r>
              <a:rPr lang="en-US" dirty="0"/>
              <a:t>We use two </a:t>
            </a:r>
            <a:r>
              <a:rPr lang="en-US" b="1" dirty="0"/>
              <a:t>alternate graphic symbols</a:t>
            </a:r>
            <a:r>
              <a:rPr lang="en-US" dirty="0"/>
              <a:t> of NAND gates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92</a:t>
            </a:fld>
            <a:endParaRPr lang="en-US" sz="1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681" y="3198574"/>
            <a:ext cx="8591476" cy="134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5680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51" y="365125"/>
            <a:ext cx="11053549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Imp.: Block Diagram Transformation…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NAND logic diagram – AND-OR diagram conversion</a:t>
            </a:r>
          </a:p>
          <a:p>
            <a:pPr lvl="1"/>
            <a:r>
              <a:rPr lang="en-US" dirty="0"/>
              <a:t>A change in symbols from AND-invert  to an invert-OR </a:t>
            </a:r>
            <a:r>
              <a:rPr lang="en-US" b="1" dirty="0"/>
              <a:t>in alternate levels </a:t>
            </a:r>
            <a:r>
              <a:rPr lang="en-US" dirty="0"/>
              <a:t>of gates.</a:t>
            </a:r>
          </a:p>
          <a:p>
            <a:pPr lvl="1"/>
            <a:r>
              <a:rPr lang="en-US" b="1" dirty="0"/>
              <a:t>At first </a:t>
            </a:r>
            <a:r>
              <a:rPr lang="en-US" dirty="0"/>
              <a:t>we start from the </a:t>
            </a:r>
            <a:r>
              <a:rPr lang="en-US" b="1" dirty="0"/>
              <a:t>last level</a:t>
            </a:r>
            <a:r>
              <a:rPr lang="en-US" dirty="0"/>
              <a:t>, to be changed </a:t>
            </a:r>
            <a:r>
              <a:rPr lang="en-US" b="1" dirty="0"/>
              <a:t>to an invert-OR symbol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These changes produce </a:t>
            </a:r>
            <a:r>
              <a:rPr lang="en-US" b="1" dirty="0"/>
              <a:t>pairs of circles along the same line </a:t>
            </a:r>
            <a:r>
              <a:rPr lang="en-US" dirty="0"/>
              <a:t>– can be removed as they can be cancelled.  </a:t>
            </a:r>
          </a:p>
          <a:p>
            <a:pPr lvl="1"/>
            <a:r>
              <a:rPr lang="en-US" b="1" dirty="0"/>
              <a:t>One input AND or </a:t>
            </a:r>
            <a:r>
              <a:rPr lang="en-US" b="1" dirty="0" err="1"/>
              <a:t>OR</a:t>
            </a:r>
            <a:r>
              <a:rPr lang="en-US" b="1" dirty="0"/>
              <a:t> gate </a:t>
            </a:r>
            <a:r>
              <a:rPr lang="en-US" dirty="0"/>
              <a:t>can be changed to an inverter.</a:t>
            </a:r>
          </a:p>
          <a:p>
            <a:pPr lvl="1"/>
            <a:r>
              <a:rPr lang="en-US" b="1" dirty="0"/>
              <a:t>Circle with external input</a:t>
            </a:r>
            <a:r>
              <a:rPr lang="en-US" dirty="0"/>
              <a:t> can be changed to corresponding complemented variable.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7365453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012" y="365125"/>
            <a:ext cx="11121788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Imp.: Block Diagram Transformation…</a:t>
            </a:r>
            <a:endParaRPr lang="en-US" sz="3900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674" y="3571252"/>
            <a:ext cx="4267796" cy="1581371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94</a:t>
            </a:fld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311" y="2367527"/>
            <a:ext cx="5361071" cy="39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982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Block Diagram Method: NOR Imp.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9" y="1795645"/>
            <a:ext cx="6013361" cy="317804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95</a:t>
            </a:fld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926" y="1795645"/>
            <a:ext cx="6220074" cy="294378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9549" y="4973690"/>
            <a:ext cx="10457645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general, the number of NOR gates required to implement a function is equal to the number of AND-OR gates, except for an occasional inverter. It will be applicable when both normal and complement inputs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109214185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NOR Implementation: Analysis Procedure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 derive the Boolean function from a logic diagram, we mark the outputs of various gates with arbitrary symbols.</a:t>
            </a:r>
          </a:p>
          <a:p>
            <a:pPr algn="just"/>
            <a:r>
              <a:rPr lang="en-US" dirty="0"/>
              <a:t>By repetitive substitutions, we obtain the output variables as a function of the input variables. </a:t>
            </a:r>
          </a:p>
          <a:p>
            <a:pPr marL="0" indent="0" algn="just">
              <a:buNone/>
            </a:pPr>
            <a:r>
              <a:rPr lang="en-US" dirty="0"/>
              <a:t>To obtain the truth table from a logic diagram without  deriving the Boolean function first, we form a table listing the n input variables with 2</a:t>
            </a:r>
            <a:r>
              <a:rPr lang="en-US" baseline="30000" dirty="0"/>
              <a:t>n</a:t>
            </a:r>
            <a:r>
              <a:rPr lang="en-US" dirty="0"/>
              <a:t> rows of 1s and 0s. The truth table of various NOR gate outputs is derived in succession until the output truth table is obtained.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359231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Block Diagram Transformation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To convert a NOR logic diagram to its equivalent AND-OR logic diagram, we use the two symbols for NOR gates.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conversion of a NOR logic diagram to an AND-OR diagram can be achieved through a change in symbols from OR-invert to invert-AND starting from the last level and in alternative levels. </a:t>
            </a:r>
          </a:p>
          <a:p>
            <a:pPr marL="0" indent="0" algn="just">
              <a:buNone/>
            </a:pPr>
            <a:r>
              <a:rPr lang="en-US" dirty="0"/>
              <a:t>Pairs of small circles  along the same line must be removed.</a:t>
            </a:r>
          </a:p>
          <a:p>
            <a:pPr marL="0" indent="0" algn="just">
              <a:buNone/>
            </a:pPr>
            <a:r>
              <a:rPr lang="en-US" dirty="0"/>
              <a:t> A one-input AND or </a:t>
            </a:r>
            <a:r>
              <a:rPr lang="en-US" dirty="0" err="1"/>
              <a:t>OR</a:t>
            </a:r>
            <a:r>
              <a:rPr lang="en-US" dirty="0"/>
              <a:t> gate should be removed but if it has a small circle at the input or output, it should be converted to an inverter.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97</a:t>
            </a:fld>
            <a:endParaRPr lang="en-US" sz="1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231" y="2607754"/>
            <a:ext cx="5068683" cy="96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8265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Block Diagram Transformation</a:t>
            </a:r>
            <a:endParaRPr lang="en-US" sz="3900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22" y="1439562"/>
            <a:ext cx="5162186" cy="250754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98</a:t>
            </a:fld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148" y="1262085"/>
            <a:ext cx="5134692" cy="28624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519" y="4099936"/>
            <a:ext cx="5058481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3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15847</TotalTime>
  <Words>6801</Words>
  <Application>Microsoft Office PowerPoint</Application>
  <PresentationFormat>Widescreen</PresentationFormat>
  <Paragraphs>971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98</vt:i4>
      </vt:variant>
    </vt:vector>
  </HeadingPairs>
  <TitlesOfParts>
    <vt:vector size="106" baseType="lpstr">
      <vt:lpstr>Arial</vt:lpstr>
      <vt:lpstr>Calibri</vt:lpstr>
      <vt:lpstr>Calibri Light</vt:lpstr>
      <vt:lpstr>Cambria Math</vt:lpstr>
      <vt:lpstr>Times New Roman</vt:lpstr>
      <vt:lpstr>TimesTenLTStd-Roman</vt:lpstr>
      <vt:lpstr>Office Theme</vt:lpstr>
      <vt:lpstr>1_Office Theme</vt:lpstr>
      <vt:lpstr>Combinational Logic  with MSI &amp; LSI</vt:lpstr>
      <vt:lpstr>Remaining to Add</vt:lpstr>
      <vt:lpstr>Review</vt:lpstr>
      <vt:lpstr>Introduction</vt:lpstr>
      <vt:lpstr>Combinational Circuit</vt:lpstr>
      <vt:lpstr>Combinational Circuit: Block Diagram </vt:lpstr>
      <vt:lpstr>Combinational and Sequential Circuit</vt:lpstr>
      <vt:lpstr>Analysis of a Combinational Circuit</vt:lpstr>
      <vt:lpstr>Analysis Procedure: To Obtain Boolean Function</vt:lpstr>
      <vt:lpstr>AP: To Obtain a Boolean Function – Example Given Logic Circuit </vt:lpstr>
      <vt:lpstr>AP: To Obtain a Boolean Function – Example… Following procedure</vt:lpstr>
      <vt:lpstr>Analysis Procedure: To Obtain Truth Table</vt:lpstr>
      <vt:lpstr>AP: To Obtain Truth Table - Example</vt:lpstr>
      <vt:lpstr>Design of Any Combinational Circuit </vt:lpstr>
      <vt:lpstr>Design Procedure</vt:lpstr>
      <vt:lpstr>Design Procedure: Considerations </vt:lpstr>
      <vt:lpstr>Design Procedure: Considerations… </vt:lpstr>
      <vt:lpstr>Design Procedure: Example </vt:lpstr>
      <vt:lpstr>Design Procedure: Example… </vt:lpstr>
      <vt:lpstr>Design Procedure: Example… </vt:lpstr>
      <vt:lpstr>Design Procedure: Example… </vt:lpstr>
      <vt:lpstr>Design Procedure: Example – Logic Diagram  </vt:lpstr>
      <vt:lpstr>Binary Adder</vt:lpstr>
      <vt:lpstr>Half Adder</vt:lpstr>
      <vt:lpstr>Half Adder – Function and Circuit </vt:lpstr>
      <vt:lpstr>Full Adder</vt:lpstr>
      <vt:lpstr>Full Adder – Truth table and K-map</vt:lpstr>
      <vt:lpstr>Full Adder – Implementation in SOP form</vt:lpstr>
      <vt:lpstr>Full Adder – Implementation with Half Adder</vt:lpstr>
      <vt:lpstr>Binary Adder Binary Ripple Carry Adder</vt:lpstr>
      <vt:lpstr>Binary Adder Binary Ripple Carry Adder</vt:lpstr>
      <vt:lpstr>Carry Propagation</vt:lpstr>
      <vt:lpstr>Carry Propagation with Full Adder</vt:lpstr>
      <vt:lpstr>Carry Propagation with 4-bit Full Adder To generate Carry Lookahead</vt:lpstr>
      <vt:lpstr>Carry Lookahead Generator Circuit  For 4-bit Adder </vt:lpstr>
      <vt:lpstr>4-bit Binary Adder with Carry Lookahead </vt:lpstr>
      <vt:lpstr>Binary Subtractor</vt:lpstr>
      <vt:lpstr>Binary Subtractor…</vt:lpstr>
      <vt:lpstr>Half-Subtractor</vt:lpstr>
      <vt:lpstr>Half-Subtractor…</vt:lpstr>
      <vt:lpstr>Full-Subtractor</vt:lpstr>
      <vt:lpstr>Full-Subtractor…</vt:lpstr>
      <vt:lpstr>Full-Subtractor…</vt:lpstr>
      <vt:lpstr>Full-Subtractor with Half-Subtractors</vt:lpstr>
      <vt:lpstr>4-bit Full Adder-Subtractor </vt:lpstr>
      <vt:lpstr>Overflow </vt:lpstr>
      <vt:lpstr>Overflow - Example</vt:lpstr>
      <vt:lpstr>BCD Adder</vt:lpstr>
      <vt:lpstr>BCD Adder – Block Diagram </vt:lpstr>
      <vt:lpstr>Binary Multiplier </vt:lpstr>
      <vt:lpstr>Two Bit Binary Multiplier </vt:lpstr>
      <vt:lpstr>Binary Multiplier – Important </vt:lpstr>
      <vt:lpstr>Example – Binary Multiplier </vt:lpstr>
      <vt:lpstr> Binary Magnitude Comparator </vt:lpstr>
      <vt:lpstr>Four Bit Magnitude Comparator </vt:lpstr>
      <vt:lpstr>Four Bit Magnitude Comparator Circuit </vt:lpstr>
      <vt:lpstr>Encoder-Decoder</vt:lpstr>
      <vt:lpstr>Decoder</vt:lpstr>
      <vt:lpstr>3x8 Decoder: as a Binary to Octal Converter </vt:lpstr>
      <vt:lpstr>Decoder with NAND Gate and Enable Input</vt:lpstr>
      <vt:lpstr>Decoder with NAND gates and Enable Input (E)</vt:lpstr>
      <vt:lpstr>Demultiplexer with Decoder</vt:lpstr>
      <vt:lpstr>Larger Decoder with Smaller Ones </vt:lpstr>
      <vt:lpstr>Significance of Enable Input </vt:lpstr>
      <vt:lpstr>Combinational Circuit with Decoders</vt:lpstr>
      <vt:lpstr>Combinational Circuit with Decoders…</vt:lpstr>
      <vt:lpstr>Encoder</vt:lpstr>
      <vt:lpstr>8x3 Encoder: Truth Table and Circuit</vt:lpstr>
      <vt:lpstr>Problems: Ambiguity</vt:lpstr>
      <vt:lpstr>Priority Encoder with additional Output </vt:lpstr>
      <vt:lpstr>Priority Encoder with additional Output…</vt:lpstr>
      <vt:lpstr>Multiplexer</vt:lpstr>
      <vt:lpstr>4-to-1 MUX</vt:lpstr>
      <vt:lpstr>Multiplexer from Decoder</vt:lpstr>
      <vt:lpstr>Circuit Implementation  with Multiplexer </vt:lpstr>
      <vt:lpstr>Circuit Implementation with Multiplexer  Normal way</vt:lpstr>
      <vt:lpstr>Circuit Implementation with Multiplexer  More efficient way (Example 1)</vt:lpstr>
      <vt:lpstr>Circuit Implementation with Multiplexer  More efficient way (Example 2)</vt:lpstr>
      <vt:lpstr>Demultiplexer </vt:lpstr>
      <vt:lpstr>Demultiplexer: Symbol and Circuit </vt:lpstr>
      <vt:lpstr>Three State Gates </vt:lpstr>
      <vt:lpstr>Tri-state Buffer - Symbol</vt:lpstr>
      <vt:lpstr>Tri-state gate – More gates </vt:lpstr>
      <vt:lpstr>Consequence of a High Impedance State (Hi-Z)</vt:lpstr>
      <vt:lpstr>Multiplexer with Tri-state Buffer </vt:lpstr>
      <vt:lpstr>abc</vt:lpstr>
      <vt:lpstr>abc</vt:lpstr>
      <vt:lpstr>NAND Implementation: Analysis Procedure</vt:lpstr>
      <vt:lpstr>NAND Imp.: Analysis Procedure …</vt:lpstr>
      <vt:lpstr>NAND Imp.: Derivation of Truth Table</vt:lpstr>
      <vt:lpstr>NAND Imp.: Derivation of Truth Table …</vt:lpstr>
      <vt:lpstr>NAND Imp.: Block Diagram Transformation</vt:lpstr>
      <vt:lpstr>NAND Imp.: Block Diagram Transformation…</vt:lpstr>
      <vt:lpstr>NAND Imp.: Block Diagram Transformation…</vt:lpstr>
      <vt:lpstr>Block Diagram Method: NOR Imp.</vt:lpstr>
      <vt:lpstr>NOR Implementation: Analysis Procedure</vt:lpstr>
      <vt:lpstr>Block Diagram Transformation</vt:lpstr>
      <vt:lpstr>Block Diagram 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4205 Digital Logic Design</dc:title>
  <dc:creator>Admin</dc:creator>
  <cp:lastModifiedBy>Md. Hamjajul Ashmafee , Lecturer,CSE</cp:lastModifiedBy>
  <cp:revision>287</cp:revision>
  <cp:lastPrinted>2022-01-29T12:25:09Z</cp:lastPrinted>
  <dcterms:created xsi:type="dcterms:W3CDTF">2018-06-27T14:59:12Z</dcterms:created>
  <dcterms:modified xsi:type="dcterms:W3CDTF">2022-02-01T04:06:50Z</dcterms:modified>
</cp:coreProperties>
</file>