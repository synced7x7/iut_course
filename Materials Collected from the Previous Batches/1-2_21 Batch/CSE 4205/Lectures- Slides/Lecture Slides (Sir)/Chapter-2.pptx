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37.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38.xml" ContentType="application/vnd.openxmlformats-officedocument.presentationml.notesSlide+xml"/>
  <Override PartName="/ppt/ink/ink51.xml" ContentType="application/inkml+xml"/>
  <Override PartName="/ppt/ink/ink52.xml" ContentType="application/inkml+xml"/>
  <Override PartName="/ppt/notesSlides/notesSlide39.xml" ContentType="application/vnd.openxmlformats-officedocument.presentationml.notesSlide+xml"/>
  <Override PartName="/ppt/ink/ink53.xml" ContentType="application/inkml+xml"/>
  <Override PartName="/ppt/ink/ink54.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75"/>
  </p:notesMasterIdLst>
  <p:handoutMasterIdLst>
    <p:handoutMasterId r:id="rId76"/>
  </p:handoutMasterIdLst>
  <p:sldIdLst>
    <p:sldId id="256" r:id="rId3"/>
    <p:sldId id="355" r:id="rId4"/>
    <p:sldId id="260" r:id="rId5"/>
    <p:sldId id="269" r:id="rId6"/>
    <p:sldId id="285" r:id="rId7"/>
    <p:sldId id="284" r:id="rId8"/>
    <p:sldId id="270" r:id="rId9"/>
    <p:sldId id="271" r:id="rId10"/>
    <p:sldId id="272" r:id="rId11"/>
    <p:sldId id="273" r:id="rId12"/>
    <p:sldId id="274" r:id="rId13"/>
    <p:sldId id="314" r:id="rId14"/>
    <p:sldId id="275" r:id="rId15"/>
    <p:sldId id="286" r:id="rId16"/>
    <p:sldId id="276" r:id="rId17"/>
    <p:sldId id="315" r:id="rId18"/>
    <p:sldId id="316" r:id="rId19"/>
    <p:sldId id="317" r:id="rId20"/>
    <p:sldId id="277" r:id="rId21"/>
    <p:sldId id="342" r:id="rId22"/>
    <p:sldId id="278" r:id="rId23"/>
    <p:sldId id="279" r:id="rId24"/>
    <p:sldId id="280" r:id="rId25"/>
    <p:sldId id="281" r:id="rId26"/>
    <p:sldId id="294" r:id="rId27"/>
    <p:sldId id="343" r:id="rId28"/>
    <p:sldId id="295" r:id="rId29"/>
    <p:sldId id="318" r:id="rId30"/>
    <p:sldId id="319" r:id="rId31"/>
    <p:sldId id="320" r:id="rId32"/>
    <p:sldId id="321" r:id="rId33"/>
    <p:sldId id="282" r:id="rId34"/>
    <p:sldId id="344" r:id="rId35"/>
    <p:sldId id="283" r:id="rId36"/>
    <p:sldId id="346" r:id="rId37"/>
    <p:sldId id="345" r:id="rId38"/>
    <p:sldId id="304" r:id="rId39"/>
    <p:sldId id="305" r:id="rId40"/>
    <p:sldId id="308" r:id="rId41"/>
    <p:sldId id="309" r:id="rId42"/>
    <p:sldId id="310" r:id="rId43"/>
    <p:sldId id="347" r:id="rId44"/>
    <p:sldId id="311" r:id="rId45"/>
    <p:sldId id="289" r:id="rId46"/>
    <p:sldId id="348" r:id="rId47"/>
    <p:sldId id="312" r:id="rId48"/>
    <p:sldId id="290" r:id="rId49"/>
    <p:sldId id="349" r:id="rId50"/>
    <p:sldId id="351" r:id="rId51"/>
    <p:sldId id="350" r:id="rId52"/>
    <p:sldId id="313" r:id="rId53"/>
    <p:sldId id="291" r:id="rId54"/>
    <p:sldId id="322" r:id="rId55"/>
    <p:sldId id="324" r:id="rId56"/>
    <p:sldId id="323" r:id="rId57"/>
    <p:sldId id="352" r:id="rId58"/>
    <p:sldId id="325" r:id="rId59"/>
    <p:sldId id="326" r:id="rId60"/>
    <p:sldId id="292" r:id="rId61"/>
    <p:sldId id="329" r:id="rId62"/>
    <p:sldId id="328" r:id="rId63"/>
    <p:sldId id="353" r:id="rId64"/>
    <p:sldId id="354" r:id="rId65"/>
    <p:sldId id="332" r:id="rId66"/>
    <p:sldId id="333" r:id="rId67"/>
    <p:sldId id="340" r:id="rId68"/>
    <p:sldId id="341" r:id="rId69"/>
    <p:sldId id="339" r:id="rId70"/>
    <p:sldId id="334" r:id="rId71"/>
    <p:sldId id="335" r:id="rId72"/>
    <p:sldId id="330" r:id="rId73"/>
    <p:sldId id="331"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92" autoAdjust="0"/>
    <p:restoredTop sz="71264" autoAdjust="0"/>
  </p:normalViewPr>
  <p:slideViewPr>
    <p:cSldViewPr snapToGrid="0">
      <p:cViewPr varScale="1">
        <p:scale>
          <a:sx n="79" d="100"/>
          <a:sy n="79" d="100"/>
        </p:scale>
        <p:origin x="21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796156-FE06-467D-ABB2-9326CE07F340}" type="doc">
      <dgm:prSet loTypeId="urn:microsoft.com/office/officeart/2005/8/layout/pyramid3" loCatId="pyramid" qsTypeId="urn:microsoft.com/office/officeart/2005/8/quickstyle/simple1" qsCatId="simple" csTypeId="urn:microsoft.com/office/officeart/2005/8/colors/colorful4" csCatId="colorful" phldr="1"/>
      <dgm:spPr/>
    </dgm:pt>
    <dgm:pt modelId="{3229C761-08EF-406F-96EE-9E69FAE99B18}">
      <dgm:prSet phldrT="[Text]" custT="1"/>
      <dgm:spPr/>
      <dgm:t>
        <a:bodyPr/>
        <a:lstStyle/>
        <a:p>
          <a:r>
            <a:rPr lang="en-US" sz="1800" b="1" dirty="0"/>
            <a:t>Parentheses</a:t>
          </a:r>
        </a:p>
      </dgm:t>
    </dgm:pt>
    <dgm:pt modelId="{791EA1BE-FCFE-482E-A4AD-09A34A7A1DEF}" type="parTrans" cxnId="{35A3A2E9-7435-4489-8666-236D8E41AB0E}">
      <dgm:prSet/>
      <dgm:spPr/>
      <dgm:t>
        <a:bodyPr/>
        <a:lstStyle/>
        <a:p>
          <a:endParaRPr lang="en-US"/>
        </a:p>
      </dgm:t>
    </dgm:pt>
    <dgm:pt modelId="{40C4C273-995D-43EA-86F1-05CCDDFE041E}" type="sibTrans" cxnId="{35A3A2E9-7435-4489-8666-236D8E41AB0E}">
      <dgm:prSet/>
      <dgm:spPr/>
      <dgm:t>
        <a:bodyPr/>
        <a:lstStyle/>
        <a:p>
          <a:endParaRPr lang="en-US"/>
        </a:p>
      </dgm:t>
    </dgm:pt>
    <dgm:pt modelId="{69C61E45-861F-4BEF-AC83-946C4913DF42}">
      <dgm:prSet phldrT="[Text]" custT="1"/>
      <dgm:spPr/>
      <dgm:t>
        <a:bodyPr/>
        <a:lstStyle/>
        <a:p>
          <a:r>
            <a:rPr lang="en-US" sz="1800" b="1" dirty="0"/>
            <a:t>NOT</a:t>
          </a:r>
        </a:p>
      </dgm:t>
    </dgm:pt>
    <dgm:pt modelId="{B4695AA4-4A68-4E36-A897-9EA6854B358F}" type="parTrans" cxnId="{7F9D4092-15DD-4156-A33E-49C74D5EE137}">
      <dgm:prSet/>
      <dgm:spPr/>
      <dgm:t>
        <a:bodyPr/>
        <a:lstStyle/>
        <a:p>
          <a:endParaRPr lang="en-US"/>
        </a:p>
      </dgm:t>
    </dgm:pt>
    <dgm:pt modelId="{25E58C96-D6B5-4DFE-8EFC-53BE605241A6}" type="sibTrans" cxnId="{7F9D4092-15DD-4156-A33E-49C74D5EE137}">
      <dgm:prSet/>
      <dgm:spPr/>
      <dgm:t>
        <a:bodyPr/>
        <a:lstStyle/>
        <a:p>
          <a:endParaRPr lang="en-US"/>
        </a:p>
      </dgm:t>
    </dgm:pt>
    <dgm:pt modelId="{1397DE19-F56E-4903-8379-42894A260CDC}">
      <dgm:prSet phldrT="[Text]" custT="1"/>
      <dgm:spPr/>
      <dgm:t>
        <a:bodyPr/>
        <a:lstStyle/>
        <a:p>
          <a:r>
            <a:rPr lang="en-US" sz="1800" b="1" dirty="0"/>
            <a:t>AND</a:t>
          </a:r>
        </a:p>
      </dgm:t>
    </dgm:pt>
    <dgm:pt modelId="{E6CEB916-A550-4F30-BE6A-09D2E89D64E3}" type="parTrans" cxnId="{9976D5A4-F3AC-4373-AEAF-D6F1180C3C90}">
      <dgm:prSet/>
      <dgm:spPr/>
      <dgm:t>
        <a:bodyPr/>
        <a:lstStyle/>
        <a:p>
          <a:endParaRPr lang="en-US"/>
        </a:p>
      </dgm:t>
    </dgm:pt>
    <dgm:pt modelId="{ADF3630C-9534-47F7-A433-D3F301234CE1}" type="sibTrans" cxnId="{9976D5A4-F3AC-4373-AEAF-D6F1180C3C90}">
      <dgm:prSet/>
      <dgm:spPr/>
      <dgm:t>
        <a:bodyPr/>
        <a:lstStyle/>
        <a:p>
          <a:endParaRPr lang="en-US"/>
        </a:p>
      </dgm:t>
    </dgm:pt>
    <dgm:pt modelId="{FBED48B0-C6C3-4531-9C5C-0CE5295F604F}">
      <dgm:prSet phldrT="[Text]" custT="1"/>
      <dgm:spPr/>
      <dgm:t>
        <a:bodyPr/>
        <a:lstStyle/>
        <a:p>
          <a:r>
            <a:rPr lang="en-US" sz="1800" b="1" dirty="0"/>
            <a:t>OR</a:t>
          </a:r>
        </a:p>
      </dgm:t>
    </dgm:pt>
    <dgm:pt modelId="{0DAE2605-B6DC-4FA5-8BFD-9EE0C2D10000}" type="parTrans" cxnId="{C914EEFC-DB50-4FBB-865D-16BFC697AC69}">
      <dgm:prSet/>
      <dgm:spPr/>
      <dgm:t>
        <a:bodyPr/>
        <a:lstStyle/>
        <a:p>
          <a:endParaRPr lang="en-US"/>
        </a:p>
      </dgm:t>
    </dgm:pt>
    <dgm:pt modelId="{AFA9EA0D-B5FC-426B-9018-833CA29B7A45}" type="sibTrans" cxnId="{C914EEFC-DB50-4FBB-865D-16BFC697AC69}">
      <dgm:prSet/>
      <dgm:spPr/>
      <dgm:t>
        <a:bodyPr/>
        <a:lstStyle/>
        <a:p>
          <a:endParaRPr lang="en-US"/>
        </a:p>
      </dgm:t>
    </dgm:pt>
    <dgm:pt modelId="{077B570F-C958-43FB-9ADB-B38FFD450687}" type="pres">
      <dgm:prSet presAssocID="{9E796156-FE06-467D-ABB2-9326CE07F340}" presName="Name0" presStyleCnt="0">
        <dgm:presLayoutVars>
          <dgm:dir/>
          <dgm:animLvl val="lvl"/>
          <dgm:resizeHandles val="exact"/>
        </dgm:presLayoutVars>
      </dgm:prSet>
      <dgm:spPr/>
    </dgm:pt>
    <dgm:pt modelId="{D93A08CE-7638-4036-9CE0-E823E18D2C1E}" type="pres">
      <dgm:prSet presAssocID="{3229C761-08EF-406F-96EE-9E69FAE99B18}" presName="Name8" presStyleCnt="0"/>
      <dgm:spPr/>
    </dgm:pt>
    <dgm:pt modelId="{F805C973-FD43-41BD-AAB3-A808AEDEF92C}" type="pres">
      <dgm:prSet presAssocID="{3229C761-08EF-406F-96EE-9E69FAE99B18}" presName="level" presStyleLbl="node1" presStyleIdx="0" presStyleCnt="4" custLinFactNeighborX="-16732" custLinFactNeighborY="-86900">
        <dgm:presLayoutVars>
          <dgm:chMax val="1"/>
          <dgm:bulletEnabled val="1"/>
        </dgm:presLayoutVars>
      </dgm:prSet>
      <dgm:spPr/>
    </dgm:pt>
    <dgm:pt modelId="{A429A60D-7B72-4E13-B2D2-8F797E3095E6}" type="pres">
      <dgm:prSet presAssocID="{3229C761-08EF-406F-96EE-9E69FAE99B18}" presName="levelTx" presStyleLbl="revTx" presStyleIdx="0" presStyleCnt="0">
        <dgm:presLayoutVars>
          <dgm:chMax val="1"/>
          <dgm:bulletEnabled val="1"/>
        </dgm:presLayoutVars>
      </dgm:prSet>
      <dgm:spPr/>
    </dgm:pt>
    <dgm:pt modelId="{AB1E6ABE-3420-4AF1-A06C-116D168AE2AB}" type="pres">
      <dgm:prSet presAssocID="{69C61E45-861F-4BEF-AC83-946C4913DF42}" presName="Name8" presStyleCnt="0"/>
      <dgm:spPr/>
    </dgm:pt>
    <dgm:pt modelId="{14D0DE8F-4388-4B95-9455-1D11F27E1AE8}" type="pres">
      <dgm:prSet presAssocID="{69C61E45-861F-4BEF-AC83-946C4913DF42}" presName="level" presStyleLbl="node1" presStyleIdx="1" presStyleCnt="4">
        <dgm:presLayoutVars>
          <dgm:chMax val="1"/>
          <dgm:bulletEnabled val="1"/>
        </dgm:presLayoutVars>
      </dgm:prSet>
      <dgm:spPr/>
    </dgm:pt>
    <dgm:pt modelId="{2CA27659-AE6A-4231-A038-80A71916EE34}" type="pres">
      <dgm:prSet presAssocID="{69C61E45-861F-4BEF-AC83-946C4913DF42}" presName="levelTx" presStyleLbl="revTx" presStyleIdx="0" presStyleCnt="0">
        <dgm:presLayoutVars>
          <dgm:chMax val="1"/>
          <dgm:bulletEnabled val="1"/>
        </dgm:presLayoutVars>
      </dgm:prSet>
      <dgm:spPr/>
    </dgm:pt>
    <dgm:pt modelId="{C4D5EF01-65A1-485A-80BE-EBDA0FBDF3DA}" type="pres">
      <dgm:prSet presAssocID="{1397DE19-F56E-4903-8379-42894A260CDC}" presName="Name8" presStyleCnt="0"/>
      <dgm:spPr/>
    </dgm:pt>
    <dgm:pt modelId="{A42C93AA-E338-4514-9F1C-0B4FB5DD9417}" type="pres">
      <dgm:prSet presAssocID="{1397DE19-F56E-4903-8379-42894A260CDC}" presName="level" presStyleLbl="node1" presStyleIdx="2" presStyleCnt="4">
        <dgm:presLayoutVars>
          <dgm:chMax val="1"/>
          <dgm:bulletEnabled val="1"/>
        </dgm:presLayoutVars>
      </dgm:prSet>
      <dgm:spPr/>
    </dgm:pt>
    <dgm:pt modelId="{F128656C-7D93-43F2-8792-DB51B06B9DDC}" type="pres">
      <dgm:prSet presAssocID="{1397DE19-F56E-4903-8379-42894A260CDC}" presName="levelTx" presStyleLbl="revTx" presStyleIdx="0" presStyleCnt="0">
        <dgm:presLayoutVars>
          <dgm:chMax val="1"/>
          <dgm:bulletEnabled val="1"/>
        </dgm:presLayoutVars>
      </dgm:prSet>
      <dgm:spPr/>
    </dgm:pt>
    <dgm:pt modelId="{6A43ABF6-4F5F-4864-9274-B507AF7BE0F9}" type="pres">
      <dgm:prSet presAssocID="{FBED48B0-C6C3-4531-9C5C-0CE5295F604F}" presName="Name8" presStyleCnt="0"/>
      <dgm:spPr/>
    </dgm:pt>
    <dgm:pt modelId="{16113C07-4A8F-4FCE-8DC6-463127B2B4C8}" type="pres">
      <dgm:prSet presAssocID="{FBED48B0-C6C3-4531-9C5C-0CE5295F604F}" presName="level" presStyleLbl="node1" presStyleIdx="3" presStyleCnt="4">
        <dgm:presLayoutVars>
          <dgm:chMax val="1"/>
          <dgm:bulletEnabled val="1"/>
        </dgm:presLayoutVars>
      </dgm:prSet>
      <dgm:spPr/>
    </dgm:pt>
    <dgm:pt modelId="{61859CC9-7246-41F2-8A88-2E43E00472F3}" type="pres">
      <dgm:prSet presAssocID="{FBED48B0-C6C3-4531-9C5C-0CE5295F604F}" presName="levelTx" presStyleLbl="revTx" presStyleIdx="0" presStyleCnt="0">
        <dgm:presLayoutVars>
          <dgm:chMax val="1"/>
          <dgm:bulletEnabled val="1"/>
        </dgm:presLayoutVars>
      </dgm:prSet>
      <dgm:spPr/>
    </dgm:pt>
  </dgm:ptLst>
  <dgm:cxnLst>
    <dgm:cxn modelId="{E53D9308-A6EB-4AD3-B168-181F235C3FF7}" type="presOf" srcId="{69C61E45-861F-4BEF-AC83-946C4913DF42}" destId="{2CA27659-AE6A-4231-A038-80A71916EE34}" srcOrd="1" destOrd="0" presId="urn:microsoft.com/office/officeart/2005/8/layout/pyramid3"/>
    <dgm:cxn modelId="{75B6C93B-B15A-4B15-96CD-5ECC5206172F}" type="presOf" srcId="{1397DE19-F56E-4903-8379-42894A260CDC}" destId="{A42C93AA-E338-4514-9F1C-0B4FB5DD9417}" srcOrd="0" destOrd="0" presId="urn:microsoft.com/office/officeart/2005/8/layout/pyramid3"/>
    <dgm:cxn modelId="{643EEE3E-0B1E-4837-9248-1DFB21611CA6}" type="presOf" srcId="{FBED48B0-C6C3-4531-9C5C-0CE5295F604F}" destId="{16113C07-4A8F-4FCE-8DC6-463127B2B4C8}" srcOrd="0" destOrd="0" presId="urn:microsoft.com/office/officeart/2005/8/layout/pyramid3"/>
    <dgm:cxn modelId="{03C90C61-CE61-4A00-A7E1-2C1B99F9CD7E}" type="presOf" srcId="{9E796156-FE06-467D-ABB2-9326CE07F340}" destId="{077B570F-C958-43FB-9ADB-B38FFD450687}" srcOrd="0" destOrd="0" presId="urn:microsoft.com/office/officeart/2005/8/layout/pyramid3"/>
    <dgm:cxn modelId="{E42BF37C-6BA8-416E-AC7E-53F9580225F3}" type="presOf" srcId="{1397DE19-F56E-4903-8379-42894A260CDC}" destId="{F128656C-7D93-43F2-8792-DB51B06B9DDC}" srcOrd="1" destOrd="0" presId="urn:microsoft.com/office/officeart/2005/8/layout/pyramid3"/>
    <dgm:cxn modelId="{B05E8689-A41B-45AA-A862-EE10659F7C02}" type="presOf" srcId="{3229C761-08EF-406F-96EE-9E69FAE99B18}" destId="{A429A60D-7B72-4E13-B2D2-8F797E3095E6}" srcOrd="1" destOrd="0" presId="urn:microsoft.com/office/officeart/2005/8/layout/pyramid3"/>
    <dgm:cxn modelId="{7F9D4092-15DD-4156-A33E-49C74D5EE137}" srcId="{9E796156-FE06-467D-ABB2-9326CE07F340}" destId="{69C61E45-861F-4BEF-AC83-946C4913DF42}" srcOrd="1" destOrd="0" parTransId="{B4695AA4-4A68-4E36-A897-9EA6854B358F}" sibTransId="{25E58C96-D6B5-4DFE-8EFC-53BE605241A6}"/>
    <dgm:cxn modelId="{9976D5A4-F3AC-4373-AEAF-D6F1180C3C90}" srcId="{9E796156-FE06-467D-ABB2-9326CE07F340}" destId="{1397DE19-F56E-4903-8379-42894A260CDC}" srcOrd="2" destOrd="0" parTransId="{E6CEB916-A550-4F30-BE6A-09D2E89D64E3}" sibTransId="{ADF3630C-9534-47F7-A433-D3F301234CE1}"/>
    <dgm:cxn modelId="{73E945C2-89A3-43AD-A81D-8066358B0F5E}" type="presOf" srcId="{69C61E45-861F-4BEF-AC83-946C4913DF42}" destId="{14D0DE8F-4388-4B95-9455-1D11F27E1AE8}" srcOrd="0" destOrd="0" presId="urn:microsoft.com/office/officeart/2005/8/layout/pyramid3"/>
    <dgm:cxn modelId="{7C5887C9-C74E-42C7-8D15-D0F89408EA3E}" type="presOf" srcId="{FBED48B0-C6C3-4531-9C5C-0CE5295F604F}" destId="{61859CC9-7246-41F2-8A88-2E43E00472F3}" srcOrd="1" destOrd="0" presId="urn:microsoft.com/office/officeart/2005/8/layout/pyramid3"/>
    <dgm:cxn modelId="{35A3A2E9-7435-4489-8666-236D8E41AB0E}" srcId="{9E796156-FE06-467D-ABB2-9326CE07F340}" destId="{3229C761-08EF-406F-96EE-9E69FAE99B18}" srcOrd="0" destOrd="0" parTransId="{791EA1BE-FCFE-482E-A4AD-09A34A7A1DEF}" sibTransId="{40C4C273-995D-43EA-86F1-05CCDDFE041E}"/>
    <dgm:cxn modelId="{8A8EE3E9-7BE9-4A50-8118-B5C75B354410}" type="presOf" srcId="{3229C761-08EF-406F-96EE-9E69FAE99B18}" destId="{F805C973-FD43-41BD-AAB3-A808AEDEF92C}" srcOrd="0" destOrd="0" presId="urn:microsoft.com/office/officeart/2005/8/layout/pyramid3"/>
    <dgm:cxn modelId="{C914EEFC-DB50-4FBB-865D-16BFC697AC69}" srcId="{9E796156-FE06-467D-ABB2-9326CE07F340}" destId="{FBED48B0-C6C3-4531-9C5C-0CE5295F604F}" srcOrd="3" destOrd="0" parTransId="{0DAE2605-B6DC-4FA5-8BFD-9EE0C2D10000}" sibTransId="{AFA9EA0D-B5FC-426B-9018-833CA29B7A45}"/>
    <dgm:cxn modelId="{BE1DC2B6-C82F-4FE4-83DD-147D07BB0967}" type="presParOf" srcId="{077B570F-C958-43FB-9ADB-B38FFD450687}" destId="{D93A08CE-7638-4036-9CE0-E823E18D2C1E}" srcOrd="0" destOrd="0" presId="urn:microsoft.com/office/officeart/2005/8/layout/pyramid3"/>
    <dgm:cxn modelId="{227EE387-844E-4553-86A3-85B3E55F6AD9}" type="presParOf" srcId="{D93A08CE-7638-4036-9CE0-E823E18D2C1E}" destId="{F805C973-FD43-41BD-AAB3-A808AEDEF92C}" srcOrd="0" destOrd="0" presId="urn:microsoft.com/office/officeart/2005/8/layout/pyramid3"/>
    <dgm:cxn modelId="{CE18CCDA-56AF-42EF-BDD8-647B61036A66}" type="presParOf" srcId="{D93A08CE-7638-4036-9CE0-E823E18D2C1E}" destId="{A429A60D-7B72-4E13-B2D2-8F797E3095E6}" srcOrd="1" destOrd="0" presId="urn:microsoft.com/office/officeart/2005/8/layout/pyramid3"/>
    <dgm:cxn modelId="{05094B68-D33E-4BD4-85F3-313BF786F61E}" type="presParOf" srcId="{077B570F-C958-43FB-9ADB-B38FFD450687}" destId="{AB1E6ABE-3420-4AF1-A06C-116D168AE2AB}" srcOrd="1" destOrd="0" presId="urn:microsoft.com/office/officeart/2005/8/layout/pyramid3"/>
    <dgm:cxn modelId="{D73A2C3C-B59A-4790-8811-2941FF5A9748}" type="presParOf" srcId="{AB1E6ABE-3420-4AF1-A06C-116D168AE2AB}" destId="{14D0DE8F-4388-4B95-9455-1D11F27E1AE8}" srcOrd="0" destOrd="0" presId="urn:microsoft.com/office/officeart/2005/8/layout/pyramid3"/>
    <dgm:cxn modelId="{819DF518-35F2-4D60-A512-B67AE4A05FB9}" type="presParOf" srcId="{AB1E6ABE-3420-4AF1-A06C-116D168AE2AB}" destId="{2CA27659-AE6A-4231-A038-80A71916EE34}" srcOrd="1" destOrd="0" presId="urn:microsoft.com/office/officeart/2005/8/layout/pyramid3"/>
    <dgm:cxn modelId="{B2999BBE-437E-4255-9840-AC0A695334D7}" type="presParOf" srcId="{077B570F-C958-43FB-9ADB-B38FFD450687}" destId="{C4D5EF01-65A1-485A-80BE-EBDA0FBDF3DA}" srcOrd="2" destOrd="0" presId="urn:microsoft.com/office/officeart/2005/8/layout/pyramid3"/>
    <dgm:cxn modelId="{1BECA827-6D9A-489D-9F05-9A347346CC5B}" type="presParOf" srcId="{C4D5EF01-65A1-485A-80BE-EBDA0FBDF3DA}" destId="{A42C93AA-E338-4514-9F1C-0B4FB5DD9417}" srcOrd="0" destOrd="0" presId="urn:microsoft.com/office/officeart/2005/8/layout/pyramid3"/>
    <dgm:cxn modelId="{DEE6038C-A7A5-45C8-83E2-B72CDA42EC0F}" type="presParOf" srcId="{C4D5EF01-65A1-485A-80BE-EBDA0FBDF3DA}" destId="{F128656C-7D93-43F2-8792-DB51B06B9DDC}" srcOrd="1" destOrd="0" presId="urn:microsoft.com/office/officeart/2005/8/layout/pyramid3"/>
    <dgm:cxn modelId="{627AD7AE-D00C-4DCE-B778-C45473F8F453}" type="presParOf" srcId="{077B570F-C958-43FB-9ADB-B38FFD450687}" destId="{6A43ABF6-4F5F-4864-9274-B507AF7BE0F9}" srcOrd="3" destOrd="0" presId="urn:microsoft.com/office/officeart/2005/8/layout/pyramid3"/>
    <dgm:cxn modelId="{AF6CA17C-7F1C-4396-BF50-FD1562C5305D}" type="presParOf" srcId="{6A43ABF6-4F5F-4864-9274-B507AF7BE0F9}" destId="{16113C07-4A8F-4FCE-8DC6-463127B2B4C8}" srcOrd="0" destOrd="0" presId="urn:microsoft.com/office/officeart/2005/8/layout/pyramid3"/>
    <dgm:cxn modelId="{4CD3BBDE-C138-48E5-85C1-2015146BC672}" type="presParOf" srcId="{6A43ABF6-4F5F-4864-9274-B507AF7BE0F9}" destId="{61859CC9-7246-41F2-8A88-2E43E00472F3}"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5C973-FD43-41BD-AAB3-A808AEDEF92C}">
      <dsp:nvSpPr>
        <dsp:cNvPr id="0" name=""/>
        <dsp:cNvSpPr/>
      </dsp:nvSpPr>
      <dsp:spPr>
        <a:xfrm rot="10800000">
          <a:off x="0" y="0"/>
          <a:ext cx="4597563" cy="851816"/>
        </a:xfrm>
        <a:prstGeom prst="trapezoid">
          <a:avLst>
            <a:gd name="adj" fmla="val 67467"/>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Parentheses</a:t>
          </a:r>
        </a:p>
      </dsp:txBody>
      <dsp:txXfrm rot="-10800000">
        <a:off x="804573" y="0"/>
        <a:ext cx="2988415" cy="851816"/>
      </dsp:txXfrm>
    </dsp:sp>
    <dsp:sp modelId="{14D0DE8F-4388-4B95-9455-1D11F27E1AE8}">
      <dsp:nvSpPr>
        <dsp:cNvPr id="0" name=""/>
        <dsp:cNvSpPr/>
      </dsp:nvSpPr>
      <dsp:spPr>
        <a:xfrm rot="10800000">
          <a:off x="574695" y="851816"/>
          <a:ext cx="3448172" cy="851816"/>
        </a:xfrm>
        <a:prstGeom prst="trapezoid">
          <a:avLst>
            <a:gd name="adj" fmla="val 67467"/>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NOT</a:t>
          </a:r>
        </a:p>
      </dsp:txBody>
      <dsp:txXfrm rot="-10800000">
        <a:off x="1178125" y="851816"/>
        <a:ext cx="2241311" cy="851816"/>
      </dsp:txXfrm>
    </dsp:sp>
    <dsp:sp modelId="{A42C93AA-E338-4514-9F1C-0B4FB5DD9417}">
      <dsp:nvSpPr>
        <dsp:cNvPr id="0" name=""/>
        <dsp:cNvSpPr/>
      </dsp:nvSpPr>
      <dsp:spPr>
        <a:xfrm rot="10800000">
          <a:off x="1149390" y="1703632"/>
          <a:ext cx="2298781" cy="851816"/>
        </a:xfrm>
        <a:prstGeom prst="trapezoid">
          <a:avLst>
            <a:gd name="adj" fmla="val 67467"/>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AND</a:t>
          </a:r>
        </a:p>
      </dsp:txBody>
      <dsp:txXfrm rot="-10800000">
        <a:off x="1551677" y="1703632"/>
        <a:ext cx="1494207" cy="851816"/>
      </dsp:txXfrm>
    </dsp:sp>
    <dsp:sp modelId="{16113C07-4A8F-4FCE-8DC6-463127B2B4C8}">
      <dsp:nvSpPr>
        <dsp:cNvPr id="0" name=""/>
        <dsp:cNvSpPr/>
      </dsp:nvSpPr>
      <dsp:spPr>
        <a:xfrm rot="10800000">
          <a:off x="1724086" y="2555448"/>
          <a:ext cx="1149390" cy="851816"/>
        </a:xfrm>
        <a:prstGeom prst="trapezoid">
          <a:avLst>
            <a:gd name="adj" fmla="val 67467"/>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OR</a:t>
          </a:r>
        </a:p>
      </dsp:txBody>
      <dsp:txXfrm rot="-10800000">
        <a:off x="1724086" y="2555448"/>
        <a:ext cx="1149390" cy="851816"/>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4C1B9E-036F-4426-B1FE-095181F8A776}" type="datetimeFigureOut">
              <a:rPr lang="en-US" smtClean="0"/>
              <a:t>05-Dec-21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Lecture 1</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4AD7F4-E4FF-401B-A654-C6B99FAB5157}" type="slidenum">
              <a:rPr lang="en-US" smtClean="0"/>
              <a:t>‹#›</a:t>
            </a:fld>
            <a:endParaRPr lang="en-US"/>
          </a:p>
        </p:txBody>
      </p:sp>
    </p:spTree>
    <p:extLst>
      <p:ext uri="{BB962C8B-B14F-4D97-AF65-F5344CB8AC3E}">
        <p14:creationId xmlns:p14="http://schemas.microsoft.com/office/powerpoint/2010/main" val="2895233679"/>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9.01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5191.94922"/>
      <inkml:brushProperty name="anchorY" value="-17933.9082"/>
      <inkml:brushProperty name="scaleFactor" value="0.5"/>
    </inkml:brush>
  </inkml:definitions>
  <inkml:trace contextRef="#ctx0" brushRef="#br0">1 0,'0'0,"0"8,0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9.413"/>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461.94971"/>
      <inkml:brushProperty name="anchorY" value="-19222.65039"/>
      <inkml:brushProperty name="scaleFactor" value="0.5"/>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9.624"/>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7731.94922"/>
      <inkml:brushProperty name="anchorY" value="-20492.65039"/>
      <inkml:brushProperty name="scaleFactor" value="0.5"/>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9.79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9001.94922"/>
      <inkml:brushProperty name="anchorY" value="-21762.65039"/>
      <inkml:brushProperty name="scaleFactor" value="0.5"/>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9.96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0271.94922"/>
      <inkml:brushProperty name="anchorY" value="-23032.65039"/>
      <inkml:brushProperty name="scaleFactor" value="0.5"/>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7.004"/>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541.94922"/>
      <inkml:brushProperty name="anchorY" value="-24302.65039"/>
      <inkml:brushProperty name="scaleFactor" value="0.5"/>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7.24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2811.94922"/>
      <inkml:brushProperty name="anchorY" value="-25572.65039"/>
      <inkml:brushProperty name="scaleFactor" value="0.5"/>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7.43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4081.94922"/>
      <inkml:brushProperty name="anchorY" value="-26842.65039"/>
      <inkml:brushProperty name="scaleFactor" value="0.5"/>
    </inkml:brush>
  </inkml:definitions>
  <inkml:trace contextRef="#ctx0" brushRef="#br0">20 0,'0'0,"-8"0,-3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8.33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2793.20703"/>
      <inkml:brushProperty name="anchorY" value="-25572.65039"/>
      <inkml:brushProperty name="scaleFactor" value="0.5"/>
    </inkml:brush>
  </inkml:definitions>
  <inkml:trace contextRef="#ctx0" brushRef="#br0">20 0,'0'0,"0"8,-10 3,0-2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8.508"/>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503.74414"/>
      <inkml:brushProperty name="anchorY" value="-24330.84961"/>
      <inkml:brushProperty name="scaleFactor" value="0.5"/>
    </inkml:brush>
  </inkml:definitions>
  <inkml:trace contextRef="#ctx0" brushRef="#br0">1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8.90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2773.74414"/>
      <inkml:brushProperty name="anchorY" value="-25600.84961"/>
      <inkml:brushProperty name="scaleFactor" value="0.5"/>
    </inkml:brush>
  </inkml:definitions>
  <inkml:trace contextRef="#ctx0" brushRef="#br0">48 0,'0'0,"-8"0,-12 10,1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59.21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456.80566"/>
      <inkml:brushProperty name="anchorY" value="-24350.31055"/>
      <inkml:brushProperty name="scaleFactor" value="0.5"/>
    </inkml:brush>
  </inkml:definitions>
  <inkml:trace contextRef="#ctx0" brushRef="#br0">29 0,'0'0,"-8"0,-3 9,1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0.18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0157.52441"/>
      <inkml:brushProperty name="anchorY" value="-23099.05078"/>
      <inkml:brushProperty name="scaleFactor" value="0.5"/>
    </inkml:brush>
  </inkml:definitions>
  <inkml:trace contextRef="#ctx0" brushRef="#br0">0 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0.474"/>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427.52441"/>
      <inkml:brushProperty name="anchorY" value="-24369.05078"/>
      <inkml:brushProperty name="scaleFactor" value="0.5"/>
    </inkml:brush>
  </inkml:definitions>
  <inkml:trace contextRef="#ctx0" brushRef="#br0">19 0,'0'0,"-7"0,-4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1.26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0138.78223"/>
      <inkml:brushProperty name="anchorY" value="-23099.05078"/>
      <inkml:brushProperty name="scaleFactor" value="0.5"/>
    </inkml:brush>
  </inkml:definitions>
  <inkml:trace contextRef="#ctx0" brushRef="#br0">0 1,'0'0,"0"8,0 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8.862"/>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408.78223"/>
      <inkml:brushProperty name="anchorY" value="-24388.51172"/>
      <inkml:brushProperty name="scaleFactor" value="0.5"/>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9.262"/>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2678.78223"/>
      <inkml:brushProperty name="anchorY" value="-25658.51172"/>
      <inkml:brushProperty name="scaleFactor" value="0.5"/>
    </inkml:brush>
  </inkml:definitions>
  <inkml:trace contextRef="#ctx0" brushRef="#br0">0 1,'0'0,"0"7,0 14,0 7,0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09.653"/>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3948.78223"/>
      <inkml:brushProperty name="anchorY" value="-27012.52734"/>
      <inkml:brushProperty name="scaleFactor" value="0.5"/>
    </inkml:brush>
  </inkml:definitions>
  <inkml:trace contextRef="#ctx0" brushRef="#br0">766 0,'0'0,"-7"0,-14 0,-91 0,-199 0,-4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11.797"/>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912.68262"/>
      <inkml:brushProperty name="anchorY" value="-25742.52734"/>
      <inkml:brushProperty name="scaleFactor" value="0.5"/>
    </inkml:brush>
  </inkml:definitions>
  <inkml:trace contextRef="#ctx0" brushRef="#br0">1 1,'0'0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12.33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3182.68262"/>
      <inkml:brushProperty name="anchorY" value="-27012.52734"/>
      <inkml:brushProperty name="scaleFactor" value="0.5"/>
    </inkml:brush>
  </inkml:definitions>
  <inkml:trace contextRef="#ctx0" brushRef="#br0">0 20,'0'0,"0"-8,0-3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12.69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4452.68262"/>
      <inkml:brushProperty name="anchorY" value="-28263.78516"/>
      <inkml:brushProperty name="scaleFactor" value="0.5"/>
    </inkml:brush>
  </inkml:definitions>
  <inkml:trace contextRef="#ctx0" brushRef="#br0">0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2.05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5722.68262"/>
      <inkml:brushProperty name="anchorY" value="-29533.78516"/>
      <inkml:brushProperty name="scaleFactor" value="0.5"/>
    </inkml:brush>
  </inkml:definitions>
  <inkml:trace contextRef="#ctx0" brushRef="#br0">0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2.36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6992.68164"/>
      <inkml:brushProperty name="anchorY" value="-30803.78516"/>
      <inkml:brushProperty name="scaleFactor" value="0.5"/>
    </inkml:brush>
  </inkml:definitions>
  <inkml:trace contextRef="#ctx0" brushRef="#br0">1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2.55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8262.68164"/>
      <inkml:brushProperty name="anchorY" value="-32073.78516"/>
      <inkml:brushProperty name="scaleFactor" value="0.5"/>
    </inkml:brush>
  </inkml:definitions>
  <inkml:trace contextRef="#ctx0" brushRef="#br0">1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3.25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9532.68164"/>
      <inkml:brushProperty name="anchorY" value="-33343.78516"/>
      <inkml:brushProperty name="scaleFactor" value="0.5"/>
    </inkml:brush>
  </inkml:definitions>
  <inkml:trace contextRef="#ctx0" brushRef="#br0">1 1,'0'0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3.41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0802.68164"/>
      <inkml:brushProperty name="anchorY" value="-34613.78516"/>
      <inkml:brushProperty name="scaleFactor" value="0.5"/>
    </inkml:brush>
  </inkml:definitions>
  <inkml:trace contextRef="#ctx0" brushRef="#br0">1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3.912"/>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2072.68359"/>
      <inkml:brushProperty name="anchorY" value="-35883.78516"/>
      <inkml:brushProperty name="scaleFactor" value="0.5"/>
    </inkml:brush>
  </inkml:definitions>
  <inkml:trace contextRef="#ctx0" brushRef="#br0">1 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4.092"/>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3342.68359"/>
      <inkml:brushProperty name="anchorY" value="-37153.78516"/>
      <inkml:brushProperty name="scaleFactor" value="0.5"/>
    </inkml:brush>
  </inkml:definitions>
  <inkml:trace contextRef="#ctx0" brushRef="#br0">1 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4.65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4612.68359"/>
      <inkml:brushProperty name="anchorY" value="-38423.78516"/>
      <inkml:brushProperty name="scaleFactor" value="0.5"/>
    </inkml:brush>
  </inkml:definitions>
  <inkml:trace contextRef="#ctx0" brushRef="#br0">1 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4.854"/>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5882.68359"/>
      <inkml:brushProperty name="anchorY" value="-39693.78516"/>
      <inkml:brushProperty name="scaleFactor" value="0.5"/>
    </inkml:brush>
  </inkml:definitions>
  <inkml:trace contextRef="#ctx0" brushRef="#br0">1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7.21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7152.68359"/>
      <inkml:brushProperty name="anchorY" value="-40963.78516"/>
      <inkml:brushProperty name="scaleFactor" value="0.5"/>
    </inkml:brush>
  </inkml:definitions>
  <inkml:trace contextRef="#ctx0" brushRef="#br0">1 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7.413"/>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8422.68359"/>
      <inkml:brushProperty name="anchorY" value="-42233.78516"/>
      <inkml:brushProperty name="scaleFactor" value="0.5"/>
    </inkml:brush>
  </inkml:definitions>
  <inkml:trace contextRef="#ctx0" brushRef="#br0">1 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7.613"/>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9692.68359"/>
      <inkml:brushProperty name="anchorY" value="-43503.78516"/>
      <inkml:brushProperty name="scaleFactor" value="0.5"/>
    </inkml:brush>
  </inkml:definitions>
  <inkml:trace contextRef="#ctx0" brushRef="#br0">1 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7.80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0962.68359"/>
      <inkml:brushProperty name="anchorY" value="-44773.78516"/>
      <inkml:brushProperty name="scaleFactor" value="0.5"/>
    </inkml:brush>
  </inkml:definitions>
  <inkml:trace contextRef="#ctx0" brushRef="#br0">1 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8.00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2232.68359"/>
      <inkml:brushProperty name="anchorY" value="-46043.78516"/>
      <inkml:brushProperty name="scaleFactor" value="0.5"/>
    </inkml:brush>
  </inkml:definitions>
  <inkml:trace contextRef="#ctx0" brushRef="#br0">1 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8.498"/>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3502.68359"/>
      <inkml:brushProperty name="anchorY" value="-47313.78516"/>
      <inkml:brushProperty name="scaleFactor" value="0.5"/>
    </inkml:brush>
  </inkml:definitions>
  <inkml:trace contextRef="#ctx0" brushRef="#br0">20 0,'0'0,"-9"0,-2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8.71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2213.22266"/>
      <inkml:brushProperty name="anchorY" value="-46043.78516"/>
      <inkml:brushProperty name="scaleFactor" value="0.5"/>
    </inkml:brush>
  </inkml:definitions>
  <inkml:trace contextRef="#ctx0" brushRef="#br0">1 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9.098"/>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3483.22266"/>
      <inkml:brushProperty name="anchorY" value="-47313.78516"/>
      <inkml:brushProperty name="scaleFactor" value="0.5"/>
    </inkml:brush>
  </inkml:definitions>
  <inkml:trace contextRef="#ctx0" brushRef="#br0">1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9.47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4753.22266"/>
      <inkml:brushProperty name="anchorY" value="-48583.78516"/>
      <inkml:brushProperty name="scaleFactor" value="0.5"/>
    </inkml:brush>
  </inkml:definitions>
  <inkml:trace contextRef="#ctx0" brushRef="#br0">1 1,'0'0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49.77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6023.22266"/>
      <inkml:brushProperty name="anchorY" value="-49853.78516"/>
      <inkml:brushProperty name="scaleFactor" value="0.5"/>
    </inkml:brush>
  </inkml:definitions>
  <inkml:trace contextRef="#ctx0" brushRef="#br0">0 1,'0'0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4:50.25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7293.22266"/>
      <inkml:brushProperty name="anchorY" value="-51123.78516"/>
      <inkml:brushProperty name="scaleFactor" value="0.5"/>
    </inkml:brush>
  </inkml:definitions>
  <inkml:trace contextRef="#ctx0" brushRef="#br0">1 1,'0'0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1.950"/>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238.05078"/>
      <inkml:brushProperty name="anchorY" value="-6503.90771"/>
      <inkml:brushProperty name="scaleFactor" value="0.5"/>
    </inkml:brush>
  </inkml:definitions>
  <inkml:trace contextRef="#ctx0" brushRef="#br0">1 1,'0'0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2.41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4968.05078"/>
      <inkml:brushProperty name="anchorY" value="-7773.90771"/>
      <inkml:brushProperty name="scaleFactor" value="0.5"/>
    </inkml:brush>
  </inkml:definitions>
  <inkml:trace contextRef="#ctx0" brushRef="#br0">0 1,'0'0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2.70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698.05078"/>
      <inkml:brushProperty name="anchorY" value="-9043.9082"/>
      <inkml:brushProperty name="scaleFactor" value="0.5"/>
    </inkml:brush>
  </inkml:definitions>
  <inkml:trace contextRef="#ctx0" brushRef="#br0">0 1,'0'0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3.50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428.05078"/>
      <inkml:brushProperty name="anchorY" value="-10313.9082"/>
      <inkml:brushProperty name="scaleFactor" value="0.5"/>
    </inkml:brush>
  </inkml:definitions>
  <inkml:trace contextRef="#ctx0" brushRef="#br0">0 1,'0'0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3.689"/>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58.05066"/>
      <inkml:brushProperty name="anchorY" value="-11583.9082"/>
      <inkml:brushProperty name="scaleFactor" value="0.5"/>
    </inkml:brush>
  </inkml:definitions>
  <inkml:trace contextRef="#ctx0" brushRef="#br0">0 1,'0'0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4.617"/>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11.94933"/>
      <inkml:brushProperty name="anchorY" value="-12853.9082"/>
      <inkml:brushProperty name="scaleFactor" value="0.5"/>
    </inkml:brush>
  </inkml:definitions>
  <inkml:trace contextRef="#ctx0" brushRef="#br0">1 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5.213"/>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1381.94934"/>
      <inkml:brushProperty name="anchorY" value="-14123.90918"/>
      <inkml:brushProperty name="scaleFactor" value="0.5"/>
    </inkml:brush>
  </inkml:definitions>
  <inkml:trace contextRef="#ctx0" brushRef="#br0">1 0,'0'0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5.42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2651.94946"/>
      <inkml:brushProperty name="anchorY" value="-15393.90918"/>
      <inkml:brushProperty name="scaleFactor" value="0.5"/>
    </inkml:brush>
  </inkml:definitions>
  <inkml:trace contextRef="#ctx0" brushRef="#br0">1 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3:45.791"/>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3921.94946"/>
      <inkml:brushProperty name="anchorY" value="-16663.9082"/>
      <inkml:brushProperty name="scaleFactor" value="0.5"/>
    </inkml:brush>
  </inkml:definitions>
  <inkml:trace contextRef="#ctx0" brushRef="#br0">1 0,'0'0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7:13.42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2585.29688"/>
      <inkml:brushProperty name="anchorY" value="-76459.82813"/>
      <inkml:brushProperty name="scaleFactor" value="0.5"/>
    </inkml:brush>
  </inkml:definitions>
  <inkml:trace contextRef="#ctx0" brushRef="#br0">1 0,'0'0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7:14.06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3855.29688"/>
      <inkml:brushProperty name="anchorY" value="-77729.82813"/>
      <inkml:brushProperty name="scaleFactor" value="0.5"/>
    </inkml:brush>
  </inkml:definitions>
  <inkml:trace contextRef="#ctx0" brushRef="#br0">1 1,'0'0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7:13.426"/>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2585.29688"/>
      <inkml:brushProperty name="anchorY" value="-76459.82813"/>
      <inkml:brushProperty name="scaleFactor" value="0.5"/>
    </inkml:brush>
  </inkml:definitions>
  <inkml:trace contextRef="#ctx0" brushRef="#br0">1 0,'0'0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7:57:14.065"/>
    </inkml:context>
    <inkml:brush xml:id="br0">
      <inkml:brushProperty name="width" value="0.05" units="cm"/>
      <inkml:brushProperty name="height" value="0.05" units="cm"/>
      <inkml:brushProperty name="color" value="#EEB3A6"/>
      <inkml:brushProperty name="ignorePressure" value="1"/>
      <inkml:brushProperty name="inkEffects" value="rosegold"/>
      <inkml:brushProperty name="anchorX" value="-63855.29688"/>
      <inkml:brushProperty name="anchorY" value="-77729.82813"/>
      <inkml:brushProperty name="scaleFactor" value="0.5"/>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1416C-0C94-4347-BEE5-16334176E4E3}" type="datetimeFigureOut">
              <a:rPr lang="en-US" smtClean="0"/>
              <a:t>05-Dec-21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Lecture 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DAB20-FECD-48F0-A350-11C52BC51AEC}" type="slidenum">
              <a:rPr lang="en-US" smtClean="0"/>
              <a:t>‹#›</a:t>
            </a:fld>
            <a:endParaRPr lang="en-US"/>
          </a:p>
        </p:txBody>
      </p:sp>
    </p:spTree>
    <p:extLst>
      <p:ext uri="{BB962C8B-B14F-4D97-AF65-F5344CB8AC3E}">
        <p14:creationId xmlns:p14="http://schemas.microsoft.com/office/powerpoint/2010/main" val="199486870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t>Lecture 1</a:t>
            </a:r>
          </a:p>
        </p:txBody>
      </p:sp>
      <p:sp>
        <p:nvSpPr>
          <p:cNvPr id="5" name="Slide Number Placeholder 4"/>
          <p:cNvSpPr>
            <a:spLocks noGrp="1"/>
          </p:cNvSpPr>
          <p:nvPr>
            <p:ph type="sldNum" sz="quarter" idx="11"/>
          </p:nvPr>
        </p:nvSpPr>
        <p:spPr/>
        <p:txBody>
          <a:bodyPr/>
          <a:lstStyle/>
          <a:p>
            <a:fld id="{DDBDAB20-FECD-48F0-A350-11C52BC51AEC}" type="slidenum">
              <a:rPr lang="en-US" smtClean="0"/>
              <a:t>1</a:t>
            </a:fld>
            <a:endParaRPr lang="en-US"/>
          </a:p>
        </p:txBody>
      </p:sp>
    </p:spTree>
    <p:extLst>
      <p:ext uri="{BB962C8B-B14F-4D97-AF65-F5344CB8AC3E}">
        <p14:creationId xmlns:p14="http://schemas.microsoft.com/office/powerpoint/2010/main" val="1801349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digital computer?</a:t>
            </a:r>
            <a:r>
              <a:rPr lang="en-US" baseline="0" dirty="0"/>
              <a:t> Examples where we can use this thing.</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E03ABA-567C-4E7A-9095-3D9C26910DB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0993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Motivation of the Boolean Algebra </a:t>
            </a:r>
            <a:r>
              <a:rPr lang="en-US" dirty="0"/>
              <a:t>– to making the existing circuit cheaper, simpler but equivalent to save huge cost of the design – this concept will help a student to understand the purpose of the algorithms used by software for optimization of complex circuits</a:t>
            </a:r>
          </a:p>
        </p:txBody>
      </p:sp>
      <p:sp>
        <p:nvSpPr>
          <p:cNvPr id="4" name="Slide Number Placeholder 3"/>
          <p:cNvSpPr>
            <a:spLocks noGrp="1"/>
          </p:cNvSpPr>
          <p:nvPr>
            <p:ph type="sldNum" sz="quarter" idx="10"/>
          </p:nvPr>
        </p:nvSpPr>
        <p:spPr/>
        <p:txBody>
          <a:bodyPr/>
          <a:lstStyle/>
          <a:p>
            <a:fld id="{DDBDAB20-FECD-48F0-A350-11C52BC51AEC}" type="slidenum">
              <a:rPr lang="en-US" smtClean="0"/>
              <a:t>3</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328534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4</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754140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set does not contain 0. </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5</a:t>
            </a:fld>
            <a:endParaRPr lang="en-US"/>
          </a:p>
        </p:txBody>
      </p:sp>
    </p:spTree>
    <p:extLst>
      <p:ext uri="{BB962C8B-B14F-4D97-AF65-F5344CB8AC3E}">
        <p14:creationId xmlns:p14="http://schemas.microsoft.com/office/powerpoint/2010/main" val="2822373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of the real number is the basis for arithmetic and ordinary algebra.</a:t>
            </a:r>
          </a:p>
          <a:p>
            <a:r>
              <a:rPr lang="en-US" dirty="0"/>
              <a:t>Verification can be done step by step following all the basic definitions and postulates mentioned in the previous slides</a:t>
            </a:r>
          </a:p>
        </p:txBody>
      </p:sp>
      <p:sp>
        <p:nvSpPr>
          <p:cNvPr id="4" name="Slide Number Placeholder 3"/>
          <p:cNvSpPr>
            <a:spLocks noGrp="1"/>
          </p:cNvSpPr>
          <p:nvPr>
            <p:ph type="sldNum" sz="quarter" idx="10"/>
          </p:nvPr>
        </p:nvSpPr>
        <p:spPr/>
        <p:txBody>
          <a:bodyPr/>
          <a:lstStyle/>
          <a:p>
            <a:fld id="{DDBDAB20-FECD-48F0-A350-11C52BC51AEC}" type="slidenum">
              <a:rPr lang="en-US" smtClean="0"/>
              <a:t>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05369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8</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967878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Huntington postulates are little bit different from the common postulates of any algebraic structure</a:t>
            </a:r>
          </a:p>
        </p:txBody>
      </p:sp>
      <p:sp>
        <p:nvSpPr>
          <p:cNvPr id="4" name="Slide Number Placeholder 3"/>
          <p:cNvSpPr>
            <a:spLocks noGrp="1"/>
          </p:cNvSpPr>
          <p:nvPr>
            <p:ph type="sldNum" sz="quarter" idx="10"/>
          </p:nvPr>
        </p:nvSpPr>
        <p:spPr/>
        <p:txBody>
          <a:bodyPr/>
          <a:lstStyle/>
          <a:p>
            <a:fld id="{DDBDAB20-FECD-48F0-A350-11C52BC51AEC}" type="slidenum">
              <a:rPr lang="en-US" smtClean="0"/>
              <a:t>9</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553250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10</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288005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t>
            </a:r>
            <a:r>
              <a:rPr lang="en-US" b="1" dirty="0"/>
              <a:t>Binary number set </a:t>
            </a:r>
            <a:r>
              <a:rPr lang="en-US" dirty="0"/>
              <a:t>is also an infinite set of elements which is different from </a:t>
            </a:r>
            <a:r>
              <a:rPr lang="en-US" b="1" dirty="0"/>
              <a:t>Boolean algebra </a:t>
            </a:r>
          </a:p>
          <a:p>
            <a:r>
              <a:rPr lang="en-US" b="1" dirty="0"/>
              <a:t>Point to be noted: </a:t>
            </a:r>
            <a:r>
              <a:rPr lang="en-US" dirty="0"/>
              <a:t>One should not substitute the rules of ordinary algebra by the Boolean algebra where it is not applicable </a:t>
            </a:r>
          </a:p>
          <a:p>
            <a:r>
              <a:rPr lang="en-US" dirty="0"/>
              <a:t>One should sincerely differentiate the </a:t>
            </a:r>
            <a:r>
              <a:rPr lang="en-US" b="1" dirty="0"/>
              <a:t>elements </a:t>
            </a:r>
            <a:r>
              <a:rPr lang="en-US" dirty="0"/>
              <a:t>of the set </a:t>
            </a:r>
            <a:r>
              <a:rPr lang="en-US" b="1" i="1" dirty="0"/>
              <a:t>B </a:t>
            </a:r>
            <a:r>
              <a:rPr lang="en-US" dirty="0"/>
              <a:t>(0 and 1) and </a:t>
            </a:r>
            <a:r>
              <a:rPr lang="en-US" b="1" dirty="0"/>
              <a:t>variables </a:t>
            </a:r>
            <a:r>
              <a:rPr lang="en-US" dirty="0"/>
              <a:t>of the system (</a:t>
            </a:r>
            <a:r>
              <a:rPr lang="en-US" dirty="0" err="1"/>
              <a:t>a,b,c</a:t>
            </a:r>
            <a:r>
              <a:rPr lang="en-US" dirty="0"/>
              <a:t>, …)</a:t>
            </a:r>
          </a:p>
        </p:txBody>
      </p:sp>
      <p:sp>
        <p:nvSpPr>
          <p:cNvPr id="4" name="Slide Number Placeholder 3"/>
          <p:cNvSpPr>
            <a:spLocks noGrp="1"/>
          </p:cNvSpPr>
          <p:nvPr>
            <p:ph type="sldNum" sz="quarter" idx="10"/>
          </p:nvPr>
        </p:nvSpPr>
        <p:spPr/>
        <p:txBody>
          <a:bodyPr/>
          <a:lstStyle/>
          <a:p>
            <a:fld id="{DDBDAB20-FECD-48F0-A350-11C52BC51AEC}" type="slidenum">
              <a:rPr lang="en-US" smtClean="0"/>
              <a:t>11</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782469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13</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389710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Postulate’s serial is started with 2,based on the Huntington postulates from slide 8, so that number is followed here for further use in proofs. </a:t>
            </a:r>
          </a:p>
          <a:p>
            <a:r>
              <a:rPr lang="en-US" dirty="0"/>
              <a:t>In the list, each expression is the dual with its pair.</a:t>
            </a:r>
          </a:p>
          <a:p>
            <a:r>
              <a:rPr lang="en-US" dirty="0"/>
              <a:t>The </a:t>
            </a:r>
            <a:r>
              <a:rPr lang="en-US" b="1" dirty="0"/>
              <a:t>postulates </a:t>
            </a:r>
            <a:r>
              <a:rPr lang="en-US" dirty="0"/>
              <a:t>are basic axioms which need no proof (treated as truth)</a:t>
            </a:r>
          </a:p>
          <a:p>
            <a:r>
              <a:rPr lang="en-US" dirty="0"/>
              <a:t>The </a:t>
            </a:r>
            <a:r>
              <a:rPr lang="en-US" b="1" dirty="0"/>
              <a:t>theorems </a:t>
            </a:r>
            <a:r>
              <a:rPr lang="en-US" dirty="0"/>
              <a:t>must be proven by the postulates </a:t>
            </a:r>
          </a:p>
        </p:txBody>
      </p:sp>
      <p:sp>
        <p:nvSpPr>
          <p:cNvPr id="4" name="Slide Number Placeholder 3"/>
          <p:cNvSpPr>
            <a:spLocks noGrp="1"/>
          </p:cNvSpPr>
          <p:nvPr>
            <p:ph type="sldNum" sz="quarter" idx="10"/>
          </p:nvPr>
        </p:nvSpPr>
        <p:spPr/>
        <p:txBody>
          <a:bodyPr/>
          <a:lstStyle/>
          <a:p>
            <a:fld id="{DDBDAB20-FECD-48F0-A350-11C52BC51AEC}" type="slidenum">
              <a:rPr lang="en-US" smtClean="0"/>
              <a:t>14</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456586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15</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4082934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16</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855010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703359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18</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483716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19</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076531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20</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547562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Absorption law is shown to be verified here again with truth table </a:t>
            </a:r>
          </a:p>
        </p:txBody>
      </p:sp>
      <p:sp>
        <p:nvSpPr>
          <p:cNvPr id="4" name="Slide Number Placeholder 3"/>
          <p:cNvSpPr>
            <a:spLocks noGrp="1"/>
          </p:cNvSpPr>
          <p:nvPr>
            <p:ph type="sldNum" sz="quarter" idx="10"/>
          </p:nvPr>
        </p:nvSpPr>
        <p:spPr/>
        <p:txBody>
          <a:bodyPr/>
          <a:lstStyle/>
          <a:p>
            <a:fld id="{DDBDAB20-FECD-48F0-A350-11C52BC51AEC}" type="slidenum">
              <a:rPr lang="en-US" smtClean="0"/>
              <a:t>21</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129975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Ordinary arithmetic</a:t>
            </a:r>
            <a:r>
              <a:rPr lang="en-US" dirty="0"/>
              <a:t> follows almost same precedence except complement and here AND </a:t>
            </a:r>
            <a:r>
              <a:rPr lang="en-US" dirty="0" err="1"/>
              <a:t>and</a:t>
            </a:r>
            <a:r>
              <a:rPr lang="en-US" dirty="0"/>
              <a:t> OR have to replaced by the multiplication and addition respectively.  </a:t>
            </a:r>
          </a:p>
        </p:txBody>
      </p:sp>
      <p:sp>
        <p:nvSpPr>
          <p:cNvPr id="4" name="Slide Number Placeholder 3"/>
          <p:cNvSpPr>
            <a:spLocks noGrp="1"/>
          </p:cNvSpPr>
          <p:nvPr>
            <p:ph type="sldNum" sz="quarter" idx="10"/>
          </p:nvPr>
        </p:nvSpPr>
        <p:spPr/>
        <p:txBody>
          <a:bodyPr/>
          <a:lstStyle/>
          <a:p>
            <a:fld id="{DDBDAB20-FECD-48F0-A350-11C52BC51AEC}" type="slidenum">
              <a:rPr lang="en-US" smtClean="0"/>
              <a:t>22</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149762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 could be rewritten as AB’C and can be detected in Venn diagram. Each term can be rewritten in different ways following the Boolean logic</a:t>
            </a:r>
          </a:p>
        </p:txBody>
      </p:sp>
      <p:sp>
        <p:nvSpPr>
          <p:cNvPr id="4" name="Slide Number Placeholder 3"/>
          <p:cNvSpPr>
            <a:spLocks noGrp="1"/>
          </p:cNvSpPr>
          <p:nvPr>
            <p:ph type="sldNum" sz="quarter" idx="10"/>
          </p:nvPr>
        </p:nvSpPr>
        <p:spPr/>
        <p:txBody>
          <a:bodyPr/>
          <a:lstStyle/>
          <a:p>
            <a:fld id="{DDBDAB20-FECD-48F0-A350-11C52BC51AEC}" type="slidenum">
              <a:rPr lang="en-US" smtClean="0"/>
              <a:t>23</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920192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truth table can be given from previous slide about proof of theorems using truth table</a:t>
            </a:r>
          </a:p>
        </p:txBody>
      </p:sp>
      <p:sp>
        <p:nvSpPr>
          <p:cNvPr id="4" name="Slide Number Placeholder 3"/>
          <p:cNvSpPr>
            <a:spLocks noGrp="1"/>
          </p:cNvSpPr>
          <p:nvPr>
            <p:ph type="sldNum" sz="quarter" idx="10"/>
          </p:nvPr>
        </p:nvSpPr>
        <p:spPr/>
        <p:txBody>
          <a:bodyPr/>
          <a:lstStyle/>
          <a:p>
            <a:fld id="{DDBDAB20-FECD-48F0-A350-11C52BC51AEC}" type="slidenum">
              <a:rPr lang="en-US" smtClean="0"/>
              <a:t>24</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487511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25</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991989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26</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536894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27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811298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Reformation means alternative representation </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28</a:t>
            </a:fld>
            <a:endParaRPr lang="en-US"/>
          </a:p>
        </p:txBody>
      </p:sp>
    </p:spTree>
    <p:extLst>
      <p:ext uri="{BB962C8B-B14F-4D97-AF65-F5344CB8AC3E}">
        <p14:creationId xmlns:p14="http://schemas.microsoft.com/office/powerpoint/2010/main" val="1094755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 forms of the function, F</a:t>
            </a:r>
            <a:r>
              <a:rPr lang="en-US" baseline="-25000" dirty="0"/>
              <a:t>1</a:t>
            </a:r>
            <a:r>
              <a:rPr lang="en-US" dirty="0"/>
              <a:t> and F</a:t>
            </a:r>
            <a:r>
              <a:rPr lang="en-US" baseline="-25000" dirty="0"/>
              <a:t>2</a:t>
            </a:r>
            <a:r>
              <a:rPr lang="en-US" dirty="0"/>
              <a:t> have produced same truth table which confirms the equivalence between them </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29</a:t>
            </a:fld>
            <a:endParaRPr lang="en-US"/>
          </a:p>
        </p:txBody>
      </p:sp>
    </p:spTree>
    <p:extLst>
      <p:ext uri="{BB962C8B-B14F-4D97-AF65-F5344CB8AC3E}">
        <p14:creationId xmlns:p14="http://schemas.microsoft.com/office/powerpoint/2010/main" val="3649738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Cut-and-try </a:t>
            </a:r>
            <a:r>
              <a:rPr lang="en-US" dirty="0"/>
              <a:t>=manual method based on basic relations and manipulation techniques </a:t>
            </a:r>
            <a:r>
              <a:rPr lang="en-US" b="1" dirty="0"/>
              <a:t>but </a:t>
            </a:r>
            <a:r>
              <a:rPr lang="en-US" dirty="0"/>
              <a:t>subject to human-error-prone to manipulate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computer minimization programs </a:t>
            </a:r>
            <a:r>
              <a:rPr lang="en-US" dirty="0"/>
              <a:t>– its framework of different tools is based on concept of Boolean algebra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K-map </a:t>
            </a:r>
            <a:r>
              <a:rPr lang="en-US" dirty="0"/>
              <a:t>– drawing method</a:t>
            </a:r>
          </a:p>
          <a:p>
            <a:endParaRPr lang="en-US" dirty="0"/>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30</a:t>
            </a:fld>
            <a:endParaRPr lang="en-US"/>
          </a:p>
        </p:txBody>
      </p:sp>
    </p:spTree>
    <p:extLst>
      <p:ext uri="{BB962C8B-B14F-4D97-AF65-F5344CB8AC3E}">
        <p14:creationId xmlns:p14="http://schemas.microsoft.com/office/powerpoint/2010/main" val="38454771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Dual: </a:t>
            </a:r>
            <a:r>
              <a:rPr lang="en-US" dirty="0"/>
              <a:t>For any Boolean expression, interchange OR and </a:t>
            </a:r>
            <a:r>
              <a:rPr lang="en-US" dirty="0" err="1"/>
              <a:t>AND</a:t>
            </a:r>
            <a:r>
              <a:rPr lang="en-US" dirty="0"/>
              <a:t> operators and replace 1s by 0s and 0s by 1s.</a:t>
            </a:r>
          </a:p>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32</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833323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try to complement those functions using their duals and complement of each literals </a:t>
            </a:r>
          </a:p>
        </p:txBody>
      </p:sp>
      <p:sp>
        <p:nvSpPr>
          <p:cNvPr id="4" name="Slide Number Placeholder 3"/>
          <p:cNvSpPr>
            <a:spLocks noGrp="1"/>
          </p:cNvSpPr>
          <p:nvPr>
            <p:ph type="sldNum" sz="quarter" idx="10"/>
          </p:nvPr>
        </p:nvSpPr>
        <p:spPr/>
        <p:txBody>
          <a:bodyPr/>
          <a:lstStyle/>
          <a:p>
            <a:fld id="{DDBDAB20-FECD-48F0-A350-11C52BC51AEC}" type="slidenum">
              <a:rPr lang="en-US" smtClean="0"/>
              <a:t>33</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4144770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34</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698358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35</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6989430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Basically, this complement is true if we follow the De Morgan’s law:</a:t>
                </a:r>
              </a:p>
              <a:p>
                <a:pPr/>
                <a:r>
                  <a:rPr lang="en-US" dirty="0"/>
                  <a:t>	</a:t>
                </a:r>
                <a:r>
                  <a:rPr lang="en-US" i="0" dirty="0">
                    <a:latin typeface="+mj-lt"/>
                  </a:rPr>
                  <a:t>	</a:t>
                </a:r>
                <a14:m>
                  <m:oMath xmlns:m="http://schemas.openxmlformats.org/officeDocument/2006/math">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𝑏</m:t>
                    </m:r>
                    <m:r>
                      <a:rPr lang="en-US" i="1" dirty="0" smtClean="0">
                        <a:latin typeface="Cambria Math" panose="02040503050406030204" pitchFamily="18" charset="0"/>
                      </a:rPr>
                      <m:t>’</m:t>
                    </m:r>
                    <m:r>
                      <a:rPr lang="en-US" i="1" dirty="0" smtClean="0">
                        <a:latin typeface="Cambria Math" panose="02040503050406030204" pitchFamily="18" charset="0"/>
                      </a:rPr>
                      <m:t>𝑐</m:t>
                    </m:r>
                    <m:r>
                      <a:rPr lang="en-US" i="1" dirty="0" smtClean="0">
                        <a:latin typeface="Cambria Math" panose="02040503050406030204" pitchFamily="18" charset="0"/>
                      </a:rPr>
                      <m:t>’ = (</m:t>
                    </m:r>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𝑏</m:t>
                    </m:r>
                    <m:r>
                      <a:rPr lang="en-US" i="1" dirty="0" smtClean="0">
                        <a:latin typeface="Cambria Math" panose="02040503050406030204" pitchFamily="18" charset="0"/>
                      </a:rPr>
                      <m:t>+</m:t>
                    </m:r>
                    <m:r>
                      <a:rPr lang="en-US" i="1" dirty="0" smtClean="0">
                        <a:latin typeface="Cambria Math" panose="02040503050406030204" pitchFamily="18" charset="0"/>
                      </a:rPr>
                      <m:t>𝑐</m:t>
                    </m:r>
                    <m:r>
                      <a:rPr lang="en-US" i="1" dirty="0" smtClean="0">
                        <a:latin typeface="Cambria Math" panose="02040503050406030204" pitchFamily="18" charset="0"/>
                      </a:rPr>
                      <m:t>)’</m:t>
                    </m:r>
                  </m:oMath>
                </a14:m>
                <a:endParaRPr lang="en-US" dirty="0"/>
              </a:p>
            </p:txBody>
          </p:sp>
        </mc:Choice>
        <mc:Fallback>
          <p:sp>
            <p:nvSpPr>
              <p:cNvPr id="3" name="Notes Placeholder 2"/>
              <p:cNvSpPr>
                <a:spLocks noGrp="1"/>
              </p:cNvSpPr>
              <p:nvPr>
                <p:ph type="body" idx="1"/>
              </p:nvPr>
            </p:nvSpPr>
            <p:spPr/>
            <p:txBody>
              <a:bodyPr/>
              <a:lstStyle/>
              <a:p>
                <a:r>
                  <a:rPr lang="en-US" dirty="0"/>
                  <a:t>Basically, this complement is true if we follow the De Morgan’s law:</a:t>
                </a:r>
              </a:p>
              <a:p>
                <a:pPr/>
                <a:r>
                  <a:rPr lang="en-US" dirty="0"/>
                  <a:t>	</a:t>
                </a:r>
                <a:r>
                  <a:rPr lang="en-US" i="0" dirty="0">
                    <a:latin typeface="+mj-lt"/>
                  </a:rPr>
                  <a:t>	</a:t>
                </a:r>
                <a:r>
                  <a:rPr lang="en-US" i="0" dirty="0">
                    <a:latin typeface="Cambria Math" panose="02040503050406030204" pitchFamily="18" charset="0"/>
                  </a:rPr>
                  <a:t>𝑎’𝑏’𝑐’ = (𝑎+𝑏+𝑐)’</a:t>
                </a:r>
                <a:endParaRPr lang="en-US" dirty="0"/>
              </a:p>
            </p:txBody>
          </p:sp>
        </mc:Fallback>
      </mc:AlternateContent>
      <p:sp>
        <p:nvSpPr>
          <p:cNvPr id="4" name="Slide Number Placeholder 3"/>
          <p:cNvSpPr>
            <a:spLocks noGrp="1"/>
          </p:cNvSpPr>
          <p:nvPr>
            <p:ph type="sldNum" sz="quarter" idx="10"/>
          </p:nvPr>
        </p:nvSpPr>
        <p:spPr/>
        <p:txBody>
          <a:bodyPr/>
          <a:lstStyle/>
          <a:p>
            <a:fld id="{DDBDAB20-FECD-48F0-A350-11C52BC51AEC}" type="slidenum">
              <a:rPr lang="en-US" smtClean="0"/>
              <a:t>36</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41798174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37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9738851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0" u="none" dirty="0"/>
                  <a:t>sum of minterms = </a:t>
                </a:r>
                <a14:m>
                  <m:oMath xmlns:m="http://schemas.openxmlformats.org/officeDocument/2006/math">
                    <m:nary>
                      <m:naryPr>
                        <m:chr m:val="∑"/>
                        <m:subHide m:val="on"/>
                        <m:supHide m:val="on"/>
                        <m:ctrlPr>
                          <a:rPr lang="en-US" b="1" i="1" u="none" smtClean="0">
                            <a:latin typeface="Cambria Math" panose="02040503050406030204" pitchFamily="18" charset="0"/>
                          </a:rPr>
                        </m:ctrlPr>
                      </m:naryPr>
                      <m:sub/>
                      <m:sup/>
                      <m:e>
                        <m:r>
                          <a:rPr lang="en-US" b="1" i="1" u="none" smtClean="0">
                            <a:latin typeface="Cambria Math" panose="02040503050406030204" pitchFamily="18" charset="0"/>
                          </a:rPr>
                          <m:t>𝒎</m:t>
                        </m:r>
                        <m:r>
                          <a:rPr lang="en-US" b="1" i="1" u="none" baseline="-25000" smtClean="0">
                            <a:latin typeface="Cambria Math" panose="02040503050406030204" pitchFamily="18" charset="0"/>
                          </a:rPr>
                          <m:t>𝒋</m:t>
                        </m:r>
                      </m:e>
                    </m:nary>
                  </m:oMath>
                </a14:m>
                <a:endParaRPr lang="en-US" b="1" u="none" dirty="0"/>
              </a:p>
            </p:txBody>
          </p:sp>
        </mc:Choice>
        <mc:Fallback xmlns="">
          <p:sp>
            <p:nvSpPr>
              <p:cNvPr id="3" name="Notes Placeholder 2"/>
              <p:cNvSpPr>
                <a:spLocks noGrp="1"/>
              </p:cNvSpPr>
              <p:nvPr>
                <p:ph type="body" idx="1"/>
              </p:nvPr>
            </p:nvSpPr>
            <p:spPr/>
            <p:txBody>
              <a:bodyPr/>
              <a:lstStyle/>
              <a:p>
                <a:r>
                  <a:rPr lang="en-US" b="0" u="none" dirty="0"/>
                  <a:t>sum of minterms = </a:t>
                </a:r>
                <a:r>
                  <a:rPr lang="en-US" b="1" i="0" u="none">
                    <a:latin typeface="Cambria Math" panose="02040503050406030204" pitchFamily="18" charset="0"/>
                  </a:rPr>
                  <a:t>∑▒𝒎</a:t>
                </a:r>
                <a:r>
                  <a:rPr lang="en-US" b="1" i="0" u="none" baseline="-25000">
                    <a:latin typeface="Cambria Math" panose="02040503050406030204" pitchFamily="18" charset="0"/>
                  </a:rPr>
                  <a:t>𝒋</a:t>
                </a:r>
                <a:endParaRPr lang="en-US" b="1" u="none" dirty="0"/>
              </a:p>
            </p:txBody>
          </p:sp>
        </mc:Fallback>
      </mc:AlternateContent>
      <p:sp>
        <p:nvSpPr>
          <p:cNvPr id="4" name="Slide Number Placeholder 3"/>
          <p:cNvSpPr>
            <a:spLocks noGrp="1"/>
          </p:cNvSpPr>
          <p:nvPr>
            <p:ph type="sldNum" sz="quarter" idx="10"/>
          </p:nvPr>
        </p:nvSpPr>
        <p:spPr/>
        <p:txBody>
          <a:bodyPr/>
          <a:lstStyle/>
          <a:p>
            <a:fld id="{DDBDAB20-FECD-48F0-A350-11C52BC51AEC}" type="slidenum">
              <a:rPr lang="en-US" smtClean="0"/>
              <a:t>38</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676168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39</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4598239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u="none" dirty="0"/>
                  <a:t>Product of maxterms = </a:t>
                </a:r>
                <a14:m>
                  <m:oMath xmlns:m="http://schemas.openxmlformats.org/officeDocument/2006/math">
                    <m:nary>
                      <m:naryPr>
                        <m:chr m:val="∏"/>
                        <m:subHide m:val="on"/>
                        <m:supHide m:val="on"/>
                        <m:ctrlPr>
                          <a:rPr lang="en-US" b="1" i="1" u="none" smtClean="0">
                            <a:latin typeface="Cambria Math" panose="02040503050406030204" pitchFamily="18" charset="0"/>
                          </a:rPr>
                        </m:ctrlPr>
                      </m:naryPr>
                      <m:sub/>
                      <m:sup/>
                      <m:e>
                        <m:r>
                          <a:rPr lang="en-US" b="1" i="1" u="none" smtClean="0">
                            <a:latin typeface="Cambria Math" panose="02040503050406030204" pitchFamily="18" charset="0"/>
                          </a:rPr>
                          <m:t>𝑴</m:t>
                        </m:r>
                        <m:r>
                          <a:rPr lang="en-US" b="1" i="1" u="none" baseline="-25000" smtClean="0">
                            <a:latin typeface="Cambria Math" panose="02040503050406030204" pitchFamily="18" charset="0"/>
                          </a:rPr>
                          <m:t>𝒋</m:t>
                        </m:r>
                      </m:e>
                    </m:nary>
                  </m:oMath>
                </a14:m>
                <a:endParaRPr lang="en-US" b="1" u="none" dirty="0"/>
              </a:p>
              <a:p>
                <a:r>
                  <a:rPr lang="en-US" sz="1600" b="1" dirty="0"/>
                  <a:t>Canonical form = </a:t>
                </a:r>
                <a:r>
                  <a:rPr lang="en-US" sz="1600" b="0" i="1" dirty="0"/>
                  <a:t>form according to the rule</a:t>
                </a:r>
                <a:endParaRPr lang="en-US" sz="1600" i="1"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u="none" dirty="0"/>
                  <a:t>Product of maxterms = </a:t>
                </a:r>
                <a:r>
                  <a:rPr lang="en-US" b="1" i="0" u="none">
                    <a:latin typeface="Cambria Math" panose="02040503050406030204" pitchFamily="18" charset="0"/>
                  </a:rPr>
                  <a:t>∏</a:t>
                </a:r>
                <a:r>
                  <a:rPr lang="en-US" b="1" i="0" u="none" baseline="-25000">
                    <a:latin typeface="Cambria Math" panose="02040503050406030204" pitchFamily="18" charset="0"/>
                  </a:rPr>
                  <a:t>▒</a:t>
                </a:r>
                <a:r>
                  <a:rPr lang="en-US" b="1" i="0" u="none">
                    <a:latin typeface="Cambria Math" panose="02040503050406030204" pitchFamily="18" charset="0"/>
                  </a:rPr>
                  <a:t>𝑴</a:t>
                </a:r>
                <a:r>
                  <a:rPr lang="en-US" b="1" i="0" u="none" baseline="-25000">
                    <a:latin typeface="Cambria Math" panose="02040503050406030204" pitchFamily="18" charset="0"/>
                  </a:rPr>
                  <a:t>𝒋</a:t>
                </a:r>
                <a:endParaRPr lang="en-US" b="1" u="none" dirty="0"/>
              </a:p>
              <a:p>
                <a:r>
                  <a:rPr lang="en-US" b="1" dirty="0"/>
                  <a:t>Canonical form = </a:t>
                </a:r>
                <a:r>
                  <a:rPr lang="en-US" b="0" dirty="0"/>
                  <a:t>form according to the rule</a:t>
                </a:r>
                <a:endParaRPr lang="en-US" dirty="0"/>
              </a:p>
            </p:txBody>
          </p:sp>
        </mc:Fallback>
      </mc:AlternateContent>
      <p:sp>
        <p:nvSpPr>
          <p:cNvPr id="4" name="Slide Number Placeholder 3"/>
          <p:cNvSpPr>
            <a:spLocks noGrp="1"/>
          </p:cNvSpPr>
          <p:nvPr>
            <p:ph type="sldNum" sz="quarter" idx="10"/>
          </p:nvPr>
        </p:nvSpPr>
        <p:spPr/>
        <p:txBody>
          <a:bodyPr/>
          <a:lstStyle/>
          <a:p>
            <a:fld id="{DDBDAB20-FECD-48F0-A350-11C52BC51AEC}" type="slidenum">
              <a:rPr lang="en-US" smtClean="0"/>
              <a:t>40</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5428737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notation methods are convenient to express the function </a:t>
            </a:r>
          </a:p>
          <a:p>
            <a:r>
              <a:rPr lang="en-US" dirty="0"/>
              <a:t>In second notation, </a:t>
            </a:r>
            <a:r>
              <a:rPr lang="en-US" b="1" dirty="0"/>
              <a:t>∑ </a:t>
            </a:r>
            <a:r>
              <a:rPr lang="en-US" dirty="0"/>
              <a:t>stands for</a:t>
            </a:r>
            <a:r>
              <a:rPr lang="en-US" baseline="0" dirty="0"/>
              <a:t> ORing the terms. Letters in uppercase are the order of the variables how they will be converted into ANDed terms </a:t>
            </a:r>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41</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3013962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Both of the notation methods are convenient to express the function </a:t>
                </a:r>
              </a:p>
              <a:p>
                <a:r>
                  <a:rPr lang="en-US" dirty="0"/>
                  <a:t>In second notation, </a:t>
                </a:r>
                <a14:m>
                  <m:oMath xmlns:m="http://schemas.openxmlformats.org/officeDocument/2006/math">
                    <m:nary>
                      <m:naryPr>
                        <m:chr m:val="∑"/>
                        <m:subHide m:val="on"/>
                        <m:supHide m:val="on"/>
                        <m:ctrlPr>
                          <a:rPr lang="en-US" b="1" i="1" u="none" smtClean="0">
                            <a:latin typeface="Cambria Math" panose="02040503050406030204" pitchFamily="18" charset="0"/>
                          </a:rPr>
                        </m:ctrlPr>
                      </m:naryPr>
                      <m:sub/>
                      <m:sup/>
                      <m:e/>
                    </m:nary>
                  </m:oMath>
                </a14:m>
                <a:r>
                  <a:rPr lang="en-US" dirty="0"/>
                  <a:t> stands for</a:t>
                </a:r>
                <a:r>
                  <a:rPr lang="en-US" baseline="0" dirty="0"/>
                  <a:t> ORing the terms. Letters in uppercase are the order of the variables how they will be converted into ANDed terms </a:t>
                </a:r>
                <a:endParaRPr lang="en-US" dirty="0"/>
              </a:p>
            </p:txBody>
          </p:sp>
        </mc:Choice>
        <mc:Fallback xmlns="">
          <p:sp>
            <p:nvSpPr>
              <p:cNvPr id="3" name="Notes Placeholder 2"/>
              <p:cNvSpPr>
                <a:spLocks noGrp="1"/>
              </p:cNvSpPr>
              <p:nvPr>
                <p:ph type="body" idx="1"/>
              </p:nvPr>
            </p:nvSpPr>
            <p:spPr/>
            <p:txBody>
              <a:bodyPr/>
              <a:lstStyle/>
              <a:p>
                <a:r>
                  <a:rPr lang="en-US" dirty="0"/>
                  <a:t>Both of the notation methods are convenient to express the function </a:t>
                </a:r>
              </a:p>
              <a:p>
                <a:r>
                  <a:rPr lang="en-US" dirty="0"/>
                  <a:t>In second notation, </a:t>
                </a:r>
                <a:r>
                  <a:rPr lang="en-US" b="1" i="0" u="none">
                    <a:latin typeface="Cambria Math" panose="02040503050406030204" pitchFamily="18" charset="0"/>
                  </a:rPr>
                  <a:t>∑</a:t>
                </a:r>
                <a:r>
                  <a:rPr lang="en-US" dirty="0"/>
                  <a:t> stands for</a:t>
                </a:r>
                <a:r>
                  <a:rPr lang="en-US" baseline="0" dirty="0"/>
                  <a:t> </a:t>
                </a:r>
                <a:r>
                  <a:rPr lang="en-US" baseline="0" dirty="0" err="1"/>
                  <a:t>ORing</a:t>
                </a:r>
                <a:r>
                  <a:rPr lang="en-US" baseline="0" dirty="0"/>
                  <a:t> the terms. Letters in uppercase are the order of the variables how they will be converted into ANDed terms </a:t>
                </a:r>
                <a:endParaRPr lang="en-US" dirty="0"/>
              </a:p>
            </p:txBody>
          </p:sp>
        </mc:Fallback>
      </mc:AlternateContent>
      <p:sp>
        <p:nvSpPr>
          <p:cNvPr id="4" name="Slide Number Placeholder 3"/>
          <p:cNvSpPr>
            <a:spLocks noGrp="1"/>
          </p:cNvSpPr>
          <p:nvPr>
            <p:ph type="sldNum" sz="quarter" idx="10"/>
          </p:nvPr>
        </p:nvSpPr>
        <p:spPr/>
        <p:txBody>
          <a:bodyPr/>
          <a:lstStyle/>
          <a:p>
            <a:fld id="{DDBDAB20-FECD-48F0-A350-11C52BC51AEC}" type="slidenum">
              <a:rPr lang="en-US" smtClean="0"/>
              <a:t>42</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4785083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 notation methods are convenient to express the function </a:t>
            </a:r>
          </a:p>
          <a:p>
            <a:r>
              <a:rPr lang="en-US" dirty="0"/>
              <a:t>In second notation, </a:t>
            </a:r>
            <a:r>
              <a:rPr lang="en-US" b="1" dirty="0"/>
              <a:t>∏ </a:t>
            </a:r>
            <a:r>
              <a:rPr lang="en-US" dirty="0"/>
              <a:t>stands for</a:t>
            </a:r>
            <a:r>
              <a:rPr lang="en-US" baseline="0" dirty="0"/>
              <a:t> ANDing the terms. Letters in lowercase are the order of the variables how they will be converted into ORed terms </a:t>
            </a:r>
          </a:p>
          <a:p>
            <a:r>
              <a:rPr lang="en-US" baseline="0" dirty="0"/>
              <a:t>It is also convenient to use </a:t>
            </a:r>
            <a:r>
              <a:rPr lang="en-US" b="1" baseline="0" dirty="0"/>
              <a:t>truth table </a:t>
            </a:r>
            <a:r>
              <a:rPr lang="en-US" baseline="0" dirty="0"/>
              <a:t>to produce this canonical formed Boolean function using maxterms </a:t>
            </a:r>
            <a:endParaRPr lang="en-US" dirty="0"/>
          </a:p>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43</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282538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t>
            </a:r>
            <a:r>
              <a:rPr lang="en-US" baseline="-25000" dirty="0" err="1"/>
              <a:t>j</a:t>
            </a:r>
            <a:r>
              <a:rPr lang="en-US" dirty="0"/>
              <a:t>=set of minterms which are true for our function</a:t>
            </a:r>
          </a:p>
          <a:p>
            <a:r>
              <a:rPr lang="en-US" dirty="0" err="1"/>
              <a:t>Mj</a:t>
            </a:r>
            <a:r>
              <a:rPr lang="en-US" dirty="0"/>
              <a:t>=set of maxterms which corresponding terms are taken for minterms    </a:t>
            </a:r>
          </a:p>
        </p:txBody>
      </p:sp>
      <p:sp>
        <p:nvSpPr>
          <p:cNvPr id="4" name="Slide Number Placeholder 3"/>
          <p:cNvSpPr>
            <a:spLocks noGrp="1"/>
          </p:cNvSpPr>
          <p:nvPr>
            <p:ph type="sldNum" sz="quarter" idx="10"/>
          </p:nvPr>
        </p:nvSpPr>
        <p:spPr/>
        <p:txBody>
          <a:bodyPr/>
          <a:lstStyle/>
          <a:p>
            <a:fld id="{DDBDAB20-FECD-48F0-A350-11C52BC51AEC}" type="slidenum">
              <a:rPr lang="en-US" smtClean="0"/>
              <a:t>44</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4208114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45</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5664468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46</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728197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47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1666389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ANDed or ORed terms may have any number of literals </a:t>
            </a:r>
          </a:p>
          <a:p>
            <a:r>
              <a:rPr lang="en-US" dirty="0"/>
              <a:t>This </a:t>
            </a:r>
            <a:r>
              <a:rPr lang="en-US" b="1" dirty="0"/>
              <a:t>product </a:t>
            </a:r>
            <a:r>
              <a:rPr lang="en-US" dirty="0"/>
              <a:t>(AND term) has the similarity with </a:t>
            </a:r>
            <a:r>
              <a:rPr lang="en-US" b="1" dirty="0"/>
              <a:t>multiplication </a:t>
            </a:r>
            <a:r>
              <a:rPr lang="en-US" dirty="0"/>
              <a:t>operation of ordinary arithmetic</a:t>
            </a:r>
          </a:p>
          <a:p>
            <a:r>
              <a:rPr lang="en-US" dirty="0"/>
              <a:t>This </a:t>
            </a:r>
            <a:r>
              <a:rPr lang="en-US" b="1" dirty="0"/>
              <a:t>sum </a:t>
            </a:r>
            <a:r>
              <a:rPr lang="en-US" dirty="0"/>
              <a:t>(OR term) has the similarity with </a:t>
            </a:r>
            <a:r>
              <a:rPr lang="en-US" b="1" dirty="0"/>
              <a:t>addition </a:t>
            </a:r>
            <a:r>
              <a:rPr lang="en-US" dirty="0"/>
              <a:t>operation of ordinary arithmetic</a:t>
            </a:r>
          </a:p>
        </p:txBody>
      </p:sp>
      <p:sp>
        <p:nvSpPr>
          <p:cNvPr id="4" name="Slide Number Placeholder 3"/>
          <p:cNvSpPr>
            <a:spLocks noGrp="1"/>
          </p:cNvSpPr>
          <p:nvPr>
            <p:ph type="sldNum" sz="quarter" idx="10"/>
          </p:nvPr>
        </p:nvSpPr>
        <p:spPr/>
        <p:txBody>
          <a:bodyPr/>
          <a:lstStyle/>
          <a:p>
            <a:fld id="{DDBDAB20-FECD-48F0-A350-11C52BC51AEC}" type="slidenum">
              <a:rPr lang="en-US" smtClean="0"/>
              <a:t>48</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9750805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ANDed or ORed terms may have any number of literals </a:t>
            </a:r>
          </a:p>
          <a:p>
            <a:r>
              <a:rPr lang="en-US" dirty="0"/>
              <a:t>This </a:t>
            </a:r>
            <a:r>
              <a:rPr lang="en-US" b="1" dirty="0"/>
              <a:t>product </a:t>
            </a:r>
            <a:r>
              <a:rPr lang="en-US" dirty="0"/>
              <a:t>(AND term) has the similarity with </a:t>
            </a:r>
            <a:r>
              <a:rPr lang="en-US" b="1" dirty="0"/>
              <a:t>multiplication </a:t>
            </a:r>
            <a:r>
              <a:rPr lang="en-US" dirty="0"/>
              <a:t>operation of ordinary arithmetic</a:t>
            </a:r>
          </a:p>
          <a:p>
            <a:r>
              <a:rPr lang="en-US" dirty="0"/>
              <a:t>This </a:t>
            </a:r>
            <a:r>
              <a:rPr lang="en-US" b="1" dirty="0"/>
              <a:t>sum </a:t>
            </a:r>
            <a:r>
              <a:rPr lang="en-US" dirty="0"/>
              <a:t>(OR term) has the similarity with </a:t>
            </a:r>
            <a:r>
              <a:rPr lang="en-US" b="1" dirty="0"/>
              <a:t>addition </a:t>
            </a:r>
            <a:r>
              <a:rPr lang="en-US" dirty="0"/>
              <a:t>operation of ordinary arithmetic</a:t>
            </a:r>
          </a:p>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49</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26856922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50</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1345812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Two level implementation is preferred because it produces </a:t>
            </a:r>
            <a:r>
              <a:rPr lang="en-US" b="1" baseline="0" dirty="0"/>
              <a:t>least amount of delay </a:t>
            </a:r>
            <a:r>
              <a:rPr lang="en-US" baseline="0" dirty="0"/>
              <a:t>to produce output from given inputs (</a:t>
            </a:r>
            <a:r>
              <a:rPr lang="en-US" b="1" i="1" baseline="0" dirty="0"/>
              <a:t>i.e. </a:t>
            </a:r>
            <a:r>
              <a:rPr lang="en-US" baseline="0" dirty="0"/>
              <a:t>to propagate signal).</a:t>
            </a:r>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51</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13333172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16 functions again has been generated from 16 binary combinations of 4 variables. Here each row in the truth table stands for a Boolean variable.</a:t>
            </a:r>
          </a:p>
          <a:p>
            <a:endParaRPr lang="en-US" dirty="0"/>
          </a:p>
        </p:txBody>
      </p:sp>
      <p:sp>
        <p:nvSpPr>
          <p:cNvPr id="4" name="Slide Number Placeholder 3"/>
          <p:cNvSpPr>
            <a:spLocks noGrp="1"/>
          </p:cNvSpPr>
          <p:nvPr>
            <p:ph type="sldNum" sz="quarter" idx="10"/>
          </p:nvPr>
        </p:nvSpPr>
        <p:spPr/>
        <p:txBody>
          <a:bodyPr/>
          <a:lstStyle/>
          <a:p>
            <a:fld id="{DDBDAB20-FECD-48F0-A350-11C52BC51AEC}" type="slidenum">
              <a:rPr lang="en-US" smtClean="0"/>
              <a:t>52</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9562429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0" dirty="0"/>
                  <a:t>These functions also can be expressed with algebraic expressions shown in column 1. </a:t>
                </a:r>
              </a:p>
              <a:p>
                <a:r>
                  <a:rPr lang="en-US" b="0" dirty="0"/>
                  <a:t>Some of these functions also can expressed with special operator listed in column 2.</a:t>
                </a:r>
              </a:p>
              <a:p>
                <a:r>
                  <a:rPr lang="en-US" b="0" dirty="0"/>
                  <a:t>These functions have their own name mentioned in column 3. </a:t>
                </a:r>
              </a:p>
              <a:p>
                <a:endParaRPr lang="en-US" b="1" dirty="0"/>
              </a:p>
              <a:p>
                <a:r>
                  <a:rPr lang="en-US" b="1" dirty="0"/>
                  <a:t>Inhibition</a:t>
                </a:r>
                <a:r>
                  <a:rPr lang="en-US" dirty="0"/>
                  <a:t> - The output is true for only one variable is true when the other one is false (hindered/inhibited) is called Inhibition (inhibit/ hinder others) – Boolean expression = </a:t>
                </a:r>
                <a14:m>
                  <m:oMath xmlns:m="http://schemas.openxmlformats.org/officeDocument/2006/math">
                    <m:r>
                      <a:rPr lang="en-US" i="1" dirty="0" smtClean="0">
                        <a:latin typeface="Cambria Math" panose="02040503050406030204" pitchFamily="18" charset="0"/>
                      </a:rPr>
                      <m:t>𝑥𝑦</m:t>
                    </m:r>
                    <m:r>
                      <a:rPr lang="en-US" i="1" dirty="0" smtClean="0">
                        <a:latin typeface="Cambria Math" panose="02040503050406030204" pitchFamily="18" charset="0"/>
                      </a:rPr>
                      <m:t>’</m:t>
                    </m:r>
                  </m:oMath>
                </a14:m>
                <a:r>
                  <a:rPr lang="en-US" dirty="0"/>
                  <a:t> : giving chance to x</a:t>
                </a:r>
                <a:r>
                  <a:rPr lang="en-US" baseline="0" dirty="0"/>
                  <a:t> only</a:t>
                </a:r>
                <a:endParaRPr lang="en-US" dirty="0"/>
              </a:p>
              <a:p>
                <a:endParaRPr lang="en-US" b="1" dirty="0"/>
              </a:p>
              <a:p>
                <a:r>
                  <a:rPr lang="en-US" b="1" dirty="0"/>
                  <a:t>Implication (Conditional) </a:t>
                </a:r>
                <a:r>
                  <a:rPr lang="en-US" dirty="0"/>
                  <a:t>- an </a:t>
                </a:r>
                <a:r>
                  <a:rPr lang="en-US" b="1" dirty="0"/>
                  <a:t>operation</a:t>
                </a:r>
                <a:r>
                  <a:rPr lang="en-US" dirty="0"/>
                  <a:t> on two </a:t>
                </a:r>
                <a:r>
                  <a:rPr lang="en-US" b="1" dirty="0"/>
                  <a:t>logical</a:t>
                </a:r>
                <a:r>
                  <a:rPr lang="en-US" dirty="0"/>
                  <a:t> values, typically the values of two propositions, which produces a value of false if the first operand is true (</a:t>
                </a:r>
                <a:r>
                  <a:rPr lang="en-US" i="1" dirty="0"/>
                  <a:t>promise</a:t>
                </a:r>
                <a:r>
                  <a:rPr lang="en-US" dirty="0"/>
                  <a:t>) and the second operand is false (</a:t>
                </a:r>
                <a:r>
                  <a:rPr lang="en-US" i="1" dirty="0"/>
                  <a:t>conclusion</a:t>
                </a:r>
                <a:r>
                  <a:rPr lang="en-US" dirty="0"/>
                  <a:t>), and a value of true otherwise. </a:t>
                </a:r>
              </a:p>
              <a:p>
                <a:r>
                  <a:rPr lang="en-US" u="sng" baseline="0" dirty="0"/>
                  <a:t>Example: </a:t>
                </a:r>
                <a:r>
                  <a:rPr lang="en-US" baseline="0" dirty="0"/>
                  <a:t>If I read hard (p), I will pass (q). p-&gt;q. Only strange part is that the promise is not satisfied but the conclusion is met. It is obvious if we look at the Boolean expression for this – </a:t>
                </a:r>
                <a14:m>
                  <m:oMath xmlns:m="http://schemas.openxmlformats.org/officeDocument/2006/math">
                    <m:r>
                      <a:rPr lang="en-US" i="1" baseline="0" dirty="0" smtClean="0">
                        <a:latin typeface="Cambria Math" panose="02040503050406030204" pitchFamily="18" charset="0"/>
                      </a:rPr>
                      <m:t>𝑝</m:t>
                    </m:r>
                    <m:r>
                      <a:rPr lang="en-US" i="1" baseline="0" dirty="0" smtClean="0">
                        <a:latin typeface="Cambria Math" panose="02040503050406030204" pitchFamily="18" charset="0"/>
                      </a:rPr>
                      <m:t>−&gt;</m:t>
                    </m:r>
                    <m:r>
                      <a:rPr lang="en-US" i="1" baseline="0" dirty="0" smtClean="0">
                        <a:latin typeface="Cambria Math" panose="02040503050406030204" pitchFamily="18" charset="0"/>
                      </a:rPr>
                      <m:t>𝑞</m:t>
                    </m:r>
                    <m:r>
                      <a:rPr lang="en-US" i="1" baseline="0" dirty="0" smtClean="0">
                        <a:latin typeface="Cambria Math" panose="02040503050406030204" pitchFamily="18" charset="0"/>
                      </a:rPr>
                      <m:t> =</m:t>
                    </m:r>
                    <m:sSup>
                      <m:sSupPr>
                        <m:ctrlPr>
                          <a:rPr lang="en-US" b="0" i="1" baseline="0" dirty="0" smtClean="0">
                            <a:latin typeface="Cambria Math" panose="02040503050406030204" pitchFamily="18" charset="0"/>
                          </a:rPr>
                        </m:ctrlPr>
                      </m:sSupPr>
                      <m:e>
                        <m:r>
                          <a:rPr lang="en-US" b="0" i="1" baseline="0" dirty="0" smtClean="0">
                            <a:latin typeface="Cambria Math" panose="02040503050406030204" pitchFamily="18" charset="0"/>
                          </a:rPr>
                          <m:t>𝑝</m:t>
                        </m:r>
                      </m:e>
                      <m:sup>
                        <m:r>
                          <a:rPr lang="en-US" b="0" i="1" baseline="0" dirty="0" smtClean="0">
                            <a:latin typeface="Cambria Math" panose="02040503050406030204" pitchFamily="18" charset="0"/>
                          </a:rPr>
                          <m:t>′</m:t>
                        </m:r>
                      </m:sup>
                    </m:sSup>
                    <m:r>
                      <a:rPr lang="en-US" b="0" i="1" baseline="0" dirty="0" smtClean="0">
                        <a:latin typeface="Cambria Math" panose="02040503050406030204" pitchFamily="18" charset="0"/>
                      </a:rPr>
                      <m:t>+</m:t>
                    </m:r>
                    <m:r>
                      <a:rPr lang="en-US" b="0" i="1" baseline="0" dirty="0" smtClean="0">
                        <a:latin typeface="Cambria Math" panose="02040503050406030204" pitchFamily="18" charset="0"/>
                      </a:rPr>
                      <m:t>𝑞</m:t>
                    </m:r>
                  </m:oMath>
                </a14:m>
                <a:endParaRPr lang="en-US" baseline="0" dirty="0"/>
              </a:p>
              <a:p>
                <a:endParaRPr lang="en-US" baseline="0" dirty="0"/>
              </a:p>
              <a:p>
                <a:r>
                  <a:rPr lang="en-US" baseline="0" dirty="0"/>
                  <a:t>XOR – Binary difference operator. Also complement of XNOR. </a:t>
                </a:r>
                <a:endParaRPr lang="en-US" dirty="0"/>
              </a:p>
            </p:txBody>
          </p:sp>
        </mc:Choice>
        <mc:Fallback xmlns="">
          <p:sp>
            <p:nvSpPr>
              <p:cNvPr id="3" name="Notes Placeholder 2"/>
              <p:cNvSpPr>
                <a:spLocks noGrp="1"/>
              </p:cNvSpPr>
              <p:nvPr>
                <p:ph type="body" idx="1"/>
              </p:nvPr>
            </p:nvSpPr>
            <p:spPr/>
            <p:txBody>
              <a:bodyPr/>
              <a:lstStyle/>
              <a:p>
                <a:r>
                  <a:rPr lang="en-US" b="0" dirty="0"/>
                  <a:t>These functions also can be expressed with algebraic expressions shown in column 1. </a:t>
                </a:r>
              </a:p>
              <a:p>
                <a:r>
                  <a:rPr lang="en-US" b="0" dirty="0"/>
                  <a:t>Some of these functions also can expressed with special operator listed in column 2.</a:t>
                </a:r>
              </a:p>
              <a:p>
                <a:r>
                  <a:rPr lang="en-US" b="0" dirty="0"/>
                  <a:t>These functions have their own name mentioned in column 3. </a:t>
                </a:r>
              </a:p>
              <a:p>
                <a:endParaRPr lang="en-US" b="1" dirty="0"/>
              </a:p>
              <a:p>
                <a:r>
                  <a:rPr lang="en-US" b="1" dirty="0"/>
                  <a:t>Inhibition</a:t>
                </a:r>
                <a:r>
                  <a:rPr lang="en-US" dirty="0"/>
                  <a:t> - The output is true for only one variable is true when the other one is false (hindered/inhibited) is called Inhibition (inhibit/ hinder others) – Boolean expression = </a:t>
                </a:r>
                <a:r>
                  <a:rPr lang="en-US" i="0" dirty="0">
                    <a:latin typeface="Cambria Math" panose="02040503050406030204" pitchFamily="18" charset="0"/>
                  </a:rPr>
                  <a:t>𝑥𝑦’</a:t>
                </a:r>
                <a:r>
                  <a:rPr lang="en-US" dirty="0"/>
                  <a:t> : giving chance to </a:t>
                </a:r>
                <a:r>
                  <a:rPr lang="en-US"/>
                  <a:t>x</a:t>
                </a:r>
                <a:r>
                  <a:rPr lang="en-US" baseline="0"/>
                  <a:t> only</a:t>
                </a:r>
                <a:endParaRPr lang="en-US" dirty="0"/>
              </a:p>
              <a:p>
                <a:endParaRPr lang="en-US" b="1" dirty="0"/>
              </a:p>
              <a:p>
                <a:r>
                  <a:rPr lang="en-US" b="1" dirty="0"/>
                  <a:t>Implication (Conditional) </a:t>
                </a:r>
                <a:r>
                  <a:rPr lang="en-US" dirty="0"/>
                  <a:t>- an </a:t>
                </a:r>
                <a:r>
                  <a:rPr lang="en-US" b="1" dirty="0"/>
                  <a:t>operation</a:t>
                </a:r>
                <a:r>
                  <a:rPr lang="en-US" dirty="0"/>
                  <a:t> on two </a:t>
                </a:r>
                <a:r>
                  <a:rPr lang="en-US" b="1" dirty="0"/>
                  <a:t>logical</a:t>
                </a:r>
                <a:r>
                  <a:rPr lang="en-US" dirty="0"/>
                  <a:t> values, typically the values of two propositions, which produces a value of false if the first operand is true (</a:t>
                </a:r>
                <a:r>
                  <a:rPr lang="en-US" i="1" dirty="0"/>
                  <a:t>promise</a:t>
                </a:r>
                <a:r>
                  <a:rPr lang="en-US" dirty="0"/>
                  <a:t>) and the second operand is false (</a:t>
                </a:r>
                <a:r>
                  <a:rPr lang="en-US" i="1" dirty="0"/>
                  <a:t>conclusion</a:t>
                </a:r>
                <a:r>
                  <a:rPr lang="en-US" dirty="0"/>
                  <a:t>), and a value of true otherwise. </a:t>
                </a:r>
              </a:p>
              <a:p>
                <a:r>
                  <a:rPr lang="en-US" u="sng" baseline="0" dirty="0"/>
                  <a:t>Example: </a:t>
                </a:r>
                <a:r>
                  <a:rPr lang="en-US" baseline="0" dirty="0"/>
                  <a:t>If I read hard (p), I will pass (q). p-&gt;q. Only strange part is that the promise is not satisfied but the conclusion is met. It is obvious if we look at the Boolean expression for this – p-&gt;q = </a:t>
                </a:r>
                <a:r>
                  <a:rPr lang="en-US" baseline="0" dirty="0" err="1"/>
                  <a:t>p’+q</a:t>
                </a:r>
                <a:endParaRPr lang="en-US" baseline="0" dirty="0"/>
              </a:p>
              <a:p>
                <a:endParaRPr lang="en-US" baseline="0" dirty="0"/>
              </a:p>
              <a:p>
                <a:r>
                  <a:rPr lang="en-US" baseline="0" dirty="0"/>
                  <a:t>XOR – Binary difference operator. Also complement of XNOR. </a:t>
                </a:r>
                <a:endParaRPr lang="en-US" dirty="0"/>
              </a:p>
            </p:txBody>
          </p:sp>
        </mc:Fallback>
      </mc:AlternateContent>
      <p:sp>
        <p:nvSpPr>
          <p:cNvPr id="4" name="Footer Placeholder 3"/>
          <p:cNvSpPr>
            <a:spLocks noGrp="1"/>
          </p:cNvSpPr>
          <p:nvPr>
            <p:ph type="ftr" sz="quarter" idx="10"/>
          </p:nvPr>
        </p:nvSpPr>
        <p:spPr/>
        <p:txBody>
          <a:bodyPr/>
          <a:lstStyle/>
          <a:p>
            <a:r>
              <a:rPr lang="en-US"/>
              <a:t>Lecture 1</a:t>
            </a:r>
          </a:p>
        </p:txBody>
      </p:sp>
      <p:sp>
        <p:nvSpPr>
          <p:cNvPr id="5" name="Slide Number Placeholder 4"/>
          <p:cNvSpPr>
            <a:spLocks noGrp="1"/>
          </p:cNvSpPr>
          <p:nvPr>
            <p:ph type="sldNum" sz="quarter" idx="11"/>
          </p:nvPr>
        </p:nvSpPr>
        <p:spPr/>
        <p:txBody>
          <a:bodyPr/>
          <a:lstStyle/>
          <a:p>
            <a:fld id="{DDBDAB20-FECD-48F0-A350-11C52BC51AEC}" type="slidenum">
              <a:rPr lang="en-US" smtClean="0"/>
              <a:t>53</a:t>
            </a:fld>
            <a:endParaRPr lang="en-US"/>
          </a:p>
        </p:txBody>
      </p:sp>
    </p:spTree>
    <p:extLst>
      <p:ext uri="{BB962C8B-B14F-4D97-AF65-F5344CB8AC3E}">
        <p14:creationId xmlns:p14="http://schemas.microsoft.com/office/powerpoint/2010/main" val="24984891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Inhibition and implication are basically used by </a:t>
            </a:r>
            <a:r>
              <a:rPr lang="en-US" b="1" dirty="0"/>
              <a:t>logician </a:t>
            </a:r>
            <a:r>
              <a:rPr lang="en-US" dirty="0"/>
              <a:t>rather than </a:t>
            </a:r>
            <a:r>
              <a:rPr lang="en-US" b="1" dirty="0"/>
              <a:t>computer designer</a:t>
            </a:r>
            <a:r>
              <a:rPr lang="en-US" dirty="0"/>
              <a:t>.</a:t>
            </a:r>
          </a:p>
          <a:p>
            <a:r>
              <a:rPr lang="en-US" dirty="0"/>
              <a:t>Constant functions always produce 1 or 0</a:t>
            </a:r>
          </a:p>
          <a:p>
            <a:r>
              <a:rPr lang="en-US" dirty="0"/>
              <a:t>Complement function produces the complement of a single binary variable (x or y)</a:t>
            </a:r>
          </a:p>
          <a:p>
            <a:r>
              <a:rPr lang="en-US" dirty="0"/>
              <a:t>Transfer function produces the equal value to a single binary variable (x or y)</a:t>
            </a:r>
          </a:p>
          <a:p>
            <a:r>
              <a:rPr lang="en-US" dirty="0"/>
              <a:t>NAND = Not AND</a:t>
            </a:r>
          </a:p>
          <a:p>
            <a:r>
              <a:rPr lang="en-US" dirty="0"/>
              <a:t>NOR = Not OR</a:t>
            </a:r>
          </a:p>
          <a:p>
            <a:r>
              <a:rPr lang="en-US" dirty="0"/>
              <a:t>X-OR = difference operator</a:t>
            </a:r>
          </a:p>
          <a:p>
            <a:r>
              <a:rPr lang="en-US" dirty="0"/>
              <a:t>X-NOR = equivalence operator </a:t>
            </a:r>
          </a:p>
          <a:p>
            <a:r>
              <a:rPr lang="en-US" dirty="0"/>
              <a:t>X-OR and X-NOR are complement to each other</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54</a:t>
            </a:fld>
            <a:endParaRPr lang="en-US"/>
          </a:p>
        </p:txBody>
      </p:sp>
    </p:spTree>
    <p:extLst>
      <p:ext uri="{BB962C8B-B14F-4D97-AF65-F5344CB8AC3E}">
        <p14:creationId xmlns:p14="http://schemas.microsoft.com/office/powerpoint/2010/main" val="27342911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Small circle in the output (bubble) designates the logic complement.</a:t>
            </a:r>
          </a:p>
          <a:p>
            <a:pPr marL="171450" indent="-171450">
              <a:buFont typeface="Arial" panose="020B0604020202020204" pitchFamily="34" charset="0"/>
              <a:buChar char="•"/>
            </a:pPr>
            <a:r>
              <a:rPr lang="en-US" dirty="0"/>
              <a:t>The triangle designates the buffer function: used for power amplification of the signal and is equivalent to two </a:t>
            </a:r>
            <a:r>
              <a:rPr lang="en-US" b="1" dirty="0"/>
              <a:t>cascaded</a:t>
            </a:r>
            <a:r>
              <a:rPr lang="en-US" dirty="0"/>
              <a:t> inverts</a:t>
            </a:r>
          </a:p>
          <a:p>
            <a:pPr marL="628650" lvl="1" indent="-171450">
              <a:buFont typeface="Arial" panose="020B0604020202020204" pitchFamily="34" charset="0"/>
              <a:buChar char="•"/>
            </a:pPr>
            <a:r>
              <a:rPr lang="en-US" dirty="0"/>
              <a:t>But they </a:t>
            </a:r>
            <a:r>
              <a:rPr lang="en-US" b="1" dirty="0"/>
              <a:t>Don’t produce </a:t>
            </a:r>
            <a:r>
              <a:rPr lang="en-US" dirty="0"/>
              <a:t>any logic operation </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57</a:t>
            </a:fld>
            <a:endParaRPr lang="en-US"/>
          </a:p>
        </p:txBody>
      </p:sp>
    </p:spTree>
    <p:extLst>
      <p:ext uri="{BB962C8B-B14F-4D97-AF65-F5344CB8AC3E}">
        <p14:creationId xmlns:p14="http://schemas.microsoft.com/office/powerpoint/2010/main" val="41193069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Small circle in the output (bubble) designates the logic complement.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NAND and NOR are used extensively as standard logic gates and more popular than AND </a:t>
            </a:r>
            <a:r>
              <a:rPr lang="en-US" dirty="0" err="1"/>
              <a:t>and</a:t>
            </a:r>
            <a:r>
              <a:rPr lang="en-US" dirty="0"/>
              <a:t> OR because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They are easily constructed with transistors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Digital circuits are easily implemented with them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endParaRPr lang="en-US" dirty="0"/>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58</a:t>
            </a:fld>
            <a:endParaRPr lang="en-US"/>
          </a:p>
        </p:txBody>
      </p:sp>
    </p:spTree>
    <p:extLst>
      <p:ext uri="{BB962C8B-B14F-4D97-AF65-F5344CB8AC3E}">
        <p14:creationId xmlns:p14="http://schemas.microsoft.com/office/powerpoint/2010/main" val="10373160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59</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6896899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From the figure, it is obvious that a Boolean function expressed as SOP form (</a:t>
                </a:r>
                <a:r>
                  <a:rPr lang="en-US" b="1" i="1" dirty="0"/>
                  <a:t>e.g.,</a:t>
                </a:r>
                <a:r>
                  <a:rPr lang="en-US" dirty="0"/>
                  <a:t> </a:t>
                </a:r>
                <a14:m>
                  <m:oMath xmlns:m="http://schemas.openxmlformats.org/officeDocument/2006/math">
                    <m:r>
                      <a:rPr lang="en-US" i="1" dirty="0" smtClean="0">
                        <a:latin typeface="Cambria Math" panose="02040503050406030204" pitchFamily="18" charset="0"/>
                      </a:rPr>
                      <m:t>𝐴𝐵𝐶</m:t>
                    </m:r>
                    <m:r>
                      <a:rPr lang="en-US" i="1" dirty="0" smtClean="0">
                        <a:latin typeface="Cambria Math" panose="02040503050406030204" pitchFamily="18" charset="0"/>
                      </a:rPr>
                      <m:t> + </m:t>
                    </m:r>
                    <m:r>
                      <a:rPr lang="en-US" i="1" dirty="0" smtClean="0">
                        <a:latin typeface="Cambria Math" panose="02040503050406030204" pitchFamily="18" charset="0"/>
                      </a:rPr>
                      <m:t>𝐷𝐸</m:t>
                    </m:r>
                  </m:oMath>
                </a14:m>
                <a:r>
                  <a:rPr lang="en-US" dirty="0"/>
                  <a:t>) can be easily implemented with NAND gates. </a:t>
                </a:r>
              </a:p>
            </p:txBody>
          </p:sp>
        </mc:Choice>
        <mc:Fallback xmlns="">
          <p:sp>
            <p:nvSpPr>
              <p:cNvPr id="3" name="Notes Placeholder 2"/>
              <p:cNvSpPr>
                <a:spLocks noGrp="1"/>
              </p:cNvSpPr>
              <p:nvPr>
                <p:ph type="body" idx="1"/>
              </p:nvPr>
            </p:nvSpPr>
            <p:spPr/>
            <p:txBody>
              <a:bodyPr/>
              <a:lstStyle/>
              <a:p>
                <a:r>
                  <a:rPr lang="en-US" dirty="0"/>
                  <a:t>From the figure, it is obvious that a Boolean function expressed as SOP form (</a:t>
                </a:r>
                <a:r>
                  <a:rPr lang="en-US" b="1" i="1" dirty="0"/>
                  <a:t>e.g.</a:t>
                </a:r>
                <a:r>
                  <a:rPr lang="en-US" dirty="0"/>
                  <a:t> </a:t>
                </a:r>
                <a:r>
                  <a:rPr lang="en-US" i="0" dirty="0">
                    <a:latin typeface="Cambria Math" panose="02040503050406030204" pitchFamily="18" charset="0"/>
                  </a:rPr>
                  <a:t>𝐴𝐵𝐶 + 𝐷𝐸</a:t>
                </a:r>
                <a:r>
                  <a:rPr lang="en-US" dirty="0"/>
                  <a:t>) can be easily implemented with NAND gates. </a:t>
                </a:r>
              </a:p>
            </p:txBody>
          </p:sp>
        </mc:Fallback>
      </mc:AlternateContent>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62</a:t>
            </a:fld>
            <a:endParaRPr lang="en-US"/>
          </a:p>
        </p:txBody>
      </p:sp>
    </p:spTree>
    <p:extLst>
      <p:ext uri="{BB962C8B-B14F-4D97-AF65-F5344CB8AC3E}">
        <p14:creationId xmlns:p14="http://schemas.microsoft.com/office/powerpoint/2010/main" val="12948651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in some articles, multiple input XNOR is the complement of the that multiple input XOR gate and makes it even function considering 1. But it will not follow the associative rules then.</a:t>
            </a:r>
          </a:p>
          <a:p>
            <a:r>
              <a:rPr lang="en-US" dirty="0"/>
              <a:t>In some articles, it is observed that XNOR is defined as Even function considering 0s. </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63</a:t>
            </a:fld>
            <a:endParaRPr lang="en-US"/>
          </a:p>
        </p:txBody>
      </p:sp>
    </p:spTree>
    <p:extLst>
      <p:ext uri="{BB962C8B-B14F-4D97-AF65-F5344CB8AC3E}">
        <p14:creationId xmlns:p14="http://schemas.microsoft.com/office/powerpoint/2010/main" val="19708895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Small</a:t>
            </a:r>
            <a:r>
              <a:rPr lang="en-US" b="1" baseline="0" dirty="0"/>
              <a:t> triangles in input and output designates negative logic </a:t>
            </a:r>
            <a:r>
              <a:rPr lang="en-US" baseline="0" dirty="0"/>
              <a:t>– same gate can be worked as AND </a:t>
            </a:r>
            <a:r>
              <a:rPr lang="en-US" baseline="0" dirty="0" err="1"/>
              <a:t>and</a:t>
            </a:r>
            <a:r>
              <a:rPr lang="en-US" baseline="0" dirty="0"/>
              <a:t> OR gate</a:t>
            </a:r>
          </a:p>
          <a:p>
            <a:r>
              <a:rPr lang="en-US" baseline="0" dirty="0"/>
              <a:t>Follow the duality principles</a:t>
            </a:r>
          </a:p>
          <a:p>
            <a:endParaRPr lang="en-US" dirty="0"/>
          </a:p>
        </p:txBody>
      </p:sp>
      <p:sp>
        <p:nvSpPr>
          <p:cNvPr id="4" name="Footer Placeholder 3"/>
          <p:cNvSpPr>
            <a:spLocks noGrp="1"/>
          </p:cNvSpPr>
          <p:nvPr>
            <p:ph type="ftr" sz="quarter" idx="10"/>
          </p:nvPr>
        </p:nvSpPr>
        <p:spPr/>
        <p:txBody>
          <a:bodyPr/>
          <a:lstStyle/>
          <a:p>
            <a:r>
              <a:rPr lang="en-US"/>
              <a:t>Lecture 1</a:t>
            </a:r>
          </a:p>
        </p:txBody>
      </p:sp>
      <p:sp>
        <p:nvSpPr>
          <p:cNvPr id="5" name="Slide Number Placeholder 4"/>
          <p:cNvSpPr>
            <a:spLocks noGrp="1"/>
          </p:cNvSpPr>
          <p:nvPr>
            <p:ph type="sldNum" sz="quarter" idx="11"/>
          </p:nvPr>
        </p:nvSpPr>
        <p:spPr/>
        <p:txBody>
          <a:bodyPr/>
          <a:lstStyle/>
          <a:p>
            <a:fld id="{DDBDAB20-FECD-48F0-A350-11C52BC51AEC}" type="slidenum">
              <a:rPr lang="en-US" smtClean="0"/>
              <a:t>65</a:t>
            </a:fld>
            <a:endParaRPr lang="en-US"/>
          </a:p>
        </p:txBody>
      </p:sp>
    </p:spTree>
    <p:extLst>
      <p:ext uri="{BB962C8B-B14F-4D97-AF65-F5344CB8AC3E}">
        <p14:creationId xmlns:p14="http://schemas.microsoft.com/office/powerpoint/2010/main" val="22829104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BDAB20-FECD-48F0-A350-11C52BC51AEC}" type="slidenum">
              <a:rPr lang="en-US" smtClean="0"/>
              <a:t>66</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37835644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and Linear IC looks same</a:t>
            </a:r>
          </a:p>
        </p:txBody>
      </p:sp>
      <p:sp>
        <p:nvSpPr>
          <p:cNvPr id="4" name="Slide Number Placeholder 3"/>
          <p:cNvSpPr>
            <a:spLocks noGrp="1"/>
          </p:cNvSpPr>
          <p:nvPr>
            <p:ph type="sldNum" sz="quarter" idx="10"/>
          </p:nvPr>
        </p:nvSpPr>
        <p:spPr/>
        <p:txBody>
          <a:bodyPr/>
          <a:lstStyle/>
          <a:p>
            <a:fld id="{DDBDAB20-FECD-48F0-A350-11C52BC51AEC}" type="slidenum">
              <a:rPr lang="en-US" smtClean="0"/>
              <a:t>67</a:t>
            </a:fld>
            <a:endParaRPr lang="en-US"/>
          </a:p>
        </p:txBody>
      </p:sp>
      <p:sp>
        <p:nvSpPr>
          <p:cNvPr id="5" name="Footer Placeholder 4"/>
          <p:cNvSpPr>
            <a:spLocks noGrp="1"/>
          </p:cNvSpPr>
          <p:nvPr>
            <p:ph type="ftr" sz="quarter" idx="11"/>
          </p:nvPr>
        </p:nvSpPr>
        <p:spPr/>
        <p:txBody>
          <a:bodyPr/>
          <a:lstStyle/>
          <a:p>
            <a:r>
              <a:rPr lang="en-US"/>
              <a:t>Lecture 1</a:t>
            </a:r>
          </a:p>
        </p:txBody>
      </p:sp>
    </p:spTree>
    <p:extLst>
      <p:ext uri="{BB962C8B-B14F-4D97-AF65-F5344CB8AC3E}">
        <p14:creationId xmlns:p14="http://schemas.microsoft.com/office/powerpoint/2010/main" val="6110886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we ICs as ULSI as well</a:t>
            </a:r>
          </a:p>
        </p:txBody>
      </p:sp>
      <p:sp>
        <p:nvSpPr>
          <p:cNvPr id="4" name="Footer Placeholder 3"/>
          <p:cNvSpPr>
            <a:spLocks noGrp="1"/>
          </p:cNvSpPr>
          <p:nvPr>
            <p:ph type="ftr" sz="quarter" idx="4"/>
          </p:nvPr>
        </p:nvSpPr>
        <p:spPr/>
        <p:txBody>
          <a:bodyPr/>
          <a:lstStyle/>
          <a:p>
            <a:r>
              <a:rPr lang="en-US"/>
              <a:t>Lecture 1</a:t>
            </a:r>
          </a:p>
        </p:txBody>
      </p:sp>
      <p:sp>
        <p:nvSpPr>
          <p:cNvPr id="5" name="Slide Number Placeholder 4"/>
          <p:cNvSpPr>
            <a:spLocks noGrp="1"/>
          </p:cNvSpPr>
          <p:nvPr>
            <p:ph type="sldNum" sz="quarter" idx="5"/>
          </p:nvPr>
        </p:nvSpPr>
        <p:spPr/>
        <p:txBody>
          <a:bodyPr/>
          <a:lstStyle/>
          <a:p>
            <a:fld id="{DDBDAB20-FECD-48F0-A350-11C52BC51AEC}" type="slidenum">
              <a:rPr lang="en-US" smtClean="0"/>
              <a:t>68</a:t>
            </a:fld>
            <a:endParaRPr lang="en-US"/>
          </a:p>
        </p:txBody>
      </p:sp>
    </p:spTree>
    <p:extLst>
      <p:ext uri="{BB962C8B-B14F-4D97-AF65-F5344CB8AC3E}">
        <p14:creationId xmlns:p14="http://schemas.microsoft.com/office/powerpoint/2010/main" val="2742787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209901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301571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242425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Chapter 2</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4055003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Chapter 2</a:t>
            </a:r>
          </a:p>
        </p:txBody>
      </p:sp>
      <p:sp>
        <p:nvSpPr>
          <p:cNvPr id="8" name="Footer Placeholder 7"/>
          <p:cNvSpPr>
            <a:spLocks noGrp="1"/>
          </p:cNvSpPr>
          <p:nvPr>
            <p:ph type="ftr" sz="quarter" idx="11"/>
          </p:nvPr>
        </p:nvSpPr>
        <p:spPr/>
        <p:txBody>
          <a:bodyPr/>
          <a:lstStyle/>
          <a:p>
            <a:r>
              <a:rPr lang="en-US"/>
              <a:t>CSE 4205: Digital Logic Design</a:t>
            </a:r>
          </a:p>
        </p:txBody>
      </p:sp>
      <p:sp>
        <p:nvSpPr>
          <p:cNvPr id="9" name="Slide Number Placeholder 8"/>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429847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191609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Chapter 2</a:t>
            </a:r>
          </a:p>
        </p:txBody>
      </p:sp>
      <p:sp>
        <p:nvSpPr>
          <p:cNvPr id="3" name="Footer Placeholder 2"/>
          <p:cNvSpPr>
            <a:spLocks noGrp="1"/>
          </p:cNvSpPr>
          <p:nvPr>
            <p:ph type="ftr" sz="quarter" idx="11"/>
          </p:nvPr>
        </p:nvSpPr>
        <p:spPr/>
        <p:txBody>
          <a:bodyPr/>
          <a:lstStyle/>
          <a:p>
            <a:r>
              <a:rPr lang="en-US"/>
              <a:t>CSE 4205: Digital Logic Design</a:t>
            </a:r>
          </a:p>
        </p:txBody>
      </p:sp>
      <p:sp>
        <p:nvSpPr>
          <p:cNvPr id="4" name="Slide Number Placeholder 3"/>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139041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Chapter 2</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141722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Chapter 2</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3524737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3918242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a:t>
            </a:fld>
            <a:endParaRPr lang="en-US"/>
          </a:p>
        </p:txBody>
      </p:sp>
    </p:spTree>
    <p:extLst>
      <p:ext uri="{BB962C8B-B14F-4D97-AF65-F5344CB8AC3E}">
        <p14:creationId xmlns:p14="http://schemas.microsoft.com/office/powerpoint/2010/main" val="966743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Chapter 1</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1395250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1</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2596547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Chapter 1</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722730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Chapter 1</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589597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Chapter 1</a:t>
            </a:r>
          </a:p>
        </p:txBody>
      </p:sp>
      <p:sp>
        <p:nvSpPr>
          <p:cNvPr id="8" name="Footer Placeholder 7"/>
          <p:cNvSpPr>
            <a:spLocks noGrp="1"/>
          </p:cNvSpPr>
          <p:nvPr>
            <p:ph type="ftr" sz="quarter" idx="11"/>
          </p:nvPr>
        </p:nvSpPr>
        <p:spPr/>
        <p:txBody>
          <a:bodyPr/>
          <a:lstStyle/>
          <a:p>
            <a:r>
              <a:rPr lang="en-US"/>
              <a:t>CSE 4205: Digital Logic Design</a:t>
            </a:r>
          </a:p>
        </p:txBody>
      </p:sp>
      <p:sp>
        <p:nvSpPr>
          <p:cNvPr id="9" name="Slide Number Placeholder 8"/>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8945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Chapter 1</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29136716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Chapter 1</a:t>
            </a:r>
          </a:p>
        </p:txBody>
      </p:sp>
      <p:sp>
        <p:nvSpPr>
          <p:cNvPr id="3" name="Footer Placeholder 2"/>
          <p:cNvSpPr>
            <a:spLocks noGrp="1"/>
          </p:cNvSpPr>
          <p:nvPr>
            <p:ph type="ftr" sz="quarter" idx="11"/>
          </p:nvPr>
        </p:nvSpPr>
        <p:spPr/>
        <p:txBody>
          <a:bodyPr/>
          <a:lstStyle/>
          <a:p>
            <a:r>
              <a:rPr lang="en-US"/>
              <a:t>CSE 4205: Digital Logic Design</a:t>
            </a:r>
          </a:p>
        </p:txBody>
      </p:sp>
      <p:sp>
        <p:nvSpPr>
          <p:cNvPr id="4" name="Slide Number Placeholder 3"/>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1863110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Chapter 1</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13951777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Chapter 1</a:t>
            </a:r>
          </a:p>
        </p:txBody>
      </p:sp>
      <p:sp>
        <p:nvSpPr>
          <p:cNvPr id="6" name="Footer Placeholder 5"/>
          <p:cNvSpPr>
            <a:spLocks noGrp="1"/>
          </p:cNvSpPr>
          <p:nvPr>
            <p:ph type="ftr" sz="quarter" idx="11"/>
          </p:nvPr>
        </p:nvSpPr>
        <p:spPr/>
        <p:txBody>
          <a:bodyPr/>
          <a:lstStyle/>
          <a:p>
            <a:r>
              <a:rPr lang="en-US"/>
              <a:t>CSE 4205: Digital Logic Design</a:t>
            </a:r>
          </a:p>
        </p:txBody>
      </p:sp>
      <p:sp>
        <p:nvSpPr>
          <p:cNvPr id="7" name="Slide Number Placeholder 6"/>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2623943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1</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30208207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Chapter 1</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B5A7011D-92ED-4732-AC78-E5139C36022E}" type="slidenum">
              <a:rPr lang="en-US" smtClean="0"/>
              <a:t>‹#›</a:t>
            </a:fld>
            <a:endParaRPr lang="en-US"/>
          </a:p>
        </p:txBody>
      </p:sp>
    </p:spTree>
    <p:extLst>
      <p:ext uri="{BB962C8B-B14F-4D97-AF65-F5344CB8AC3E}">
        <p14:creationId xmlns:p14="http://schemas.microsoft.com/office/powerpoint/2010/main" val="119469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Chapter 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 4205: Digital Logic Design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7865C8-A00C-4A00-A7DE-A98002B852BF}" type="slidenum">
              <a:rPr lang="en-US" smtClean="0"/>
              <a:t>‹#›</a:t>
            </a:fld>
            <a:endParaRPr lang="en-US"/>
          </a:p>
        </p:txBody>
      </p:sp>
    </p:spTree>
    <p:extLst>
      <p:ext uri="{BB962C8B-B14F-4D97-AF65-F5344CB8AC3E}">
        <p14:creationId xmlns:p14="http://schemas.microsoft.com/office/powerpoint/2010/main" val="3948270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Chapter 1</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 4205: Digital Logic Design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A7011D-92ED-4732-AC78-E5139C36022E}" type="slidenum">
              <a:rPr lang="en-US" smtClean="0"/>
              <a:t>‹#›</a:t>
            </a:fld>
            <a:endParaRPr lang="en-US"/>
          </a:p>
        </p:txBody>
      </p:sp>
    </p:spTree>
    <p:extLst>
      <p:ext uri="{BB962C8B-B14F-4D97-AF65-F5344CB8AC3E}">
        <p14:creationId xmlns:p14="http://schemas.microsoft.com/office/powerpoint/2010/main" val="42538694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jpeg"/><Relationship Id="rId4" Type="http://schemas.microsoft.com/office/2007/relationships/hdphoto" Target="../media/hdphoto6.wdp"/></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microsoft.com/office/2007/relationships/hdphoto" Target="../media/hdphoto10.wdp"/><Relationship Id="rId3" Type="http://schemas.openxmlformats.org/officeDocument/2006/relationships/image" Target="../media/image20.png"/><Relationship Id="rId7" Type="http://schemas.openxmlformats.org/officeDocument/2006/relationships/image" Target="../media/image22.png"/><Relationship Id="rId12" Type="http://schemas.microsoft.com/office/2007/relationships/hdphoto" Target="../media/hdphoto12.wdp"/><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9.wdp"/><Relationship Id="rId11" Type="http://schemas.openxmlformats.org/officeDocument/2006/relationships/image" Target="../media/image24.png"/><Relationship Id="rId5" Type="http://schemas.openxmlformats.org/officeDocument/2006/relationships/image" Target="../media/image21.png"/><Relationship Id="rId10" Type="http://schemas.microsoft.com/office/2007/relationships/hdphoto" Target="../media/hdphoto11.wdp"/><Relationship Id="rId4" Type="http://schemas.microsoft.com/office/2007/relationships/hdphoto" Target="../media/hdphoto8.wdp"/><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microsoft.com/office/2007/relationships/hdphoto" Target="../media/hdphoto14.wdp"/><Relationship Id="rId5" Type="http://schemas.openxmlformats.org/officeDocument/2006/relationships/image" Target="../media/image28.png"/><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jpeg"/><Relationship Id="rId7" Type="http://schemas.microsoft.com/office/2007/relationships/hdphoto" Target="../media/hdphoto16.wdp"/><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png"/><Relationship Id="rId11" Type="http://schemas.microsoft.com/office/2007/relationships/hdphoto" Target="../media/hdphoto18.wdp"/><Relationship Id="rId5" Type="http://schemas.microsoft.com/office/2007/relationships/hdphoto" Target="../media/hdphoto15.wdp"/><Relationship Id="rId10" Type="http://schemas.openxmlformats.org/officeDocument/2006/relationships/image" Target="../media/image32.png"/><Relationship Id="rId4" Type="http://schemas.openxmlformats.org/officeDocument/2006/relationships/image" Target="../media/image29.png"/><Relationship Id="rId9" Type="http://schemas.microsoft.com/office/2007/relationships/hdphoto" Target="../media/hdphoto17.wdp"/></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microsoft.com/office/2007/relationships/hdphoto" Target="../media/hdphoto19.wdp"/><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microsoft.com/office/2007/relationships/hdphoto" Target="../media/hdphoto20.wdp"/><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jpeg"/><Relationship Id="rId7" Type="http://schemas.microsoft.com/office/2007/relationships/hdphoto" Target="../media/hdphoto22.wdp"/><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7.png"/><Relationship Id="rId5" Type="http://schemas.microsoft.com/office/2007/relationships/hdphoto" Target="../media/hdphoto21.wdp"/><Relationship Id="rId4" Type="http://schemas.openxmlformats.org/officeDocument/2006/relationships/image" Target="../media/image36.png"/><Relationship Id="rId9" Type="http://schemas.microsoft.com/office/2007/relationships/hdphoto" Target="../media/hdphoto23.wdp"/></Relationships>
</file>

<file path=ppt/slides/_rels/slide39.xml.rels><?xml version="1.0" encoding="UTF-8" standalone="yes"?>
<Relationships xmlns="http://schemas.openxmlformats.org/package/2006/relationships"><Relationship Id="rId26" Type="http://schemas.openxmlformats.org/officeDocument/2006/relationships/customXml" Target="../ink/ink10.xml"/><Relationship Id="rId21" Type="http://schemas.openxmlformats.org/officeDocument/2006/relationships/image" Target="../media/image40.png"/><Relationship Id="rId42" Type="http://schemas.openxmlformats.org/officeDocument/2006/relationships/customXml" Target="../ink/ink18.xml"/><Relationship Id="rId47" Type="http://schemas.openxmlformats.org/officeDocument/2006/relationships/image" Target="../media/image53.png"/><Relationship Id="rId63" Type="http://schemas.openxmlformats.org/officeDocument/2006/relationships/image" Target="../media/image61.png"/><Relationship Id="rId68" Type="http://schemas.openxmlformats.org/officeDocument/2006/relationships/customXml" Target="../ink/ink31.xml"/><Relationship Id="rId84" Type="http://schemas.openxmlformats.org/officeDocument/2006/relationships/customXml" Target="../ink/ink39.xml"/><Relationship Id="rId89" Type="http://schemas.openxmlformats.org/officeDocument/2006/relationships/image" Target="../media/image74.png"/><Relationship Id="rId16" Type="http://schemas.openxmlformats.org/officeDocument/2006/relationships/customXml" Target="../ink/ink5.xml"/><Relationship Id="rId11" Type="http://schemas.openxmlformats.org/officeDocument/2006/relationships/image" Target="../media/image350.png"/><Relationship Id="rId32" Type="http://schemas.openxmlformats.org/officeDocument/2006/relationships/customXml" Target="../ink/ink13.xml"/><Relationship Id="rId37" Type="http://schemas.openxmlformats.org/officeDocument/2006/relationships/image" Target="../media/image48.png"/><Relationship Id="rId53" Type="http://schemas.openxmlformats.org/officeDocument/2006/relationships/image" Target="../media/image56.png"/><Relationship Id="rId58" Type="http://schemas.openxmlformats.org/officeDocument/2006/relationships/customXml" Target="../ink/ink26.xml"/><Relationship Id="rId74" Type="http://schemas.openxmlformats.org/officeDocument/2006/relationships/customXml" Target="../ink/ink34.xml"/><Relationship Id="rId79" Type="http://schemas.openxmlformats.org/officeDocument/2006/relationships/image" Target="../media/image69.png"/><Relationship Id="rId5" Type="http://schemas.microsoft.com/office/2007/relationships/hdphoto" Target="../media/hdphoto24.wdp"/><Relationship Id="rId14" Type="http://schemas.openxmlformats.org/officeDocument/2006/relationships/customXml" Target="../ink/ink4.xml"/><Relationship Id="rId22" Type="http://schemas.openxmlformats.org/officeDocument/2006/relationships/customXml" Target="../ink/ink8.xml"/><Relationship Id="rId27" Type="http://schemas.openxmlformats.org/officeDocument/2006/relationships/image" Target="../media/image43.png"/><Relationship Id="rId30" Type="http://schemas.openxmlformats.org/officeDocument/2006/relationships/customXml" Target="../ink/ink12.xml"/><Relationship Id="rId35" Type="http://schemas.openxmlformats.org/officeDocument/2006/relationships/image" Target="../media/image47.png"/><Relationship Id="rId43" Type="http://schemas.openxmlformats.org/officeDocument/2006/relationships/image" Target="../media/image51.png"/><Relationship Id="rId48" Type="http://schemas.openxmlformats.org/officeDocument/2006/relationships/customXml" Target="../ink/ink21.xml"/><Relationship Id="rId56" Type="http://schemas.openxmlformats.org/officeDocument/2006/relationships/customXml" Target="../ink/ink25.xml"/><Relationship Id="rId64" Type="http://schemas.openxmlformats.org/officeDocument/2006/relationships/customXml" Target="../ink/ink29.xml"/><Relationship Id="rId69" Type="http://schemas.openxmlformats.org/officeDocument/2006/relationships/image" Target="../media/image64.png"/><Relationship Id="rId77" Type="http://schemas.openxmlformats.org/officeDocument/2006/relationships/image" Target="../media/image68.png"/><Relationship Id="rId8" Type="http://schemas.openxmlformats.org/officeDocument/2006/relationships/customXml" Target="../ink/ink1.xml"/><Relationship Id="rId51" Type="http://schemas.openxmlformats.org/officeDocument/2006/relationships/image" Target="../media/image55.png"/><Relationship Id="rId72" Type="http://schemas.openxmlformats.org/officeDocument/2006/relationships/customXml" Target="../ink/ink33.xml"/><Relationship Id="rId80" Type="http://schemas.openxmlformats.org/officeDocument/2006/relationships/customXml" Target="../ink/ink37.xml"/><Relationship Id="rId85" Type="http://schemas.openxmlformats.org/officeDocument/2006/relationships/image" Target="../media/image72.png"/><Relationship Id="rId3" Type="http://schemas.openxmlformats.org/officeDocument/2006/relationships/image" Target="../media/image1.jpeg"/><Relationship Id="rId12" Type="http://schemas.openxmlformats.org/officeDocument/2006/relationships/customXml" Target="../ink/ink3.xml"/><Relationship Id="rId17" Type="http://schemas.openxmlformats.org/officeDocument/2006/relationships/image" Target="../media/image380.png"/><Relationship Id="rId25" Type="http://schemas.openxmlformats.org/officeDocument/2006/relationships/image" Target="../media/image42.png"/><Relationship Id="rId33" Type="http://schemas.openxmlformats.org/officeDocument/2006/relationships/image" Target="../media/image46.png"/><Relationship Id="rId38" Type="http://schemas.openxmlformats.org/officeDocument/2006/relationships/customXml" Target="../ink/ink16.xml"/><Relationship Id="rId46" Type="http://schemas.openxmlformats.org/officeDocument/2006/relationships/customXml" Target="../ink/ink20.xml"/><Relationship Id="rId59" Type="http://schemas.openxmlformats.org/officeDocument/2006/relationships/image" Target="../media/image59.png"/><Relationship Id="rId67" Type="http://schemas.openxmlformats.org/officeDocument/2006/relationships/image" Target="../media/image63.png"/><Relationship Id="rId20" Type="http://schemas.openxmlformats.org/officeDocument/2006/relationships/customXml" Target="../ink/ink7.xml"/><Relationship Id="rId41" Type="http://schemas.openxmlformats.org/officeDocument/2006/relationships/image" Target="../media/image50.png"/><Relationship Id="rId54" Type="http://schemas.openxmlformats.org/officeDocument/2006/relationships/customXml" Target="../ink/ink24.xml"/><Relationship Id="rId62" Type="http://schemas.openxmlformats.org/officeDocument/2006/relationships/customXml" Target="../ink/ink28.xml"/><Relationship Id="rId70" Type="http://schemas.openxmlformats.org/officeDocument/2006/relationships/customXml" Target="../ink/ink32.xml"/><Relationship Id="rId75" Type="http://schemas.openxmlformats.org/officeDocument/2006/relationships/image" Target="../media/image67.png"/><Relationship Id="rId83" Type="http://schemas.openxmlformats.org/officeDocument/2006/relationships/image" Target="../media/image71.png"/><Relationship Id="rId88"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image" Target="../media/image36.png"/><Relationship Id="rId15" Type="http://schemas.openxmlformats.org/officeDocument/2006/relationships/image" Target="../media/image370.PNG"/><Relationship Id="rId23" Type="http://schemas.openxmlformats.org/officeDocument/2006/relationships/image" Target="../media/image41.png"/><Relationship Id="rId28" Type="http://schemas.openxmlformats.org/officeDocument/2006/relationships/customXml" Target="../ink/ink11.xml"/><Relationship Id="rId36" Type="http://schemas.openxmlformats.org/officeDocument/2006/relationships/customXml" Target="../ink/ink15.xml"/><Relationship Id="rId49" Type="http://schemas.openxmlformats.org/officeDocument/2006/relationships/image" Target="../media/image54.png"/><Relationship Id="rId57" Type="http://schemas.openxmlformats.org/officeDocument/2006/relationships/image" Target="../media/image58.png"/><Relationship Id="rId10" Type="http://schemas.openxmlformats.org/officeDocument/2006/relationships/customXml" Target="../ink/ink2.xml"/><Relationship Id="rId31" Type="http://schemas.openxmlformats.org/officeDocument/2006/relationships/image" Target="../media/image45.png"/><Relationship Id="rId44" Type="http://schemas.openxmlformats.org/officeDocument/2006/relationships/customXml" Target="../ink/ink19.xml"/><Relationship Id="rId52" Type="http://schemas.openxmlformats.org/officeDocument/2006/relationships/customXml" Target="../ink/ink23.xml"/><Relationship Id="rId60" Type="http://schemas.openxmlformats.org/officeDocument/2006/relationships/customXml" Target="../ink/ink27.xml"/><Relationship Id="rId65" Type="http://schemas.openxmlformats.org/officeDocument/2006/relationships/image" Target="../media/image62.png"/><Relationship Id="rId73" Type="http://schemas.openxmlformats.org/officeDocument/2006/relationships/image" Target="../media/image66.png"/><Relationship Id="rId78" Type="http://schemas.openxmlformats.org/officeDocument/2006/relationships/customXml" Target="../ink/ink36.xml"/><Relationship Id="rId81" Type="http://schemas.openxmlformats.org/officeDocument/2006/relationships/image" Target="../media/image70.png"/><Relationship Id="rId86" Type="http://schemas.openxmlformats.org/officeDocument/2006/relationships/customXml" Target="../ink/ink40.xml"/><Relationship Id="rId4" Type="http://schemas.openxmlformats.org/officeDocument/2006/relationships/image" Target="../media/image39.png"/><Relationship Id="rId9" Type="http://schemas.openxmlformats.org/officeDocument/2006/relationships/image" Target="../media/image340.png"/><Relationship Id="rId13" Type="http://schemas.openxmlformats.org/officeDocument/2006/relationships/image" Target="../media/image361.PNG"/><Relationship Id="rId18" Type="http://schemas.openxmlformats.org/officeDocument/2006/relationships/customXml" Target="../ink/ink6.xml"/><Relationship Id="rId39" Type="http://schemas.openxmlformats.org/officeDocument/2006/relationships/image" Target="../media/image49.png"/><Relationship Id="rId34" Type="http://schemas.openxmlformats.org/officeDocument/2006/relationships/customXml" Target="../ink/ink14.xml"/><Relationship Id="rId50" Type="http://schemas.openxmlformats.org/officeDocument/2006/relationships/customXml" Target="../ink/ink22.xml"/><Relationship Id="rId55" Type="http://schemas.openxmlformats.org/officeDocument/2006/relationships/image" Target="../media/image57.png"/><Relationship Id="rId76" Type="http://schemas.openxmlformats.org/officeDocument/2006/relationships/customXml" Target="../ink/ink35.xml"/><Relationship Id="rId7" Type="http://schemas.microsoft.com/office/2007/relationships/hdphoto" Target="../media/hdphoto21.wdp"/><Relationship Id="rId71" Type="http://schemas.openxmlformats.org/officeDocument/2006/relationships/image" Target="../media/image65.png"/><Relationship Id="rId2" Type="http://schemas.openxmlformats.org/officeDocument/2006/relationships/notesSlide" Target="../notesSlides/notesSlide36.xml"/><Relationship Id="rId29" Type="http://schemas.openxmlformats.org/officeDocument/2006/relationships/image" Target="../media/image44.png"/><Relationship Id="rId24" Type="http://schemas.openxmlformats.org/officeDocument/2006/relationships/customXml" Target="../ink/ink9.xml"/><Relationship Id="rId40" Type="http://schemas.openxmlformats.org/officeDocument/2006/relationships/customXml" Target="../ink/ink17.xml"/><Relationship Id="rId45" Type="http://schemas.openxmlformats.org/officeDocument/2006/relationships/image" Target="../media/image52.png"/><Relationship Id="rId66" Type="http://schemas.openxmlformats.org/officeDocument/2006/relationships/customXml" Target="../ink/ink30.xml"/><Relationship Id="rId87" Type="http://schemas.openxmlformats.org/officeDocument/2006/relationships/image" Target="../media/image73.png"/><Relationship Id="rId61" Type="http://schemas.openxmlformats.org/officeDocument/2006/relationships/image" Target="../media/image60.png"/><Relationship Id="rId82" Type="http://schemas.openxmlformats.org/officeDocument/2006/relationships/customXml" Target="../ink/ink38.xml"/><Relationship Id="rId19" Type="http://schemas.openxmlformats.org/officeDocument/2006/relationships/image" Target="../media/image390.png"/></Relationships>
</file>

<file path=ppt/slides/_rels/slide40.xml.rels><?xml version="1.0" encoding="UTF-8" standalone="yes"?>
<Relationships xmlns="http://schemas.openxmlformats.org/package/2006/relationships"><Relationship Id="rId8" Type="http://schemas.openxmlformats.org/officeDocument/2006/relationships/image" Target="../media/image460.PNG"/><Relationship Id="rId13" Type="http://schemas.openxmlformats.org/officeDocument/2006/relationships/customXml" Target="../ink/ink44.xml"/><Relationship Id="rId18" Type="http://schemas.openxmlformats.org/officeDocument/2006/relationships/customXml" Target="../ink/ink48.xml"/><Relationship Id="rId3" Type="http://schemas.openxmlformats.org/officeDocument/2006/relationships/image" Target="../media/image1.jpeg"/><Relationship Id="rId21" Type="http://schemas.openxmlformats.org/officeDocument/2006/relationships/customXml" Target="../ink/ink50.xml"/><Relationship Id="rId7" Type="http://schemas.microsoft.com/office/2007/relationships/hdphoto" Target="../media/hdphoto26.wdp"/><Relationship Id="rId12" Type="http://schemas.openxmlformats.org/officeDocument/2006/relationships/image" Target="../media/image78.png"/><Relationship Id="rId17" Type="http://schemas.openxmlformats.org/officeDocument/2006/relationships/image" Target="../media/image79.png"/><Relationship Id="rId2" Type="http://schemas.openxmlformats.org/officeDocument/2006/relationships/notesSlide" Target="../notesSlides/notesSlide37.xml"/><Relationship Id="rId16" Type="http://schemas.openxmlformats.org/officeDocument/2006/relationships/customXml" Target="../ink/ink47.xml"/><Relationship Id="rId20" Type="http://schemas.openxmlformats.org/officeDocument/2006/relationships/customXml" Target="../ink/ink49.xml"/><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customXml" Target="../ink/ink43.xml"/><Relationship Id="rId5" Type="http://schemas.microsoft.com/office/2007/relationships/hdphoto" Target="../media/hdphoto25.wdp"/><Relationship Id="rId15" Type="http://schemas.openxmlformats.org/officeDocument/2006/relationships/customXml" Target="../ink/ink46.xml"/><Relationship Id="rId10" Type="http://schemas.openxmlformats.org/officeDocument/2006/relationships/image" Target="../media/image77.png"/><Relationship Id="rId19" Type="http://schemas.openxmlformats.org/officeDocument/2006/relationships/image" Target="../media/image80.png"/><Relationship Id="rId4" Type="http://schemas.openxmlformats.org/officeDocument/2006/relationships/image" Target="../media/image75.png"/><Relationship Id="rId9" Type="http://schemas.openxmlformats.org/officeDocument/2006/relationships/customXml" Target="../ink/ink42.xml"/><Relationship Id="rId14" Type="http://schemas.openxmlformats.org/officeDocument/2006/relationships/customXml" Target="../ink/ink45.xml"/><Relationship Id="rId22" Type="http://schemas.openxmlformats.org/officeDocument/2006/relationships/image" Target="../media/image81.png"/></Relationships>
</file>

<file path=ppt/slides/_rels/slide41.xml.rels><?xml version="1.0" encoding="UTF-8" standalone="yes"?>
<Relationships xmlns="http://schemas.openxmlformats.org/package/2006/relationships"><Relationship Id="rId8" Type="http://schemas.microsoft.com/office/2007/relationships/hdphoto" Target="../media/hdphoto28.wdp"/><Relationship Id="rId13" Type="http://schemas.openxmlformats.org/officeDocument/2006/relationships/customXml" Target="../ink/ink52.xml"/><Relationship Id="rId3" Type="http://schemas.openxmlformats.org/officeDocument/2006/relationships/image" Target="../media/image1.jpeg"/><Relationship Id="rId7" Type="http://schemas.openxmlformats.org/officeDocument/2006/relationships/image" Target="../media/image84.png"/><Relationship Id="rId12" Type="http://schemas.openxmlformats.org/officeDocument/2006/relationships/image" Target="../media/image85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microsoft.com/office/2007/relationships/hdphoto" Target="../media/hdphoto27.wdp"/><Relationship Id="rId11" Type="http://schemas.openxmlformats.org/officeDocument/2006/relationships/customXml" Target="../ink/ink51.xml"/><Relationship Id="rId5" Type="http://schemas.openxmlformats.org/officeDocument/2006/relationships/image" Target="../media/image83.png"/><Relationship Id="rId10" Type="http://schemas.microsoft.com/office/2007/relationships/hdphoto" Target="../media/hdphoto29.wdp"/><Relationship Id="rId4" Type="http://schemas.openxmlformats.org/officeDocument/2006/relationships/image" Target="../media/image82.png"/><Relationship Id="rId9" Type="http://schemas.openxmlformats.org/officeDocument/2006/relationships/image" Target="../media/image85.png"/><Relationship Id="rId14" Type="http://schemas.openxmlformats.org/officeDocument/2006/relationships/image" Target="../media/image77.png"/></Relationships>
</file>

<file path=ppt/slides/_rels/slide4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1.jpeg"/><Relationship Id="rId7" Type="http://schemas.openxmlformats.org/officeDocument/2006/relationships/customXml" Target="../ink/ink54.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customXml" Target="../ink/ink53.xml"/><Relationship Id="rId10" Type="http://schemas.microsoft.com/office/2007/relationships/hdphoto" Target="../media/hdphoto30.wdp"/><Relationship Id="rId4" Type="http://schemas.openxmlformats.org/officeDocument/2006/relationships/image" Target="../media/image86.png"/><Relationship Id="rId9" Type="http://schemas.openxmlformats.org/officeDocument/2006/relationships/image" Target="../media/image89.png"/></Relationships>
</file>

<file path=ppt/slides/_rels/slide43.xml.rels><?xml version="1.0" encoding="UTF-8" standalone="yes"?>
<Relationships xmlns="http://schemas.openxmlformats.org/package/2006/relationships"><Relationship Id="rId8" Type="http://schemas.microsoft.com/office/2007/relationships/hdphoto" Target="../media/hdphoto32.wdp"/><Relationship Id="rId3" Type="http://schemas.openxmlformats.org/officeDocument/2006/relationships/image" Target="../media/image1.jpeg"/><Relationship Id="rId7" Type="http://schemas.openxmlformats.org/officeDocument/2006/relationships/image" Target="../media/image9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microsoft.com/office/2007/relationships/hdphoto" Target="../media/hdphoto31.wdp"/><Relationship Id="rId5" Type="http://schemas.openxmlformats.org/officeDocument/2006/relationships/image" Target="../media/image91.png"/><Relationship Id="rId10" Type="http://schemas.microsoft.com/office/2007/relationships/hdphoto" Target="../media/hdphoto33.wdp"/><Relationship Id="rId4" Type="http://schemas.openxmlformats.org/officeDocument/2006/relationships/image" Target="../media/image90.png"/><Relationship Id="rId9" Type="http://schemas.openxmlformats.org/officeDocument/2006/relationships/image" Target="../media/image93.png"/></Relationships>
</file>

<file path=ppt/slides/_rels/slide44.xml.rels><?xml version="1.0" encoding="UTF-8" standalone="yes"?>
<Relationships xmlns="http://schemas.openxmlformats.org/package/2006/relationships"><Relationship Id="rId8" Type="http://schemas.microsoft.com/office/2007/relationships/hdphoto" Target="../media/hdphoto35.wdp"/><Relationship Id="rId3" Type="http://schemas.openxmlformats.org/officeDocument/2006/relationships/image" Target="../media/image94.png"/><Relationship Id="rId7" Type="http://schemas.openxmlformats.org/officeDocument/2006/relationships/image" Target="../media/image96.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microsoft.com/office/2007/relationships/hdphoto" Target="../media/hdphoto34.wdp"/><Relationship Id="rId5" Type="http://schemas.openxmlformats.org/officeDocument/2006/relationships/image" Target="../media/image95.png"/><Relationship Id="rId10" Type="http://schemas.microsoft.com/office/2007/relationships/hdphoto" Target="../media/hdphoto36.wdp"/><Relationship Id="rId4" Type="http://schemas.openxmlformats.org/officeDocument/2006/relationships/image" Target="../media/image1.jpeg"/><Relationship Id="rId9" Type="http://schemas.openxmlformats.org/officeDocument/2006/relationships/image" Target="../media/image97.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jpeg"/><Relationship Id="rId7" Type="http://schemas.microsoft.com/office/2007/relationships/hdphoto" Target="../media/hdphoto38.wdp"/><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9.png"/><Relationship Id="rId11" Type="http://schemas.microsoft.com/office/2007/relationships/hdphoto" Target="../media/hdphoto40.wdp"/><Relationship Id="rId5" Type="http://schemas.microsoft.com/office/2007/relationships/hdphoto" Target="../media/hdphoto37.wdp"/><Relationship Id="rId10" Type="http://schemas.openxmlformats.org/officeDocument/2006/relationships/image" Target="../media/image101.png"/><Relationship Id="rId4" Type="http://schemas.openxmlformats.org/officeDocument/2006/relationships/image" Target="../media/image98.png"/><Relationship Id="rId9" Type="http://schemas.microsoft.com/office/2007/relationships/hdphoto" Target="../media/hdphoto39.wdp"/></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7" Type="http://schemas.microsoft.com/office/2007/relationships/hdphoto" Target="../media/hdphoto42.wdp"/><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03.png"/><Relationship Id="rId5" Type="http://schemas.microsoft.com/office/2007/relationships/hdphoto" Target="../media/hdphoto41.wdp"/><Relationship Id="rId4" Type="http://schemas.openxmlformats.org/officeDocument/2006/relationships/image" Target="../media/image10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microsoft.com/office/2007/relationships/hdphoto" Target="../media/hdphoto43.wdp"/><Relationship Id="rId4" Type="http://schemas.openxmlformats.org/officeDocument/2006/relationships/image" Target="../media/image104.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7" Type="http://schemas.microsoft.com/office/2007/relationships/hdphoto" Target="../media/hdphoto45.wdp"/><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06.png"/><Relationship Id="rId5" Type="http://schemas.microsoft.com/office/2007/relationships/hdphoto" Target="../media/hdphoto44.wdp"/><Relationship Id="rId4" Type="http://schemas.openxmlformats.org/officeDocument/2006/relationships/image" Target="../media/image105.png"/></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jpeg"/><Relationship Id="rId4" Type="http://schemas.microsoft.com/office/2007/relationships/hdphoto" Target="../media/hdphoto46.wdp"/></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microsoft.com/office/2007/relationships/hdphoto" Target="../media/hdphoto47.wdp"/><Relationship Id="rId5" Type="http://schemas.openxmlformats.org/officeDocument/2006/relationships/image" Target="../media/image108.png"/><Relationship Id="rId4" Type="http://schemas.openxmlformats.org/officeDocument/2006/relationships/image" Target="../media/image1.jpe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microsoft.com/office/2007/relationships/hdphoto" Target="../media/hdphoto48.wdp"/></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microsoft.com/office/2007/relationships/hdphoto" Target="../media/hdphoto49.wdp"/></Relationships>
</file>

<file path=ppt/slides/_rels/slide5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microsoft.com/office/2007/relationships/hdphoto" Target="../media/hdphoto50.wdp"/></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7" Type="http://schemas.microsoft.com/office/2007/relationships/hdphoto" Target="../media/hdphoto52.wdp"/><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15.png"/><Relationship Id="rId5" Type="http://schemas.microsoft.com/office/2007/relationships/hdphoto" Target="../media/hdphoto51.wdp"/><Relationship Id="rId4" Type="http://schemas.openxmlformats.org/officeDocument/2006/relationships/image" Target="../media/image114.png"/></Relationships>
</file>

<file path=ppt/slides/_rels/slide60.xml.rels><?xml version="1.0" encoding="UTF-8" standalone="yes"?>
<Relationships xmlns="http://schemas.openxmlformats.org/package/2006/relationships"><Relationship Id="rId3" Type="http://schemas.microsoft.com/office/2007/relationships/hdphoto" Target="../media/hdphoto53.wdp"/><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54.wdp"/><Relationship Id="rId2" Type="http://schemas.openxmlformats.org/officeDocument/2006/relationships/image" Target="../media/image117.png"/><Relationship Id="rId1" Type="http://schemas.openxmlformats.org/officeDocument/2006/relationships/slideLayout" Target="../slideLayouts/slideLayout2.xml"/><Relationship Id="rId5" Type="http://schemas.microsoft.com/office/2007/relationships/hdphoto" Target="../media/hdphoto55.wdp"/><Relationship Id="rId4" Type="http://schemas.openxmlformats.org/officeDocument/2006/relationships/image" Target="../media/image118.png"/></Relationships>
</file>

<file path=ppt/slides/_rels/slide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microsoft.com/office/2007/relationships/hdphoto" Target="../media/hdphoto55.wdp"/></Relationships>
</file>

<file path=ppt/slides/_rels/slide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microsoft.com/office/2007/relationships/hdphoto" Target="../media/hdphoto56.wdp"/></Relationships>
</file>

<file path=ppt/slides/_rels/slide64.xml.rels><?xml version="1.0" encoding="UTF-8" standalone="yes"?>
<Relationships xmlns="http://schemas.openxmlformats.org/package/2006/relationships"><Relationship Id="rId3" Type="http://schemas.microsoft.com/office/2007/relationships/hdphoto" Target="../media/hdphoto57.wdp"/><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24.jpeg"/><Relationship Id="rId4" Type="http://schemas.openxmlformats.org/officeDocument/2006/relationships/image" Target="../media/image123.png"/></Relationships>
</file>

<file path=ppt/slides/_rels/slide6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2412" y="2486740"/>
            <a:ext cx="10517876" cy="1390828"/>
          </a:xfrm>
        </p:spPr>
        <p:txBody>
          <a:bodyPr>
            <a:normAutofit/>
          </a:bodyPr>
          <a:lstStyle/>
          <a:p>
            <a:pPr algn="l"/>
            <a:r>
              <a:rPr lang="en-US" sz="6200" b="1" dirty="0">
                <a:latin typeface="+mn-lt"/>
              </a:rPr>
              <a:t>Boolean Algebra &amp; Logic Gates</a:t>
            </a:r>
          </a:p>
        </p:txBody>
      </p:sp>
      <p:sp>
        <p:nvSpPr>
          <p:cNvPr id="3" name="Subtitle 2"/>
          <p:cNvSpPr>
            <a:spLocks noGrp="1"/>
          </p:cNvSpPr>
          <p:nvPr>
            <p:ph type="subTitle" idx="1"/>
          </p:nvPr>
        </p:nvSpPr>
        <p:spPr>
          <a:xfrm>
            <a:off x="1674125" y="4707506"/>
            <a:ext cx="9144000" cy="1655762"/>
          </a:xfrm>
        </p:spPr>
        <p:txBody>
          <a:bodyPr/>
          <a:lstStyle/>
          <a:p>
            <a:pPr algn="l"/>
            <a:r>
              <a:rPr lang="en-US" b="1" dirty="0"/>
              <a:t>Course Teacher: Md. Hamjajul Ashmafee</a:t>
            </a:r>
          </a:p>
          <a:p>
            <a:pPr algn="l"/>
            <a:r>
              <a:rPr lang="en-US" b="1" dirty="0"/>
              <a:t>Lecturer, CSE, IUT</a:t>
            </a:r>
          </a:p>
          <a:p>
            <a:pPr algn="l"/>
            <a:r>
              <a:rPr lang="en-US" b="1" dirty="0"/>
              <a:t>Email: ashmafee@iut-dhaka.edu</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17573" y="109679"/>
            <a:ext cx="731108" cy="1188720"/>
          </a:xfrm>
          <a:prstGeom prst="rect">
            <a:avLst/>
          </a:prstGeom>
        </p:spPr>
      </p:pic>
      <p:sp>
        <p:nvSpPr>
          <p:cNvPr id="5" name="Title 1"/>
          <p:cNvSpPr txBox="1">
            <a:spLocks/>
          </p:cNvSpPr>
          <p:nvPr/>
        </p:nvSpPr>
        <p:spPr>
          <a:xfrm>
            <a:off x="1674125" y="704039"/>
            <a:ext cx="9144000" cy="13908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500" b="1" dirty="0"/>
              <a:t>CSE 4205</a:t>
            </a:r>
            <a:br>
              <a:rPr lang="en-US" sz="4500" b="1" dirty="0"/>
            </a:br>
            <a:r>
              <a:rPr lang="en-US" sz="4500" b="1" dirty="0"/>
              <a:t>Digital Logic Design</a:t>
            </a:r>
          </a:p>
        </p:txBody>
      </p:sp>
    </p:spTree>
    <p:extLst>
      <p:ext uri="{BB962C8B-B14F-4D97-AF65-F5344CB8AC3E}">
        <p14:creationId xmlns:p14="http://schemas.microsoft.com/office/powerpoint/2010/main" val="1015783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17573" y="109679"/>
            <a:ext cx="731108" cy="1188720"/>
          </a:xfrm>
          <a:prstGeom prst="rect">
            <a:avLst/>
          </a:prstGeom>
        </p:spPr>
      </p:pic>
      <p:sp>
        <p:nvSpPr>
          <p:cNvPr id="11" name="Title 10">
            <a:extLst>
              <a:ext uri="{FF2B5EF4-FFF2-40B4-BE49-F238E27FC236}">
                <a16:creationId xmlns:a16="http://schemas.microsoft.com/office/drawing/2014/main" id="{3FC56E42-0C73-470E-AC06-355EB31884FA}"/>
              </a:ext>
            </a:extLst>
          </p:cNvPr>
          <p:cNvSpPr>
            <a:spLocks noGrp="1"/>
          </p:cNvSpPr>
          <p:nvPr>
            <p:ph type="title"/>
          </p:nvPr>
        </p:nvSpPr>
        <p:spPr/>
        <p:txBody>
          <a:bodyPr/>
          <a:lstStyle/>
          <a:p>
            <a:r>
              <a:rPr lang="en-US" b="1" dirty="0">
                <a:latin typeface="+mn-lt"/>
              </a:rPr>
              <a:t>Remaining to Add</a:t>
            </a:r>
          </a:p>
        </p:txBody>
      </p:sp>
      <p:sp>
        <p:nvSpPr>
          <p:cNvPr id="12" name="Content Placeholder 11">
            <a:extLst>
              <a:ext uri="{FF2B5EF4-FFF2-40B4-BE49-F238E27FC236}">
                <a16:creationId xmlns:a16="http://schemas.microsoft.com/office/drawing/2014/main" id="{78C1F6F8-7666-4B8F-A967-DD26827AE0B8}"/>
              </a:ext>
            </a:extLst>
          </p:cNvPr>
          <p:cNvSpPr>
            <a:spLocks noGrp="1"/>
          </p:cNvSpPr>
          <p:nvPr>
            <p:ph idx="1"/>
          </p:nvPr>
        </p:nvSpPr>
        <p:spPr/>
        <p:txBody>
          <a:bodyPr/>
          <a:lstStyle/>
          <a:p>
            <a:r>
              <a:rPr lang="en-US" dirty="0"/>
              <a:t>Review other books and internet resources</a:t>
            </a:r>
          </a:p>
        </p:txBody>
      </p:sp>
      <p:sp>
        <p:nvSpPr>
          <p:cNvPr id="8" name="Date Placeholder 7"/>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Chapter 1</a:t>
            </a:r>
          </a:p>
        </p:txBody>
      </p:sp>
      <p:sp>
        <p:nvSpPr>
          <p:cNvPr id="9" name="Footer Placeholder 8"/>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CSE 4205: Digital Logic Design</a:t>
            </a: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A7011D-92ED-4732-AC78-E5139C36022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1308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Basic Definitions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351338"/>
              </a:xfrm>
            </p:spPr>
            <p:txBody>
              <a:bodyPr/>
              <a:lstStyle/>
              <a:p>
                <a:pPr algn="just"/>
                <a:r>
                  <a:rPr lang="en-US" b="1" dirty="0"/>
                  <a:t>Ordinary algebra </a:t>
                </a:r>
                <a:r>
                  <a:rPr lang="en-US" dirty="0"/>
                  <a:t>– a mathematical system</a:t>
                </a:r>
              </a:p>
              <a:p>
                <a:pPr lvl="1" algn="just"/>
                <a:r>
                  <a:rPr lang="en-US" dirty="0"/>
                  <a:t>Defined with a set of elements (</a:t>
                </a:r>
                <a:r>
                  <a:rPr lang="en-US" b="1" i="1" dirty="0"/>
                  <a:t>S</a:t>
                </a:r>
                <a:r>
                  <a:rPr lang="en-US" dirty="0"/>
                  <a:t>), a set of operators, and a number of unproved axioms or postulates, where:</a:t>
                </a:r>
              </a:p>
              <a:p>
                <a:pPr marL="1428750" lvl="2" indent="-514350" algn="just">
                  <a:buFont typeface="+mj-lt"/>
                  <a:buAutoNum type="romanLcPeriod"/>
                </a:pPr>
                <a:r>
                  <a:rPr lang="en-US" b="1" dirty="0"/>
                  <a:t>A set of elements, </a:t>
                </a:r>
                <a:r>
                  <a:rPr lang="en-US" b="1" i="1" dirty="0"/>
                  <a:t>S</a:t>
                </a:r>
                <a:r>
                  <a:rPr lang="en-US" b="1" dirty="0"/>
                  <a:t> </a:t>
                </a:r>
                <a:r>
                  <a:rPr lang="en-US" dirty="0"/>
                  <a:t>– any collections of </a:t>
                </a:r>
                <a:r>
                  <a:rPr lang="en-US" dirty="0">
                    <a:solidFill>
                      <a:srgbClr val="FF0000"/>
                    </a:solidFill>
                  </a:rPr>
                  <a:t>objects </a:t>
                </a:r>
                <a:r>
                  <a:rPr lang="en-US" dirty="0"/>
                  <a:t>having a common property –</a:t>
                </a:r>
                <a:r>
                  <a:rPr lang="en-US" b="1" i="1" dirty="0"/>
                  <a:t> e.g.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𝑐</m:t>
                    </m:r>
                    <m:r>
                      <a:rPr lang="en-US" i="1" dirty="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 {0,1,2,…}</m:t>
                    </m:r>
                  </m:oMath>
                </a14:m>
                <a:endParaRPr lang="en-US" dirty="0"/>
              </a:p>
              <a:p>
                <a:pPr marL="1428750" lvl="2" indent="-514350" algn="just">
                  <a:buFont typeface="+mj-lt"/>
                  <a:buAutoNum type="romanLcPeriod"/>
                </a:pPr>
                <a:r>
                  <a:rPr lang="en-US" b="1" dirty="0"/>
                  <a:t>A set of operators </a:t>
                </a:r>
                <a:r>
                  <a:rPr lang="en-US" dirty="0"/>
                  <a:t>– a set of</a:t>
                </a:r>
                <a:r>
                  <a:rPr lang="en-US" b="1" dirty="0"/>
                  <a:t> </a:t>
                </a:r>
                <a:r>
                  <a:rPr lang="en-US" b="1" dirty="0">
                    <a:solidFill>
                      <a:srgbClr val="FF0000"/>
                    </a:solidFill>
                  </a:rPr>
                  <a:t>rules (</a:t>
                </a:r>
                <a:r>
                  <a:rPr lang="en-US" b="1" dirty="0"/>
                  <a:t>operations</a:t>
                </a:r>
                <a:r>
                  <a:rPr lang="en-US" b="1" dirty="0">
                    <a:solidFill>
                      <a:srgbClr val="FF0000"/>
                    </a:solidFill>
                  </a:rPr>
                  <a:t>) </a:t>
                </a:r>
                <a:r>
                  <a:rPr lang="en-US" dirty="0"/>
                  <a:t>that defined on the set </a:t>
                </a:r>
                <a:r>
                  <a:rPr lang="en-US" b="1" i="1" dirty="0"/>
                  <a:t>S </a:t>
                </a:r>
                <a:r>
                  <a:rPr lang="en-US" dirty="0"/>
                  <a:t>– </a:t>
                </a:r>
                <a:r>
                  <a:rPr lang="en-US" b="1" i="1" dirty="0"/>
                  <a:t>e.g. </a:t>
                </a:r>
                <a14:m>
                  <m:oMath xmlns:m="http://schemas.openxmlformats.org/officeDocument/2006/math">
                    <m:r>
                      <a:rPr lang="en-US" i="1" dirty="0" smtClean="0">
                        <a:latin typeface="Cambria Math" panose="02040503050406030204" pitchFamily="18" charset="0"/>
                      </a:rPr>
                      <m:t>{+,∗}</m:t>
                    </m:r>
                  </m:oMath>
                </a14:m>
                <a:endParaRPr lang="en-US" b="1" dirty="0"/>
              </a:p>
              <a:p>
                <a:pPr marL="1428750" lvl="2" indent="-514350" algn="just">
                  <a:buFont typeface="+mj-lt"/>
                  <a:buAutoNum type="romanLcPeriod"/>
                </a:pPr>
                <a:r>
                  <a:rPr lang="en-US" b="1" dirty="0"/>
                  <a:t>Postulates</a:t>
                </a:r>
                <a:r>
                  <a:rPr lang="en-US" dirty="0"/>
                  <a:t> – form of the </a:t>
                </a:r>
                <a:r>
                  <a:rPr lang="en-US" b="1" dirty="0">
                    <a:solidFill>
                      <a:srgbClr val="FF0000"/>
                    </a:solidFill>
                  </a:rPr>
                  <a:t>basic assumptions </a:t>
                </a:r>
                <a:r>
                  <a:rPr lang="en-US" dirty="0"/>
                  <a:t>from where other rules, theorems, and properties of the system are deduced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3"/>
                <a:stretch>
                  <a:fillRect l="-960" t="-2241" r="-800"/>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dirty="0"/>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a:t>
            </a:fld>
            <a:endParaRPr lang="en-US" sz="1800" dirty="0"/>
          </a:p>
        </p:txBody>
      </p:sp>
    </p:spTree>
    <p:extLst>
      <p:ext uri="{BB962C8B-B14F-4D97-AF65-F5344CB8AC3E}">
        <p14:creationId xmlns:p14="http://schemas.microsoft.com/office/powerpoint/2010/main" val="372648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365125"/>
            <a:ext cx="11293840" cy="1325563"/>
          </a:xfrm>
        </p:spPr>
        <p:txBody>
          <a:bodyPr>
            <a:normAutofit/>
          </a:bodyPr>
          <a:lstStyle/>
          <a:p>
            <a:r>
              <a:rPr lang="en-US" b="1" i="1" dirty="0">
                <a:solidFill>
                  <a:schemeClr val="accent5">
                    <a:lumMod val="75000"/>
                  </a:schemeClr>
                </a:solidFill>
                <a:latin typeface="+mn-lt"/>
              </a:rPr>
              <a:t>Common Postulates of a Mathematical System</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39272"/>
                <a:ext cx="11430000" cy="4517077"/>
              </a:xfrm>
            </p:spPr>
            <p:txBody>
              <a:bodyPr>
                <a:normAutofit/>
              </a:bodyPr>
              <a:lstStyle/>
              <a:p>
                <a:pPr marL="514350" indent="-514350" algn="just">
                  <a:buFont typeface="+mj-lt"/>
                  <a:buAutoNum type="arabicPeriod"/>
                </a:pPr>
                <a:r>
                  <a:rPr lang="en-US" sz="3000" b="1" dirty="0">
                    <a:solidFill>
                      <a:srgbClr val="00B050"/>
                    </a:solidFill>
                  </a:rPr>
                  <a:t>Closure: </a:t>
                </a:r>
                <a:r>
                  <a:rPr lang="en-US" dirty="0"/>
                  <a:t>A </a:t>
                </a:r>
                <a:r>
                  <a:rPr lang="en-US" b="1" i="1" dirty="0">
                    <a:solidFill>
                      <a:srgbClr val="FF0000"/>
                    </a:solidFill>
                  </a:rPr>
                  <a:t>set</a:t>
                </a:r>
                <a:r>
                  <a:rPr lang="en-US" dirty="0"/>
                  <a:t> is said to satisfy a closure property if it is </a:t>
                </a:r>
                <a:r>
                  <a:rPr lang="en-US" b="1" dirty="0"/>
                  <a:t>closed</a:t>
                </a:r>
                <a:r>
                  <a:rPr lang="en-US" dirty="0"/>
                  <a:t> under an operation or collection of operations. </a:t>
                </a:r>
              </a:p>
              <a:p>
                <a:pPr lvl="2" algn="just"/>
                <a:r>
                  <a:rPr lang="en-US" sz="2200" b="1" i="1" dirty="0"/>
                  <a:t>i.e., </a:t>
                </a:r>
                <a:r>
                  <a:rPr lang="en-US" sz="2200" dirty="0"/>
                  <a:t>A </a:t>
                </a:r>
                <a:r>
                  <a:rPr lang="en-US" sz="2200" b="1" i="1" dirty="0">
                    <a:solidFill>
                      <a:srgbClr val="FF0000"/>
                    </a:solidFill>
                  </a:rPr>
                  <a:t>set</a:t>
                </a:r>
                <a:r>
                  <a:rPr lang="en-US" sz="2200" i="1" dirty="0"/>
                  <a:t> </a:t>
                </a:r>
                <a:r>
                  <a:rPr lang="en-US" sz="2200" dirty="0"/>
                  <a:t>is closed with respect to a binary operation if performance of that operation on the members of the set always produce a result from the </a:t>
                </a:r>
                <a:r>
                  <a:rPr lang="en-US" sz="2200" b="1" dirty="0"/>
                  <a:t>same </a:t>
                </a:r>
                <a:r>
                  <a:rPr lang="en-US" sz="2200" dirty="0"/>
                  <a:t>set </a:t>
                </a:r>
              </a:p>
              <a:p>
                <a:pPr lvl="2" algn="just"/>
                <a:r>
                  <a:rPr lang="en-US" sz="2200" b="1" i="1" dirty="0"/>
                  <a:t>Example: </a:t>
                </a:r>
                <a:r>
                  <a:rPr lang="en-US" sz="2200" dirty="0"/>
                  <a:t>The set of natural number, </a:t>
                </a:r>
                <a14:m>
                  <m:oMath xmlns:m="http://schemas.openxmlformats.org/officeDocument/2006/math">
                    <m:r>
                      <a:rPr lang="en-US" sz="2200" b="1" i="1" dirty="0" smtClean="0">
                        <a:latin typeface="Cambria Math" panose="02040503050406030204" pitchFamily="18" charset="0"/>
                      </a:rPr>
                      <m:t>𝑵</m:t>
                    </m:r>
                    <m:r>
                      <a:rPr lang="en-US" sz="2200" i="1" dirty="0" smtClean="0">
                        <a:latin typeface="Cambria Math" panose="02040503050406030204" pitchFamily="18" charset="0"/>
                      </a:rPr>
                      <m:t> ={1,2,3,…} </m:t>
                    </m:r>
                  </m:oMath>
                </a14:m>
                <a:r>
                  <a:rPr lang="en-US" sz="2200" dirty="0"/>
                  <a:t>is closed with respect to the binary operator plus (</a:t>
                </a:r>
                <a:r>
                  <a:rPr lang="en-US" sz="2200" b="1" dirty="0"/>
                  <a:t>+</a:t>
                </a:r>
                <a:r>
                  <a:rPr lang="en-US" sz="2200" dirty="0"/>
                  <a:t>) by the rules of arithmetic addition but not closed with respect to binary operator minus (</a:t>
                </a:r>
                <a:r>
                  <a:rPr lang="en-US" sz="2200" b="1" dirty="0"/>
                  <a:t>-</a:t>
                </a:r>
                <a:r>
                  <a:rPr lang="en-US" sz="2200" dirty="0"/>
                  <a:t>) by the rules of arithmetic subtraction.</a:t>
                </a:r>
              </a:p>
              <a:p>
                <a:pPr lvl="3" algn="just"/>
                <a:r>
                  <a:rPr lang="en-US" sz="2200" dirty="0"/>
                  <a:t>Here, </a:t>
                </a:r>
                <a14:m>
                  <m:oMath xmlns:m="http://schemas.openxmlformats.org/officeDocument/2006/math">
                    <m:r>
                      <a:rPr lang="en-US" sz="2200" i="1" dirty="0" smtClean="0">
                        <a:latin typeface="Cambria Math" panose="02040503050406030204" pitchFamily="18" charset="0"/>
                      </a:rPr>
                      <m:t>𝑎</m:t>
                    </m:r>
                    <m:r>
                      <a:rPr lang="en-US" sz="2200" b="0" i="1" dirty="0" smtClean="0">
                        <a:latin typeface="Cambria Math" panose="02040503050406030204" pitchFamily="18" charset="0"/>
                      </a:rPr>
                      <m:t>, </m:t>
                    </m:r>
                    <m:r>
                      <a:rPr lang="en-US" sz="2200" b="0" i="1" dirty="0" smtClean="0">
                        <a:latin typeface="Cambria Math" panose="02040503050406030204" pitchFamily="18" charset="0"/>
                      </a:rPr>
                      <m:t>𝑏</m:t>
                    </m:r>
                    <m:r>
                      <a:rPr lang="el-GR" sz="2200" i="1">
                        <a:latin typeface="Cambria Math" panose="02040503050406030204" pitchFamily="18" charset="0"/>
                        <a:ea typeface="Cambria Math" panose="02040503050406030204" pitchFamily="18" charset="0"/>
                      </a:rPr>
                      <m:t>∈</m:t>
                    </m:r>
                    <m:r>
                      <a:rPr lang="en-US" sz="2200" b="1" i="1" dirty="0" smtClean="0">
                        <a:latin typeface="Cambria Math" panose="02040503050406030204" pitchFamily="18" charset="0"/>
                      </a:rPr>
                      <m:t> </m:t>
                    </m:r>
                    <m:r>
                      <a:rPr lang="en-US" sz="2200" b="1" i="1" dirty="0" smtClean="0">
                        <a:latin typeface="Cambria Math" panose="02040503050406030204" pitchFamily="18" charset="0"/>
                      </a:rPr>
                      <m:t>𝑵</m:t>
                    </m:r>
                    <m:r>
                      <a:rPr lang="en-US" sz="2200" b="1" i="1" dirty="0" smtClean="0">
                        <a:latin typeface="Cambria Math" panose="02040503050406030204" pitchFamily="18" charset="0"/>
                      </a:rPr>
                      <m:t> </m:t>
                    </m:r>
                    <m:r>
                      <a:rPr lang="en-US" sz="2200" i="1" dirty="0">
                        <a:latin typeface="Cambria Math" panose="02040503050406030204" pitchFamily="18" charset="0"/>
                      </a:rPr>
                      <m:t> </m:t>
                    </m:r>
                  </m:oMath>
                </a14:m>
                <a:r>
                  <a:rPr lang="en-US" sz="2200" dirty="0"/>
                  <a:t>and we obtain a unique </a:t>
                </a:r>
                <a14:m>
                  <m:oMath xmlns:m="http://schemas.openxmlformats.org/officeDocument/2006/math">
                    <m:r>
                      <a:rPr lang="en-US" sz="2200" i="1" dirty="0" smtClean="0">
                        <a:latin typeface="Cambria Math" panose="02040503050406030204" pitchFamily="18" charset="0"/>
                      </a:rPr>
                      <m:t>𝑐</m:t>
                    </m:r>
                    <m:r>
                      <a:rPr lang="en-US" sz="2200" i="1" dirty="0" smtClean="0">
                        <a:latin typeface="Cambria Math" panose="02040503050406030204" pitchFamily="18" charset="0"/>
                      </a:rPr>
                      <m:t> ∈ </m:t>
                    </m:r>
                    <m:r>
                      <a:rPr lang="en-US" sz="2200" b="1" i="1" dirty="0">
                        <a:latin typeface="Cambria Math" panose="02040503050406030204" pitchFamily="18" charset="0"/>
                      </a:rPr>
                      <m:t>𝑵</m:t>
                    </m:r>
                    <m:r>
                      <a:rPr lang="en-US" sz="2200" i="1" dirty="0">
                        <a:latin typeface="Cambria Math" panose="02040503050406030204" pitchFamily="18" charset="0"/>
                      </a:rPr>
                      <m:t> </m:t>
                    </m:r>
                  </m:oMath>
                </a14:m>
                <a:r>
                  <a:rPr lang="en-US" sz="2200" dirty="0"/>
                  <a:t>by the operation </a:t>
                </a:r>
                <a14:m>
                  <m:oMath xmlns:m="http://schemas.openxmlformats.org/officeDocument/2006/math">
                    <m:r>
                      <a:rPr lang="en-US" sz="2200" i="1" dirty="0" smtClean="0">
                        <a:latin typeface="Cambria Math" panose="02040503050406030204" pitchFamily="18" charset="0"/>
                      </a:rPr>
                      <m:t>𝑎</m:t>
                    </m:r>
                    <m:r>
                      <a:rPr lang="en-US" sz="2200" i="1" dirty="0" smtClean="0">
                        <a:latin typeface="Cambria Math" panose="02040503050406030204" pitchFamily="18" charset="0"/>
                      </a:rPr>
                      <m:t>+</m:t>
                    </m:r>
                    <m:r>
                      <a:rPr lang="en-US" sz="2200" i="1" dirty="0" smtClean="0">
                        <a:latin typeface="Cambria Math" panose="02040503050406030204" pitchFamily="18" charset="0"/>
                      </a:rPr>
                      <m:t>𝑏</m:t>
                    </m:r>
                    <m:r>
                      <a:rPr lang="en-US" sz="2200" i="1" dirty="0">
                        <a:latin typeface="Cambria Math" panose="02040503050406030204" pitchFamily="18" charset="0"/>
                      </a:rPr>
                      <m:t>=</m:t>
                    </m:r>
                    <m:r>
                      <a:rPr lang="en-US" sz="2200" i="1" dirty="0">
                        <a:latin typeface="Cambria Math" panose="02040503050406030204" pitchFamily="18" charset="0"/>
                      </a:rPr>
                      <m:t>𝑐</m:t>
                    </m:r>
                  </m:oMath>
                </a14:m>
                <a:r>
                  <a:rPr lang="en-US" sz="2200" dirty="0"/>
                  <a:t> but </a:t>
                </a:r>
                <a14:m>
                  <m:oMath xmlns:m="http://schemas.openxmlformats.org/officeDocument/2006/math">
                    <m:r>
                      <a:rPr lang="en-US" sz="2200" b="0" i="0" dirty="0" smtClean="0">
                        <a:latin typeface="Cambria Math" panose="02040503050406030204" pitchFamily="18" charset="0"/>
                      </a:rPr>
                      <m:t>  </m:t>
                    </m:r>
                  </m:oMath>
                </a14:m>
                <a:br>
                  <a:rPr lang="en-US" sz="2200" b="0" i="0" dirty="0">
                    <a:latin typeface="Cambria Math" panose="02040503050406030204" pitchFamily="18" charset="0"/>
                  </a:rPr>
                </a:br>
                <a14:m>
                  <m:oMath xmlns:m="http://schemas.openxmlformats.org/officeDocument/2006/math">
                    <m:r>
                      <a:rPr lang="en-US" sz="2200" i="1" dirty="0" smtClean="0">
                        <a:latin typeface="Cambria Math" panose="02040503050406030204" pitchFamily="18" charset="0"/>
                      </a:rPr>
                      <m:t>2−3=−1 </m:t>
                    </m:r>
                  </m:oMath>
                </a14:m>
                <a:r>
                  <a:rPr lang="en-US" sz="2200" dirty="0"/>
                  <a:t>where </a:t>
                </a:r>
                <a14:m>
                  <m:oMath xmlns:m="http://schemas.openxmlformats.org/officeDocument/2006/math">
                    <m:r>
                      <a:rPr lang="en-US" sz="2200" i="1" dirty="0" smtClean="0">
                        <a:latin typeface="Cambria Math" panose="02040503050406030204" pitchFamily="18" charset="0"/>
                      </a:rPr>
                      <m:t>2,3</m:t>
                    </m:r>
                    <m:r>
                      <a:rPr lang="el-GR" sz="2200" b="1" i="1" dirty="0">
                        <a:latin typeface="Cambria Math" panose="02040503050406030204" pitchFamily="18" charset="0"/>
                      </a:rPr>
                      <m:t> </m:t>
                    </m:r>
                    <m:r>
                      <a:rPr lang="el-GR" sz="2200" i="1">
                        <a:latin typeface="Cambria Math" panose="02040503050406030204" pitchFamily="18" charset="0"/>
                        <a:ea typeface="Cambria Math" panose="02040503050406030204" pitchFamily="18" charset="0"/>
                      </a:rPr>
                      <m:t>∈</m:t>
                    </m:r>
                    <m:r>
                      <a:rPr lang="en-US" sz="2200" i="1" dirty="0" smtClean="0">
                        <a:latin typeface="Cambria Math" panose="02040503050406030204" pitchFamily="18" charset="0"/>
                      </a:rPr>
                      <m:t> </m:t>
                    </m:r>
                    <m:r>
                      <a:rPr lang="en-US" sz="2200" b="1" i="1" dirty="0">
                        <a:latin typeface="Cambria Math" panose="02040503050406030204" pitchFamily="18" charset="0"/>
                      </a:rPr>
                      <m:t>𝑵</m:t>
                    </m:r>
                    <m:r>
                      <a:rPr lang="en-US" sz="2200" b="1" i="1" dirty="0">
                        <a:latin typeface="Cambria Math" panose="02040503050406030204" pitchFamily="18" charset="0"/>
                      </a:rPr>
                      <m:t> </m:t>
                    </m:r>
                  </m:oMath>
                </a14:m>
                <a:r>
                  <a:rPr lang="en-US" sz="2200" dirty="0"/>
                  <a:t>but </a:t>
                </a:r>
                <a14:m>
                  <m:oMath xmlns:m="http://schemas.openxmlformats.org/officeDocument/2006/math">
                    <m:r>
                      <a:rPr lang="en-US" sz="2200" i="1" dirty="0" smtClean="0">
                        <a:latin typeface="Cambria Math" panose="02040503050406030204" pitchFamily="18" charset="0"/>
                      </a:rPr>
                      <m:t>−1</m:t>
                    </m:r>
                    <m:r>
                      <a:rPr lang="el-GR" sz="2200" b="1" i="1" dirty="0">
                        <a:latin typeface="Cambria Math" panose="02040503050406030204" pitchFamily="18" charset="0"/>
                      </a:rPr>
                      <m:t> </m:t>
                    </m:r>
                    <m:r>
                      <a:rPr lang="el-GR"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a:rPr lang="en-US" sz="2200" b="1" i="1" dirty="0" smtClean="0">
                        <a:latin typeface="Cambria Math" panose="02040503050406030204" pitchFamily="18" charset="0"/>
                      </a:rPr>
                      <m:t>𝑵</m:t>
                    </m:r>
                  </m:oMath>
                </a14:m>
                <a:endParaRPr lang="en-US" sz="2200" b="1" i="1" dirty="0"/>
              </a:p>
              <a:p>
                <a:pPr marL="514350" indent="-514350" algn="just">
                  <a:buFont typeface="+mj-lt"/>
                  <a:buAutoNum type="arabicPeriod" startAt="2"/>
                </a:pPr>
                <a:r>
                  <a:rPr lang="en-US" sz="3000" b="1" dirty="0">
                    <a:solidFill>
                      <a:srgbClr val="00B050"/>
                    </a:solidFill>
                  </a:rPr>
                  <a:t>Associative Law:</a:t>
                </a:r>
                <a:r>
                  <a:rPr lang="en-US" b="1" dirty="0">
                    <a:solidFill>
                      <a:srgbClr val="00B050"/>
                    </a:solidFill>
                  </a:rPr>
                  <a:t> </a:t>
                </a:r>
                <a:r>
                  <a:rPr lang="en-US" dirty="0"/>
                  <a:t>A binary operator </a:t>
                </a:r>
                <a14:m>
                  <m:oMath xmlns:m="http://schemas.openxmlformats.org/officeDocument/2006/math">
                    <m:r>
                      <a:rPr lang="en-US" b="1" i="1" dirty="0" smtClean="0">
                        <a:latin typeface="Cambria Math" panose="02040503050406030204" pitchFamily="18" charset="0"/>
                      </a:rPr>
                      <m:t>#</m:t>
                    </m:r>
                  </m:oMath>
                </a14:m>
                <a:r>
                  <a:rPr lang="en-US" dirty="0"/>
                  <a:t> on a set </a:t>
                </a:r>
                <a:r>
                  <a:rPr lang="en-US" b="1" i="1" dirty="0"/>
                  <a:t>S</a:t>
                </a:r>
                <a:r>
                  <a:rPr lang="en-US" dirty="0"/>
                  <a:t> is said to be associative whenever:</a:t>
                </a:r>
              </a:p>
              <a:p>
                <a:pPr marL="457200" lvl="1" indent="0" algn="ctr">
                  <a:buNone/>
                </a:pPr>
                <a14:m>
                  <m:oMath xmlns:m="http://schemas.openxmlformats.org/officeDocument/2006/math">
                    <m:r>
                      <a:rPr lang="en-US" b="1" i="1" dirty="0" smtClean="0">
                        <a:latin typeface="Cambria Math" panose="02040503050406030204" pitchFamily="18" charset="0"/>
                      </a:rPr>
                      <m:t>(</m:t>
                    </m:r>
                    <m:r>
                      <a:rPr lang="en-US" b="1" i="1" dirty="0" smtClean="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𝒛</m:t>
                    </m:r>
                    <m:r>
                      <a:rPr lang="en-US" b="1" i="1" dirty="0">
                        <a:latin typeface="Cambria Math" panose="02040503050406030204" pitchFamily="18" charset="0"/>
                      </a:rPr>
                      <m:t> = </m:t>
                    </m:r>
                    <m:r>
                      <a:rPr lang="en-US" b="1" i="1" dirty="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𝒛</m:t>
                    </m:r>
                    <m:r>
                      <a:rPr lang="en-US" b="1" i="1" dirty="0">
                        <a:latin typeface="Cambria Math" panose="02040503050406030204" pitchFamily="18" charset="0"/>
                      </a:rPr>
                      <m:t>)</m:t>
                    </m:r>
                  </m:oMath>
                </a14:m>
                <a:r>
                  <a:rPr lang="en-US" b="1" i="1" dirty="0"/>
                  <a:t>, for all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rPr>
                      <m:t>𝒛</m:t>
                    </m:r>
                    <m:r>
                      <a:rPr lang="el-GR" b="1" i="1" dirty="0">
                        <a:latin typeface="Cambria Math" panose="02040503050406030204" pitchFamily="18" charset="0"/>
                        <a:ea typeface="Cambria Math" panose="02040503050406030204" pitchFamily="18" charset="0"/>
                      </a:rPr>
                      <m:t> </m:t>
                    </m:r>
                    <m:r>
                      <a:rPr lang="el-GR" b="1" i="1">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𝑺</m:t>
                    </m:r>
                  </m:oMath>
                </a14:m>
                <a:endParaRPr lang="en-US" b="1"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39272"/>
                <a:ext cx="11430000" cy="4517077"/>
              </a:xfrm>
              <a:blipFill>
                <a:blip r:embed="rId3"/>
                <a:stretch>
                  <a:fillRect l="-1280" t="-2969" r="-1067" b="-2834"/>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a:t>
            </a:fld>
            <a:endParaRPr lang="en-US" sz="1800" dirty="0"/>
          </a:p>
        </p:txBody>
      </p:sp>
    </p:spTree>
    <p:extLst>
      <p:ext uri="{BB962C8B-B14F-4D97-AF65-F5344CB8AC3E}">
        <p14:creationId xmlns:p14="http://schemas.microsoft.com/office/powerpoint/2010/main" val="18846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972800" cy="1325563"/>
          </a:xfrm>
        </p:spPr>
        <p:txBody>
          <a:bodyPr/>
          <a:lstStyle/>
          <a:p>
            <a:r>
              <a:rPr lang="en-US" b="1" i="1" dirty="0">
                <a:solidFill>
                  <a:schemeClr val="accent5">
                    <a:lumMod val="75000"/>
                  </a:schemeClr>
                </a:solidFill>
                <a:latin typeface="+mn-lt"/>
              </a:rPr>
              <a:t>Common Postulates…</a:t>
            </a:r>
            <a:endParaRPr lang="en-US"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351338"/>
              </a:xfrm>
            </p:spPr>
            <p:txBody>
              <a:bodyPr>
                <a:normAutofit/>
              </a:bodyPr>
              <a:lstStyle/>
              <a:p>
                <a:pPr marL="514350" indent="-514350" algn="just">
                  <a:buFont typeface="+mj-lt"/>
                  <a:buAutoNum type="arabicPeriod" startAt="3"/>
                </a:pPr>
                <a:r>
                  <a:rPr lang="en-US" sz="3000" b="1" dirty="0">
                    <a:solidFill>
                      <a:srgbClr val="00B050"/>
                    </a:solidFill>
                  </a:rPr>
                  <a:t>Commutative Law: </a:t>
                </a:r>
                <a:r>
                  <a:rPr lang="en-US" dirty="0"/>
                  <a:t>A binary operator </a:t>
                </a:r>
                <a14:m>
                  <m:oMath xmlns:m="http://schemas.openxmlformats.org/officeDocument/2006/math">
                    <m:r>
                      <a:rPr lang="en-US" b="1" i="1" dirty="0" smtClean="0">
                        <a:latin typeface="Cambria Math" panose="02040503050406030204" pitchFamily="18" charset="0"/>
                      </a:rPr>
                      <m:t>#</m:t>
                    </m:r>
                  </m:oMath>
                </a14:m>
                <a:r>
                  <a:rPr lang="en-US" dirty="0"/>
                  <a:t> on a set </a:t>
                </a:r>
                <a:r>
                  <a:rPr lang="en-US" b="1" i="1" dirty="0"/>
                  <a:t>S</a:t>
                </a:r>
                <a:r>
                  <a:rPr lang="en-US" dirty="0"/>
                  <a:t> is said to be commutative whenever:</a:t>
                </a:r>
                <a:r>
                  <a:rPr lang="en-US" b="1" dirty="0"/>
                  <a:t> </a:t>
                </a:r>
              </a:p>
              <a:p>
                <a:pPr marL="0" indent="0" algn="ctr">
                  <a:buNone/>
                </a:pPr>
                <a14:m>
                  <m:oMath xmlns:m="http://schemas.openxmlformats.org/officeDocument/2006/math">
                    <m:r>
                      <a:rPr lang="en-US" b="1" i="1" dirty="0" smtClean="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𝒙</m:t>
                    </m:r>
                  </m:oMath>
                </a14:m>
                <a:r>
                  <a:rPr lang="en-US" b="1" i="1" dirty="0"/>
                  <a:t>, for all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m:t>
                    </m:r>
                    <m:r>
                      <a:rPr lang="el-GR" b="1" i="1" dirty="0">
                        <a:latin typeface="Cambria Math" panose="02040503050406030204" pitchFamily="18" charset="0"/>
                        <a:ea typeface="Cambria Math" panose="02040503050406030204" pitchFamily="18" charset="0"/>
                      </a:rPr>
                      <m:t> </m:t>
                    </m:r>
                    <m:r>
                      <a:rPr lang="el-GR" b="1" i="1">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𝑺</m:t>
                    </m:r>
                  </m:oMath>
                </a14:m>
                <a:endParaRPr lang="en-US" b="1" i="1" dirty="0"/>
              </a:p>
              <a:p>
                <a:pPr marL="514350" indent="-514350" algn="just">
                  <a:buFont typeface="+mj-lt"/>
                  <a:buAutoNum type="arabicPeriod" startAt="4"/>
                </a:pPr>
                <a:r>
                  <a:rPr lang="en-US" sz="3000" b="1" dirty="0">
                    <a:solidFill>
                      <a:srgbClr val="00B050"/>
                    </a:solidFill>
                  </a:rPr>
                  <a:t>Identity element:</a:t>
                </a:r>
                <a:r>
                  <a:rPr lang="en-US" sz="3000" b="1" dirty="0"/>
                  <a:t> </a:t>
                </a:r>
                <a:r>
                  <a:rPr lang="en-US" dirty="0"/>
                  <a:t>A set </a:t>
                </a:r>
                <a:r>
                  <a:rPr lang="en-US" b="1" i="1" dirty="0"/>
                  <a:t>S</a:t>
                </a:r>
                <a:r>
                  <a:rPr lang="en-US" dirty="0"/>
                  <a:t> is said to have an identity element with respect to a binary operation </a:t>
                </a:r>
                <a14:m>
                  <m:oMath xmlns:m="http://schemas.openxmlformats.org/officeDocument/2006/math">
                    <m:r>
                      <a:rPr lang="en-US" b="1" i="1" dirty="0" smtClean="0">
                        <a:latin typeface="Cambria Math" panose="02040503050406030204" pitchFamily="18" charset="0"/>
                      </a:rPr>
                      <m:t>#</m:t>
                    </m:r>
                    <m:r>
                      <a:rPr lang="en-US" i="1" dirty="0">
                        <a:latin typeface="Cambria Math" panose="02040503050406030204" pitchFamily="18" charset="0"/>
                      </a:rPr>
                      <m:t> </m:t>
                    </m:r>
                  </m:oMath>
                </a14:m>
                <a:r>
                  <a:rPr lang="en-US" dirty="0"/>
                  <a:t>on </a:t>
                </a:r>
                <a:r>
                  <a:rPr lang="en-US" b="1" i="1" dirty="0"/>
                  <a:t>S</a:t>
                </a:r>
                <a:r>
                  <a:rPr lang="en-US" dirty="0"/>
                  <a:t> if there exists an element </a:t>
                </a:r>
                <a14:m>
                  <m:oMath xmlns:m="http://schemas.openxmlformats.org/officeDocument/2006/math">
                    <m:r>
                      <a:rPr lang="en-US" i="1" dirty="0" smtClean="0">
                        <a:latin typeface="Cambria Math" panose="02040503050406030204" pitchFamily="18" charset="0"/>
                      </a:rPr>
                      <m:t>𝑒</m:t>
                    </m:r>
                    <m:r>
                      <a:rPr lang="el-GR" i="1" dirty="0">
                        <a:latin typeface="Cambria Math" panose="02040503050406030204" pitchFamily="18" charset="0"/>
                        <a:ea typeface="Cambria Math" panose="02040503050406030204" pitchFamily="18" charset="0"/>
                      </a:rPr>
                      <m:t> </m:t>
                    </m:r>
                    <m:r>
                      <a:rPr lang="el-GR"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 </m:t>
                    </m:r>
                    <m:r>
                      <a:rPr lang="en-US" b="1" i="1" dirty="0" smtClean="0">
                        <a:latin typeface="Cambria Math" panose="02040503050406030204" pitchFamily="18" charset="0"/>
                      </a:rPr>
                      <m:t>𝑺</m:t>
                    </m:r>
                  </m:oMath>
                </a14:m>
                <a:r>
                  <a:rPr lang="en-US" b="1" dirty="0"/>
                  <a:t> </a:t>
                </a:r>
                <a:r>
                  <a:rPr lang="en-US" dirty="0"/>
                  <a:t>with the property that:</a:t>
                </a:r>
              </a:p>
              <a:p>
                <a:pPr marL="0" indent="0" algn="ctr">
                  <a:buNone/>
                </a:pP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 # </m:t>
                    </m:r>
                    <m:r>
                      <a:rPr lang="en-US" b="1" i="1" dirty="0">
                        <a:latin typeface="Cambria Math" panose="02040503050406030204" pitchFamily="18" charset="0"/>
                      </a:rPr>
                      <m:t>𝒆</m:t>
                    </m:r>
                    <m:r>
                      <a:rPr lang="en-US" b="1" i="1" dirty="0">
                        <a:latin typeface="Cambria Math" panose="02040503050406030204" pitchFamily="18" charset="0"/>
                      </a:rPr>
                      <m:t> = </m:t>
                    </m:r>
                    <m:r>
                      <a:rPr lang="en-US" b="1" i="1" dirty="0">
                        <a:latin typeface="Cambria Math" panose="02040503050406030204" pitchFamily="18" charset="0"/>
                      </a:rPr>
                      <m:t>𝒆</m:t>
                    </m:r>
                    <m:r>
                      <a:rPr lang="en-US" b="1" i="1" dirty="0">
                        <a:latin typeface="Cambria Math" panose="02040503050406030204" pitchFamily="18" charset="0"/>
                      </a:rPr>
                      <m:t> # </m:t>
                    </m:r>
                    <m:r>
                      <a:rPr lang="en-US" b="1" i="1" dirty="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𝒙</m:t>
                    </m:r>
                  </m:oMath>
                </a14:m>
                <a:r>
                  <a:rPr lang="en-US" b="1" i="1" dirty="0"/>
                  <a:t>, for all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𝒆</m:t>
                    </m:r>
                    <m:r>
                      <a:rPr lang="el-GR" b="1" i="1" dirty="0">
                        <a:latin typeface="Cambria Math" panose="02040503050406030204" pitchFamily="18" charset="0"/>
                        <a:ea typeface="Cambria Math" panose="02040503050406030204" pitchFamily="18" charset="0"/>
                      </a:rPr>
                      <m:t> </m:t>
                    </m:r>
                    <m:r>
                      <a:rPr lang="el-GR" b="1" i="1">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𝑺</m:t>
                    </m:r>
                  </m:oMath>
                </a14:m>
                <a:endParaRPr lang="en-US" b="1" i="1" dirty="0"/>
              </a:p>
              <a:p>
                <a:pPr lvl="1" algn="just"/>
                <a:r>
                  <a:rPr lang="en-US" b="1" i="1" dirty="0"/>
                  <a:t>Example:</a:t>
                </a:r>
                <a:r>
                  <a:rPr lang="en-US" i="1" dirty="0"/>
                  <a:t> </a:t>
                </a:r>
                <a:r>
                  <a:rPr lang="en-US" dirty="0"/>
                  <a:t>The element </a:t>
                </a:r>
                <a:r>
                  <a:rPr lang="en-US" b="1" dirty="0"/>
                  <a:t>0 </a:t>
                </a:r>
                <a:r>
                  <a:rPr lang="en-US" dirty="0"/>
                  <a:t>is an identity element with respect to the binary operation plus (</a:t>
                </a:r>
                <a:r>
                  <a:rPr lang="en-US" b="1" dirty="0"/>
                  <a:t>+</a:t>
                </a:r>
                <a:r>
                  <a:rPr lang="en-US" dirty="0"/>
                  <a:t>) on the set of integers</a:t>
                </a:r>
                <a:r>
                  <a:rPr lang="en-US" i="1" dirty="0"/>
                  <a:t> </a:t>
                </a:r>
                <a14:m>
                  <m:oMath xmlns:m="http://schemas.openxmlformats.org/officeDocument/2006/math">
                    <m:r>
                      <a:rPr lang="en-US" b="1" i="1" dirty="0" smtClean="0">
                        <a:latin typeface="Cambria Math" panose="02040503050406030204" pitchFamily="18" charset="0"/>
                      </a:rPr>
                      <m:t>𝑰</m:t>
                    </m:r>
                    <m:r>
                      <a:rPr lang="en-US" b="1" i="1" dirty="0" smtClean="0">
                        <a:latin typeface="Cambria Math" panose="02040503050406030204" pitchFamily="18" charset="0"/>
                      </a:rPr>
                      <m:t> </m:t>
                    </m:r>
                    <m:r>
                      <a:rPr lang="en-US" i="1" dirty="0">
                        <a:latin typeface="Cambria Math" panose="02040503050406030204" pitchFamily="18" charset="0"/>
                      </a:rPr>
                      <m:t>= {…−3,−2,−1,0,1,2,3…}  </m:t>
                    </m:r>
                  </m:oMath>
                </a14:m>
                <a:r>
                  <a:rPr lang="en-US" dirty="0"/>
                  <a:t>but not on the set </a:t>
                </a:r>
                <a:r>
                  <a:rPr lang="en-US" b="1" i="1" dirty="0"/>
                  <a:t>N</a:t>
                </a:r>
                <a:r>
                  <a:rPr lang="en-US" b="1" dirty="0"/>
                  <a:t>. </a:t>
                </a:r>
              </a:p>
              <a:p>
                <a:pPr lvl="2" algn="just"/>
                <a:r>
                  <a:rPr lang="en-US" dirty="0"/>
                  <a:t>Here, </a:t>
                </a:r>
                <a14:m>
                  <m:oMath xmlns:m="http://schemas.openxmlformats.org/officeDocument/2006/math">
                    <m:r>
                      <a:rPr lang="en-US" i="1" dirty="0" smtClean="0">
                        <a:latin typeface="Cambria Math" panose="02040503050406030204" pitchFamily="18" charset="0"/>
                      </a:rPr>
                      <m:t>𝑥</m:t>
                    </m:r>
                    <m:r>
                      <a:rPr lang="en-US" i="1" dirty="0">
                        <a:latin typeface="Cambria Math" panose="02040503050406030204" pitchFamily="18" charset="0"/>
                      </a:rPr>
                      <m:t>+0 = 0+</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𝑥</m:t>
                    </m:r>
                  </m:oMath>
                </a14:m>
                <a:r>
                  <a:rPr lang="en-US" dirty="0"/>
                  <a:t>, for any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b="1" i="1" dirty="0">
                        <a:latin typeface="Cambria Math" panose="02040503050406030204" pitchFamily="18" charset="0"/>
                      </a:rPr>
                      <m:t>𝑰</m:t>
                    </m:r>
                  </m:oMath>
                </a14:m>
                <a:endParaRPr lang="en-US" b="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3"/>
                <a:stretch>
                  <a:fillRect l="-1280" t="-2941" r="-1067" b="-70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a:t>
            </a:fld>
            <a:endParaRPr lang="en-US"/>
          </a:p>
        </p:txBody>
      </p:sp>
    </p:spTree>
    <p:extLst>
      <p:ext uri="{BB962C8B-B14F-4D97-AF65-F5344CB8AC3E}">
        <p14:creationId xmlns:p14="http://schemas.microsoft.com/office/powerpoint/2010/main" val="2373584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972800" cy="1325563"/>
          </a:xfrm>
        </p:spPr>
        <p:txBody>
          <a:bodyPr/>
          <a:lstStyle/>
          <a:p>
            <a:r>
              <a:rPr lang="en-US" b="1" i="1" dirty="0">
                <a:solidFill>
                  <a:schemeClr val="accent5">
                    <a:lumMod val="75000"/>
                  </a:schemeClr>
                </a:solidFill>
                <a:latin typeface="+mn-lt"/>
              </a:rPr>
              <a:t>Common Postulates…</a:t>
            </a:r>
            <a:endParaRPr lang="en-US"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351338"/>
              </a:xfrm>
            </p:spPr>
            <p:txBody>
              <a:bodyPr/>
              <a:lstStyle/>
              <a:p>
                <a:pPr marL="514350" indent="-514350" algn="just">
                  <a:buFont typeface="+mj-lt"/>
                  <a:buAutoNum type="arabicPeriod" startAt="5"/>
                </a:pPr>
                <a:r>
                  <a:rPr lang="en-US" sz="3000" b="1" dirty="0">
                    <a:solidFill>
                      <a:srgbClr val="00B050"/>
                    </a:solidFill>
                  </a:rPr>
                  <a:t>Inverse:</a:t>
                </a:r>
                <a:r>
                  <a:rPr lang="en-US" sz="3000" dirty="0">
                    <a:solidFill>
                      <a:srgbClr val="00B050"/>
                    </a:solidFill>
                  </a:rPr>
                  <a:t> </a:t>
                </a:r>
                <a:r>
                  <a:rPr lang="en-US" dirty="0"/>
                  <a:t>A set </a:t>
                </a:r>
                <a:r>
                  <a:rPr lang="en-US" b="1" i="1" dirty="0"/>
                  <a:t>S</a:t>
                </a:r>
                <a:r>
                  <a:rPr lang="en-US" b="1" dirty="0"/>
                  <a:t> </a:t>
                </a:r>
                <a:r>
                  <a:rPr lang="en-US" dirty="0"/>
                  <a:t>having the identity element </a:t>
                </a:r>
                <a:r>
                  <a:rPr lang="en-US" b="1" i="1" dirty="0"/>
                  <a:t>e</a:t>
                </a:r>
                <a:r>
                  <a:rPr lang="en-US" dirty="0"/>
                  <a:t> with respect to a binary operator </a:t>
                </a:r>
                <a:r>
                  <a:rPr lang="en-US" b="1" i="1" dirty="0"/>
                  <a:t># </a:t>
                </a:r>
                <a:r>
                  <a:rPr lang="en-US" dirty="0"/>
                  <a:t>is said to have an inverse whenever, for every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 ∈ </m:t>
                    </m:r>
                    <m:r>
                      <a:rPr lang="en-US" b="1" i="1" dirty="0" smtClean="0">
                        <a:latin typeface="Cambria Math" panose="02040503050406030204" pitchFamily="18" charset="0"/>
                      </a:rPr>
                      <m:t>𝑺</m:t>
                    </m:r>
                    <m:r>
                      <a:rPr lang="en-US" b="1" i="1" dirty="0" smtClean="0">
                        <a:latin typeface="Cambria Math" panose="02040503050406030204" pitchFamily="18" charset="0"/>
                      </a:rPr>
                      <m:t> </m:t>
                    </m:r>
                  </m:oMath>
                </a14:m>
                <a:r>
                  <a:rPr lang="en-US" dirty="0"/>
                  <a:t>there exists an inverse element </a:t>
                </a:r>
                <a14:m>
                  <m:oMath xmlns:m="http://schemas.openxmlformats.org/officeDocument/2006/math">
                    <m:r>
                      <a:rPr lang="en-US" b="1" i="1" dirty="0" smtClean="0">
                        <a:latin typeface="Cambria Math" panose="02040503050406030204" pitchFamily="18" charset="0"/>
                      </a:rPr>
                      <m:t>𝒚</m:t>
                    </m:r>
                    <m:r>
                      <a:rPr lang="en-US" b="1" i="1" dirty="0" smtClean="0">
                        <a:latin typeface="Cambria Math" panose="02040503050406030204" pitchFamily="18" charset="0"/>
                      </a:rPr>
                      <m:t> ∈ </m:t>
                    </m:r>
                    <m:r>
                      <a:rPr lang="en-US" b="1" i="1" dirty="0" smtClean="0">
                        <a:latin typeface="Cambria Math" panose="02040503050406030204" pitchFamily="18" charset="0"/>
                      </a:rPr>
                      <m:t>𝑺</m:t>
                    </m:r>
                    <m:r>
                      <a:rPr lang="en-US" b="1" i="1" dirty="0" smtClean="0">
                        <a:latin typeface="Cambria Math" panose="02040503050406030204" pitchFamily="18" charset="0"/>
                      </a:rPr>
                      <m:t> </m:t>
                    </m:r>
                  </m:oMath>
                </a14:m>
                <a:r>
                  <a:rPr lang="en-US" dirty="0"/>
                  <a:t>such that:</a:t>
                </a:r>
                <a:endParaRPr lang="en-US" b="1" dirty="0"/>
              </a:p>
              <a:p>
                <a:pPr marL="0" indent="0" algn="ctr">
                  <a:buNone/>
                </a:pP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 # </m:t>
                    </m:r>
                    <m:r>
                      <a:rPr lang="en-US" b="1" i="1" dirty="0"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rPr>
                      <m:t>𝒆</m:t>
                    </m:r>
                  </m:oMath>
                </a14:m>
                <a:r>
                  <a:rPr lang="en-US" b="1" i="1" dirty="0"/>
                  <a:t>, for all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rPr>
                      <m:t>𝒆</m:t>
                    </m:r>
                    <m:r>
                      <a:rPr lang="el-GR" b="1" i="1" dirty="0">
                        <a:latin typeface="Cambria Math" panose="02040503050406030204" pitchFamily="18" charset="0"/>
                        <a:ea typeface="Cambria Math" panose="02040503050406030204" pitchFamily="18" charset="0"/>
                      </a:rPr>
                      <m:t> </m:t>
                    </m:r>
                    <m:r>
                      <a:rPr lang="el-GR" b="1" i="1">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𝑺</m:t>
                    </m:r>
                  </m:oMath>
                </a14:m>
                <a:endParaRPr lang="en-US" b="1" i="1" dirty="0"/>
              </a:p>
              <a:p>
                <a:pPr lvl="2" algn="just"/>
                <a:r>
                  <a:rPr lang="en-US" sz="2200" b="1" i="1" dirty="0"/>
                  <a:t>Example: </a:t>
                </a:r>
                <a:r>
                  <a:rPr lang="en-US" sz="2200" dirty="0"/>
                  <a:t>In the set </a:t>
                </a:r>
                <a:r>
                  <a:rPr lang="en-US" sz="2200" b="1" i="1" dirty="0"/>
                  <a:t>I</a:t>
                </a:r>
                <a:r>
                  <a:rPr lang="en-US" sz="2200" dirty="0"/>
                  <a:t>, </a:t>
                </a:r>
                <a14:m>
                  <m:oMath xmlns:m="http://schemas.openxmlformats.org/officeDocument/2006/math">
                    <m:r>
                      <a:rPr lang="en-US" sz="2200" b="1" i="1" dirty="0" smtClean="0">
                        <a:latin typeface="Cambria Math" panose="02040503050406030204" pitchFamily="18" charset="0"/>
                      </a:rPr>
                      <m:t>𝒆</m:t>
                    </m:r>
                    <m:r>
                      <a:rPr lang="en-US" sz="2200" b="1" i="1" dirty="0" smtClean="0">
                        <a:latin typeface="Cambria Math" panose="02040503050406030204" pitchFamily="18" charset="0"/>
                      </a:rPr>
                      <m:t>=</m:t>
                    </m:r>
                    <m:r>
                      <a:rPr lang="en-US" sz="2200" b="1" i="1" dirty="0" smtClean="0">
                        <a:latin typeface="Cambria Math" panose="02040503050406030204" pitchFamily="18" charset="0"/>
                      </a:rPr>
                      <m:t>𝟎</m:t>
                    </m:r>
                  </m:oMath>
                </a14:m>
                <a:r>
                  <a:rPr lang="en-US" sz="2200" b="1" i="1" dirty="0"/>
                  <a:t> </a:t>
                </a:r>
                <a:r>
                  <a:rPr lang="en-US" sz="2200" dirty="0"/>
                  <a:t>with </a:t>
                </a:r>
                <a:r>
                  <a:rPr lang="en-US" sz="2200" b="1" dirty="0"/>
                  <a:t>binary operator </a:t>
                </a:r>
                <a:r>
                  <a:rPr lang="en-US" sz="2200" b="1" i="1" dirty="0"/>
                  <a:t>+</a:t>
                </a:r>
                <a:r>
                  <a:rPr lang="en-US" sz="2200" i="1" dirty="0"/>
                  <a:t>,</a:t>
                </a:r>
                <a:r>
                  <a:rPr lang="en-US" sz="2200" dirty="0"/>
                  <a:t> the </a:t>
                </a:r>
                <a:r>
                  <a:rPr lang="en-US" sz="2200" b="1" dirty="0"/>
                  <a:t>inverse </a:t>
                </a:r>
                <a:r>
                  <a:rPr lang="en-US" sz="2200" dirty="0"/>
                  <a:t>of every element </a:t>
                </a:r>
                <a:r>
                  <a:rPr lang="en-US" sz="2200" i="1" dirty="0"/>
                  <a:t>a </a:t>
                </a:r>
                <a:r>
                  <a:rPr lang="en-US" sz="2200" dirty="0"/>
                  <a:t>is </a:t>
                </a:r>
                <a:r>
                  <a:rPr lang="en-US" sz="2200" i="1" dirty="0"/>
                  <a:t>(-a)</a:t>
                </a:r>
                <a:r>
                  <a:rPr lang="en-US" sz="2200" dirty="0"/>
                  <a:t> since </a:t>
                </a:r>
                <a14:m>
                  <m:oMath xmlns:m="http://schemas.openxmlformats.org/officeDocument/2006/math">
                    <m:r>
                      <a:rPr lang="en-US" sz="2200" i="1" dirty="0" smtClean="0">
                        <a:latin typeface="Cambria Math" panose="02040503050406030204" pitchFamily="18" charset="0"/>
                      </a:rPr>
                      <m:t>𝑎</m:t>
                    </m:r>
                    <m:r>
                      <a:rPr lang="en-US" sz="2200" i="1" dirty="0" smtClean="0">
                        <a:latin typeface="Cambria Math" panose="02040503050406030204" pitchFamily="18" charset="0"/>
                      </a:rPr>
                      <m:t>+(−</m:t>
                    </m:r>
                    <m:r>
                      <a:rPr lang="en-US" sz="2200" i="1" dirty="0" smtClean="0">
                        <a:latin typeface="Cambria Math" panose="02040503050406030204" pitchFamily="18" charset="0"/>
                      </a:rPr>
                      <m:t>𝑎</m:t>
                    </m:r>
                    <m:r>
                      <a:rPr lang="en-US" sz="2200" i="1" dirty="0" smtClean="0">
                        <a:latin typeface="Cambria Math" panose="02040503050406030204" pitchFamily="18" charset="0"/>
                      </a:rPr>
                      <m:t>) = 0</m:t>
                    </m:r>
                  </m:oMath>
                </a14:m>
                <a:endParaRPr lang="en-US" sz="2200" i="1" dirty="0"/>
              </a:p>
              <a:p>
                <a:pPr marL="514350" indent="-514350" algn="just">
                  <a:buFont typeface="+mj-lt"/>
                  <a:buAutoNum type="arabicPeriod" startAt="6"/>
                </a:pPr>
                <a:r>
                  <a:rPr lang="en-US" sz="3000" b="1" dirty="0">
                    <a:solidFill>
                      <a:srgbClr val="00B050"/>
                    </a:solidFill>
                  </a:rPr>
                  <a:t>Distributive Law: </a:t>
                </a:r>
                <a:r>
                  <a:rPr lang="en-US" dirty="0"/>
                  <a:t>If </a:t>
                </a:r>
                <a:r>
                  <a:rPr lang="en-US" b="1" dirty="0"/>
                  <a:t># </a:t>
                </a:r>
                <a:r>
                  <a:rPr lang="en-US" dirty="0"/>
                  <a:t>and </a:t>
                </a:r>
                <a:r>
                  <a:rPr lang="en-US" b="1" dirty="0"/>
                  <a:t>$ </a:t>
                </a:r>
                <a:r>
                  <a:rPr lang="en-US" dirty="0"/>
                  <a:t>are two binary operators on a set </a:t>
                </a:r>
                <a:r>
                  <a:rPr lang="en-US" i="1" dirty="0"/>
                  <a:t>S</a:t>
                </a:r>
                <a:r>
                  <a:rPr lang="en-US" dirty="0"/>
                  <a:t>, </a:t>
                </a:r>
                <a:r>
                  <a:rPr lang="en-US" b="1" dirty="0"/>
                  <a:t>#</a:t>
                </a:r>
                <a:r>
                  <a:rPr lang="en-US" dirty="0"/>
                  <a:t> is said to be distributive over </a:t>
                </a:r>
                <a:r>
                  <a:rPr lang="en-US" b="1" dirty="0"/>
                  <a:t>$</a:t>
                </a:r>
                <a:r>
                  <a:rPr lang="en-US" dirty="0"/>
                  <a:t> whenever:</a:t>
                </a:r>
              </a:p>
              <a:p>
                <a:pPr marL="0" indent="0" algn="ctr">
                  <a:buNone/>
                </a:pPr>
                <a14:m>
                  <m:oMath xmlns:m="http://schemas.openxmlformats.org/officeDocument/2006/math">
                    <m:r>
                      <a:rPr lang="en-US" b="1" i="1" dirty="0" smtClean="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𝒛</m:t>
                    </m:r>
                    <m:r>
                      <a:rPr lang="en-US" b="1" i="1" dirty="0">
                        <a:latin typeface="Cambria Math" panose="02040503050406030204" pitchFamily="18" charset="0"/>
                      </a:rPr>
                      <m:t>) = (</m:t>
                    </m:r>
                    <m:r>
                      <a:rPr lang="en-US" b="1" i="1" dirty="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𝒚</m:t>
                    </m:r>
                    <m:r>
                      <a:rPr lang="en-US" b="1" i="1" dirty="0">
                        <a:latin typeface="Cambria Math" panose="02040503050406030204" pitchFamily="18" charset="0"/>
                      </a:rPr>
                      <m:t>) $ (</m:t>
                    </m:r>
                    <m:r>
                      <a:rPr lang="en-US" b="1" i="1" dirty="0">
                        <a:latin typeface="Cambria Math" panose="02040503050406030204" pitchFamily="18" charset="0"/>
                      </a:rPr>
                      <m:t>𝒙</m:t>
                    </m:r>
                    <m:r>
                      <a:rPr lang="en-US" b="1" i="1" dirty="0">
                        <a:latin typeface="Cambria Math" panose="02040503050406030204" pitchFamily="18" charset="0"/>
                      </a:rPr>
                      <m:t> # </m:t>
                    </m:r>
                    <m:r>
                      <a:rPr lang="en-US" b="1" i="1" dirty="0">
                        <a:latin typeface="Cambria Math" panose="02040503050406030204" pitchFamily="18" charset="0"/>
                      </a:rPr>
                      <m:t>𝒛</m:t>
                    </m:r>
                    <m:r>
                      <a:rPr lang="en-US" b="1" i="1" dirty="0">
                        <a:latin typeface="Cambria Math" panose="02040503050406030204" pitchFamily="18" charset="0"/>
                      </a:rPr>
                      <m:t>)</m:t>
                    </m:r>
                  </m:oMath>
                </a14:m>
                <a:r>
                  <a:rPr lang="en-US" i="1" dirty="0"/>
                  <a:t>, for all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rPr>
                      <m:t>𝒛</m:t>
                    </m:r>
                    <m:r>
                      <a:rPr lang="el-GR" b="1" i="1" dirty="0">
                        <a:latin typeface="Cambria Math" panose="02040503050406030204" pitchFamily="18" charset="0"/>
                        <a:ea typeface="Cambria Math" panose="02040503050406030204" pitchFamily="18" charset="0"/>
                      </a:rPr>
                      <m:t> </m:t>
                    </m:r>
                    <m:r>
                      <a:rPr lang="el-GR" b="1" i="1">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 </m:t>
                    </m:r>
                    <m:r>
                      <a:rPr lang="en-US" b="1" i="1" dirty="0" smtClean="0">
                        <a:latin typeface="Cambria Math" panose="02040503050406030204" pitchFamily="18" charset="0"/>
                      </a:rPr>
                      <m:t>𝑺</m:t>
                    </m:r>
                  </m:oMath>
                </a14:m>
                <a:endParaRPr lang="en-US" b="1" i="1" dirty="0"/>
              </a:p>
              <a:p>
                <a:pPr marL="0" indent="0">
                  <a:buNone/>
                </a:pPr>
                <a:endParaRPr lang="en-US" b="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2"/>
                <a:stretch>
                  <a:fillRect l="-1280" t="-2941" r="-106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a:t>
            </a:fld>
            <a:endParaRPr lang="en-US"/>
          </a:p>
        </p:txBody>
      </p:sp>
    </p:spTree>
    <p:extLst>
      <p:ext uri="{BB962C8B-B14F-4D97-AF65-F5344CB8AC3E}">
        <p14:creationId xmlns:p14="http://schemas.microsoft.com/office/powerpoint/2010/main" val="28984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972800" cy="1325563"/>
          </a:xfrm>
        </p:spPr>
        <p:txBody>
          <a:bodyPr>
            <a:normAutofit/>
          </a:bodyPr>
          <a:lstStyle/>
          <a:p>
            <a:r>
              <a:rPr lang="en-US" b="1" i="1" dirty="0">
                <a:solidFill>
                  <a:schemeClr val="accent5">
                    <a:lumMod val="75000"/>
                  </a:schemeClr>
                </a:solidFill>
                <a:latin typeface="+mn-lt"/>
              </a:rPr>
              <a:t>Basic Definitions - II</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351338"/>
              </a:xfrm>
            </p:spPr>
            <p:txBody>
              <a:bodyPr/>
              <a:lstStyle/>
              <a:p>
                <a:pPr algn="just"/>
                <a:r>
                  <a:rPr lang="en-US" sz="3000" b="1" dirty="0">
                    <a:solidFill>
                      <a:srgbClr val="00B050"/>
                    </a:solidFill>
                  </a:rPr>
                  <a:t>Field</a:t>
                </a:r>
                <a:r>
                  <a:rPr lang="en-US" sz="3000" dirty="0">
                    <a:solidFill>
                      <a:srgbClr val="00B050"/>
                    </a:solidFill>
                  </a:rPr>
                  <a:t>: </a:t>
                </a:r>
                <a:r>
                  <a:rPr lang="en-US" dirty="0">
                    <a:solidFill>
                      <a:srgbClr val="FF0000"/>
                    </a:solidFill>
                  </a:rPr>
                  <a:t>A set of elements</a:t>
                </a:r>
                <a:r>
                  <a:rPr lang="en-US" dirty="0"/>
                  <a:t>, together with any </a:t>
                </a:r>
                <a:r>
                  <a:rPr lang="en-US" dirty="0">
                    <a:solidFill>
                      <a:srgbClr val="0070C0"/>
                    </a:solidFill>
                  </a:rPr>
                  <a:t>two binary operators</a:t>
                </a:r>
                <a:r>
                  <a:rPr lang="en-US" dirty="0"/>
                  <a:t>, each having </a:t>
                </a:r>
                <a:r>
                  <a:rPr lang="en-US" b="1" dirty="0">
                    <a:solidFill>
                      <a:schemeClr val="accent1">
                        <a:lumMod val="50000"/>
                      </a:schemeClr>
                    </a:solidFill>
                  </a:rPr>
                  <a:t>properties 1 to 5 </a:t>
                </a:r>
                <a:r>
                  <a:rPr lang="en-US" dirty="0"/>
                  <a:t>and both operators combined to give </a:t>
                </a:r>
                <a:r>
                  <a:rPr lang="en-US" b="1" dirty="0">
                    <a:solidFill>
                      <a:schemeClr val="accent1">
                        <a:lumMod val="50000"/>
                      </a:schemeClr>
                    </a:solidFill>
                  </a:rPr>
                  <a:t>property 6.</a:t>
                </a:r>
              </a:p>
              <a:p>
                <a:pPr lvl="1" algn="just"/>
                <a:r>
                  <a:rPr lang="en-US" b="1" dirty="0"/>
                  <a:t>Basically, </a:t>
                </a:r>
                <a:r>
                  <a:rPr lang="en-US" dirty="0"/>
                  <a:t>a field is an entity that belongs the preceding properties </a:t>
                </a:r>
              </a:p>
              <a:p>
                <a:pPr lvl="1" algn="just"/>
                <a:r>
                  <a:rPr lang="en-US" b="1" dirty="0"/>
                  <a:t>Implementation </a:t>
                </a:r>
                <a:r>
                  <a:rPr lang="en-US" dirty="0"/>
                  <a:t>of an algebraic structure</a:t>
                </a:r>
              </a:p>
              <a:p>
                <a:pPr lvl="1" algn="just"/>
                <a:r>
                  <a:rPr lang="en-US" b="1" i="1" dirty="0"/>
                  <a:t>Example:</a:t>
                </a:r>
                <a:r>
                  <a:rPr lang="en-US" dirty="0"/>
                  <a:t> Set of real number, </a:t>
                </a:r>
                <a:r>
                  <a:rPr lang="en-US" b="1" dirty="0"/>
                  <a:t>R</a:t>
                </a:r>
                <a:r>
                  <a:rPr lang="en-US" dirty="0"/>
                  <a:t>, with two binary operators </a:t>
                </a:r>
                <a14:m>
                  <m:oMath xmlns:m="http://schemas.openxmlformats.org/officeDocument/2006/math">
                    <m:r>
                      <a:rPr lang="en-US" b="1" i="1" dirty="0" smtClean="0">
                        <a:latin typeface="Cambria Math" panose="02040503050406030204" pitchFamily="18" charset="0"/>
                      </a:rPr>
                      <m:t>+ </m:t>
                    </m:r>
                  </m:oMath>
                </a14:m>
                <a:r>
                  <a:rPr lang="en-US" dirty="0"/>
                  <a:t>and </a:t>
                </a:r>
                <a14:m>
                  <m:oMath xmlns:m="http://schemas.openxmlformats.org/officeDocument/2006/math">
                    <m:r>
                      <a:rPr lang="en-US" b="1" i="1" dirty="0" smtClean="0">
                        <a:latin typeface="Cambria Math" panose="02040503050406030204" pitchFamily="18" charset="0"/>
                      </a:rPr>
                      <m:t>∗</m:t>
                    </m:r>
                  </m:oMath>
                </a14:m>
                <a:r>
                  <a:rPr lang="en-US" dirty="0"/>
                  <a:t> form the </a:t>
                </a:r>
                <a:br>
                  <a:rPr lang="en-US" dirty="0"/>
                </a:br>
                <a:r>
                  <a:rPr lang="en-US" b="1" dirty="0">
                    <a:solidFill>
                      <a:srgbClr val="002060"/>
                    </a:solidFill>
                  </a:rPr>
                  <a:t>field of real numbers</a:t>
                </a:r>
                <a:r>
                  <a:rPr lang="en-US" dirty="0"/>
                  <a:t>. (</a:t>
                </a:r>
                <a:r>
                  <a:rPr lang="en-US" i="1" dirty="0">
                    <a:solidFill>
                      <a:srgbClr val="FF0000"/>
                    </a:solidFill>
                  </a:rPr>
                  <a:t>verification?</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3"/>
                <a:stretch>
                  <a:fillRect l="-1120" t="-2801" r="-1067"/>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7</a:t>
            </a:fld>
            <a:endParaRPr lang="en-US" sz="1800" dirty="0"/>
          </a:p>
        </p:txBody>
      </p:sp>
    </p:spTree>
    <p:extLst>
      <p:ext uri="{BB962C8B-B14F-4D97-AF65-F5344CB8AC3E}">
        <p14:creationId xmlns:p14="http://schemas.microsoft.com/office/powerpoint/2010/main" val="221205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Boolean Algebra</a:t>
            </a:r>
            <a:endParaRPr lang="en-US" sz="3900" dirty="0">
              <a:latin typeface="+mn-lt"/>
            </a:endParaRPr>
          </a:p>
        </p:txBody>
      </p:sp>
      <p:sp>
        <p:nvSpPr>
          <p:cNvPr id="3" name="Content Placeholder 2"/>
          <p:cNvSpPr>
            <a:spLocks noGrp="1"/>
          </p:cNvSpPr>
          <p:nvPr>
            <p:ph idx="1"/>
          </p:nvPr>
        </p:nvSpPr>
        <p:spPr>
          <a:xfrm>
            <a:off x="381000" y="1825625"/>
            <a:ext cx="11430000" cy="4351338"/>
          </a:xfrm>
        </p:spPr>
        <p:txBody>
          <a:bodyPr>
            <a:normAutofit/>
          </a:bodyPr>
          <a:lstStyle/>
          <a:p>
            <a:pPr algn="just"/>
            <a:r>
              <a:rPr lang="en-US" dirty="0"/>
              <a:t>In 1854, </a:t>
            </a:r>
            <a:r>
              <a:rPr lang="en-US" b="1" dirty="0"/>
              <a:t>George Boole </a:t>
            </a:r>
            <a:r>
              <a:rPr lang="en-US" dirty="0"/>
              <a:t>introduced </a:t>
            </a:r>
            <a:r>
              <a:rPr lang="en-US" dirty="0">
                <a:solidFill>
                  <a:srgbClr val="FF0000"/>
                </a:solidFill>
              </a:rPr>
              <a:t>systematic treatment of logic </a:t>
            </a:r>
            <a:r>
              <a:rPr lang="en-US" dirty="0"/>
              <a:t>and developed </a:t>
            </a:r>
            <a:r>
              <a:rPr lang="en-US" dirty="0">
                <a:solidFill>
                  <a:srgbClr val="FF0000"/>
                </a:solidFill>
              </a:rPr>
              <a:t>Boolean algebra</a:t>
            </a:r>
          </a:p>
          <a:p>
            <a:pPr algn="just"/>
            <a:r>
              <a:rPr lang="en-US" dirty="0"/>
              <a:t>In 1938, </a:t>
            </a:r>
            <a:r>
              <a:rPr lang="en-US" b="1" dirty="0"/>
              <a:t>C. E. Shannon </a:t>
            </a:r>
            <a:r>
              <a:rPr lang="en-US" dirty="0"/>
              <a:t>materialized a </a:t>
            </a:r>
            <a:r>
              <a:rPr lang="en-US" dirty="0">
                <a:solidFill>
                  <a:srgbClr val="FF0000"/>
                </a:solidFill>
              </a:rPr>
              <a:t>two-level Boolean algebra</a:t>
            </a:r>
          </a:p>
          <a:p>
            <a:pPr lvl="2" algn="just"/>
            <a:r>
              <a:rPr lang="en-US" dirty="0"/>
              <a:t>Also</a:t>
            </a:r>
            <a:r>
              <a:rPr lang="en-US" dirty="0">
                <a:solidFill>
                  <a:srgbClr val="FF0000"/>
                </a:solidFill>
              </a:rPr>
              <a:t> </a:t>
            </a:r>
            <a:r>
              <a:rPr lang="en-US" dirty="0"/>
              <a:t>called </a:t>
            </a:r>
            <a:r>
              <a:rPr lang="en-US" dirty="0">
                <a:solidFill>
                  <a:srgbClr val="FF0000"/>
                </a:solidFill>
              </a:rPr>
              <a:t>switching circuit/algebra</a:t>
            </a:r>
          </a:p>
          <a:p>
            <a:pPr lvl="2" algn="just"/>
            <a:r>
              <a:rPr lang="en-US" dirty="0">
                <a:solidFill>
                  <a:schemeClr val="accent1">
                    <a:lumMod val="50000"/>
                  </a:schemeClr>
                </a:solidFill>
              </a:rPr>
              <a:t>First introduced the properties of bistable electrical switching circuit</a:t>
            </a:r>
          </a:p>
          <a:p>
            <a:pPr algn="just"/>
            <a:r>
              <a:rPr lang="en-US" dirty="0"/>
              <a:t>For formal definition of Boolean algebra, we follow the </a:t>
            </a:r>
            <a:r>
              <a:rPr lang="en-US" dirty="0">
                <a:solidFill>
                  <a:srgbClr val="FF0000"/>
                </a:solidFill>
              </a:rPr>
              <a:t>postulates formulated</a:t>
            </a:r>
            <a:r>
              <a:rPr lang="en-US" dirty="0"/>
              <a:t> by </a:t>
            </a:r>
            <a:r>
              <a:rPr lang="en-US" b="1" dirty="0"/>
              <a:t>E. V. Huntington</a:t>
            </a:r>
            <a:r>
              <a:rPr lang="en-US" dirty="0"/>
              <a:t> (1904).</a:t>
            </a:r>
          </a:p>
          <a:p>
            <a:pPr algn="just"/>
            <a:r>
              <a:rPr lang="en-US" b="1" i="1" dirty="0">
                <a:solidFill>
                  <a:srgbClr val="0070C0"/>
                </a:solidFill>
              </a:rPr>
              <a:t>Boolean algebra </a:t>
            </a:r>
            <a:r>
              <a:rPr lang="en-US" dirty="0"/>
              <a:t>is a </a:t>
            </a:r>
            <a:r>
              <a:rPr lang="en-US" b="1" dirty="0"/>
              <a:t>field</a:t>
            </a:r>
            <a:r>
              <a:rPr lang="en-US" dirty="0"/>
              <a:t> (implementation of algebraic structure) with a </a:t>
            </a:r>
            <a:r>
              <a:rPr lang="en-US" u="sng" dirty="0"/>
              <a:t>set of elements </a:t>
            </a:r>
            <a:r>
              <a:rPr lang="en-US" b="1" i="1" u="sng" dirty="0"/>
              <a:t>B</a:t>
            </a:r>
            <a:r>
              <a:rPr lang="en-US" b="1" i="1" dirty="0"/>
              <a:t>,</a:t>
            </a:r>
            <a:r>
              <a:rPr lang="en-US" i="1" dirty="0"/>
              <a:t> </a:t>
            </a:r>
            <a:r>
              <a:rPr lang="en-US" dirty="0"/>
              <a:t>together with </a:t>
            </a:r>
            <a:r>
              <a:rPr lang="en-US" u="sng" dirty="0"/>
              <a:t>two binary operators (+) and (</a:t>
            </a:r>
            <a:r>
              <a:rPr lang="en-US" b="1" u="sng" dirty="0"/>
              <a:t>.</a:t>
            </a:r>
            <a:r>
              <a:rPr lang="en-US" u="sng" dirty="0"/>
              <a:t>)</a:t>
            </a:r>
            <a:r>
              <a:rPr lang="en-US" dirty="0"/>
              <a:t> and follows the </a:t>
            </a:r>
            <a:r>
              <a:rPr lang="en-US" b="1" dirty="0"/>
              <a:t>Huntington</a:t>
            </a:r>
            <a:r>
              <a:rPr lang="en-US" dirty="0"/>
              <a:t> postulates. </a:t>
            </a:r>
            <a:endParaRPr lang="en-US" b="1" i="1" dirty="0"/>
          </a:p>
          <a:p>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8</a:t>
            </a:fld>
            <a:endParaRPr lang="en-US" sz="1800" dirty="0"/>
          </a:p>
        </p:txBody>
      </p:sp>
    </p:spTree>
    <p:extLst>
      <p:ext uri="{BB962C8B-B14F-4D97-AF65-F5344CB8AC3E}">
        <p14:creationId xmlns:p14="http://schemas.microsoft.com/office/powerpoint/2010/main" val="421156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Huntington Postulates for Boolean Algebra</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b="1" dirty="0"/>
                  <a:t>a</a:t>
                </a:r>
                <a:r>
                  <a:rPr lang="en-US" dirty="0"/>
                  <a:t>. </a:t>
                </a:r>
                <a:r>
                  <a:rPr lang="en-US" b="1" dirty="0"/>
                  <a:t>Closure</a:t>
                </a:r>
                <a:r>
                  <a:rPr lang="en-US" dirty="0"/>
                  <a:t> with respect to the </a:t>
                </a:r>
                <a:r>
                  <a:rPr lang="en-US" dirty="0">
                    <a:solidFill>
                      <a:srgbClr val="FF0000"/>
                    </a:solidFill>
                  </a:rPr>
                  <a:t>binary operator +</a:t>
                </a:r>
              </a:p>
              <a:p>
                <a:pPr marL="0" indent="0">
                  <a:buNone/>
                </a:pPr>
                <a:r>
                  <a:rPr lang="en-US" dirty="0"/>
                  <a:t>      </a:t>
                </a:r>
                <a:r>
                  <a:rPr lang="en-US" b="1" dirty="0"/>
                  <a:t>b</a:t>
                </a:r>
                <a:r>
                  <a:rPr lang="en-US" dirty="0"/>
                  <a:t>. </a:t>
                </a:r>
                <a:r>
                  <a:rPr lang="en-US" b="1" dirty="0"/>
                  <a:t>Closure</a:t>
                </a:r>
                <a:r>
                  <a:rPr lang="en-US" dirty="0"/>
                  <a:t> with respect to the </a:t>
                </a:r>
                <a:r>
                  <a:rPr lang="en-US" dirty="0">
                    <a:solidFill>
                      <a:srgbClr val="FF0000"/>
                    </a:solidFill>
                  </a:rPr>
                  <a:t>binary operator </a:t>
                </a:r>
                <a:r>
                  <a:rPr lang="en-US" b="1" dirty="0">
                    <a:solidFill>
                      <a:srgbClr val="FF0000"/>
                    </a:solidFill>
                  </a:rPr>
                  <a:t>.</a:t>
                </a:r>
              </a:p>
              <a:p>
                <a:pPr marL="514350" indent="-514350">
                  <a:buFont typeface="+mj-lt"/>
                  <a:buAutoNum type="arabicPeriod" startAt="2"/>
                </a:pPr>
                <a:r>
                  <a:rPr lang="en-US" b="1" dirty="0"/>
                  <a:t>a</a:t>
                </a:r>
                <a:r>
                  <a:rPr lang="en-US" dirty="0"/>
                  <a:t>. </a:t>
                </a:r>
                <a:r>
                  <a:rPr lang="en-US" b="1" dirty="0"/>
                  <a:t>An identity element </a:t>
                </a:r>
                <a:r>
                  <a:rPr lang="en-US" dirty="0"/>
                  <a:t>with respect to +, is designated by 0 : </a:t>
                </a:r>
              </a:p>
              <a:p>
                <a:pPr marL="914400" lvl="2"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+0 = 0+</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𝑥</m:t>
                      </m:r>
                    </m:oMath>
                  </m:oMathPara>
                </a14:m>
                <a:endParaRPr lang="en-US" i="1" dirty="0"/>
              </a:p>
              <a:p>
                <a:pPr marL="0" indent="0">
                  <a:buNone/>
                </a:pPr>
                <a:r>
                  <a:rPr lang="en-US" dirty="0"/>
                  <a:t>      </a:t>
                </a:r>
                <a:r>
                  <a:rPr lang="en-US" b="1" dirty="0"/>
                  <a:t>b</a:t>
                </a:r>
                <a:r>
                  <a:rPr lang="en-US" dirty="0"/>
                  <a:t>. </a:t>
                </a:r>
                <a:r>
                  <a:rPr lang="en-US" b="1" dirty="0"/>
                  <a:t>An identity element </a:t>
                </a:r>
                <a:r>
                  <a:rPr lang="en-US" dirty="0"/>
                  <a:t>with respect to </a:t>
                </a:r>
                <a:r>
                  <a:rPr lang="en-US" b="1" dirty="0"/>
                  <a:t>.</a:t>
                </a:r>
                <a:r>
                  <a:rPr lang="en-US" dirty="0"/>
                  <a:t>, is designated by 1 : </a:t>
                </a:r>
              </a:p>
              <a:p>
                <a:pPr marL="914400" lvl="2"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.1 = 1.</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𝑥</m:t>
                      </m:r>
                    </m:oMath>
                  </m:oMathPara>
                </a14:m>
                <a:endParaRPr lang="en-US" i="1" dirty="0"/>
              </a:p>
              <a:p>
                <a:pPr marL="514350" indent="-514350">
                  <a:buFont typeface="+mj-lt"/>
                  <a:buAutoNum type="arabicPeriod" startAt="3"/>
                </a:pPr>
                <a:r>
                  <a:rPr lang="en-US" b="1" dirty="0"/>
                  <a:t>a</a:t>
                </a:r>
                <a:r>
                  <a:rPr lang="en-US" dirty="0"/>
                  <a:t>. </a:t>
                </a:r>
                <a:r>
                  <a:rPr lang="en-US" b="1" dirty="0"/>
                  <a:t>Commutative</a:t>
                </a:r>
                <a:r>
                  <a:rPr lang="en-US" dirty="0"/>
                  <a:t> with respect to + :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oMath>
                </a14:m>
                <a:endParaRPr lang="en-US" i="1" dirty="0"/>
              </a:p>
              <a:p>
                <a:pPr marL="0" indent="0">
                  <a:buNone/>
                </a:pPr>
                <a:r>
                  <a:rPr lang="en-US" dirty="0"/>
                  <a:t>      </a:t>
                </a:r>
                <a:r>
                  <a:rPr lang="en-US" b="1" dirty="0"/>
                  <a:t>b</a:t>
                </a:r>
                <a:r>
                  <a:rPr lang="en-US" dirty="0"/>
                  <a:t>. </a:t>
                </a:r>
                <a:r>
                  <a:rPr lang="en-US" b="1" dirty="0"/>
                  <a:t>Commutative</a:t>
                </a:r>
                <a:r>
                  <a:rPr lang="en-US" dirty="0"/>
                  <a:t> with respect to </a:t>
                </a:r>
                <a:r>
                  <a:rPr lang="en-US" b="1" dirty="0"/>
                  <a:t>. </a:t>
                </a:r>
                <a:r>
                  <a:rPr lang="en-US" dirty="0"/>
                  <a: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oMath>
                </a14:m>
                <a:endParaRPr lang="en-US" i="1" dirty="0"/>
              </a:p>
              <a:p>
                <a:pPr marL="514350" indent="-514350">
                  <a:buFont typeface="+mj-lt"/>
                  <a:buAutoNum type="arabicPeriod" startAt="4"/>
                </a:pPr>
                <a:r>
                  <a:rPr lang="en-US" b="1" dirty="0"/>
                  <a:t>a</a:t>
                </a:r>
                <a:r>
                  <a:rPr lang="en-US" dirty="0"/>
                  <a:t>. . is </a:t>
                </a:r>
                <a:r>
                  <a:rPr lang="en-US" b="1" dirty="0"/>
                  <a:t>distributed</a:t>
                </a:r>
                <a:r>
                  <a:rPr lang="en-US" dirty="0"/>
                  <a:t> over + :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i="1" dirty="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m:t>
                    </m:r>
                  </m:oMath>
                </a14:m>
                <a:endParaRPr lang="en-US" i="1" dirty="0"/>
              </a:p>
              <a:p>
                <a:pPr marL="0" indent="0">
                  <a:buNone/>
                </a:pPr>
                <a:r>
                  <a:rPr lang="en-US" dirty="0"/>
                  <a:t>      </a:t>
                </a:r>
                <a:r>
                  <a:rPr lang="en-US" b="1" dirty="0"/>
                  <a:t>b</a:t>
                </a:r>
                <a:r>
                  <a:rPr lang="en-US" dirty="0"/>
                  <a:t>. + is </a:t>
                </a:r>
                <a:r>
                  <a:rPr lang="en-US" b="1" dirty="0"/>
                  <a:t>distributed</a:t>
                </a:r>
                <a:r>
                  <a:rPr lang="en-US" dirty="0"/>
                  <a:t> over . :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i="1" dirty="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m:t>
                    </m:r>
                  </m:oMath>
                </a14:m>
                <a:endParaRPr lang="en-US" i="1" dirty="0"/>
              </a:p>
              <a:p>
                <a:pPr marL="514350" indent="-514350">
                  <a:buFont typeface="+mj-lt"/>
                  <a:buAutoNum type="arabicPeriod" startAt="3"/>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3221" b="-210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endParaRPr lang="en-US" dirty="0"/>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9</a:t>
            </a:fld>
            <a:endParaRPr lang="en-US" sz="1800" dirty="0"/>
          </a:p>
        </p:txBody>
      </p:sp>
    </p:spTree>
    <p:extLst>
      <p:ext uri="{BB962C8B-B14F-4D97-AF65-F5344CB8AC3E}">
        <p14:creationId xmlns:p14="http://schemas.microsoft.com/office/powerpoint/2010/main" val="1969271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Huntington Postulates…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972800" cy="4351338"/>
              </a:xfrm>
            </p:spPr>
            <p:txBody>
              <a:bodyPr/>
              <a:lstStyle/>
              <a:p>
                <a:pPr marL="514350" indent="-514350">
                  <a:buFont typeface="+mj-lt"/>
                  <a:buAutoNum type="arabicPeriod" startAt="5"/>
                </a:pPr>
                <a:r>
                  <a:rPr lang="en-US" dirty="0"/>
                  <a:t>For every element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m:t>
                    </m:r>
                  </m:oMath>
                </a14:m>
                <a:r>
                  <a:rPr lang="en-US" dirty="0"/>
                  <a:t>there exists an inverse element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m:t>
                    </m:r>
                  </m:oMath>
                </a14:m>
                <a:br>
                  <a:rPr lang="en-US" dirty="0"/>
                </a:br>
                <a:r>
                  <a:rPr lang="en-US" dirty="0"/>
                  <a:t>(</a:t>
                </a:r>
                <a:r>
                  <a:rPr lang="en-US" b="1" dirty="0"/>
                  <a:t>complement of x</a:t>
                </a:r>
                <a:r>
                  <a:rPr lang="en-US" dirty="0"/>
                  <a:t>) such that </a:t>
                </a:r>
              </a:p>
              <a:p>
                <a:pPr marL="971550" lvl="1" indent="-514350" algn="ctr">
                  <a:buFont typeface="+mj-lt"/>
                  <a:buAutoNum type="romanLcPeriod"/>
                </a:pP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rPr>
                      <m:t>’ = 1</m:t>
                    </m:r>
                  </m:oMath>
                </a14:m>
                <a:endParaRPr lang="en-US" i="1" dirty="0"/>
              </a:p>
              <a:p>
                <a:pPr marL="971550" lvl="1" indent="-514350" algn="ctr">
                  <a:buFont typeface="+mj-lt"/>
                  <a:buAutoNum type="romanLcPeriod"/>
                </a:pP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0</m:t>
                    </m:r>
                  </m:oMath>
                </a14:m>
                <a:r>
                  <a:rPr lang="en-US" i="1" dirty="0"/>
                  <a:t>        </a:t>
                </a:r>
              </a:p>
              <a:p>
                <a:pPr marL="514350" indent="-514350">
                  <a:buFont typeface="+mj-lt"/>
                  <a:buAutoNum type="arabicPeriod" startAt="5"/>
                </a:pPr>
                <a:r>
                  <a:rPr lang="en-US" dirty="0"/>
                  <a:t>There exists at least </a:t>
                </a:r>
                <a:r>
                  <a:rPr lang="en-US" b="1" dirty="0"/>
                  <a:t>two elements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 </m:t>
                    </m:r>
                    <m:r>
                      <a:rPr lang="el-GR" i="1">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 </m:t>
                    </m:r>
                    <m:r>
                      <a:rPr lang="en-US" i="1" dirty="0" smtClean="0">
                        <a:latin typeface="Cambria Math" panose="02040503050406030204" pitchFamily="18" charset="0"/>
                      </a:rPr>
                      <m:t>𝐵</m:t>
                    </m:r>
                    <m:r>
                      <a:rPr lang="en-US" i="1" dirty="0" smtClean="0">
                        <a:latin typeface="Cambria Math" panose="02040503050406030204" pitchFamily="18" charset="0"/>
                      </a:rPr>
                      <m:t> </m:t>
                    </m:r>
                  </m:oMath>
                </a14:m>
                <a:r>
                  <a:rPr lang="en-US" dirty="0"/>
                  <a:t>such that </a:t>
                </a:r>
                <a14:m>
                  <m:oMath xmlns:m="http://schemas.openxmlformats.org/officeDocument/2006/math">
                    <m:r>
                      <a:rPr lang="en-US" i="1" dirty="0" smtClean="0">
                        <a:latin typeface="Cambria Math" panose="02040503050406030204" pitchFamily="18" charset="0"/>
                      </a:rPr>
                      <m:t>𝑥</m:t>
                    </m:r>
                    <m:r>
                      <a:rPr lang="en-US" i="1"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𝑦</m:t>
                    </m:r>
                    <m:r>
                      <a:rPr lang="en-US" b="1" i="1" dirty="0">
                        <a:latin typeface="Cambria Math" panose="02040503050406030204" pitchFamily="18" charset="0"/>
                      </a:rPr>
                      <m:t> </m:t>
                    </m:r>
                  </m:oMath>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972800" cy="4351338"/>
              </a:xfrm>
              <a:blipFill>
                <a:blip r:embed="rId3"/>
                <a:stretch>
                  <a:fillRect l="-1167" t="-238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10</a:t>
            </a:fld>
            <a:endParaRPr lang="en-US" sz="1800" dirty="0"/>
          </a:p>
        </p:txBody>
      </p:sp>
    </p:spTree>
    <p:extLst>
      <p:ext uri="{BB962C8B-B14F-4D97-AF65-F5344CB8AC3E}">
        <p14:creationId xmlns:p14="http://schemas.microsoft.com/office/powerpoint/2010/main" val="224776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Boolean Algebra VS Ordinary Algebra</a:t>
            </a:r>
            <a:br>
              <a:rPr lang="en-US" b="1" i="1" dirty="0">
                <a:solidFill>
                  <a:schemeClr val="accent5">
                    <a:lumMod val="75000"/>
                  </a:schemeClr>
                </a:solidFill>
                <a:latin typeface="+mn-lt"/>
              </a:rPr>
            </a:br>
            <a:r>
              <a:rPr lang="en-US" sz="2500" b="1" i="1" dirty="0">
                <a:solidFill>
                  <a:srgbClr val="FF0000"/>
                </a:solidFill>
                <a:latin typeface="+mn-lt"/>
              </a:rPr>
              <a:t>Field of binary and real numbers</a:t>
            </a:r>
            <a:endParaRPr lang="en-US" sz="2500" dirty="0">
              <a:solidFill>
                <a:srgbClr val="FF0000"/>
              </a:solidFill>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629766"/>
              </a:xfrm>
            </p:spPr>
            <p:txBody>
              <a:bodyPr/>
              <a:lstStyle/>
              <a:p>
                <a:pPr algn="just"/>
                <a:r>
                  <a:rPr lang="en-US" dirty="0"/>
                  <a:t>Huntington postulates do not mention </a:t>
                </a:r>
                <a:r>
                  <a:rPr lang="en-US" b="1" dirty="0">
                    <a:solidFill>
                      <a:srgbClr val="FF0000"/>
                    </a:solidFill>
                  </a:rPr>
                  <a:t>associative law, </a:t>
                </a:r>
                <a:r>
                  <a:rPr lang="en-US" dirty="0"/>
                  <a:t>but it holds here. (</a:t>
                </a:r>
                <a:r>
                  <a:rPr lang="en-US" dirty="0">
                    <a:solidFill>
                      <a:srgbClr val="FF0000"/>
                    </a:solidFill>
                  </a:rPr>
                  <a:t>derivable from other postulates</a:t>
                </a:r>
                <a:r>
                  <a:rPr lang="en-US" dirty="0"/>
                  <a:t>) </a:t>
                </a:r>
              </a:p>
              <a:p>
                <a:pPr algn="just"/>
                <a:r>
                  <a:rPr lang="en-US" dirty="0"/>
                  <a:t>The </a:t>
                </a:r>
                <a:r>
                  <a:rPr lang="en-US" b="1" dirty="0">
                    <a:solidFill>
                      <a:srgbClr val="FF0000"/>
                    </a:solidFill>
                  </a:rPr>
                  <a:t>distributive law of (+) over (</a:t>
                </a:r>
                <a:r>
                  <a:rPr lang="en-US" dirty="0">
                    <a:solidFill>
                      <a:srgbClr val="FF0000"/>
                    </a:solidFill>
                  </a:rPr>
                  <a:t>.</a:t>
                </a:r>
                <a:r>
                  <a:rPr lang="en-US" b="1" dirty="0">
                    <a:solidFill>
                      <a:srgbClr val="FF0000"/>
                    </a:solidFill>
                  </a:rPr>
                  <a:t>)</a:t>
                </a:r>
                <a:r>
                  <a:rPr lang="en-US" dirty="0">
                    <a:solidFill>
                      <a:srgbClr val="FF0000"/>
                    </a:solidFill>
                  </a:rPr>
                  <a:t> </a:t>
                </a:r>
                <a:r>
                  <a:rPr lang="en-US" dirty="0"/>
                  <a:t>is only valid for Boolean algebra but not for ordinary algebra. [</a:t>
                </a:r>
                <a:r>
                  <a:rPr lang="en-US" b="1" i="1" dirty="0"/>
                  <a:t>i.e.,</a:t>
                </a:r>
                <a:r>
                  <a:rPr lang="en-US" i="1" dirty="0"/>
                  <a:t>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b="0" i="1" dirty="0" smtClean="0">
                        <a:latin typeface="Cambria Math" panose="02040503050406030204" pitchFamily="18" charset="0"/>
                      </a:rPr>
                      <m:t>𝑧</m:t>
                    </m:r>
                    <m:r>
                      <a:rPr lang="en-US" i="1" dirty="0" smtClean="0">
                        <a:latin typeface="Cambria Math" panose="02040503050406030204" pitchFamily="18" charset="0"/>
                      </a:rPr>
                      <m:t>)</m:t>
                    </m:r>
                  </m:oMath>
                </a14:m>
                <a:r>
                  <a:rPr lang="en-US" dirty="0"/>
                  <a:t>]</a:t>
                </a:r>
              </a:p>
              <a:p>
                <a:pPr algn="just"/>
                <a:r>
                  <a:rPr lang="en-US" dirty="0"/>
                  <a:t>Boolean algebra does not have any </a:t>
                </a:r>
                <a:r>
                  <a:rPr lang="en-US" b="1" dirty="0">
                    <a:solidFill>
                      <a:srgbClr val="FF0000"/>
                    </a:solidFill>
                  </a:rPr>
                  <a:t>additive or multiplicative inverse </a:t>
                </a:r>
                <a:r>
                  <a:rPr lang="en-US" b="1" dirty="0"/>
                  <a:t>(0 and 1 respectively for ordinary algebra)</a:t>
                </a:r>
                <a:r>
                  <a:rPr lang="en-US" dirty="0"/>
                  <a:t>. </a:t>
                </a:r>
              </a:p>
              <a:p>
                <a:pPr lvl="2" algn="just"/>
                <a:r>
                  <a:rPr lang="en-US" dirty="0"/>
                  <a:t>So, there is </a:t>
                </a:r>
                <a:r>
                  <a:rPr lang="en-US" b="1" dirty="0">
                    <a:solidFill>
                      <a:srgbClr val="FF0000"/>
                    </a:solidFill>
                  </a:rPr>
                  <a:t>no subtraction or division </a:t>
                </a:r>
                <a:r>
                  <a:rPr lang="en-US" dirty="0"/>
                  <a:t>operations in Boolean algebra</a:t>
                </a:r>
              </a:p>
              <a:p>
                <a:pPr algn="just"/>
                <a:r>
                  <a:rPr lang="en-US" b="1" dirty="0">
                    <a:solidFill>
                      <a:srgbClr val="FF0000"/>
                    </a:solidFill>
                  </a:rPr>
                  <a:t>Complement </a:t>
                </a:r>
                <a:r>
                  <a:rPr lang="en-US" dirty="0"/>
                  <a:t>is only available in Boolean algebra</a:t>
                </a:r>
              </a:p>
              <a:p>
                <a:pPr algn="just"/>
                <a:r>
                  <a:rPr lang="en-US" dirty="0"/>
                  <a:t>Two valued Boolean algebra deals with set </a:t>
                </a:r>
                <a:r>
                  <a:rPr lang="en-US" b="1" i="1" dirty="0"/>
                  <a:t>B</a:t>
                </a:r>
                <a:r>
                  <a:rPr lang="en-US" dirty="0"/>
                  <a:t> having </a:t>
                </a:r>
                <a:r>
                  <a:rPr lang="en-US" b="1" dirty="0">
                    <a:solidFill>
                      <a:srgbClr val="FF0000"/>
                    </a:solidFill>
                  </a:rPr>
                  <a:t>two elements 0 and 1 </a:t>
                </a:r>
                <a:r>
                  <a:rPr lang="en-US" dirty="0"/>
                  <a:t>whereas real numbers, </a:t>
                </a:r>
                <a:r>
                  <a:rPr lang="en-US" b="1" i="1" dirty="0"/>
                  <a:t>N</a:t>
                </a:r>
                <a:r>
                  <a:rPr lang="en-US" dirty="0"/>
                  <a:t> deals with an infinite set of elements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629766"/>
              </a:xfrm>
              <a:blipFill>
                <a:blip r:embed="rId3"/>
                <a:stretch>
                  <a:fillRect l="-960" t="-2105" r="-1067"/>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11</a:t>
            </a:fld>
            <a:endParaRPr lang="en-US" sz="1800" dirty="0"/>
          </a:p>
        </p:txBody>
      </p:sp>
    </p:spTree>
    <p:extLst>
      <p:ext uri="{BB962C8B-B14F-4D97-AF65-F5344CB8AC3E}">
        <p14:creationId xmlns:p14="http://schemas.microsoft.com/office/powerpoint/2010/main" val="2595556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lstStyle/>
          <a:p>
            <a:r>
              <a:rPr lang="en-US" b="1" i="1" dirty="0">
                <a:solidFill>
                  <a:srgbClr val="4472C4">
                    <a:lumMod val="75000"/>
                  </a:srgbClr>
                </a:solidFill>
                <a:latin typeface="Calibri" panose="020F0502020204030204"/>
              </a:rPr>
              <a:t>Two-valued Boolean Algebra</a:t>
            </a:r>
            <a:endParaRPr lang="en-US" dirty="0"/>
          </a:p>
        </p:txBody>
      </p:sp>
      <p:sp>
        <p:nvSpPr>
          <p:cNvPr id="3" name="Content Placeholder 2"/>
          <p:cNvSpPr>
            <a:spLocks noGrp="1"/>
          </p:cNvSpPr>
          <p:nvPr>
            <p:ph idx="1"/>
          </p:nvPr>
        </p:nvSpPr>
        <p:spPr>
          <a:xfrm>
            <a:off x="381000" y="1825625"/>
            <a:ext cx="11430000" cy="4351338"/>
          </a:xfrm>
        </p:spPr>
        <p:txBody>
          <a:bodyPr/>
          <a:lstStyle/>
          <a:p>
            <a:r>
              <a:rPr lang="en-US" dirty="0"/>
              <a:t>Two valued Boolean algebra is defined on a set of two elements, B = {0,1} with rules of two binary operators (+ and .)</a:t>
            </a:r>
          </a:p>
          <a:p>
            <a:pPr lvl="2"/>
            <a:r>
              <a:rPr lang="en-US" dirty="0"/>
              <a:t>Huntington postulates are valid for the set B and two binary operators</a:t>
            </a:r>
          </a:p>
          <a:p>
            <a:pPr lvl="2"/>
            <a:r>
              <a:rPr lang="en-US" dirty="0"/>
              <a:t>Slide # 9, 10 can be verified over those given circumstances  </a:t>
            </a:r>
          </a:p>
          <a:p>
            <a:r>
              <a:rPr lang="en-US" dirty="0"/>
              <a:t>Application of Boolean algebra: </a:t>
            </a:r>
          </a:p>
          <a:p>
            <a:pPr lvl="2"/>
            <a:r>
              <a:rPr lang="en-US" dirty="0"/>
              <a:t>Gate type circuits</a:t>
            </a:r>
          </a:p>
          <a:p>
            <a:pPr lvl="2"/>
            <a:r>
              <a:rPr lang="en-US" dirty="0"/>
              <a:t>Development of theorems and properties </a:t>
            </a:r>
          </a:p>
          <a:p>
            <a:r>
              <a:rPr lang="en-US" dirty="0"/>
              <a:t>Also known as </a:t>
            </a:r>
            <a:r>
              <a:rPr lang="en-US" b="1" dirty="0"/>
              <a:t>switching algebra</a:t>
            </a:r>
            <a:r>
              <a:rPr lang="en-US" dirty="0"/>
              <a:t>, </a:t>
            </a:r>
            <a:r>
              <a:rPr lang="en-US" b="1" dirty="0"/>
              <a:t>binary logic</a:t>
            </a:r>
          </a:p>
          <a:p>
            <a:pPr lvl="1"/>
            <a:endParaRPr lang="en-US" dirty="0"/>
          </a:p>
        </p:txBody>
      </p:sp>
      <p:sp>
        <p:nvSpPr>
          <p:cNvPr id="4" name="Date Placeholder 3"/>
          <p:cNvSpPr>
            <a:spLocks noGrp="1"/>
          </p:cNvSpPr>
          <p:nvPr>
            <p:ph type="dt" sz="half" idx="10"/>
          </p:nvPr>
        </p:nvSpPr>
        <p:spPr/>
        <p:txBody>
          <a:bodyPr/>
          <a:lstStyle/>
          <a:p>
            <a:r>
              <a:rPr lang="en-US" dirty="0"/>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12</a:t>
            </a:fld>
            <a:endParaRPr lang="en-US"/>
          </a:p>
        </p:txBody>
      </p:sp>
    </p:spTree>
    <p:extLst>
      <p:ext uri="{BB962C8B-B14F-4D97-AF65-F5344CB8AC3E}">
        <p14:creationId xmlns:p14="http://schemas.microsoft.com/office/powerpoint/2010/main" val="166769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rgbClr val="4472C4">
                    <a:lumMod val="75000"/>
                  </a:srgbClr>
                </a:solidFill>
                <a:latin typeface="Calibri" panose="020F0502020204030204"/>
              </a:rPr>
              <a:t>Property: Duality</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593286" cy="4351338"/>
              </a:xfrm>
            </p:spPr>
            <p:txBody>
              <a:bodyPr>
                <a:normAutofit/>
              </a:bodyPr>
              <a:lstStyle/>
              <a:p>
                <a:pPr algn="just"/>
                <a:r>
                  <a:rPr lang="en-US" dirty="0">
                    <a:solidFill>
                      <a:srgbClr val="00B050"/>
                    </a:solidFill>
                  </a:rPr>
                  <a:t>Every algebraic expression deducible from the </a:t>
                </a:r>
                <a:r>
                  <a:rPr lang="en-US" b="1" dirty="0">
                    <a:solidFill>
                      <a:srgbClr val="00B050"/>
                    </a:solidFill>
                  </a:rPr>
                  <a:t>postulates of the Boolean algebra </a:t>
                </a:r>
                <a:r>
                  <a:rPr lang="en-US" dirty="0">
                    <a:solidFill>
                      <a:srgbClr val="00B050"/>
                    </a:solidFill>
                  </a:rPr>
                  <a:t>remains </a:t>
                </a:r>
                <a:r>
                  <a:rPr lang="en-US" b="1" dirty="0">
                    <a:solidFill>
                      <a:srgbClr val="002060"/>
                    </a:solidFill>
                  </a:rPr>
                  <a:t>valid</a:t>
                </a:r>
                <a:r>
                  <a:rPr lang="en-US" dirty="0">
                    <a:solidFill>
                      <a:srgbClr val="00B050"/>
                    </a:solidFill>
                  </a:rPr>
                  <a:t> </a:t>
                </a:r>
                <a:r>
                  <a:rPr lang="en-US" dirty="0">
                    <a:solidFill>
                      <a:srgbClr val="FF0000"/>
                    </a:solidFill>
                  </a:rPr>
                  <a:t>if the operators and identity elements are interchanged</a:t>
                </a:r>
                <a:r>
                  <a:rPr lang="en-US" dirty="0"/>
                  <a:t>. </a:t>
                </a:r>
              </a:p>
              <a:p>
                <a:pPr lvl="2" algn="just"/>
                <a:r>
                  <a:rPr lang="en-US" dirty="0"/>
                  <a:t>For this reason, </a:t>
                </a:r>
                <a:r>
                  <a:rPr lang="en-US" dirty="0">
                    <a:solidFill>
                      <a:srgbClr val="FF0000"/>
                    </a:solidFill>
                  </a:rPr>
                  <a:t>Huntington postulates are listed in pairs</a:t>
                </a:r>
                <a:r>
                  <a:rPr lang="en-US" dirty="0"/>
                  <a:t>. </a:t>
                </a:r>
              </a:p>
              <a:p>
                <a:pPr lvl="2" algn="just"/>
                <a:r>
                  <a:rPr lang="en-US" dirty="0"/>
                  <a:t>In Boolean algebra, elements of B and the identity elements are identical (</a:t>
                </a:r>
                <a:r>
                  <a:rPr lang="en-US" b="1" i="1" dirty="0"/>
                  <a:t>i.e.,</a:t>
                </a:r>
                <a:r>
                  <a:rPr lang="en-US" dirty="0"/>
                  <a:t> 0 and 1)</a:t>
                </a:r>
              </a:p>
              <a:p>
                <a:pPr algn="just"/>
                <a:r>
                  <a:rPr lang="en-US" dirty="0"/>
                  <a:t>For dual of any algebraic expression, we simply interchange OR and AND operators and replace 1s by 0s and 0s by 1s.</a:t>
                </a:r>
              </a:p>
              <a:p>
                <a:pPr lvl="2" algn="just"/>
                <a:r>
                  <a:rPr lang="en-US" b="1" dirty="0"/>
                  <a:t>Example: </a:t>
                </a:r>
                <a:r>
                  <a:rPr lang="en-US" dirty="0"/>
                  <a:t>Postulate – 5 from Huntington postulates:</a:t>
                </a:r>
              </a:p>
              <a:p>
                <a:pPr marL="1885950" lvl="3" indent="-514350" algn="just">
                  <a:buFont typeface="+mj-lt"/>
                  <a:buAutoNum type="romanLcPeriod"/>
                </a:pP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rPr>
                      <m:t>’ = 1</m:t>
                    </m:r>
                  </m:oMath>
                </a14:m>
                <a:endParaRPr lang="en-US" dirty="0"/>
              </a:p>
              <a:p>
                <a:pPr marL="1885950" lvl="3" indent="-514350" algn="just">
                  <a:buFont typeface="+mj-lt"/>
                  <a:buAutoNum type="romanLcPeriod"/>
                </a:pP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0</m:t>
                    </m:r>
                  </m:oMath>
                </a14:m>
                <a:endParaRPr lang="en-US" dirty="0"/>
              </a:p>
              <a:p>
                <a:pPr marL="0" indent="0">
                  <a:buNone/>
                </a:pPr>
                <a:r>
                  <a:rPr lang="en-US" b="1" dirty="0"/>
                  <a:t>		</a:t>
                </a: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593286" cy="4351338"/>
              </a:xfrm>
              <a:blipFill>
                <a:blip r:embed="rId3"/>
                <a:stretch>
                  <a:fillRect l="-947" t="-2241" r="-1105"/>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13</a:t>
            </a:fld>
            <a:endParaRPr lang="en-US" sz="1800" dirty="0"/>
          </a:p>
        </p:txBody>
      </p:sp>
    </p:spTree>
    <p:extLst>
      <p:ext uri="{BB962C8B-B14F-4D97-AF65-F5344CB8AC3E}">
        <p14:creationId xmlns:p14="http://schemas.microsoft.com/office/powerpoint/2010/main" val="111793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Basic Theorems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14</a:t>
            </a:fld>
            <a:endParaRPr lang="en-US" sz="1800" dirty="0"/>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987992083"/>
                  </p:ext>
                </p:extLst>
              </p:nvPr>
            </p:nvGraphicFramePr>
            <p:xfrm>
              <a:off x="1414059" y="1690688"/>
              <a:ext cx="9363881" cy="370840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20000"/>
                        </a:ext>
                      </a:extLst>
                    </a:gridCol>
                    <a:gridCol w="3460972">
                      <a:extLst>
                        <a:ext uri="{9D8B030D-6E8A-4147-A177-3AD203B41FA5}">
                          <a16:colId xmlns:a16="http://schemas.microsoft.com/office/drawing/2014/main" val="20001"/>
                        </a:ext>
                      </a:extLst>
                    </a:gridCol>
                    <a:gridCol w="3193576">
                      <a:extLst>
                        <a:ext uri="{9D8B030D-6E8A-4147-A177-3AD203B41FA5}">
                          <a16:colId xmlns:a16="http://schemas.microsoft.com/office/drawing/2014/main" val="200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2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b="0" i="0" dirty="0" smtClean="0">
                                  <a:latin typeface="Cambria Math" panose="02040503050406030204" pitchFamily="18" charset="0"/>
                                </a:rPr>
                                <m:t> </m:t>
                              </m:r>
                              <m:r>
                                <a:rPr lang="en-US" b="0"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+0 = </m:t>
                              </m:r>
                              <m:r>
                                <a:rPr lang="en-US" i="1"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.1 = </m:t>
                              </m:r>
                              <m:r>
                                <a:rPr lang="en-US" i="1"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3 (commutative)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4 (distributive)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US" dirty="0"/>
                            <a:t>a.  </a:t>
                          </a:r>
                          <a:r>
                            <a:rPr lang="en-US" baseline="0" dirty="0"/>
                            <a:t> </a:t>
                          </a:r>
                          <a14:m>
                            <m:oMath xmlns:m="http://schemas.openxmlformats.org/officeDocument/2006/math">
                              <m:r>
                                <a:rPr lang="en-US" i="1" dirty="0" smtClean="0">
                                  <a:latin typeface="Cambria Math" panose="02040503050406030204" pitchFamily="18" charset="0"/>
                                </a:rPr>
                                <m:t>𝑥</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e>
                              </m:d>
                              <m:r>
                                <a:rPr lang="en-US" i="1" dirty="0">
                                  <a:latin typeface="Cambria Math" panose="02040503050406030204" pitchFamily="18" charset="0"/>
                                </a:rPr>
                                <m:t>=</m:t>
                              </m:r>
                              <m:r>
                                <a:rPr lang="en-US" b="0" i="1" dirty="0" smtClean="0">
                                  <a:latin typeface="Cambria Math" panose="02040503050406030204" pitchFamily="18" charset="0"/>
                                </a:rPr>
                                <m:t>𝑥𝑦</m:t>
                              </m:r>
                              <m:r>
                                <a:rPr lang="en-US" b="0" i="1" dirty="0" smtClean="0">
                                  <a:latin typeface="Cambria Math" panose="02040503050406030204" pitchFamily="18" charset="0"/>
                                </a:rPr>
                                <m:t>+</m:t>
                              </m:r>
                              <m:r>
                                <a:rPr lang="en-US" b="0" i="1" dirty="0" smtClean="0">
                                  <a:latin typeface="Cambria Math" panose="02040503050406030204" pitchFamily="18" charset="0"/>
                                </a:rPr>
                                <m:t>𝑥𝑧</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𝑦𝑧</m:t>
                              </m:r>
                              <m:r>
                                <a:rPr lang="en-US" i="1" dirty="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𝑧</m:t>
                              </m:r>
                              <m:r>
                                <a:rPr lang="en-US" i="1" dirty="0">
                                  <a:latin typeface="Cambria Math" panose="02040503050406030204" pitchFamily="18" charset="0"/>
                                </a:rPr>
                                <m:t>)</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b="1" dirty="0"/>
                            <a:t>Postulate 5 (complement)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1</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0</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b="1" dirty="0"/>
                            <a:t>Theorem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+1 = 1</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.0 = 0</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3 (involution)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r>
                            <a:rPr lang="en-US" baseline="0" dirty="0"/>
                            <a:t>  </a:t>
                          </a:r>
                          <a14:m>
                            <m:oMath xmlns:m="http://schemas.openxmlformats.org/officeDocument/2006/math">
                              <m:r>
                                <a:rPr lang="en-US" i="1" baseline="0" dirty="0" smtClean="0">
                                  <a:latin typeface="Cambria Math" panose="02040503050406030204" pitchFamily="18" charset="0"/>
                                </a:rPr>
                                <m:t> (</m:t>
                              </m:r>
                              <m:r>
                                <a:rPr lang="en-US" i="1" baseline="0" dirty="0" smtClean="0">
                                  <a:latin typeface="Cambria Math" panose="02040503050406030204" pitchFamily="18" charset="0"/>
                                </a:rPr>
                                <m:t>𝑥</m:t>
                              </m:r>
                              <m:r>
                                <a:rPr lang="en-US" i="1" baseline="0" dirty="0" smtClean="0">
                                  <a:latin typeface="Cambria Math" panose="02040503050406030204" pitchFamily="18" charset="0"/>
                                </a:rPr>
                                <m:t>’)’ = </m:t>
                              </m:r>
                              <m:r>
                                <a:rPr lang="en-US" i="1" baseline="0"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4 (associative)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𝑧</m:t>
                              </m:r>
                              <m:r>
                                <a:rPr lang="en-US" i="1" dirty="0" smtClean="0">
                                  <a:latin typeface="Cambria Math" panose="02040503050406030204" pitchFamily="18" charset="0"/>
                                </a:rPr>
                                <m:t>) =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𝑧</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𝑦𝑧</m:t>
                              </m:r>
                              <m:r>
                                <a:rPr lang="en-US" i="1" dirty="0" smtClean="0">
                                  <a:latin typeface="Cambria Math" panose="02040503050406030204" pitchFamily="18" charset="0"/>
                                </a:rPr>
                                <m:t>) = (</m:t>
                              </m:r>
                              <m:r>
                                <a:rPr lang="en-US" b="0" i="1" dirty="0" smtClean="0">
                                  <a:latin typeface="Cambria Math" panose="02040503050406030204" pitchFamily="18" charset="0"/>
                                </a:rPr>
                                <m:t>𝑥𝑦</m:t>
                              </m:r>
                              <m:r>
                                <a:rPr lang="en-US" i="1" dirty="0" smtClean="0">
                                  <a:latin typeface="Cambria Math" panose="02040503050406030204" pitchFamily="18" charset="0"/>
                                </a:rPr>
                                <m:t>)</m:t>
                              </m:r>
                              <m:r>
                                <a:rPr lang="en-US" i="1" dirty="0" smtClean="0">
                                  <a:latin typeface="Cambria Math" panose="02040503050406030204" pitchFamily="18" charset="0"/>
                                </a:rPr>
                                <m:t>𝑧</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5 (De Morgan)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𝑥𝑦</m:t>
                                  </m:r>
                                </m:e>
                              </m:d>
                              <m:r>
                                <a:rPr lang="en-US" b="0" i="1" dirty="0" smtClean="0">
                                  <a:latin typeface="Cambria Math" panose="02040503050406030204" pitchFamily="18" charset="0"/>
                                </a:rPr>
                                <m:t>′</m:t>
                              </m:r>
                              <m:r>
                                <a:rPr lang="en-US" i="1" dirty="0" smtClean="0">
                                  <a:latin typeface="Cambria Math" panose="02040503050406030204" pitchFamily="18" charset="0"/>
                                </a:rPr>
                                <m:t>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6 (absorption)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𝑥𝑦</m:t>
                              </m:r>
                              <m:r>
                                <a:rPr lang="en-US" i="1" baseline="0" dirty="0" smtClean="0">
                                  <a:latin typeface="Cambria Math" panose="02040503050406030204" pitchFamily="18" charset="0"/>
                                </a:rPr>
                                <m:t> = </m:t>
                              </m:r>
                              <m:r>
                                <a:rPr lang="en-US" i="1" baseline="0"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𝑥</m:t>
                              </m:r>
                            </m:oMath>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987992083"/>
                  </p:ext>
                </p:extLst>
              </p:nvPr>
            </p:nvGraphicFramePr>
            <p:xfrm>
              <a:off x="1414059" y="1690688"/>
              <a:ext cx="9363881" cy="370840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20000"/>
                        </a:ext>
                      </a:extLst>
                    </a:gridCol>
                    <a:gridCol w="3460972">
                      <a:extLst>
                        <a:ext uri="{9D8B030D-6E8A-4147-A177-3AD203B41FA5}">
                          <a16:colId xmlns:a16="http://schemas.microsoft.com/office/drawing/2014/main" val="20001"/>
                        </a:ext>
                      </a:extLst>
                    </a:gridCol>
                    <a:gridCol w="3193576">
                      <a:extLst>
                        <a:ext uri="{9D8B030D-6E8A-4147-A177-3AD203B41FA5}">
                          <a16:colId xmlns:a16="http://schemas.microsoft.com/office/drawing/2014/main" val="200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2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8197" r="-92782" b="-9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8197" r="-381" b="-922951"/>
                          </a:stretch>
                        </a:blipFill>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3 (commutative)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108197" r="-92782" b="-8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108197" r="-381" b="-822951"/>
                          </a:stretch>
                        </a:blipFill>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Postulate 4 (distributive)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208197" r="-92782" b="-7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208197" r="-381" b="-722951"/>
                          </a:stretch>
                        </a:blipFill>
                      </a:tcPr>
                    </a:tc>
                    <a:extLst>
                      <a:ext uri="{0D108BD9-81ED-4DB2-BD59-A6C34878D82A}">
                        <a16:rowId xmlns:a16="http://schemas.microsoft.com/office/drawing/2014/main" val="10002"/>
                      </a:ext>
                    </a:extLst>
                  </a:tr>
                  <a:tr h="370840">
                    <a:tc>
                      <a:txBody>
                        <a:bodyPr/>
                        <a:lstStyle/>
                        <a:p>
                          <a:r>
                            <a:rPr lang="en-US" b="1" dirty="0"/>
                            <a:t>Postulate 5 (complement)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308197" r="-92782" b="-6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308197" r="-381" b="-622951"/>
                          </a:stretch>
                        </a:blipFill>
                      </a:tcPr>
                    </a:tc>
                    <a:extLst>
                      <a:ext uri="{0D108BD9-81ED-4DB2-BD59-A6C34878D82A}">
                        <a16:rowId xmlns:a16="http://schemas.microsoft.com/office/drawing/2014/main" val="10003"/>
                      </a:ext>
                    </a:extLst>
                  </a:tr>
                  <a:tr h="370840">
                    <a:tc>
                      <a:txBody>
                        <a:bodyPr/>
                        <a:lstStyle/>
                        <a:p>
                          <a:r>
                            <a:rPr lang="en-US" b="1" dirty="0"/>
                            <a:t>Theorem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408197" r="-92782" b="-5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408197" r="-381" b="-522951"/>
                          </a:stretch>
                        </a:blipFill>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516667" r="-92782" b="-431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516667" r="-381" b="-431667"/>
                          </a:stretch>
                        </a:blipFill>
                      </a:tcPr>
                    </a:tc>
                    <a:extLst>
                      <a:ext uri="{0D108BD9-81ED-4DB2-BD59-A6C34878D82A}">
                        <a16:rowId xmlns:a16="http://schemas.microsoft.com/office/drawing/2014/main" val="100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3 (involution)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805" t="-606557" r="-183" b="-324590"/>
                          </a:stretch>
                        </a:blip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4 (associative)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706557" r="-92782"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706557" r="-381" b="-224590"/>
                          </a:stretch>
                        </a:blipFill>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5 (De Morgan)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806557" r="-92782"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806557" r="-381" b="-124590"/>
                          </a:stretch>
                        </a:blipFill>
                      </a:tcPr>
                    </a:tc>
                    <a:extLst>
                      <a:ext uri="{0D108BD9-81ED-4DB2-BD59-A6C34878D82A}">
                        <a16:rowId xmlns:a16="http://schemas.microsoft.com/office/drawing/2014/main" val="100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Theorem 6 (absorption)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521" t="-906557" r="-92782"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3143" t="-906557" r="-381" b="-24590"/>
                          </a:stretch>
                        </a:blipFill>
                      </a:tcPr>
                    </a:tc>
                    <a:extLst>
                      <a:ext uri="{0D108BD9-81ED-4DB2-BD59-A6C34878D82A}">
                        <a16:rowId xmlns:a16="http://schemas.microsoft.com/office/drawing/2014/main" val="10009"/>
                      </a:ext>
                    </a:extLst>
                  </a:tr>
                </a:tbl>
              </a:graphicData>
            </a:graphic>
          </p:graphicFrame>
        </mc:Fallback>
      </mc:AlternateContent>
    </p:spTree>
    <p:extLst>
      <p:ext uri="{BB962C8B-B14F-4D97-AF65-F5344CB8AC3E}">
        <p14:creationId xmlns:p14="http://schemas.microsoft.com/office/powerpoint/2010/main" val="2164688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of Basic Theorems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15</a:t>
            </a:fld>
            <a:endParaRPr lang="en-US" sz="1800" dirty="0"/>
          </a:p>
        </p:txBody>
      </p:sp>
      <p:pic>
        <p:nvPicPr>
          <p:cNvPr id="13" name="Picture 1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2954361" y="2134637"/>
            <a:ext cx="5943600" cy="3099003"/>
          </a:xfrm>
          <a:prstGeom prst="rect">
            <a:avLst/>
          </a:prstGeom>
        </p:spPr>
      </p:pic>
    </p:spTree>
    <p:extLst>
      <p:ext uri="{BB962C8B-B14F-4D97-AF65-F5344CB8AC3E}">
        <p14:creationId xmlns:p14="http://schemas.microsoft.com/office/powerpoint/2010/main" val="1322283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of Basic Theorems…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16</a:t>
            </a:fld>
            <a:endParaRPr lang="en-US" sz="1800" dirty="0"/>
          </a:p>
        </p:txBody>
      </p:sp>
      <p:pic>
        <p:nvPicPr>
          <p:cNvPr id="14" name="Picture 1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3124200" y="2147608"/>
            <a:ext cx="5943600" cy="2835725"/>
          </a:xfrm>
          <a:prstGeom prst="rect">
            <a:avLst/>
          </a:prstGeom>
        </p:spPr>
      </p:pic>
    </p:spTree>
    <p:extLst>
      <p:ext uri="{BB962C8B-B14F-4D97-AF65-F5344CB8AC3E}">
        <p14:creationId xmlns:p14="http://schemas.microsoft.com/office/powerpoint/2010/main" val="574584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of Basic Theorems…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17</a:t>
            </a:fld>
            <a:endParaRPr lang="en-US" sz="1800" dirty="0"/>
          </a:p>
        </p:txBody>
      </p:sp>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2895600" y="2123530"/>
            <a:ext cx="6400800" cy="3364020"/>
          </a:xfrm>
          <a:prstGeom prst="rect">
            <a:avLst/>
          </a:prstGeom>
        </p:spPr>
      </p:pic>
    </p:spTree>
    <p:extLst>
      <p:ext uri="{BB962C8B-B14F-4D97-AF65-F5344CB8AC3E}">
        <p14:creationId xmlns:p14="http://schemas.microsoft.com/office/powerpoint/2010/main" val="742774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of Basic Theorems…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18</a:t>
            </a:fld>
            <a:endParaRPr lang="en-US" sz="1800" dirty="0"/>
          </a:p>
        </p:txBody>
      </p:sp>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2895600" y="2122027"/>
            <a:ext cx="6400800" cy="3115318"/>
          </a:xfrm>
          <a:prstGeom prst="rect">
            <a:avLst/>
          </a:prstGeom>
        </p:spPr>
      </p:pic>
    </p:spTree>
    <p:extLst>
      <p:ext uri="{BB962C8B-B14F-4D97-AF65-F5344CB8AC3E}">
        <p14:creationId xmlns:p14="http://schemas.microsoft.com/office/powerpoint/2010/main" val="3368074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of Basic Theorems…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t>Theorem 3</a:t>
                </a:r>
                <a:r>
                  <a:rPr lang="en-US" b="1" dirty="0">
                    <a:sym typeface="Wingdings" panose="05000000000000000000" pitchFamily="2" charset="2"/>
                  </a:rPr>
                  <a:t>: </a:t>
                </a:r>
                <a14:m>
                  <m:oMath xmlns:m="http://schemas.openxmlformats.org/officeDocument/2006/math">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𝑥</m:t>
                    </m:r>
                    <m:r>
                      <a:rPr lang="en-US" b="0"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m:t>
                    </m:r>
                    <m:r>
                      <a:rPr lang="en-US" b="0"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𝑥</m:t>
                    </m:r>
                    <m:r>
                      <a:rPr lang="en-US" i="1" dirty="0" smtClean="0">
                        <a:latin typeface="Cambria Math" panose="02040503050406030204" pitchFamily="18" charset="0"/>
                        <a:sym typeface="Wingdings" panose="05000000000000000000" pitchFamily="2" charset="2"/>
                      </a:rPr>
                      <m:t>.</m:t>
                    </m:r>
                  </m:oMath>
                </a14:m>
                <a:endParaRPr lang="en-US" dirty="0">
                  <a:sym typeface="Wingdings" panose="05000000000000000000" pitchFamily="2" charset="2"/>
                </a:endParaRPr>
              </a:p>
              <a:p>
                <a:pPr lvl="1"/>
                <a:r>
                  <a:rPr lang="en-US" dirty="0">
                    <a:sym typeface="Wingdings" panose="05000000000000000000" pitchFamily="2" charset="2"/>
                  </a:rPr>
                  <a:t>From postulate 5 (complement), we have </a:t>
                </a:r>
                <a14:m>
                  <m:oMath xmlns:m="http://schemas.openxmlformats.org/officeDocument/2006/math">
                    <m:r>
                      <a:rPr lang="en-US" i="1" dirty="0" smtClean="0">
                        <a:latin typeface="Cambria Math" panose="02040503050406030204" pitchFamily="18" charset="0"/>
                        <a:sym typeface="Wingdings" panose="05000000000000000000" pitchFamily="2" charset="2"/>
                      </a:rPr>
                      <m:t>𝑥</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𝑥</m:t>
                    </m:r>
                    <m:r>
                      <a:rPr lang="en-US" b="0"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 = 1 </m:t>
                    </m:r>
                  </m:oMath>
                </a14:m>
                <a:r>
                  <a:rPr lang="en-US" dirty="0">
                    <a:sym typeface="Wingdings" panose="05000000000000000000" pitchFamily="2" charset="2"/>
                  </a:rPr>
                  <a:t>and </a:t>
                </a:r>
                <a14:m>
                  <m:oMath xmlns:m="http://schemas.openxmlformats.org/officeDocument/2006/math">
                    <m:r>
                      <a:rPr lang="en-US" i="1" dirty="0" smtClean="0">
                        <a:latin typeface="Cambria Math" panose="02040503050406030204" pitchFamily="18" charset="0"/>
                        <a:sym typeface="Wingdings" panose="05000000000000000000" pitchFamily="2" charset="2"/>
                      </a:rPr>
                      <m:t>𝑥</m:t>
                    </m:r>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𝑥</m:t>
                    </m:r>
                    <m:r>
                      <a:rPr lang="en-US" b="0" i="1" dirty="0" smtClean="0">
                        <a:latin typeface="Cambria Math" panose="02040503050406030204" pitchFamily="18" charset="0"/>
                        <a:sym typeface="Wingdings" panose="05000000000000000000" pitchFamily="2" charset="2"/>
                      </a:rPr>
                      <m:t>′</m:t>
                    </m:r>
                    <m:r>
                      <a:rPr lang="en-US" i="1" dirty="0">
                        <a:latin typeface="Cambria Math" panose="02040503050406030204" pitchFamily="18" charset="0"/>
                        <a:sym typeface="Wingdings" panose="05000000000000000000" pitchFamily="2" charset="2"/>
                      </a:rPr>
                      <m:t> = 0</m:t>
                    </m:r>
                  </m:oMath>
                </a14:m>
                <a:r>
                  <a:rPr lang="en-US" dirty="0">
                    <a:sym typeface="Wingdings" panose="05000000000000000000" pitchFamily="2" charset="2"/>
                  </a:rPr>
                  <a:t> which define the complement of x. So, the complement of </a:t>
                </a:r>
                <a14:m>
                  <m:oMath xmlns:m="http://schemas.openxmlformats.org/officeDocument/2006/math">
                    <m:r>
                      <a:rPr lang="en-US" i="1" dirty="0" smtClean="0">
                        <a:latin typeface="Cambria Math" panose="02040503050406030204" pitchFamily="18" charset="0"/>
                        <a:sym typeface="Wingdings" panose="05000000000000000000" pitchFamily="2" charset="2"/>
                      </a:rPr>
                      <m:t>𝑥</m:t>
                    </m:r>
                    <m:r>
                      <a:rPr lang="en-US" b="0" i="1" dirty="0"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is x and </a:t>
                </a:r>
                <a14:m>
                  <m:oMath xmlns:m="http://schemas.openxmlformats.org/officeDocument/2006/math">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𝑥</m:t>
                    </m:r>
                    <m:r>
                      <a:rPr lang="en-US" b="0"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m:t>
                    </m:r>
                    <m:r>
                      <a:rPr lang="en-US" b="0" i="1" dirty="0"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a:t>
                </a:r>
              </a:p>
              <a:p>
                <a:pPr lvl="2"/>
                <a:r>
                  <a:rPr lang="en-US" sz="2400" dirty="0">
                    <a:sym typeface="Wingdings" panose="05000000000000000000" pitchFamily="2" charset="2"/>
                  </a:rPr>
                  <a:t>As a result, we can get, </a:t>
                </a:r>
                <a14:m>
                  <m:oMath xmlns:m="http://schemas.openxmlformats.org/officeDocument/2006/math">
                    <m:r>
                      <a:rPr lang="en-US" sz="2400" i="1" dirty="0" smtClean="0">
                        <a:latin typeface="Cambria Math" panose="02040503050406030204" pitchFamily="18" charset="0"/>
                        <a:sym typeface="Wingdings" panose="05000000000000000000" pitchFamily="2" charset="2"/>
                      </a:rPr>
                      <m:t>𝑥</m:t>
                    </m:r>
                    <m:r>
                      <a:rPr lang="en-US" sz="2400" i="1" dirty="0" smtClean="0">
                        <a:latin typeface="Cambria Math" panose="02040503050406030204" pitchFamily="18" charset="0"/>
                        <a:sym typeface="Wingdings" panose="05000000000000000000" pitchFamily="2" charset="2"/>
                      </a:rPr>
                      <m:t> = (</m:t>
                    </m:r>
                    <m:r>
                      <a:rPr lang="en-US" sz="2400" i="1" dirty="0" smtClean="0">
                        <a:latin typeface="Cambria Math" panose="02040503050406030204" pitchFamily="18" charset="0"/>
                        <a:sym typeface="Wingdings" panose="05000000000000000000" pitchFamily="2" charset="2"/>
                      </a:rPr>
                      <m:t>𝑥</m:t>
                    </m:r>
                    <m:r>
                      <a:rPr lang="en-US" sz="2400" b="0" i="1" dirty="0" smtClean="0">
                        <a:latin typeface="Cambria Math" panose="02040503050406030204" pitchFamily="18" charset="0"/>
                        <a:sym typeface="Wingdings" panose="05000000000000000000" pitchFamily="2" charset="2"/>
                      </a:rPr>
                      <m:t>′</m:t>
                    </m:r>
                    <m:r>
                      <a:rPr lang="en-US" sz="2400" i="1" dirty="0" smtClean="0">
                        <a:latin typeface="Cambria Math" panose="02040503050406030204" pitchFamily="18" charset="0"/>
                        <a:sym typeface="Wingdings" panose="05000000000000000000" pitchFamily="2" charset="2"/>
                      </a:rPr>
                      <m:t>)</m:t>
                    </m:r>
                    <m:r>
                      <a:rPr lang="en-US" sz="2400" b="0" i="1" dirty="0" smtClean="0">
                        <a:latin typeface="Cambria Math" panose="02040503050406030204" pitchFamily="18" charset="0"/>
                        <a:sym typeface="Wingdings" panose="05000000000000000000" pitchFamily="2" charset="2"/>
                      </a:rPr>
                      <m:t>′</m:t>
                    </m:r>
                  </m:oMath>
                </a14:m>
                <a:endParaRPr lang="en-US" sz="2400" b="1" dirty="0"/>
              </a:p>
              <a:p>
                <a:pPr lvl="1"/>
                <a:r>
                  <a:rPr lang="en-US" dirty="0"/>
                  <a:t>Complement of any set, </a:t>
                </a:r>
                <a:r>
                  <a:rPr lang="en-US" b="1" i="1" dirty="0"/>
                  <a:t>x</a:t>
                </a:r>
                <a:r>
                  <a:rPr lang="en-US" dirty="0"/>
                  <a:t> is </a:t>
                </a:r>
                <a14:m>
                  <m:oMath xmlns:m="http://schemas.openxmlformats.org/officeDocument/2006/math">
                    <m:r>
                      <a:rPr lang="en-US" b="1" i="1" dirty="0" smtClean="0">
                        <a:latin typeface="Cambria Math" panose="02040503050406030204" pitchFamily="18" charset="0"/>
                      </a:rPr>
                      <m:t>𝑼</m:t>
                    </m:r>
                    <m:r>
                      <a:rPr lang="en-US" b="1" i="1" dirty="0" smtClean="0">
                        <a:latin typeface="Cambria Math" panose="02040503050406030204" pitchFamily="18" charset="0"/>
                      </a:rPr>
                      <m:t> – </m:t>
                    </m:r>
                    <m:r>
                      <a:rPr lang="en-US" b="1" i="1" dirty="0" smtClean="0">
                        <a:latin typeface="Cambria Math" panose="02040503050406030204" pitchFamily="18" charset="0"/>
                      </a:rPr>
                      <m:t>𝒙</m:t>
                    </m:r>
                  </m:oMath>
                </a14:m>
                <a:endParaRPr lang="en-US" b="1" i="1" dirty="0"/>
              </a:p>
              <a:p>
                <a:pPr lvl="2"/>
                <a:r>
                  <a:rPr lang="en-US" sz="2400" dirty="0"/>
                  <a:t>Therefore, complement of complement </a:t>
                </a:r>
                <a14:m>
                  <m:oMath xmlns:m="http://schemas.openxmlformats.org/officeDocument/2006/math">
                    <m:r>
                      <a:rPr lang="en-US" sz="2400" b="1" i="1" dirty="0" smtClean="0">
                        <a:latin typeface="Cambria Math" panose="02040503050406030204" pitchFamily="18" charset="0"/>
                      </a:rPr>
                      <m:t>= </m:t>
                    </m:r>
                    <m:r>
                      <a:rPr lang="en-US" sz="2400" b="1" i="1" dirty="0" smtClean="0">
                        <a:latin typeface="Cambria Math" panose="02040503050406030204" pitchFamily="18" charset="0"/>
                      </a:rPr>
                      <m:t>𝑼</m:t>
                    </m:r>
                    <m:r>
                      <a:rPr lang="en-US" sz="2400" b="1" i="1" dirty="0" smtClean="0">
                        <a:latin typeface="Cambria Math" panose="02040503050406030204" pitchFamily="18" charset="0"/>
                      </a:rPr>
                      <m:t> – (</m:t>
                    </m:r>
                    <m:r>
                      <a:rPr lang="en-US" sz="2400" b="1" i="1" dirty="0" smtClean="0">
                        <a:latin typeface="Cambria Math" panose="02040503050406030204" pitchFamily="18" charset="0"/>
                      </a:rPr>
                      <m:t>𝑼</m:t>
                    </m:r>
                    <m:r>
                      <a:rPr lang="en-US" sz="2400" b="1" i="1" dirty="0" smtClean="0">
                        <a:latin typeface="Cambria Math" panose="02040503050406030204" pitchFamily="18" charset="0"/>
                      </a:rPr>
                      <m:t>−</m:t>
                    </m:r>
                    <m:r>
                      <a:rPr lang="en-US" sz="2400" b="1" i="1" dirty="0" smtClean="0">
                        <a:latin typeface="Cambria Math" panose="02040503050406030204" pitchFamily="18" charset="0"/>
                      </a:rPr>
                      <m:t>𝒙</m:t>
                    </m:r>
                    <m:r>
                      <a:rPr lang="en-US" sz="2400" b="1" i="1" dirty="0" smtClean="0">
                        <a:latin typeface="Cambria Math" panose="02040503050406030204" pitchFamily="18" charset="0"/>
                      </a:rPr>
                      <m:t>) = </m:t>
                    </m:r>
                    <m:r>
                      <a:rPr lang="en-US" sz="2400" b="1" i="1" dirty="0" smtClean="0">
                        <a:latin typeface="Cambria Math" panose="02040503050406030204" pitchFamily="18" charset="0"/>
                      </a:rPr>
                      <m:t>𝒙</m:t>
                    </m:r>
                  </m:oMath>
                </a14:m>
                <a:r>
                  <a:rPr lang="en-US" sz="2400" b="1" dirty="0"/>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19</a:t>
            </a:fld>
            <a:endParaRPr lang="en-US" sz="1800" dirty="0"/>
          </a:p>
        </p:txBody>
      </p:sp>
    </p:spTree>
    <p:extLst>
      <p:ext uri="{BB962C8B-B14F-4D97-AF65-F5344CB8AC3E}">
        <p14:creationId xmlns:p14="http://schemas.microsoft.com/office/powerpoint/2010/main" val="3589498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Truth Table</a:t>
            </a:r>
            <a:endParaRPr lang="en-US" sz="3900" dirty="0">
              <a:latin typeface="+mn-lt"/>
            </a:endParaRPr>
          </a:p>
        </p:txBody>
      </p:sp>
      <p:sp>
        <p:nvSpPr>
          <p:cNvPr id="3" name="Content Placeholder 2"/>
          <p:cNvSpPr>
            <a:spLocks noGrp="1"/>
          </p:cNvSpPr>
          <p:nvPr>
            <p:ph idx="1"/>
          </p:nvPr>
        </p:nvSpPr>
        <p:spPr/>
        <p:txBody>
          <a:bodyPr>
            <a:normAutofit/>
          </a:bodyPr>
          <a:lstStyle/>
          <a:p>
            <a:r>
              <a:rPr lang="en-US" dirty="0"/>
              <a:t>Theorems of Boolean algebra can be proven using truth table as well.</a:t>
            </a:r>
          </a:p>
          <a:p>
            <a:pPr lvl="1"/>
            <a:r>
              <a:rPr lang="en-US" dirty="0"/>
              <a:t>Both sides of the relation are checked to see whether they produce identical results for all possible combinations of the variables  </a:t>
            </a:r>
          </a:p>
          <a:p>
            <a:r>
              <a:rPr lang="en-US" dirty="0"/>
              <a:t>The algebraic proofs of the </a:t>
            </a:r>
            <a:r>
              <a:rPr lang="en-US" b="1" dirty="0"/>
              <a:t>associative law</a:t>
            </a:r>
            <a:r>
              <a:rPr lang="en-US" dirty="0"/>
              <a:t> and </a:t>
            </a:r>
            <a:r>
              <a:rPr lang="en-US" b="1" dirty="0"/>
              <a:t>De Morgan’s </a:t>
            </a:r>
            <a:r>
              <a:rPr lang="en-US" dirty="0"/>
              <a:t>theorem are long but can be proved easily with </a:t>
            </a:r>
            <a:r>
              <a:rPr lang="en-US" b="1" dirty="0">
                <a:solidFill>
                  <a:srgbClr val="0070C0"/>
                </a:solidFill>
              </a:rPr>
              <a:t>truth tables</a:t>
            </a:r>
            <a:r>
              <a:rPr lang="en-US" dirty="0"/>
              <a:t>.</a:t>
            </a:r>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20</a:t>
            </a:fld>
            <a:endParaRPr lang="en-US" sz="1800" dirty="0"/>
          </a:p>
        </p:txBody>
      </p:sp>
    </p:spTree>
    <p:extLst>
      <p:ext uri="{BB962C8B-B14F-4D97-AF65-F5344CB8AC3E}">
        <p14:creationId xmlns:p14="http://schemas.microsoft.com/office/powerpoint/2010/main" val="135877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Proof using Truth Table</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14204"/>
                <a:ext cx="10515600" cy="4351338"/>
              </a:xfrm>
            </p:spPr>
            <p:txBody>
              <a:bodyPr/>
              <a:lstStyle/>
              <a:p>
                <a:pPr lvl="1"/>
                <a:r>
                  <a:rPr lang="en-US" b="1" dirty="0"/>
                  <a:t>Absorption Rule </a:t>
                </a:r>
                <a:r>
                  <a:rPr lang="en-US" dirty="0"/>
                  <a:t>(</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𝑥𝑦</m:t>
                    </m:r>
                    <m:r>
                      <a:rPr lang="en-US" i="1" dirty="0">
                        <a:latin typeface="Cambria Math" panose="02040503050406030204" pitchFamily="18" charset="0"/>
                      </a:rPr>
                      <m:t> = </m:t>
                    </m:r>
                    <m:r>
                      <a:rPr lang="en-US" i="1" dirty="0">
                        <a:latin typeface="Cambria Math" panose="02040503050406030204" pitchFamily="18" charset="0"/>
                      </a:rPr>
                      <m:t>𝑥</m:t>
                    </m:r>
                  </m:oMath>
                </a14:m>
                <a:r>
                  <a:rPr lang="en-US" dirty="0"/>
                  <a:t>):</a:t>
                </a:r>
              </a:p>
              <a:p>
                <a:endParaRPr lang="en-US" dirty="0"/>
              </a:p>
              <a:p>
                <a:endParaRPr lang="en-US" dirty="0"/>
              </a:p>
              <a:p>
                <a:endParaRPr lang="en-US" dirty="0"/>
              </a:p>
              <a:p>
                <a:endParaRPr lang="en-US" dirty="0"/>
              </a:p>
              <a:p>
                <a:pPr lvl="1"/>
                <a:r>
                  <a:rPr lang="en-US" b="1" dirty="0"/>
                  <a:t>De-Morgan's Law </a:t>
                </a:r>
                <a:r>
                  <a:rPr lang="en-US" dirty="0"/>
                  <a:t>[</a:t>
                </a:r>
                <a14:m>
                  <m:oMath xmlns:m="http://schemas.openxmlformats.org/officeDocument/2006/math">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e>
                    </m:d>
                    <m:r>
                      <a:rPr lang="en-US" b="0" i="1" dirty="0" smtClean="0">
                        <a:latin typeface="Cambria Math" panose="02040503050406030204" pitchFamily="18" charset="0"/>
                      </a:rPr>
                      <m:t>′</m:t>
                    </m:r>
                    <m:r>
                      <a:rPr lang="en-US" i="1" dirty="0">
                        <a:latin typeface="Cambria Math" panose="02040503050406030204" pitchFamily="18" charset="0"/>
                      </a:rPr>
                      <m:t> =</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1" dirty="0" smtClean="0">
                        <a:latin typeface="Cambria Math" panose="02040503050406030204" pitchFamily="18" charset="0"/>
                      </a:rPr>
                      <m:t>′</m:t>
                    </m:r>
                  </m:oMath>
                </a14:m>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14204"/>
                <a:ext cx="10515600" cy="4351338"/>
              </a:xfrm>
              <a:blipFill>
                <a:blip r:embed="rId3"/>
                <a:stretch>
                  <a:fillRect t="-196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21</a:t>
            </a:fld>
            <a:endParaRPr lang="en-US" sz="1800" dirty="0"/>
          </a:p>
        </p:txBody>
      </p:sp>
      <p:graphicFrame>
        <p:nvGraphicFramePr>
          <p:cNvPr id="10" name="Table 9"/>
          <p:cNvGraphicFramePr>
            <a:graphicFrameLocks noGrp="1"/>
          </p:cNvGraphicFramePr>
          <p:nvPr>
            <p:extLst>
              <p:ext uri="{D42A27DB-BD31-4B8C-83A1-F6EECF244321}">
                <p14:modId xmlns:p14="http://schemas.microsoft.com/office/powerpoint/2010/main" val="2221354477"/>
              </p:ext>
            </p:extLst>
          </p:nvPr>
        </p:nvGraphicFramePr>
        <p:xfrm>
          <a:off x="2046026" y="2025367"/>
          <a:ext cx="5091754" cy="1833164"/>
        </p:xfrm>
        <a:graphic>
          <a:graphicData uri="http://schemas.openxmlformats.org/drawingml/2006/table">
            <a:tbl>
              <a:tblPr firstRow="1" bandRow="1">
                <a:tableStyleId>{5940675A-B579-460E-94D1-54222C63F5DA}</a:tableStyleId>
              </a:tblPr>
              <a:tblGrid>
                <a:gridCol w="1178880">
                  <a:extLst>
                    <a:ext uri="{9D8B030D-6E8A-4147-A177-3AD203B41FA5}">
                      <a16:colId xmlns:a16="http://schemas.microsoft.com/office/drawing/2014/main" val="20000"/>
                    </a:ext>
                  </a:extLst>
                </a:gridCol>
                <a:gridCol w="1303551">
                  <a:extLst>
                    <a:ext uri="{9D8B030D-6E8A-4147-A177-3AD203B41FA5}">
                      <a16:colId xmlns:a16="http://schemas.microsoft.com/office/drawing/2014/main" val="20001"/>
                    </a:ext>
                  </a:extLst>
                </a:gridCol>
                <a:gridCol w="1195977">
                  <a:extLst>
                    <a:ext uri="{9D8B030D-6E8A-4147-A177-3AD203B41FA5}">
                      <a16:colId xmlns:a16="http://schemas.microsoft.com/office/drawing/2014/main" val="20002"/>
                    </a:ext>
                  </a:extLst>
                </a:gridCol>
                <a:gridCol w="1413346">
                  <a:extLst>
                    <a:ext uri="{9D8B030D-6E8A-4147-A177-3AD203B41FA5}">
                      <a16:colId xmlns:a16="http://schemas.microsoft.com/office/drawing/2014/main" val="20003"/>
                    </a:ext>
                  </a:extLst>
                </a:gridCol>
              </a:tblGrid>
              <a:tr h="370124">
                <a:tc>
                  <a:txBody>
                    <a:bodyPr/>
                    <a:lstStyle/>
                    <a:p>
                      <a:pPr algn="ctr"/>
                      <a:r>
                        <a:rPr lang="en-US" b="1"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t>XY</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t>X+XY</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37365">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7365">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7365">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37365">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1</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92943415"/>
              </p:ext>
            </p:extLst>
          </p:nvPr>
        </p:nvGraphicFramePr>
        <p:xfrm>
          <a:off x="2046026" y="4527550"/>
          <a:ext cx="7163755" cy="1828800"/>
        </p:xfrm>
        <a:graphic>
          <a:graphicData uri="http://schemas.openxmlformats.org/drawingml/2006/table">
            <a:tbl>
              <a:tblPr firstRow="1" bandRow="1">
                <a:tableStyleId>{5940675A-B579-460E-94D1-54222C63F5DA}</a:tableStyleId>
              </a:tblPr>
              <a:tblGrid>
                <a:gridCol w="915538">
                  <a:extLst>
                    <a:ext uri="{9D8B030D-6E8A-4147-A177-3AD203B41FA5}">
                      <a16:colId xmlns:a16="http://schemas.microsoft.com/office/drawing/2014/main" val="20000"/>
                    </a:ext>
                  </a:extLst>
                </a:gridCol>
                <a:gridCol w="1023582">
                  <a:extLst>
                    <a:ext uri="{9D8B030D-6E8A-4147-A177-3AD203B41FA5}">
                      <a16:colId xmlns:a16="http://schemas.microsoft.com/office/drawing/2014/main" val="20001"/>
                    </a:ext>
                  </a:extLst>
                </a:gridCol>
                <a:gridCol w="1009935">
                  <a:extLst>
                    <a:ext uri="{9D8B030D-6E8A-4147-A177-3AD203B41FA5}">
                      <a16:colId xmlns:a16="http://schemas.microsoft.com/office/drawing/2014/main" val="20002"/>
                    </a:ext>
                  </a:extLst>
                </a:gridCol>
                <a:gridCol w="1021125">
                  <a:extLst>
                    <a:ext uri="{9D8B030D-6E8A-4147-A177-3AD203B41FA5}">
                      <a16:colId xmlns:a16="http://schemas.microsoft.com/office/drawing/2014/main" val="20003"/>
                    </a:ext>
                  </a:extLst>
                </a:gridCol>
                <a:gridCol w="1064525">
                  <a:extLst>
                    <a:ext uri="{9D8B030D-6E8A-4147-A177-3AD203B41FA5}">
                      <a16:colId xmlns:a16="http://schemas.microsoft.com/office/drawing/2014/main" val="20004"/>
                    </a:ext>
                  </a:extLst>
                </a:gridCol>
                <a:gridCol w="1064525">
                  <a:extLst>
                    <a:ext uri="{9D8B030D-6E8A-4147-A177-3AD203B41FA5}">
                      <a16:colId xmlns:a16="http://schemas.microsoft.com/office/drawing/2014/main" val="20005"/>
                    </a:ext>
                  </a:extLst>
                </a:gridCol>
                <a:gridCol w="1064525">
                  <a:extLst>
                    <a:ext uri="{9D8B030D-6E8A-4147-A177-3AD203B41FA5}">
                      <a16:colId xmlns:a16="http://schemas.microsoft.com/office/drawing/2014/main" val="20006"/>
                    </a:ext>
                  </a:extLst>
                </a:gridCol>
              </a:tblGrid>
              <a:tr h="314622">
                <a:tc>
                  <a:txBody>
                    <a:bodyPr/>
                    <a:lstStyle/>
                    <a:p>
                      <a:pPr algn="ctr"/>
                      <a:r>
                        <a:rPr lang="en-US" b="1" dirty="0"/>
                        <a:t>X</a:t>
                      </a:r>
                    </a:p>
                  </a:txBody>
                  <a:tcPr anchor="ctr">
                    <a:solidFill>
                      <a:schemeClr val="bg1">
                        <a:lumMod val="85000"/>
                      </a:schemeClr>
                    </a:solidFill>
                  </a:tcPr>
                </a:tc>
                <a:tc>
                  <a:txBody>
                    <a:bodyPr/>
                    <a:lstStyle/>
                    <a:p>
                      <a:pPr algn="ctr"/>
                      <a:r>
                        <a:rPr lang="en-US" b="1" dirty="0"/>
                        <a:t>Y</a:t>
                      </a:r>
                    </a:p>
                  </a:txBody>
                  <a:tcPr anchor="ctr">
                    <a:solidFill>
                      <a:schemeClr val="bg1">
                        <a:lumMod val="85000"/>
                      </a:schemeClr>
                    </a:solidFill>
                  </a:tcPr>
                </a:tc>
                <a:tc>
                  <a:txBody>
                    <a:bodyPr/>
                    <a:lstStyle/>
                    <a:p>
                      <a:pPr algn="ctr"/>
                      <a:r>
                        <a:rPr lang="en-US" b="1" dirty="0"/>
                        <a:t>X+Y</a:t>
                      </a:r>
                    </a:p>
                  </a:txBody>
                  <a:tcPr anchor="ctr">
                    <a:solidFill>
                      <a:schemeClr val="bg1">
                        <a:lumMod val="85000"/>
                      </a:schemeClr>
                    </a:solidFill>
                  </a:tcPr>
                </a:tc>
                <a:tc>
                  <a:txBody>
                    <a:bodyPr/>
                    <a:lstStyle/>
                    <a:p>
                      <a:pPr algn="ctr"/>
                      <a:r>
                        <a:rPr lang="en-US" b="1" dirty="0"/>
                        <a:t>(X+Y)’</a:t>
                      </a:r>
                    </a:p>
                  </a:txBody>
                  <a:tcPr anchor="ctr">
                    <a:lnR w="38100" cap="flat" cmpd="sng" algn="ctr">
                      <a:solidFill>
                        <a:schemeClr val="tx1"/>
                      </a:solidFill>
                      <a:prstDash val="solid"/>
                      <a:round/>
                      <a:headEnd type="none" w="med" len="med"/>
                      <a:tailEnd type="none" w="med" len="med"/>
                    </a:lnR>
                    <a:solidFill>
                      <a:schemeClr val="bg1">
                        <a:lumMod val="85000"/>
                      </a:schemeClr>
                    </a:solidFill>
                  </a:tcPr>
                </a:tc>
                <a:tc>
                  <a:txBody>
                    <a:bodyPr/>
                    <a:lstStyle/>
                    <a:p>
                      <a:pPr algn="ctr"/>
                      <a:r>
                        <a:rPr lang="en-US" b="1" dirty="0"/>
                        <a:t>X’</a:t>
                      </a:r>
                    </a:p>
                  </a:txBody>
                  <a:tcPr anchor="ctr">
                    <a:lnL w="38100" cap="flat" cmpd="sng" algn="ctr">
                      <a:solidFill>
                        <a:schemeClr val="tx1"/>
                      </a:solidFill>
                      <a:prstDash val="solid"/>
                      <a:round/>
                      <a:headEnd type="none" w="med" len="med"/>
                      <a:tailEnd type="none" w="med" len="med"/>
                    </a:lnL>
                    <a:solidFill>
                      <a:schemeClr val="bg1">
                        <a:lumMod val="85000"/>
                      </a:schemeClr>
                    </a:solidFill>
                  </a:tcPr>
                </a:tc>
                <a:tc>
                  <a:txBody>
                    <a:bodyPr/>
                    <a:lstStyle/>
                    <a:p>
                      <a:pPr algn="ctr"/>
                      <a:r>
                        <a:rPr lang="en-US" b="1" dirty="0"/>
                        <a:t>Y’</a:t>
                      </a:r>
                    </a:p>
                  </a:txBody>
                  <a:tcPr anchor="ctr">
                    <a:solidFill>
                      <a:schemeClr val="bg1">
                        <a:lumMod val="85000"/>
                      </a:schemeClr>
                    </a:solidFill>
                  </a:tcPr>
                </a:tc>
                <a:tc>
                  <a:txBody>
                    <a:bodyPr/>
                    <a:lstStyle/>
                    <a:p>
                      <a:pPr algn="ctr"/>
                      <a:r>
                        <a:rPr lang="en-US" b="1" dirty="0"/>
                        <a:t>X’Y’</a:t>
                      </a:r>
                    </a:p>
                  </a:txBody>
                  <a:tcPr anchor="ctr">
                    <a:solidFill>
                      <a:schemeClr val="bg1">
                        <a:lumMod val="85000"/>
                      </a:schemeClr>
                    </a:solidFill>
                  </a:tcPr>
                </a:tc>
                <a:extLst>
                  <a:ext uri="{0D108BD9-81ED-4DB2-BD59-A6C34878D82A}">
                    <a16:rowId xmlns:a16="http://schemas.microsoft.com/office/drawing/2014/main" val="10000"/>
                  </a:ext>
                </a:extLst>
              </a:tr>
              <a:tr h="314622">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1</a:t>
                      </a:r>
                    </a:p>
                  </a:txBody>
                  <a:tcPr anchor="ctr">
                    <a:lnR w="38100" cap="flat" cmpd="sng" algn="ctr">
                      <a:solidFill>
                        <a:schemeClr val="tx1"/>
                      </a:solidFill>
                      <a:prstDash val="solid"/>
                      <a:round/>
                      <a:headEnd type="none" w="med" len="med"/>
                      <a:tailEnd type="none" w="med" len="med"/>
                    </a:lnR>
                  </a:tcPr>
                </a:tc>
                <a:tc>
                  <a:txBody>
                    <a:bodyPr/>
                    <a:lstStyle/>
                    <a:p>
                      <a:pPr algn="ctr"/>
                      <a:r>
                        <a:rPr lang="en-US" dirty="0"/>
                        <a:t>1</a:t>
                      </a:r>
                    </a:p>
                  </a:txBody>
                  <a:tcPr anchor="ctr">
                    <a:lnL w="38100" cap="flat" cmpd="sng" algn="ctr">
                      <a:solidFill>
                        <a:schemeClr val="tx1"/>
                      </a:solidFill>
                      <a:prstDash val="solid"/>
                      <a:round/>
                      <a:headEnd type="none" w="med" len="med"/>
                      <a:tailEnd type="none" w="med" len="med"/>
                    </a:lnL>
                  </a:tcPr>
                </a:tc>
                <a:tc>
                  <a:txBody>
                    <a:bodyPr/>
                    <a:lstStyle/>
                    <a:p>
                      <a:pPr algn="ctr"/>
                      <a:r>
                        <a:rPr lang="en-US" dirty="0"/>
                        <a:t>1</a:t>
                      </a:r>
                    </a:p>
                  </a:txBody>
                  <a:tcPr anchor="ctr"/>
                </a:tc>
                <a:tc>
                  <a:txBody>
                    <a:bodyPr/>
                    <a:lstStyle/>
                    <a:p>
                      <a:pPr algn="ctr"/>
                      <a:r>
                        <a:rPr lang="en-US" dirty="0"/>
                        <a:t>1</a:t>
                      </a:r>
                    </a:p>
                  </a:txBody>
                  <a:tcPr anchor="ctr"/>
                </a:tc>
                <a:extLst>
                  <a:ext uri="{0D108BD9-81ED-4DB2-BD59-A6C34878D82A}">
                    <a16:rowId xmlns:a16="http://schemas.microsoft.com/office/drawing/2014/main" val="10001"/>
                  </a:ext>
                </a:extLst>
              </a:tr>
              <a:tr h="314622">
                <a:tc>
                  <a:txBody>
                    <a:bodyPr/>
                    <a:lstStyle/>
                    <a:p>
                      <a:pPr algn="ctr"/>
                      <a:r>
                        <a:rPr lang="en-US" dirty="0"/>
                        <a:t>0</a:t>
                      </a:r>
                    </a:p>
                  </a:txBody>
                  <a:tcPr anchor="ctr"/>
                </a:tc>
                <a:tc>
                  <a:txBody>
                    <a:bodyPr/>
                    <a:lstStyle/>
                    <a:p>
                      <a:pPr algn="ctr"/>
                      <a:r>
                        <a:rPr lang="en-US" dirty="0"/>
                        <a:t>1</a:t>
                      </a:r>
                    </a:p>
                  </a:txBody>
                  <a:tcPr anchor="ctr"/>
                </a:tc>
                <a:tc>
                  <a:txBody>
                    <a:bodyPr/>
                    <a:lstStyle/>
                    <a:p>
                      <a:pPr algn="ctr"/>
                      <a:r>
                        <a:rPr lang="en-US" dirty="0"/>
                        <a:t>1</a:t>
                      </a:r>
                    </a:p>
                  </a:txBody>
                  <a:tcPr anchor="ctr"/>
                </a:tc>
                <a:tc>
                  <a:txBody>
                    <a:bodyPr/>
                    <a:lstStyle/>
                    <a:p>
                      <a:pPr algn="ctr"/>
                      <a:r>
                        <a:rPr lang="en-US" dirty="0"/>
                        <a:t>0</a:t>
                      </a:r>
                    </a:p>
                  </a:txBody>
                  <a:tcPr anchor="ctr">
                    <a:lnR w="38100" cap="flat" cmpd="sng" algn="ctr">
                      <a:solidFill>
                        <a:schemeClr val="tx1"/>
                      </a:solidFill>
                      <a:prstDash val="solid"/>
                      <a:round/>
                      <a:headEnd type="none" w="med" len="med"/>
                      <a:tailEnd type="none" w="med" len="med"/>
                    </a:lnR>
                  </a:tcPr>
                </a:tc>
                <a:tc>
                  <a:txBody>
                    <a:bodyPr/>
                    <a:lstStyle/>
                    <a:p>
                      <a:pPr algn="ctr"/>
                      <a:r>
                        <a:rPr lang="en-US" dirty="0"/>
                        <a:t>1</a:t>
                      </a:r>
                    </a:p>
                  </a:txBody>
                  <a:tcPr anchor="ctr">
                    <a:lnL w="38100" cap="flat" cmpd="sng" algn="ctr">
                      <a:solidFill>
                        <a:schemeClr val="tx1"/>
                      </a:solidFill>
                      <a:prstDash val="solid"/>
                      <a:round/>
                      <a:headEnd type="none" w="med" len="med"/>
                      <a:tailEnd type="none" w="med" len="med"/>
                    </a:lnL>
                  </a:tcP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10002"/>
                  </a:ext>
                </a:extLst>
              </a:tr>
              <a:tr h="314622">
                <a:tc>
                  <a:txBody>
                    <a:bodyPr/>
                    <a:lstStyle/>
                    <a:p>
                      <a:pPr algn="ctr"/>
                      <a:r>
                        <a:rPr lang="en-US" dirty="0"/>
                        <a:t>1</a:t>
                      </a:r>
                    </a:p>
                  </a:txBody>
                  <a:tcPr anchor="ctr"/>
                </a:tc>
                <a:tc>
                  <a:txBody>
                    <a:bodyPr/>
                    <a:lstStyle/>
                    <a:p>
                      <a:pPr algn="ctr"/>
                      <a:r>
                        <a:rPr lang="en-US" dirty="0"/>
                        <a:t>0</a:t>
                      </a:r>
                    </a:p>
                  </a:txBody>
                  <a:tcPr anchor="ctr"/>
                </a:tc>
                <a:tc>
                  <a:txBody>
                    <a:bodyPr/>
                    <a:lstStyle/>
                    <a:p>
                      <a:pPr algn="ctr"/>
                      <a:r>
                        <a:rPr lang="en-US" dirty="0"/>
                        <a:t>1</a:t>
                      </a:r>
                    </a:p>
                  </a:txBody>
                  <a:tcPr anchor="ctr"/>
                </a:tc>
                <a:tc>
                  <a:txBody>
                    <a:bodyPr/>
                    <a:lstStyle/>
                    <a:p>
                      <a:pPr algn="ctr"/>
                      <a:r>
                        <a:rPr lang="en-US" dirty="0"/>
                        <a:t>0</a:t>
                      </a:r>
                    </a:p>
                  </a:txBody>
                  <a:tcPr anchor="ctr">
                    <a:lnR w="38100" cap="flat" cmpd="sng" algn="ctr">
                      <a:solidFill>
                        <a:schemeClr val="tx1"/>
                      </a:solidFill>
                      <a:prstDash val="solid"/>
                      <a:round/>
                      <a:headEnd type="none" w="med" len="med"/>
                      <a:tailEnd type="none" w="med" len="med"/>
                    </a:lnR>
                  </a:tcPr>
                </a:tc>
                <a:tc>
                  <a:txBody>
                    <a:bodyPr/>
                    <a:lstStyle/>
                    <a:p>
                      <a:pPr algn="ctr"/>
                      <a:r>
                        <a:rPr lang="en-US" dirty="0"/>
                        <a:t>0</a:t>
                      </a:r>
                    </a:p>
                  </a:txBody>
                  <a:tcPr anchor="ctr">
                    <a:lnL w="38100" cap="flat" cmpd="sng" algn="ctr">
                      <a:solidFill>
                        <a:schemeClr val="tx1"/>
                      </a:solidFill>
                      <a:prstDash val="solid"/>
                      <a:round/>
                      <a:headEnd type="none" w="med" len="med"/>
                      <a:tailEnd type="none" w="med" len="med"/>
                    </a:lnL>
                  </a:tcPr>
                </a:tc>
                <a:tc>
                  <a:txBody>
                    <a:bodyPr/>
                    <a:lstStyle/>
                    <a:p>
                      <a:pPr algn="ctr"/>
                      <a:r>
                        <a:rPr lang="en-US" dirty="0"/>
                        <a:t>1</a:t>
                      </a:r>
                    </a:p>
                  </a:txBody>
                  <a:tcPr anchor="ctr"/>
                </a:tc>
                <a:tc>
                  <a:txBody>
                    <a:bodyPr/>
                    <a:lstStyle/>
                    <a:p>
                      <a:pPr algn="ctr"/>
                      <a:r>
                        <a:rPr lang="en-US" dirty="0"/>
                        <a:t>0</a:t>
                      </a:r>
                    </a:p>
                  </a:txBody>
                  <a:tcPr anchor="ctr"/>
                </a:tc>
                <a:extLst>
                  <a:ext uri="{0D108BD9-81ED-4DB2-BD59-A6C34878D82A}">
                    <a16:rowId xmlns:a16="http://schemas.microsoft.com/office/drawing/2014/main" val="10003"/>
                  </a:ext>
                </a:extLst>
              </a:tr>
              <a:tr h="314622">
                <a:tc>
                  <a:txBody>
                    <a:bodyPr/>
                    <a:lstStyle/>
                    <a:p>
                      <a:pPr algn="ctr"/>
                      <a:r>
                        <a:rPr lang="en-US" dirty="0"/>
                        <a:t>1</a:t>
                      </a:r>
                    </a:p>
                  </a:txBody>
                  <a:tcPr anchor="ctr"/>
                </a:tc>
                <a:tc>
                  <a:txBody>
                    <a:bodyPr/>
                    <a:lstStyle/>
                    <a:p>
                      <a:pPr algn="ctr"/>
                      <a:r>
                        <a:rPr lang="en-US" dirty="0"/>
                        <a:t>1</a:t>
                      </a:r>
                    </a:p>
                  </a:txBody>
                  <a:tcPr anchor="ctr"/>
                </a:tc>
                <a:tc>
                  <a:txBody>
                    <a:bodyPr/>
                    <a:lstStyle/>
                    <a:p>
                      <a:pPr algn="ctr"/>
                      <a:r>
                        <a:rPr lang="en-US" dirty="0"/>
                        <a:t>1</a:t>
                      </a:r>
                    </a:p>
                  </a:txBody>
                  <a:tcPr anchor="ctr"/>
                </a:tc>
                <a:tc>
                  <a:txBody>
                    <a:bodyPr/>
                    <a:lstStyle/>
                    <a:p>
                      <a:pPr algn="ctr"/>
                      <a:r>
                        <a:rPr lang="en-US" dirty="0"/>
                        <a:t>0</a:t>
                      </a:r>
                    </a:p>
                  </a:txBody>
                  <a:tcPr anchor="ctr">
                    <a:lnR w="38100" cap="flat" cmpd="sng" algn="ctr">
                      <a:solidFill>
                        <a:schemeClr val="tx1"/>
                      </a:solidFill>
                      <a:prstDash val="solid"/>
                      <a:round/>
                      <a:headEnd type="none" w="med" len="med"/>
                      <a:tailEnd type="none" w="med" len="med"/>
                    </a:lnR>
                  </a:tcPr>
                </a:tc>
                <a:tc>
                  <a:txBody>
                    <a:bodyPr/>
                    <a:lstStyle/>
                    <a:p>
                      <a:pPr algn="ctr"/>
                      <a:r>
                        <a:rPr lang="en-US" dirty="0"/>
                        <a:t>0</a:t>
                      </a:r>
                    </a:p>
                  </a:txBody>
                  <a:tcPr anchor="ctr">
                    <a:lnL w="38100" cap="flat" cmpd="sng" algn="ctr">
                      <a:solidFill>
                        <a:schemeClr val="tx1"/>
                      </a:solidFill>
                      <a:prstDash val="solid"/>
                      <a:round/>
                      <a:headEnd type="none" w="med" len="med"/>
                      <a:tailEnd type="none" w="med" len="med"/>
                    </a:lnL>
                  </a:tcP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47815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Operator Precedence</a:t>
            </a:r>
            <a:endParaRPr lang="en-US" sz="3900" dirty="0">
              <a:latin typeface="+mn-lt"/>
            </a:endParaRPr>
          </a:p>
        </p:txBody>
      </p:sp>
      <p:sp>
        <p:nvSpPr>
          <p:cNvPr id="3" name="Content Placeholder 2"/>
          <p:cNvSpPr>
            <a:spLocks noGrp="1"/>
          </p:cNvSpPr>
          <p:nvPr>
            <p:ph idx="1"/>
          </p:nvPr>
        </p:nvSpPr>
        <p:spPr/>
        <p:txBody>
          <a:bodyPr/>
          <a:lstStyle/>
          <a:p>
            <a:pPr marL="0" indent="0">
              <a:buNone/>
            </a:pPr>
            <a:r>
              <a:rPr lang="en-US" b="1" dirty="0"/>
              <a:t> </a:t>
            </a:r>
            <a:endParaRPr lang="en-US" dirty="0"/>
          </a:p>
          <a:p>
            <a:pPr marL="0" indent="0">
              <a:buNone/>
            </a:pP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22</a:t>
            </a:fld>
            <a:endParaRPr lang="en-US" sz="1800" dirty="0"/>
          </a:p>
        </p:txBody>
      </p:sp>
      <p:graphicFrame>
        <p:nvGraphicFramePr>
          <p:cNvPr id="7" name="Diagram 6"/>
          <p:cNvGraphicFramePr/>
          <p:nvPr>
            <p:extLst>
              <p:ext uri="{D42A27DB-BD31-4B8C-83A1-F6EECF244321}">
                <p14:modId xmlns:p14="http://schemas.microsoft.com/office/powerpoint/2010/main" val="2230865983"/>
              </p:ext>
            </p:extLst>
          </p:nvPr>
        </p:nvGraphicFramePr>
        <p:xfrm>
          <a:off x="3965864" y="1872343"/>
          <a:ext cx="4597563" cy="34072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18027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Venn Diagram</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23</a:t>
            </a:fld>
            <a:endParaRPr lang="en-US" sz="1800" dirty="0"/>
          </a:p>
        </p:txBody>
      </p:sp>
      <p:sp>
        <p:nvSpPr>
          <p:cNvPr id="3" name="TextBox 2"/>
          <p:cNvSpPr txBox="1"/>
          <p:nvPr/>
        </p:nvSpPr>
        <p:spPr>
          <a:xfrm>
            <a:off x="838200" y="1690688"/>
            <a:ext cx="6477992" cy="523220"/>
          </a:xfrm>
          <a:prstGeom prst="rect">
            <a:avLst/>
          </a:prstGeom>
          <a:noFill/>
        </p:spPr>
        <p:txBody>
          <a:bodyPr wrap="square" rtlCol="0">
            <a:spAutoFit/>
          </a:bodyPr>
          <a:lstStyle/>
          <a:p>
            <a:r>
              <a:rPr lang="en-US" sz="2800" b="1" dirty="0"/>
              <a:t>It has similarity with Boolean expressions.</a:t>
            </a:r>
          </a:p>
        </p:txBody>
      </p:sp>
      <p:pic>
        <p:nvPicPr>
          <p:cNvPr id="12" name="Picture 11">
            <a:extLst>
              <a:ext uri="{FF2B5EF4-FFF2-40B4-BE49-F238E27FC236}">
                <a16:creationId xmlns:a16="http://schemas.microsoft.com/office/drawing/2014/main" id="{659315C3-D9C8-408D-861D-1BE19684C31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17410" y="2443391"/>
            <a:ext cx="10536390" cy="4278084"/>
          </a:xfrm>
          <a:prstGeom prst="rect">
            <a:avLst/>
          </a:prstGeom>
        </p:spPr>
      </p:pic>
      <p:sp>
        <p:nvSpPr>
          <p:cNvPr id="7" name="TextBox 6">
            <a:extLst>
              <a:ext uri="{FF2B5EF4-FFF2-40B4-BE49-F238E27FC236}">
                <a16:creationId xmlns:a16="http://schemas.microsoft.com/office/drawing/2014/main" id="{116D75B4-06D0-404F-A797-9DFD31332D14}"/>
              </a:ext>
            </a:extLst>
          </p:cNvPr>
          <p:cNvSpPr txBox="1"/>
          <p:nvPr/>
        </p:nvSpPr>
        <p:spPr>
          <a:xfrm>
            <a:off x="1836685" y="2744892"/>
            <a:ext cx="324128" cy="369332"/>
          </a:xfrm>
          <a:prstGeom prst="rect">
            <a:avLst/>
          </a:prstGeom>
          <a:noFill/>
        </p:spPr>
        <p:txBody>
          <a:bodyPr wrap="none" rtlCol="0">
            <a:spAutoFit/>
          </a:bodyPr>
          <a:lstStyle/>
          <a:p>
            <a:r>
              <a:rPr lang="en-US" b="1" dirty="0">
                <a:solidFill>
                  <a:schemeClr val="bg1"/>
                </a:solidFill>
              </a:rPr>
              <a:t>A</a:t>
            </a:r>
          </a:p>
        </p:txBody>
      </p:sp>
      <p:sp>
        <p:nvSpPr>
          <p:cNvPr id="9" name="TextBox 8">
            <a:extLst>
              <a:ext uri="{FF2B5EF4-FFF2-40B4-BE49-F238E27FC236}">
                <a16:creationId xmlns:a16="http://schemas.microsoft.com/office/drawing/2014/main" id="{24177BA7-F036-4DE0-9325-4B88494B8458}"/>
              </a:ext>
            </a:extLst>
          </p:cNvPr>
          <p:cNvSpPr txBox="1"/>
          <p:nvPr/>
        </p:nvSpPr>
        <p:spPr>
          <a:xfrm>
            <a:off x="1254292" y="3681069"/>
            <a:ext cx="324128" cy="369332"/>
          </a:xfrm>
          <a:prstGeom prst="rect">
            <a:avLst/>
          </a:prstGeom>
          <a:noFill/>
        </p:spPr>
        <p:txBody>
          <a:bodyPr wrap="none" rtlCol="0">
            <a:spAutoFit/>
          </a:bodyPr>
          <a:lstStyle/>
          <a:p>
            <a:r>
              <a:rPr lang="en-US" b="1" dirty="0"/>
              <a:t>B</a:t>
            </a:r>
          </a:p>
        </p:txBody>
      </p:sp>
      <p:sp>
        <p:nvSpPr>
          <p:cNvPr id="11" name="TextBox 10">
            <a:extLst>
              <a:ext uri="{FF2B5EF4-FFF2-40B4-BE49-F238E27FC236}">
                <a16:creationId xmlns:a16="http://schemas.microsoft.com/office/drawing/2014/main" id="{CFA2D190-0873-4308-A118-6A3ED55469D1}"/>
              </a:ext>
            </a:extLst>
          </p:cNvPr>
          <p:cNvSpPr txBox="1"/>
          <p:nvPr/>
        </p:nvSpPr>
        <p:spPr>
          <a:xfrm>
            <a:off x="2435406" y="3686510"/>
            <a:ext cx="306494" cy="369332"/>
          </a:xfrm>
          <a:prstGeom prst="rect">
            <a:avLst/>
          </a:prstGeom>
          <a:noFill/>
        </p:spPr>
        <p:txBody>
          <a:bodyPr wrap="none" rtlCol="0">
            <a:spAutoFit/>
          </a:bodyPr>
          <a:lstStyle/>
          <a:p>
            <a:r>
              <a:rPr lang="en-US" b="1" dirty="0"/>
              <a:t>C</a:t>
            </a:r>
          </a:p>
        </p:txBody>
      </p:sp>
    </p:spTree>
    <p:extLst>
      <p:ext uri="{BB962C8B-B14F-4D97-AF65-F5344CB8AC3E}">
        <p14:creationId xmlns:p14="http://schemas.microsoft.com/office/powerpoint/2010/main" val="3324133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972800" cy="1325563"/>
          </a:xfrm>
        </p:spPr>
        <p:txBody>
          <a:bodyPr>
            <a:normAutofit/>
          </a:bodyPr>
          <a:lstStyle/>
          <a:p>
            <a:r>
              <a:rPr lang="en-US" b="1" i="1" dirty="0">
                <a:solidFill>
                  <a:schemeClr val="accent5">
                    <a:lumMod val="75000"/>
                  </a:schemeClr>
                </a:solidFill>
                <a:latin typeface="+mn-lt"/>
              </a:rPr>
              <a:t>Boolean Function</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5"/>
                <a:ext cx="11430000" cy="4351338"/>
              </a:xfrm>
            </p:spPr>
            <p:txBody>
              <a:bodyPr>
                <a:normAutofit/>
              </a:bodyPr>
              <a:lstStyle/>
              <a:p>
                <a:r>
                  <a:rPr lang="en-US" b="1" dirty="0">
                    <a:solidFill>
                      <a:srgbClr val="00B050"/>
                    </a:solidFill>
                  </a:rPr>
                  <a:t>Boolean function</a:t>
                </a:r>
                <a:r>
                  <a:rPr lang="en-US" dirty="0"/>
                  <a:t> is an </a:t>
                </a:r>
                <a:r>
                  <a:rPr lang="en-US" b="1" dirty="0"/>
                  <a:t>algebra </a:t>
                </a:r>
                <a:r>
                  <a:rPr lang="en-US" dirty="0"/>
                  <a:t>with </a:t>
                </a:r>
                <a:r>
                  <a:rPr lang="en-US" dirty="0">
                    <a:solidFill>
                      <a:srgbClr val="FF0000"/>
                    </a:solidFill>
                  </a:rPr>
                  <a:t>Boolean variables </a:t>
                </a:r>
                <a:r>
                  <a:rPr lang="en-US" dirty="0"/>
                  <a:t>and </a:t>
                </a:r>
                <a:r>
                  <a:rPr lang="en-US" dirty="0">
                    <a:solidFill>
                      <a:srgbClr val="FF0000"/>
                    </a:solidFill>
                  </a:rPr>
                  <a:t>logic operations</a:t>
                </a:r>
                <a:r>
                  <a:rPr lang="en-US" dirty="0"/>
                  <a:t> </a:t>
                </a:r>
              </a:p>
              <a:p>
                <a:pPr lvl="2"/>
                <a:r>
                  <a:rPr lang="en-US" sz="2400" dirty="0"/>
                  <a:t>Expressed as an </a:t>
                </a:r>
                <a:r>
                  <a:rPr lang="en-US" sz="2400" b="1" dirty="0">
                    <a:solidFill>
                      <a:srgbClr val="00B050"/>
                    </a:solidFill>
                  </a:rPr>
                  <a:t>algebraic expression </a:t>
                </a:r>
                <a:r>
                  <a:rPr lang="en-US" sz="2400" dirty="0"/>
                  <a:t>with </a:t>
                </a:r>
                <a:r>
                  <a:rPr lang="en-US" sz="2400" b="1" dirty="0"/>
                  <a:t>binary variables</a:t>
                </a:r>
                <a:r>
                  <a:rPr lang="en-US" sz="2400" dirty="0"/>
                  <a:t>, </a:t>
                </a:r>
                <a:r>
                  <a:rPr lang="en-US" sz="2400" b="1" dirty="0">
                    <a:solidFill>
                      <a:srgbClr val="7030A0"/>
                    </a:solidFill>
                  </a:rPr>
                  <a:t>Boolean constants </a:t>
                </a:r>
                <a:br>
                  <a:rPr lang="en-US" sz="2400" b="1" dirty="0">
                    <a:solidFill>
                      <a:srgbClr val="7030A0"/>
                    </a:solidFill>
                  </a:rPr>
                </a:br>
                <a:r>
                  <a:rPr lang="en-US" sz="2400" b="1" dirty="0"/>
                  <a:t>(0 and 1)</a:t>
                </a:r>
                <a:r>
                  <a:rPr lang="en-US" sz="2400" dirty="0"/>
                  <a:t>, </a:t>
                </a:r>
                <a:r>
                  <a:rPr lang="en-US" sz="2400" b="1" dirty="0">
                    <a:solidFill>
                      <a:schemeClr val="accent2">
                        <a:lumMod val="75000"/>
                      </a:schemeClr>
                    </a:solidFill>
                  </a:rPr>
                  <a:t>logic operation symbols</a:t>
                </a:r>
              </a:p>
              <a:p>
                <a:pPr lvl="2"/>
                <a:r>
                  <a:rPr lang="en-US" sz="2600" dirty="0"/>
                  <a:t>For given values for binary variables the </a:t>
                </a:r>
                <a:r>
                  <a:rPr lang="en-US" sz="2600" b="1" dirty="0"/>
                  <a:t>function</a:t>
                </a:r>
                <a:r>
                  <a:rPr lang="en-US" sz="2600" dirty="0"/>
                  <a:t> </a:t>
                </a:r>
                <a:r>
                  <a:rPr lang="en-US" sz="2600" dirty="0">
                    <a:solidFill>
                      <a:srgbClr val="FF0000"/>
                    </a:solidFill>
                  </a:rPr>
                  <a:t>produces</a:t>
                </a:r>
                <a:r>
                  <a:rPr lang="en-US" sz="2600" dirty="0"/>
                  <a:t> 0 or 1 as </a:t>
                </a:r>
                <a:r>
                  <a:rPr lang="en-US" sz="2600" b="1" dirty="0">
                    <a:solidFill>
                      <a:schemeClr val="accent2">
                        <a:lumMod val="75000"/>
                      </a:schemeClr>
                    </a:solidFill>
                  </a:rPr>
                  <a:t>output</a:t>
                </a:r>
              </a:p>
              <a:p>
                <a:pPr lvl="2"/>
                <a:r>
                  <a:rPr lang="en-US" sz="2400" b="1" dirty="0"/>
                  <a:t>Example: </a:t>
                </a:r>
                <a14:m>
                  <m:oMath xmlns:m="http://schemas.openxmlformats.org/officeDocument/2006/math">
                    <m:r>
                      <a:rPr lang="en-US" sz="2400" b="0" i="0" dirty="0" smtClean="0">
                        <a:latin typeface="Cambria Math" panose="02040503050406030204" pitchFamily="18" charset="0"/>
                      </a:rPr>
                      <m:t> </m:t>
                    </m:r>
                    <m:r>
                      <a:rPr lang="en-US" sz="2400" i="1" dirty="0" smtClean="0">
                        <a:latin typeface="Cambria Math" panose="02040503050406030204" pitchFamily="18" charset="0"/>
                      </a:rPr>
                      <m:t>𝐹</m:t>
                    </m:r>
                    <m:r>
                      <a:rPr lang="en-US" sz="2400" i="1" baseline="-25000" dirty="0" smtClean="0">
                        <a:latin typeface="Cambria Math" panose="02040503050406030204" pitchFamily="18" charset="0"/>
                      </a:rPr>
                      <m:t>1 </m:t>
                    </m:r>
                    <m:r>
                      <a:rPr lang="en-US" sz="2400" i="1" dirty="0" smtClean="0">
                        <a:latin typeface="Cambria Math" panose="02040503050406030204" pitchFamily="18" charset="0"/>
                      </a:rPr>
                      <m:t>= </m:t>
                    </m:r>
                    <m:r>
                      <a:rPr lang="en-US" sz="2400" i="1" dirty="0" smtClean="0">
                        <a:latin typeface="Cambria Math" panose="02040503050406030204" pitchFamily="18" charset="0"/>
                      </a:rPr>
                      <m:t>𝑥</m:t>
                    </m:r>
                    <m:r>
                      <a:rPr lang="en-US" sz="2400" i="1" dirty="0" smtClean="0">
                        <a:latin typeface="Cambria Math" panose="02040503050406030204" pitchFamily="18" charset="0"/>
                      </a:rPr>
                      <m:t> +</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𝑦</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𝑧</m:t>
                    </m:r>
                  </m:oMath>
                </a14:m>
                <a:endParaRPr lang="en-US" sz="2400" b="1" dirty="0"/>
              </a:p>
              <a:p>
                <a:r>
                  <a:rPr lang="en-US" b="1" dirty="0"/>
                  <a:t>Expression</a:t>
                </a:r>
                <a:r>
                  <a:rPr lang="en-US" dirty="0"/>
                  <a:t> is a </a:t>
                </a:r>
                <a:r>
                  <a:rPr lang="en-US" dirty="0">
                    <a:solidFill>
                      <a:schemeClr val="accent2">
                        <a:lumMod val="75000"/>
                      </a:schemeClr>
                    </a:solidFill>
                  </a:rPr>
                  <a:t>mathematical phrase </a:t>
                </a:r>
                <a:r>
                  <a:rPr lang="en-US" dirty="0"/>
                  <a:t>whereas </a:t>
                </a:r>
                <a:r>
                  <a:rPr lang="en-US" b="1" dirty="0"/>
                  <a:t>function</a:t>
                </a:r>
                <a:r>
                  <a:rPr lang="en-US" dirty="0"/>
                  <a:t> is a </a:t>
                </a:r>
                <a:r>
                  <a:rPr lang="en-US" dirty="0">
                    <a:solidFill>
                      <a:schemeClr val="accent2">
                        <a:lumMod val="75000"/>
                      </a:schemeClr>
                    </a:solidFill>
                  </a:rPr>
                  <a:t>logical relationship </a:t>
                </a:r>
                <a:r>
                  <a:rPr lang="en-US" dirty="0"/>
                  <a:t>between a set of </a:t>
                </a:r>
                <a:r>
                  <a:rPr lang="en-US" b="1" dirty="0">
                    <a:solidFill>
                      <a:srgbClr val="00B050"/>
                    </a:solidFill>
                  </a:rPr>
                  <a:t>input </a:t>
                </a:r>
                <a:r>
                  <a:rPr lang="en-US" dirty="0"/>
                  <a:t>variables and corresponding </a:t>
                </a:r>
                <a:r>
                  <a:rPr lang="en-US" b="1" dirty="0">
                    <a:solidFill>
                      <a:srgbClr val="00B050"/>
                    </a:solidFill>
                  </a:rPr>
                  <a:t>output</a:t>
                </a:r>
              </a:p>
              <a:p>
                <a:r>
                  <a:rPr lang="en-US" dirty="0"/>
                  <a:t>Boolean function can be represented with </a:t>
                </a:r>
                <a:r>
                  <a:rPr lang="en-US" b="1" dirty="0"/>
                  <a:t>Truth Table </a:t>
                </a:r>
                <a:r>
                  <a:rPr lang="en-US" dirty="0"/>
                  <a:t>as well</a:t>
                </a:r>
              </a:p>
              <a:p>
                <a:pPr lvl="2"/>
                <a:r>
                  <a:rPr lang="en-US" b="1" dirty="0">
                    <a:solidFill>
                      <a:srgbClr val="00B050"/>
                    </a:solidFill>
                  </a:rPr>
                  <a:t>Number of the rows </a:t>
                </a:r>
                <a:r>
                  <a:rPr lang="en-US" dirty="0"/>
                  <a:t>of the table is </a:t>
                </a:r>
                <a:r>
                  <a:rPr lang="en-US" i="1" dirty="0"/>
                  <a:t>2</a:t>
                </a:r>
                <a:r>
                  <a:rPr lang="en-US" i="1" baseline="30000" dirty="0"/>
                  <a:t>n</a:t>
                </a:r>
                <a:r>
                  <a:rPr lang="en-US" i="1" dirty="0"/>
                  <a:t> </a:t>
                </a:r>
                <a:r>
                  <a:rPr lang="en-US" b="1" dirty="0"/>
                  <a:t>where </a:t>
                </a:r>
                <a:r>
                  <a:rPr lang="en-US" b="1" i="1" dirty="0"/>
                  <a:t>n</a:t>
                </a:r>
                <a:r>
                  <a:rPr lang="en-US" i="1" dirty="0"/>
                  <a:t> </a:t>
                </a:r>
                <a:r>
                  <a:rPr lang="en-US" dirty="0"/>
                  <a:t>= number of variables in the function </a:t>
                </a:r>
              </a:p>
              <a:p>
                <a:pPr lvl="2"/>
                <a:r>
                  <a:rPr lang="en-US" b="1" dirty="0"/>
                  <a:t>Binary combination </a:t>
                </a:r>
                <a:r>
                  <a:rPr lang="en-US" dirty="0"/>
                  <a:t>of all variables can be obtained counting from </a:t>
                </a:r>
                <a14:m>
                  <m:oMath xmlns:m="http://schemas.openxmlformats.org/officeDocument/2006/math">
                    <m:r>
                      <a:rPr lang="en-US" b="1" i="1" dirty="0" smtClean="0">
                        <a:latin typeface="Cambria Math" panose="02040503050406030204" pitchFamily="18" charset="0"/>
                      </a:rPr>
                      <m:t>𝟎</m:t>
                    </m:r>
                    <m:r>
                      <a:rPr lang="en-US" b="1" i="1" dirty="0" smtClean="0">
                        <a:latin typeface="Cambria Math" panose="02040503050406030204" pitchFamily="18" charset="0"/>
                      </a:rPr>
                      <m:t> ~ </m:t>
                    </m:r>
                    <m:r>
                      <a:rPr lang="en-US" b="1" i="1" dirty="0" smtClean="0">
                        <a:latin typeface="Cambria Math" panose="02040503050406030204" pitchFamily="18" charset="0"/>
                      </a:rPr>
                      <m:t>𝟐</m:t>
                    </m:r>
                    <m:r>
                      <a:rPr lang="en-US" b="1" i="1" baseline="30000" dirty="0" smtClean="0">
                        <a:latin typeface="Cambria Math" panose="02040503050406030204" pitchFamily="18" charset="0"/>
                      </a:rPr>
                      <m:t>𝒏</m:t>
                    </m:r>
                    <m:r>
                      <a:rPr lang="en-US" b="1" i="1" dirty="0" smtClean="0">
                        <a:latin typeface="Cambria Math" panose="02040503050406030204" pitchFamily="18" charset="0"/>
                      </a:rPr>
                      <m:t>−</m:t>
                    </m:r>
                    <m:r>
                      <a:rPr lang="en-US" b="1" i="1" dirty="0" smtClean="0">
                        <a:latin typeface="Cambria Math" panose="02040503050406030204" pitchFamily="18" charset="0"/>
                      </a:rPr>
                      <m:t>𝟏</m:t>
                    </m:r>
                    <m:r>
                      <a:rPr lang="en-US" b="1" i="1" dirty="0" smtClean="0">
                        <a:latin typeface="Cambria Math" panose="02040503050406030204" pitchFamily="18" charset="0"/>
                      </a:rPr>
                      <m:t> </m:t>
                    </m:r>
                  </m:oMath>
                </a14:m>
                <a:r>
                  <a:rPr lang="en-US" dirty="0"/>
                  <a:t>in binary</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3"/>
                <a:stretch>
                  <a:fillRect l="-960" t="-2241" r="-693"/>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24</a:t>
            </a:fld>
            <a:endParaRPr lang="en-US" sz="1800" dirty="0"/>
          </a:p>
        </p:txBody>
      </p:sp>
    </p:spTree>
    <p:extLst>
      <p:ext uri="{BB962C8B-B14F-4D97-AF65-F5344CB8AC3E}">
        <p14:creationId xmlns:p14="http://schemas.microsoft.com/office/powerpoint/2010/main" val="3608413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Boolean Function in Truth Table</a:t>
            </a:r>
            <a:endParaRPr lang="en-US" sz="3900" dirty="0">
              <a:latin typeface="+mn-lt"/>
            </a:endParaRPr>
          </a:p>
        </p:txBody>
      </p:sp>
      <p:pic>
        <p:nvPicPr>
          <p:cNvPr id="7" name="Content Placeholder 6"/>
          <p:cNvPicPr>
            <a:picLocks noGrp="1" noChangeAspect="1"/>
          </p:cNvPicPr>
          <p:nvPr>
            <p:ph idx="1"/>
          </p:nvPr>
        </p:nvPicPr>
        <p:blipFill>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651948" y="1863009"/>
            <a:ext cx="2888104" cy="3621838"/>
          </a:xfr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25</a:t>
            </a:fld>
            <a:endParaRPr lang="en-US" sz="1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E450785-9F4E-47B4-995B-694DA7E9A458}"/>
                  </a:ext>
                </a:extLst>
              </p:cNvPr>
              <p:cNvSpPr txBox="1"/>
              <p:nvPr/>
            </p:nvSpPr>
            <p:spPr>
              <a:xfrm>
                <a:off x="1526224" y="5910943"/>
                <a:ext cx="9139553" cy="369332"/>
              </a:xfrm>
              <a:prstGeom prst="rect">
                <a:avLst/>
              </a:prstGeom>
              <a:noFill/>
            </p:spPr>
            <p:txBody>
              <a:bodyPr wrap="none" rtlCol="0">
                <a:spAutoFit/>
              </a:bodyPr>
              <a:lstStyle/>
              <a:p>
                <a:pPr algn="ctr"/>
                <a:r>
                  <a:rPr lang="en-US" b="1" dirty="0"/>
                  <a:t>It is obvious from the truth table that, the function is 1 when </a:t>
                </a:r>
                <a14:m>
                  <m:oMath xmlns:m="http://schemas.openxmlformats.org/officeDocument/2006/math">
                    <m:d>
                      <m:dPr>
                        <m:ctrlPr>
                          <a:rPr lang="en-US" b="1" i="1" dirty="0" smtClean="0">
                            <a:latin typeface="Cambria Math" panose="02040503050406030204" pitchFamily="18" charset="0"/>
                          </a:rPr>
                        </m:ctrlPr>
                      </m:dPr>
                      <m:e>
                        <m:r>
                          <a:rPr lang="en-US" b="1" i="1" dirty="0" smtClean="0">
                            <a:latin typeface="Cambria Math" panose="02040503050406030204" pitchFamily="18" charset="0"/>
                          </a:rPr>
                          <m:t>𝒙</m:t>
                        </m:r>
                        <m:r>
                          <a:rPr lang="en-US" b="1" i="1" dirty="0" smtClean="0">
                            <a:latin typeface="Cambria Math" panose="02040503050406030204" pitchFamily="18" charset="0"/>
                          </a:rPr>
                          <m:t> = </m:t>
                        </m:r>
                        <m:r>
                          <a:rPr lang="en-US" b="1" i="1" dirty="0" smtClean="0">
                            <a:latin typeface="Cambria Math" panose="02040503050406030204" pitchFamily="18" charset="0"/>
                          </a:rPr>
                          <m:t>𝟏</m:t>
                        </m:r>
                        <m:r>
                          <a:rPr lang="en-US" b="1" i="1" dirty="0" smtClean="0">
                            <a:latin typeface="Cambria Math" panose="02040503050406030204" pitchFamily="18" charset="0"/>
                          </a:rPr>
                          <m:t> </m:t>
                        </m:r>
                      </m:e>
                    </m:d>
                    <m:r>
                      <a:rPr lang="en-US" b="1" i="1" dirty="0" smtClean="0">
                        <a:latin typeface="Cambria Math" panose="02040503050406030204" pitchFamily="18" charset="0"/>
                      </a:rPr>
                      <m:t> </m:t>
                    </m:r>
                  </m:oMath>
                </a14:m>
                <a:r>
                  <a:rPr lang="en-US" b="1" dirty="0"/>
                  <a:t>or (</a:t>
                </a:r>
                <a14:m>
                  <m:oMath xmlns:m="http://schemas.openxmlformats.org/officeDocument/2006/math">
                    <m:r>
                      <a:rPr lang="en-US" b="1" i="1" dirty="0"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rPr>
                      <m:t>𝟎</m:t>
                    </m:r>
                  </m:oMath>
                </a14:m>
                <a:r>
                  <a:rPr lang="en-US" b="1" dirty="0"/>
                  <a:t> and </a:t>
                </a:r>
                <a14:m>
                  <m:oMath xmlns:m="http://schemas.openxmlformats.org/officeDocument/2006/math">
                    <m:r>
                      <a:rPr lang="en-US" b="1" i="1" dirty="0" smtClean="0">
                        <a:latin typeface="Cambria Math" panose="02040503050406030204" pitchFamily="18" charset="0"/>
                      </a:rPr>
                      <m:t>𝒛</m:t>
                    </m:r>
                    <m:r>
                      <a:rPr lang="en-US" b="1" i="1" dirty="0" smtClean="0">
                        <a:latin typeface="Cambria Math" panose="02040503050406030204" pitchFamily="18" charset="0"/>
                      </a:rPr>
                      <m:t> = </m:t>
                    </m:r>
                    <m:r>
                      <a:rPr lang="en-US" b="1" i="1" dirty="0" smtClean="0">
                        <a:latin typeface="Cambria Math" panose="02040503050406030204" pitchFamily="18" charset="0"/>
                      </a:rPr>
                      <m:t>𝟏</m:t>
                    </m:r>
                    <m:r>
                      <a:rPr lang="en-US" b="1" i="1" dirty="0" smtClean="0">
                        <a:latin typeface="Cambria Math" panose="02040503050406030204" pitchFamily="18" charset="0"/>
                      </a:rPr>
                      <m:t>)</m:t>
                    </m:r>
                  </m:oMath>
                </a14:m>
                <a:endParaRPr lang="en-US" b="1" dirty="0"/>
              </a:p>
            </p:txBody>
          </p:sp>
        </mc:Choice>
        <mc:Fallback xmlns="">
          <p:sp>
            <p:nvSpPr>
              <p:cNvPr id="3" name="TextBox 2">
                <a:extLst>
                  <a:ext uri="{FF2B5EF4-FFF2-40B4-BE49-F238E27FC236}">
                    <a16:creationId xmlns:a16="http://schemas.microsoft.com/office/drawing/2014/main" id="{2E450785-9F4E-47B4-995B-694DA7E9A458}"/>
                  </a:ext>
                </a:extLst>
              </p:cNvPr>
              <p:cNvSpPr txBox="1">
                <a:spLocks noRot="1" noChangeAspect="1" noMove="1" noResize="1" noEditPoints="1" noAdjustHandles="1" noChangeArrowheads="1" noChangeShapeType="1" noTextEdit="1"/>
              </p:cNvSpPr>
              <p:nvPr/>
            </p:nvSpPr>
            <p:spPr>
              <a:xfrm>
                <a:off x="1526224" y="5910943"/>
                <a:ext cx="9139553" cy="369332"/>
              </a:xfrm>
              <a:prstGeom prst="rect">
                <a:avLst/>
              </a:prstGeom>
              <a:blipFill>
                <a:blip r:embed="rId6"/>
                <a:stretch>
                  <a:fillRect l="-67"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473446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Boolean Function in Circuit Diagram</a:t>
            </a:r>
            <a:endParaRPr lang="en-US" sz="3900" dirty="0">
              <a:latin typeface="+mn-lt"/>
            </a:endParaRPr>
          </a:p>
        </p:txBody>
      </p:sp>
      <p:sp>
        <p:nvSpPr>
          <p:cNvPr id="3" name="Content Placeholder 2"/>
          <p:cNvSpPr>
            <a:spLocks noGrp="1"/>
          </p:cNvSpPr>
          <p:nvPr>
            <p:ph idx="1"/>
          </p:nvPr>
        </p:nvSpPr>
        <p:spPr>
          <a:xfrm>
            <a:off x="381000" y="1847850"/>
            <a:ext cx="11430000" cy="4351338"/>
          </a:xfrm>
        </p:spPr>
        <p:txBody>
          <a:bodyPr>
            <a:normAutofit/>
          </a:bodyPr>
          <a:lstStyle/>
          <a:p>
            <a:r>
              <a:rPr lang="en-US" dirty="0"/>
              <a:t>A Boolean function can be expressed with </a:t>
            </a:r>
            <a:r>
              <a:rPr lang="en-US" b="1" dirty="0"/>
              <a:t>circuit diagram </a:t>
            </a:r>
            <a:r>
              <a:rPr lang="en-US" dirty="0"/>
              <a:t>composed of </a:t>
            </a:r>
            <a:r>
              <a:rPr lang="en-US" dirty="0">
                <a:solidFill>
                  <a:srgbClr val="FF0000"/>
                </a:solidFill>
              </a:rPr>
              <a:t>logic gates</a:t>
            </a:r>
            <a:r>
              <a:rPr lang="en-US" dirty="0"/>
              <a:t> following a particular structure</a:t>
            </a:r>
          </a:p>
          <a:p>
            <a:pPr lvl="2"/>
            <a:r>
              <a:rPr lang="en-US" dirty="0"/>
              <a:t>Also known as </a:t>
            </a:r>
            <a:r>
              <a:rPr lang="en-US" b="1" dirty="0"/>
              <a:t>schematic diagram</a:t>
            </a:r>
          </a:p>
          <a:p>
            <a:r>
              <a:rPr lang="en-US" dirty="0"/>
              <a:t>Generally, </a:t>
            </a:r>
            <a:r>
              <a:rPr lang="en-US" u="sng" dirty="0"/>
              <a:t>variables in </a:t>
            </a:r>
            <a:r>
              <a:rPr lang="en-US" b="1" u="sng" dirty="0">
                <a:solidFill>
                  <a:srgbClr val="00B050"/>
                </a:solidFill>
              </a:rPr>
              <a:t>lowercase</a:t>
            </a:r>
            <a:r>
              <a:rPr lang="en-US" b="1" dirty="0">
                <a:solidFill>
                  <a:srgbClr val="00B050"/>
                </a:solidFill>
              </a:rPr>
              <a:t> </a:t>
            </a:r>
            <a:r>
              <a:rPr lang="en-US" dirty="0"/>
              <a:t>of the function are considered as </a:t>
            </a:r>
            <a:r>
              <a:rPr lang="en-US" b="1" dirty="0"/>
              <a:t>input</a:t>
            </a:r>
            <a:r>
              <a:rPr lang="en-US" dirty="0"/>
              <a:t>, and </a:t>
            </a:r>
            <a:r>
              <a:rPr lang="en-US" u="sng" dirty="0"/>
              <a:t>variables in </a:t>
            </a:r>
            <a:r>
              <a:rPr lang="en-US" b="1" u="sng" dirty="0">
                <a:solidFill>
                  <a:srgbClr val="00B050"/>
                </a:solidFill>
              </a:rPr>
              <a:t>uppercase</a:t>
            </a:r>
            <a:r>
              <a:rPr lang="en-US" b="1" i="1" dirty="0"/>
              <a:t> </a:t>
            </a:r>
            <a:r>
              <a:rPr lang="en-US" dirty="0"/>
              <a:t>as </a:t>
            </a:r>
            <a:r>
              <a:rPr lang="en-US" b="1" dirty="0"/>
              <a:t>output</a:t>
            </a:r>
            <a:r>
              <a:rPr lang="en-US" dirty="0"/>
              <a:t> of the circuit </a:t>
            </a:r>
          </a:p>
          <a:p>
            <a:pPr lvl="2"/>
            <a:r>
              <a:rPr lang="en-US" dirty="0"/>
              <a:t>Express the </a:t>
            </a:r>
            <a:r>
              <a:rPr lang="en-US" b="1" dirty="0"/>
              <a:t>relationship </a:t>
            </a:r>
            <a:r>
              <a:rPr lang="en-US" dirty="0"/>
              <a:t>between input and output of the circuit</a:t>
            </a:r>
          </a:p>
          <a:p>
            <a:r>
              <a:rPr lang="en-US" dirty="0"/>
              <a:t>Instead of listing </a:t>
            </a:r>
            <a:r>
              <a:rPr lang="en-US" dirty="0">
                <a:solidFill>
                  <a:srgbClr val="FF0000"/>
                </a:solidFill>
              </a:rPr>
              <a:t>all possible combinations of input and corresponding output </a:t>
            </a:r>
            <a:r>
              <a:rPr lang="en-US" dirty="0"/>
              <a:t>like truth table, it rather </a:t>
            </a:r>
            <a:r>
              <a:rPr lang="en-US" u="sng" dirty="0"/>
              <a:t>indicates </a:t>
            </a:r>
            <a:r>
              <a:rPr lang="en-US" b="1" u="sng" dirty="0"/>
              <a:t>how to generate </a:t>
            </a:r>
            <a:r>
              <a:rPr lang="en-US" u="sng" dirty="0"/>
              <a:t>the </a:t>
            </a:r>
            <a:r>
              <a:rPr lang="en-US" b="1" u="sng" dirty="0">
                <a:solidFill>
                  <a:srgbClr val="00B050"/>
                </a:solidFill>
              </a:rPr>
              <a:t>output logic value</a:t>
            </a:r>
            <a:r>
              <a:rPr lang="en-US" dirty="0">
                <a:solidFill>
                  <a:srgbClr val="00B050"/>
                </a:solidFill>
              </a:rPr>
              <a:t> </a:t>
            </a:r>
            <a:r>
              <a:rPr lang="en-US" dirty="0"/>
              <a:t>from given </a:t>
            </a:r>
            <a:r>
              <a:rPr lang="en-US" b="1" dirty="0">
                <a:solidFill>
                  <a:srgbClr val="7030A0"/>
                </a:solidFill>
              </a:rPr>
              <a:t>input logic values</a:t>
            </a:r>
            <a:r>
              <a:rPr lang="en-US" dirty="0"/>
              <a:t>.</a:t>
            </a:r>
          </a:p>
          <a:p>
            <a:endParaRPr lang="en-US" b="1" i="1"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26</a:t>
            </a:fld>
            <a:endParaRPr lang="en-US" sz="1800" dirty="0"/>
          </a:p>
        </p:txBody>
      </p:sp>
    </p:spTree>
    <p:extLst>
      <p:ext uri="{BB962C8B-B14F-4D97-AF65-F5344CB8AC3E}">
        <p14:creationId xmlns:p14="http://schemas.microsoft.com/office/powerpoint/2010/main" val="2838581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6640" cy="1325563"/>
          </a:xfrm>
        </p:spPr>
        <p:txBody>
          <a:bodyPr>
            <a:normAutofit/>
          </a:bodyPr>
          <a:lstStyle/>
          <a:p>
            <a:r>
              <a:rPr lang="en-US" b="1" i="1" dirty="0">
                <a:solidFill>
                  <a:schemeClr val="accent5">
                    <a:lumMod val="75000"/>
                  </a:schemeClr>
                </a:solidFill>
                <a:latin typeface="+mn-lt"/>
              </a:rPr>
              <a:t>Boolean Function in Circuit Diagram: Example</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27</a:t>
            </a:fld>
            <a:endParaRPr lang="en-US" sz="1800" dirty="0"/>
          </a:p>
        </p:txBody>
      </p:sp>
      <p:pic>
        <p:nvPicPr>
          <p:cNvPr id="7" name="Picture 6"/>
          <p:cNvPicPr>
            <a:picLocks noChangeAspect="1"/>
          </p:cNvPicPr>
          <p:nvPr/>
        </p:nvPicPr>
        <p:blipFill>
          <a:blip r:embed="rId4">
            <a:grayscl/>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3124064" y="2046321"/>
            <a:ext cx="5943872" cy="2765358"/>
          </a:xfrm>
          <a:prstGeom prst="rect">
            <a:avLst/>
          </a:prstGeom>
        </p:spPr>
      </p:pic>
    </p:spTree>
    <p:extLst>
      <p:ext uri="{BB962C8B-B14F-4D97-AF65-F5344CB8AC3E}">
        <p14:creationId xmlns:p14="http://schemas.microsoft.com/office/powerpoint/2010/main" val="138025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820400" cy="1325563"/>
          </a:xfrm>
        </p:spPr>
        <p:txBody>
          <a:bodyPr/>
          <a:lstStyle/>
          <a:p>
            <a:r>
              <a:rPr lang="en-US" b="1" i="1" dirty="0">
                <a:solidFill>
                  <a:srgbClr val="4472C4">
                    <a:lumMod val="75000"/>
                  </a:srgbClr>
                </a:solidFill>
                <a:latin typeface="Calibri" panose="020F0502020204030204"/>
              </a:rPr>
              <a:t>Boolean Function: Reformation</a:t>
            </a:r>
            <a:endParaRPr lang="en-US" dirty="0"/>
          </a:p>
        </p:txBody>
      </p:sp>
      <p:sp>
        <p:nvSpPr>
          <p:cNvPr id="3" name="Content Placeholder 2"/>
          <p:cNvSpPr>
            <a:spLocks noGrp="1"/>
          </p:cNvSpPr>
          <p:nvPr>
            <p:ph idx="1"/>
          </p:nvPr>
        </p:nvSpPr>
        <p:spPr>
          <a:xfrm>
            <a:off x="381000" y="1825624"/>
            <a:ext cx="11430000" cy="4530725"/>
          </a:xfrm>
        </p:spPr>
        <p:txBody>
          <a:bodyPr>
            <a:normAutofit lnSpcReduction="10000"/>
          </a:bodyPr>
          <a:lstStyle/>
          <a:p>
            <a:r>
              <a:rPr lang="en-US" dirty="0"/>
              <a:t>In algebraic form, a function can be </a:t>
            </a:r>
            <a:r>
              <a:rPr lang="en-US" b="1" dirty="0">
                <a:solidFill>
                  <a:srgbClr val="FF0000"/>
                </a:solidFill>
              </a:rPr>
              <a:t>expressed </a:t>
            </a:r>
            <a:r>
              <a:rPr lang="en-US" dirty="0"/>
              <a:t>in a </a:t>
            </a:r>
            <a:r>
              <a:rPr lang="en-US" b="1" dirty="0"/>
              <a:t>variety of ways</a:t>
            </a:r>
            <a:r>
              <a:rPr lang="en-US" dirty="0"/>
              <a:t>, all which of which have </a:t>
            </a:r>
            <a:r>
              <a:rPr lang="en-US" b="1" dirty="0">
                <a:solidFill>
                  <a:srgbClr val="00B050"/>
                </a:solidFill>
              </a:rPr>
              <a:t>equivalent logic</a:t>
            </a:r>
          </a:p>
          <a:p>
            <a:pPr lvl="1"/>
            <a:r>
              <a:rPr lang="en-US" dirty="0"/>
              <a:t>Also, it can be transformed into </a:t>
            </a:r>
            <a:r>
              <a:rPr lang="en-US" b="1" dirty="0"/>
              <a:t>different circuit diagrams </a:t>
            </a:r>
          </a:p>
          <a:p>
            <a:pPr lvl="1"/>
            <a:r>
              <a:rPr lang="en-US" dirty="0"/>
              <a:t>But there is only </a:t>
            </a:r>
            <a:r>
              <a:rPr lang="en-US" b="1" dirty="0">
                <a:solidFill>
                  <a:srgbClr val="00B050"/>
                </a:solidFill>
              </a:rPr>
              <a:t>one way to express </a:t>
            </a:r>
            <a:r>
              <a:rPr lang="en-US" dirty="0"/>
              <a:t>a Boolean function through the </a:t>
            </a:r>
            <a:r>
              <a:rPr lang="en-US" b="1" dirty="0"/>
              <a:t>truth table</a:t>
            </a:r>
          </a:p>
          <a:p>
            <a:r>
              <a:rPr lang="en-US" b="1" dirty="0">
                <a:solidFill>
                  <a:srgbClr val="FF0000"/>
                </a:solidFill>
              </a:rPr>
              <a:t>Note: </a:t>
            </a:r>
            <a:r>
              <a:rPr lang="en-US" b="1" dirty="0"/>
              <a:t>Truth table </a:t>
            </a:r>
            <a:r>
              <a:rPr lang="en-US" dirty="0"/>
              <a:t>is the only way </a:t>
            </a:r>
            <a:r>
              <a:rPr lang="en-US" dirty="0">
                <a:solidFill>
                  <a:srgbClr val="FF0000"/>
                </a:solidFill>
              </a:rPr>
              <a:t>to verify the expressions’ equivalence</a:t>
            </a:r>
          </a:p>
          <a:p>
            <a:r>
              <a:rPr lang="en-US" dirty="0"/>
              <a:t>The </a:t>
            </a:r>
            <a:r>
              <a:rPr lang="en-US" b="1" dirty="0">
                <a:solidFill>
                  <a:srgbClr val="FF0000"/>
                </a:solidFill>
              </a:rPr>
              <a:t>motivation</a:t>
            </a:r>
            <a:r>
              <a:rPr lang="en-US" dirty="0"/>
              <a:t> of the Boolean algebra:</a:t>
            </a:r>
          </a:p>
          <a:p>
            <a:pPr lvl="1"/>
            <a:r>
              <a:rPr lang="en-US" dirty="0"/>
              <a:t>Manipulate a Boolean expression using rules of Boolean algebra </a:t>
            </a:r>
            <a:r>
              <a:rPr lang="en-US" dirty="0">
                <a:solidFill>
                  <a:srgbClr val="FF0000"/>
                </a:solidFill>
              </a:rPr>
              <a:t>to reduce it into a simpler expression </a:t>
            </a:r>
          </a:p>
          <a:p>
            <a:pPr lvl="1"/>
            <a:r>
              <a:rPr lang="en-US" dirty="0"/>
              <a:t>Thus reduce the number of gates, inputs, and interconnections in the circuit for the same function </a:t>
            </a:r>
          </a:p>
          <a:p>
            <a:pPr lvl="1"/>
            <a:r>
              <a:rPr lang="en-US" dirty="0"/>
              <a:t> Ultimately </a:t>
            </a:r>
            <a:r>
              <a:rPr lang="en-US" b="1" dirty="0"/>
              <a:t>reduce</a:t>
            </a:r>
            <a:r>
              <a:rPr lang="en-US" dirty="0"/>
              <a:t> the complexity, cost, and </a:t>
            </a:r>
            <a:r>
              <a:rPr lang="en-US" b="1" dirty="0"/>
              <a:t>increase</a:t>
            </a:r>
            <a:r>
              <a:rPr lang="en-US" dirty="0"/>
              <a:t> the reliability, efficiency</a:t>
            </a:r>
          </a:p>
          <a:p>
            <a:pPr lvl="2"/>
            <a:r>
              <a:rPr lang="en-US" dirty="0"/>
              <a:t>Finding the most economic logic representation is an important design task</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28</a:t>
            </a:fld>
            <a:endParaRPr lang="en-US"/>
          </a:p>
        </p:txBody>
      </p:sp>
    </p:spTree>
    <p:extLst>
      <p:ext uri="{BB962C8B-B14F-4D97-AF65-F5344CB8AC3E}">
        <p14:creationId xmlns:p14="http://schemas.microsoft.com/office/powerpoint/2010/main" val="1546089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grayscl/>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7190026" y="1309118"/>
            <a:ext cx="4935142" cy="3287628"/>
          </a:xfrm>
        </p:spPr>
      </p:pic>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29</a:t>
            </a:fld>
            <a:endParaRPr lang="en-US"/>
          </a:p>
        </p:txBody>
      </p:sp>
      <p:pic>
        <p:nvPicPr>
          <p:cNvPr id="8" name="Picture 7"/>
          <p:cNvPicPr>
            <a:picLocks noChangeAspect="1"/>
          </p:cNvPicPr>
          <p:nvPr/>
        </p:nvPicPr>
        <p:blipFill>
          <a:blip r:embed="rId5">
            <a:grayscl/>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7271671" y="4720190"/>
            <a:ext cx="4827812" cy="2092134"/>
          </a:xfrm>
          <a:prstGeom prst="rect">
            <a:avLst/>
          </a:prstGeom>
        </p:spPr>
      </p:pic>
      <p:pic>
        <p:nvPicPr>
          <p:cNvPr id="9" name="Picture 8"/>
          <p:cNvPicPr>
            <a:picLocks noChangeAspect="1"/>
          </p:cNvPicPr>
          <p:nvPr/>
        </p:nvPicPr>
        <p:blipFill>
          <a:blip r:embed="rId7">
            <a:grayscl/>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2188026" y="3326848"/>
            <a:ext cx="2743199" cy="3198336"/>
          </a:xfrm>
          <a:prstGeom prst="rect">
            <a:avLst/>
          </a:prstGeom>
        </p:spPr>
      </p:pic>
      <p:grpSp>
        <p:nvGrpSpPr>
          <p:cNvPr id="10" name="Group 9">
            <a:extLst>
              <a:ext uri="{FF2B5EF4-FFF2-40B4-BE49-F238E27FC236}">
                <a16:creationId xmlns:a16="http://schemas.microsoft.com/office/drawing/2014/main" id="{AAF7BF9D-7ECD-402D-B181-DBCF98607C2A}"/>
              </a:ext>
            </a:extLst>
          </p:cNvPr>
          <p:cNvGrpSpPr/>
          <p:nvPr/>
        </p:nvGrpSpPr>
        <p:grpSpPr>
          <a:xfrm>
            <a:off x="311767" y="1690688"/>
            <a:ext cx="6686551" cy="1325562"/>
            <a:chOff x="3405268" y="5129873"/>
            <a:chExt cx="7650876" cy="1136784"/>
          </a:xfrm>
        </p:grpSpPr>
        <p:pic>
          <p:nvPicPr>
            <p:cNvPr id="11" name="Picture 10">
              <a:extLst>
                <a:ext uri="{FF2B5EF4-FFF2-40B4-BE49-F238E27FC236}">
                  <a16:creationId xmlns:a16="http://schemas.microsoft.com/office/drawing/2014/main" id="{FC87DE61-3881-479A-BB7C-BDF0B043E74E}"/>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3472216" y="5129873"/>
              <a:ext cx="3264651" cy="546958"/>
            </a:xfrm>
            <a:prstGeom prst="rect">
              <a:avLst/>
            </a:prstGeom>
          </p:spPr>
        </p:pic>
        <p:pic>
          <p:nvPicPr>
            <p:cNvPr id="12" name="Picture 11">
              <a:extLst>
                <a:ext uri="{FF2B5EF4-FFF2-40B4-BE49-F238E27FC236}">
                  <a16:creationId xmlns:a16="http://schemas.microsoft.com/office/drawing/2014/main" id="{066AF522-309D-4B79-A163-4D1AC3B8F55B}"/>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tretch>
              <a:fillRect/>
            </a:stretch>
          </p:blipFill>
          <p:spPr>
            <a:xfrm>
              <a:off x="3405268" y="5676831"/>
              <a:ext cx="7650876" cy="589826"/>
            </a:xfrm>
            <a:prstGeom prst="rect">
              <a:avLst/>
            </a:prstGeom>
          </p:spPr>
        </p:pic>
      </p:grpSp>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Boolean Function: Redesign - Example</a:t>
            </a:r>
            <a:endParaRPr lang="en-US" dirty="0"/>
          </a:p>
        </p:txBody>
      </p:sp>
    </p:spTree>
    <p:extLst>
      <p:ext uri="{BB962C8B-B14F-4D97-AF65-F5344CB8AC3E}">
        <p14:creationId xmlns:p14="http://schemas.microsoft.com/office/powerpoint/2010/main" val="187319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lstStyle/>
          <a:p>
            <a:r>
              <a:rPr lang="en-US" b="1" i="1" dirty="0">
                <a:solidFill>
                  <a:srgbClr val="4472C4">
                    <a:lumMod val="75000"/>
                  </a:srgbClr>
                </a:solidFill>
                <a:latin typeface="Calibri" panose="020F0502020204030204"/>
              </a:rPr>
              <a:t>Algebraic Manipulation</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1825625"/>
                <a:ext cx="11430000" cy="4351338"/>
              </a:xfrm>
            </p:spPr>
            <p:txBody>
              <a:bodyPr>
                <a:normAutofit/>
              </a:bodyPr>
              <a:lstStyle/>
              <a:p>
                <a:r>
                  <a:rPr lang="en-US" dirty="0"/>
                  <a:t>In any Boolean expression –</a:t>
                </a:r>
              </a:p>
              <a:p>
                <a:pPr lvl="1"/>
                <a:r>
                  <a:rPr lang="en-US" dirty="0"/>
                  <a:t>A </a:t>
                </a:r>
                <a:r>
                  <a:rPr lang="en-US" b="1" dirty="0"/>
                  <a:t>Term</a:t>
                </a:r>
                <a:r>
                  <a:rPr lang="en-US" dirty="0"/>
                  <a:t> (</a:t>
                </a:r>
                <a:r>
                  <a:rPr lang="en-US" b="1" i="1" dirty="0"/>
                  <a:t>e.g., </a:t>
                </a:r>
                <a14:m>
                  <m:oMath xmlns:m="http://schemas.openxmlformats.org/officeDocument/2006/math">
                    <m:r>
                      <a:rPr lang="en-US" i="1" dirty="0" smtClean="0">
                        <a:latin typeface="Cambria Math" panose="02040503050406030204" pitchFamily="18" charset="0"/>
                      </a:rPr>
                      <m:t>𝑥𝑦𝑧</m:t>
                    </m:r>
                  </m:oMath>
                </a14:m>
                <a:r>
                  <a:rPr lang="en-US" dirty="0"/>
                  <a:t>’) is represented by </a:t>
                </a:r>
                <a:r>
                  <a:rPr lang="en-US" b="1" dirty="0">
                    <a:solidFill>
                      <a:srgbClr val="FF0000"/>
                    </a:solidFill>
                  </a:rPr>
                  <a:t>a gate with inputs</a:t>
                </a:r>
              </a:p>
              <a:p>
                <a:pPr lvl="1"/>
                <a:r>
                  <a:rPr lang="en-US" dirty="0"/>
                  <a:t>Each </a:t>
                </a:r>
                <a:r>
                  <a:rPr lang="en-US" b="1" dirty="0"/>
                  <a:t>Literal/Variable</a:t>
                </a:r>
                <a:r>
                  <a:rPr lang="en-US" dirty="0"/>
                  <a:t> within a term designate </a:t>
                </a:r>
                <a:r>
                  <a:rPr lang="en-US" b="1" dirty="0">
                    <a:solidFill>
                      <a:srgbClr val="FF0000"/>
                    </a:solidFill>
                  </a:rPr>
                  <a:t>an input </a:t>
                </a:r>
                <a:r>
                  <a:rPr lang="en-US" dirty="0"/>
                  <a:t>in </a:t>
                </a:r>
                <a:r>
                  <a:rPr lang="en-US" b="1" dirty="0"/>
                  <a:t>primed </a:t>
                </a:r>
                <a:r>
                  <a:rPr lang="en-US" dirty="0"/>
                  <a:t>or </a:t>
                </a:r>
                <a:r>
                  <a:rPr lang="en-US" b="1" dirty="0"/>
                  <a:t>unprimed </a:t>
                </a:r>
                <a:r>
                  <a:rPr lang="en-US" dirty="0"/>
                  <a:t>form</a:t>
                </a:r>
              </a:p>
              <a:p>
                <a:r>
                  <a:rPr lang="en-US" b="1" dirty="0"/>
                  <a:t>Example: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baseline="-25000"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𝑧</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𝑦𝑧</m:t>
                      </m:r>
                      <m:r>
                        <a:rPr lang="en-US" b="0" i="1" smtClean="0">
                          <a:latin typeface="Cambria Math" panose="02040503050406030204" pitchFamily="18" charset="0"/>
                        </a:rPr>
                        <m:t>+</m:t>
                      </m:r>
                      <m:r>
                        <a:rPr lang="en-US" b="0" i="1" smtClean="0">
                          <a:latin typeface="Cambria Math" panose="02040503050406030204" pitchFamily="18" charset="0"/>
                        </a:rPr>
                        <m:t>𝑥</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oMath>
                  </m:oMathPara>
                </a14:m>
                <a:endParaRPr lang="en-US" b="0" dirty="0"/>
              </a:p>
              <a:p>
                <a:pPr marL="0" indent="0" algn="ctr">
                  <a:buNone/>
                </a:pPr>
                <a14:m>
                  <m:oMath xmlns:m="http://schemas.openxmlformats.org/officeDocument/2006/math">
                    <m:r>
                      <a:rPr lang="en-US" b="0" i="1" smtClean="0">
                        <a:latin typeface="Cambria Math" panose="02040503050406030204" pitchFamily="18" charset="0"/>
                      </a:rPr>
                      <m:t>𝐹</m:t>
                    </m:r>
                    <m:r>
                      <a:rPr lang="en-US" b="0" i="1" baseline="-25000" smtClean="0">
                        <a:latin typeface="Cambria Math" panose="02040503050406030204" pitchFamily="18" charset="0"/>
                      </a:rPr>
                      <m:t>2</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𝑥𝑦</m:t>
                    </m:r>
                    <m:r>
                      <a:rPr lang="en-US" b="0" i="1" smtClean="0">
                        <a:latin typeface="Cambria Math" panose="02040503050406030204" pitchFamily="18" charset="0"/>
                      </a:rPr>
                      <m:t>′</m:t>
                    </m:r>
                  </m:oMath>
                </a14:m>
                <a:r>
                  <a:rPr lang="en-US" dirty="0"/>
                  <a:t> </a:t>
                </a:r>
              </a:p>
              <a:p>
                <a:r>
                  <a:rPr lang="en-US" b="1" dirty="0">
                    <a:solidFill>
                      <a:srgbClr val="FF0000"/>
                    </a:solidFill>
                  </a:rPr>
                  <a:t>Task: </a:t>
                </a:r>
                <a:r>
                  <a:rPr lang="en-US" u="sng" dirty="0"/>
                  <a:t>To </a:t>
                </a:r>
                <a:r>
                  <a:rPr lang="en-US" b="1" u="sng" dirty="0"/>
                  <a:t>simplify </a:t>
                </a:r>
                <a:r>
                  <a:rPr lang="en-US" u="sng" dirty="0"/>
                  <a:t>the expression</a:t>
                </a:r>
                <a:r>
                  <a:rPr lang="en-US" dirty="0"/>
                  <a:t>, we have to </a:t>
                </a:r>
                <a:r>
                  <a:rPr lang="en-US" b="1" dirty="0"/>
                  <a:t>reduce</a:t>
                </a:r>
                <a:r>
                  <a:rPr lang="en-US" dirty="0"/>
                  <a:t> the number of terms or number of literals or both (</a:t>
                </a:r>
                <a:r>
                  <a:rPr lang="en-US" dirty="0">
                    <a:solidFill>
                      <a:srgbClr val="00B0F0"/>
                    </a:solidFill>
                  </a:rPr>
                  <a:t>most frequent task in Boolean algebra</a:t>
                </a:r>
                <a:r>
                  <a:rPr lang="en-US" dirty="0"/>
                  <a:t>)</a:t>
                </a:r>
                <a:endParaRPr lang="en-US" dirty="0">
                  <a:solidFill>
                    <a:srgbClr val="FF0000"/>
                  </a:solidFill>
                </a:endParaRPr>
              </a:p>
              <a:p>
                <a:r>
                  <a:rPr lang="en-US" b="1" dirty="0"/>
                  <a:t>Methods</a:t>
                </a:r>
                <a:r>
                  <a:rPr lang="en-US" dirty="0"/>
                  <a:t>: cut-and-try procedure, K-map, computer minimization programs</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1825625"/>
                <a:ext cx="11430000" cy="4351338"/>
              </a:xfrm>
              <a:blipFill>
                <a:blip r:embed="rId3"/>
                <a:stretch>
                  <a:fillRect l="-960" t="-2241" r="-74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30</a:t>
            </a:fld>
            <a:endParaRPr lang="en-US"/>
          </a:p>
        </p:txBody>
      </p:sp>
      <p:sp>
        <p:nvSpPr>
          <p:cNvPr id="10" name="TextBox 9"/>
          <p:cNvSpPr txBox="1"/>
          <p:nvPr/>
        </p:nvSpPr>
        <p:spPr>
          <a:xfrm>
            <a:off x="8053124" y="3574287"/>
            <a:ext cx="2331600" cy="369332"/>
          </a:xfrm>
          <a:prstGeom prst="rect">
            <a:avLst/>
          </a:prstGeom>
          <a:noFill/>
        </p:spPr>
        <p:txBody>
          <a:bodyPr wrap="square" rtlCol="0">
            <a:spAutoFit/>
          </a:bodyPr>
          <a:lstStyle/>
          <a:p>
            <a:r>
              <a:rPr lang="en-US" b="1" dirty="0"/>
              <a:t>(</a:t>
            </a:r>
            <a:r>
              <a:rPr lang="en-US" b="1" dirty="0">
                <a:solidFill>
                  <a:srgbClr val="FF0000"/>
                </a:solidFill>
              </a:rPr>
              <a:t>3 terms and 8 literals</a:t>
            </a:r>
            <a:r>
              <a:rPr lang="en-US" b="1" dirty="0"/>
              <a:t>)</a:t>
            </a:r>
          </a:p>
        </p:txBody>
      </p:sp>
      <p:sp>
        <p:nvSpPr>
          <p:cNvPr id="11" name="TextBox 10"/>
          <p:cNvSpPr txBox="1"/>
          <p:nvPr/>
        </p:nvSpPr>
        <p:spPr>
          <a:xfrm>
            <a:off x="8053124" y="4106909"/>
            <a:ext cx="2331600" cy="369332"/>
          </a:xfrm>
          <a:prstGeom prst="rect">
            <a:avLst/>
          </a:prstGeom>
          <a:noFill/>
        </p:spPr>
        <p:txBody>
          <a:bodyPr wrap="square" rtlCol="0">
            <a:spAutoFit/>
          </a:bodyPr>
          <a:lstStyle/>
          <a:p>
            <a:r>
              <a:rPr lang="en-US" b="1" dirty="0"/>
              <a:t>(</a:t>
            </a:r>
            <a:r>
              <a:rPr lang="en-US" b="1" dirty="0">
                <a:solidFill>
                  <a:srgbClr val="FF0000"/>
                </a:solidFill>
              </a:rPr>
              <a:t>2 terms and 4 literals</a:t>
            </a:r>
            <a:r>
              <a:rPr lang="en-US" b="1" dirty="0"/>
              <a:t>)</a:t>
            </a:r>
          </a:p>
        </p:txBody>
      </p:sp>
    </p:spTree>
    <p:extLst>
      <p:ext uri="{BB962C8B-B14F-4D97-AF65-F5344CB8AC3E}">
        <p14:creationId xmlns:p14="http://schemas.microsoft.com/office/powerpoint/2010/main" val="284491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Simplification of Boolean Function</a:t>
            </a:r>
            <a:endParaRPr lang="en-US" dirty="0"/>
          </a:p>
        </p:txBody>
      </p:sp>
      <p:sp>
        <p:nvSpPr>
          <p:cNvPr id="3" name="Content Placeholder 2"/>
          <p:cNvSpPr>
            <a:spLocks noGrp="1"/>
          </p:cNvSpPr>
          <p:nvPr>
            <p:ph idx="1"/>
          </p:nvPr>
        </p:nvSpPr>
        <p:spPr/>
        <p:txBody>
          <a:bodyPr/>
          <a:lstStyle/>
          <a:p>
            <a:r>
              <a:rPr lang="en-US" b="1" dirty="0"/>
              <a:t>Cut and Try procedure:</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31</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507220" y="2963602"/>
            <a:ext cx="9177560" cy="1688732"/>
          </a:xfrm>
          <a:prstGeom prst="rect">
            <a:avLst/>
          </a:prstGeom>
        </p:spPr>
      </p:pic>
    </p:spTree>
    <p:extLst>
      <p:ext uri="{BB962C8B-B14F-4D97-AF65-F5344CB8AC3E}">
        <p14:creationId xmlns:p14="http://schemas.microsoft.com/office/powerpoint/2010/main" val="636211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Complement of a function</a:t>
            </a:r>
            <a:endParaRPr lang="en-US" sz="3900" dirty="0">
              <a:latin typeface="+mn-lt"/>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1825624"/>
                <a:ext cx="11430000" cy="4711653"/>
              </a:xfrm>
            </p:spPr>
            <p:txBody>
              <a:bodyPr>
                <a:normAutofit/>
              </a:bodyPr>
              <a:lstStyle/>
              <a:p>
                <a:r>
                  <a:rPr lang="en-US" b="1" dirty="0">
                    <a:solidFill>
                      <a:srgbClr val="00B050"/>
                    </a:solidFill>
                  </a:rPr>
                  <a:t>Complement </a:t>
                </a:r>
                <a:r>
                  <a:rPr lang="en-US" dirty="0"/>
                  <a:t>of a function </a:t>
                </a:r>
                <a:r>
                  <a:rPr lang="en-US" i="1" dirty="0"/>
                  <a:t>F</a:t>
                </a:r>
                <a:r>
                  <a:rPr lang="en-US" dirty="0"/>
                  <a:t> is </a:t>
                </a:r>
                <a:r>
                  <a:rPr lang="en-US" i="1" dirty="0"/>
                  <a:t>F’</a:t>
                </a:r>
              </a:p>
              <a:p>
                <a:pPr lvl="2"/>
                <a:r>
                  <a:rPr lang="en-US" b="1" dirty="0">
                    <a:solidFill>
                      <a:srgbClr val="FF0000"/>
                    </a:solidFill>
                  </a:rPr>
                  <a:t>Interchanging</a:t>
                </a:r>
                <a:r>
                  <a:rPr lang="en-US" b="1" dirty="0"/>
                  <a:t> </a:t>
                </a:r>
                <a:r>
                  <a:rPr lang="en-US" dirty="0"/>
                  <a:t>the output of function </a:t>
                </a:r>
                <a:r>
                  <a:rPr lang="en-US" sz="2500" b="1" i="1" dirty="0"/>
                  <a:t>F</a:t>
                </a:r>
                <a:r>
                  <a:rPr lang="en-US" b="1" i="1" dirty="0"/>
                  <a:t> </a:t>
                </a:r>
                <a:r>
                  <a:rPr lang="en-US" dirty="0"/>
                  <a:t>produces the </a:t>
                </a:r>
                <a:r>
                  <a:rPr lang="en-US" sz="2500" b="1" i="1" dirty="0"/>
                  <a:t>F’ </a:t>
                </a:r>
                <a:r>
                  <a:rPr lang="en-US" dirty="0"/>
                  <a:t>(</a:t>
                </a:r>
                <a:r>
                  <a:rPr lang="en-US" b="1" i="1" dirty="0"/>
                  <a:t>i.e.</a:t>
                </a:r>
                <a:r>
                  <a:rPr lang="en-US" dirty="0"/>
                  <a:t> if </a:t>
                </a:r>
                <a14:m>
                  <m:oMath xmlns:m="http://schemas.openxmlformats.org/officeDocument/2006/math">
                    <m:r>
                      <a:rPr lang="en-US" i="1" dirty="0" smtClean="0">
                        <a:latin typeface="Cambria Math" panose="02040503050406030204" pitchFamily="18" charset="0"/>
                      </a:rPr>
                      <m:t>𝐹</m:t>
                    </m:r>
                    <m:r>
                      <a:rPr lang="en-US" i="1" dirty="0" smtClean="0">
                        <a:latin typeface="Cambria Math" panose="02040503050406030204" pitchFamily="18" charset="0"/>
                      </a:rPr>
                      <m:t>=1</m:t>
                    </m:r>
                  </m:oMath>
                </a14:m>
                <a:r>
                  <a:rPr lang="en-US" dirty="0"/>
                  <a:t>, then </a:t>
                </a:r>
                <a14:m>
                  <m:oMath xmlns:m="http://schemas.openxmlformats.org/officeDocument/2006/math">
                    <m:r>
                      <a:rPr lang="en-US" i="1" dirty="0" smtClean="0">
                        <a:latin typeface="Cambria Math" panose="02040503050406030204" pitchFamily="18" charset="0"/>
                      </a:rPr>
                      <m:t>𝐹</m:t>
                    </m:r>
                    <m:r>
                      <a:rPr lang="en-US" i="1" dirty="0" smtClean="0">
                        <a:latin typeface="Cambria Math" panose="02040503050406030204" pitchFamily="18" charset="0"/>
                      </a:rPr>
                      <m:t>’=0 </m:t>
                    </m:r>
                  </m:oMath>
                </a14:m>
                <a:r>
                  <a:rPr lang="en-US" dirty="0"/>
                  <a:t>and vice versa) in the </a:t>
                </a:r>
                <a:r>
                  <a:rPr lang="en-US" b="1" dirty="0"/>
                  <a:t>truth table</a:t>
                </a:r>
              </a:p>
              <a:p>
                <a:r>
                  <a:rPr lang="en-US" dirty="0"/>
                  <a:t>Algebraically, the </a:t>
                </a:r>
                <a:r>
                  <a:rPr lang="en-US" b="1" i="1" dirty="0"/>
                  <a:t>F’</a:t>
                </a:r>
                <a:r>
                  <a:rPr lang="en-US" dirty="0"/>
                  <a:t> is derived following </a:t>
                </a:r>
                <a:r>
                  <a:rPr lang="en-US" b="1" dirty="0"/>
                  <a:t>De Morgen's law </a:t>
                </a:r>
              </a:p>
              <a:p>
                <a:pPr lvl="2"/>
                <a:r>
                  <a:rPr lang="en-US" b="1" dirty="0"/>
                  <a:t>De Morgan's Law: </a:t>
                </a:r>
                <a:r>
                  <a:rPr lang="en-US" dirty="0"/>
                  <a:t>Interchanging </a:t>
                </a:r>
                <a:r>
                  <a:rPr lang="en-US" b="1" dirty="0"/>
                  <a:t>AND</a:t>
                </a:r>
                <a:r>
                  <a:rPr lang="en-US" dirty="0"/>
                  <a:t> and </a:t>
                </a:r>
                <a:r>
                  <a:rPr lang="en-US" b="1" dirty="0"/>
                  <a:t>OR</a:t>
                </a:r>
                <a:r>
                  <a:rPr lang="en-US" dirty="0"/>
                  <a:t> operators and complementing each literal</a:t>
                </a:r>
              </a:p>
              <a:p>
                <a:pPr lvl="2"/>
                <a:r>
                  <a:rPr lang="en-US" dirty="0"/>
                  <a:t>De Morgan’s law for any number of variables (</a:t>
                </a:r>
                <a:r>
                  <a:rPr lang="en-US" b="1" dirty="0">
                    <a:solidFill>
                      <a:srgbClr val="00B0F0"/>
                    </a:solidFill>
                  </a:rPr>
                  <a:t>generalized formula</a:t>
                </a:r>
                <a:r>
                  <a:rPr lang="en-US" dirty="0"/>
                  <a:t>):</a:t>
                </a:r>
              </a:p>
              <a:p>
                <a:endParaRPr lang="en-US" b="1" dirty="0"/>
              </a:p>
              <a:p>
                <a:pPr marL="0" indent="0">
                  <a:buNone/>
                </a:pPr>
                <a:endParaRPr lang="en-US" b="1" dirty="0"/>
              </a:p>
              <a:p>
                <a:r>
                  <a:rPr lang="en-US" b="1" dirty="0"/>
                  <a:t>Alternative Method: </a:t>
                </a:r>
                <a:r>
                  <a:rPr lang="en-US" dirty="0">
                    <a:solidFill>
                      <a:srgbClr val="00B050"/>
                    </a:solidFill>
                  </a:rPr>
                  <a:t>Take the dual of the expression </a:t>
                </a:r>
                <a:r>
                  <a:rPr lang="en-US" dirty="0"/>
                  <a:t>and </a:t>
                </a:r>
                <a:r>
                  <a:rPr lang="en-US" dirty="0">
                    <a:solidFill>
                      <a:srgbClr val="00B0F0"/>
                    </a:solidFill>
                  </a:rPr>
                  <a:t>complement each literal</a:t>
                </a:r>
                <a:r>
                  <a:rPr lang="en-US" dirty="0"/>
                  <a:t>.</a:t>
                </a:r>
                <a:endParaRPr lang="en-US" b="1" dirty="0"/>
              </a:p>
              <a:p>
                <a:endParaRPr lang="en-US" b="1"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1825624"/>
                <a:ext cx="11430000" cy="4711653"/>
              </a:xfrm>
              <a:blipFill>
                <a:blip r:embed="rId3"/>
                <a:stretch>
                  <a:fillRect l="-960" t="-2070" r="-480"/>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32</a:t>
            </a:fld>
            <a:endParaRPr lang="en-US" sz="1800" dirty="0"/>
          </a:p>
        </p:txBody>
      </p:sp>
      <p:pic>
        <p:nvPicPr>
          <p:cNvPr id="7" name="Picture 6"/>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2711452" y="4181450"/>
            <a:ext cx="6177368" cy="967163"/>
          </a:xfrm>
          <a:prstGeom prst="rect">
            <a:avLst/>
          </a:prstGeom>
        </p:spPr>
      </p:pic>
    </p:spTree>
    <p:extLst>
      <p:ext uri="{BB962C8B-B14F-4D97-AF65-F5344CB8AC3E}">
        <p14:creationId xmlns:p14="http://schemas.microsoft.com/office/powerpoint/2010/main" val="436344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Complement of a function: Example</a:t>
            </a:r>
            <a:endParaRPr lang="en-US" sz="3900" dirty="0">
              <a:latin typeface="+mn-lt"/>
            </a:endParaRPr>
          </a:p>
        </p:txBody>
      </p:sp>
      <p:sp>
        <p:nvSpPr>
          <p:cNvPr id="3" name="Content Placeholder 2"/>
          <p:cNvSpPr>
            <a:spLocks noGrp="1"/>
          </p:cNvSpPr>
          <p:nvPr>
            <p:ph idx="1"/>
          </p:nvPr>
        </p:nvSpPr>
        <p:spPr>
          <a:xfrm>
            <a:off x="381000" y="1825624"/>
            <a:ext cx="11430000" cy="4711653"/>
          </a:xfrm>
        </p:spPr>
        <p:txBody>
          <a:bodyPr>
            <a:normAutofit/>
          </a:bodyPr>
          <a:lstStyle/>
          <a:p>
            <a:endParaRPr lang="en-US" b="1" dirty="0"/>
          </a:p>
          <a:p>
            <a:endParaRPr lang="en-US" b="1" dirty="0"/>
          </a:p>
          <a:p>
            <a:endParaRPr lang="en-US" b="1" dirty="0"/>
          </a:p>
          <a:p>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33</a:t>
            </a:fld>
            <a:endParaRPr lang="en-US" sz="1800" dirty="0"/>
          </a:p>
        </p:txBody>
      </p:sp>
      <p:grpSp>
        <p:nvGrpSpPr>
          <p:cNvPr id="11" name="Group 10"/>
          <p:cNvGrpSpPr/>
          <p:nvPr/>
        </p:nvGrpSpPr>
        <p:grpSpPr>
          <a:xfrm>
            <a:off x="1779815" y="2013315"/>
            <a:ext cx="8833756" cy="1024101"/>
            <a:chOff x="2972178" y="4414708"/>
            <a:chExt cx="8942318" cy="1130089"/>
          </a:xfrm>
        </p:grpSpPr>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972179" y="4414708"/>
              <a:ext cx="2595088" cy="524698"/>
            </a:xfrm>
            <a:prstGeom prst="rect">
              <a:avLst/>
            </a:prstGeom>
          </p:spPr>
        </p:pic>
        <p:pic>
          <p:nvPicPr>
            <p:cNvPr id="10" name="Picture 9"/>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972178" y="4938826"/>
              <a:ext cx="8942318" cy="605971"/>
            </a:xfrm>
            <a:prstGeom prst="rect">
              <a:avLst/>
            </a:prstGeom>
          </p:spPr>
        </p:pic>
      </p:grpSp>
      <p:grpSp>
        <p:nvGrpSpPr>
          <p:cNvPr id="16" name="Group 15">
            <a:extLst>
              <a:ext uri="{FF2B5EF4-FFF2-40B4-BE49-F238E27FC236}">
                <a16:creationId xmlns:a16="http://schemas.microsoft.com/office/drawing/2014/main" id="{23ADBE04-F56F-4C15-B3E3-5A9B6AF2FDDB}"/>
              </a:ext>
            </a:extLst>
          </p:cNvPr>
          <p:cNvGrpSpPr/>
          <p:nvPr/>
        </p:nvGrpSpPr>
        <p:grpSpPr>
          <a:xfrm>
            <a:off x="1742288" y="3391511"/>
            <a:ext cx="2601111" cy="1143000"/>
            <a:chOff x="1742288" y="3391511"/>
            <a:chExt cx="2601111" cy="1143000"/>
          </a:xfrm>
        </p:grpSpPr>
        <p:pic>
          <p:nvPicPr>
            <p:cNvPr id="13" name="Picture 12">
              <a:extLst>
                <a:ext uri="{FF2B5EF4-FFF2-40B4-BE49-F238E27FC236}">
                  <a16:creationId xmlns:a16="http://schemas.microsoft.com/office/drawing/2014/main" id="{57B02118-8114-45FE-BADD-1376B00548A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74945" y="3391511"/>
              <a:ext cx="2568454" cy="548640"/>
            </a:xfrm>
            <a:prstGeom prst="rect">
              <a:avLst/>
            </a:prstGeom>
          </p:spPr>
        </p:pic>
        <p:pic>
          <p:nvPicPr>
            <p:cNvPr id="15" name="Picture 14">
              <a:extLst>
                <a:ext uri="{FF2B5EF4-FFF2-40B4-BE49-F238E27FC236}">
                  <a16:creationId xmlns:a16="http://schemas.microsoft.com/office/drawing/2014/main" id="{45EC384D-B8C7-41DB-BEF5-B6D9A66B49C5}"/>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42288" y="3940151"/>
              <a:ext cx="755984" cy="594360"/>
            </a:xfrm>
            <a:prstGeom prst="rect">
              <a:avLst/>
            </a:prstGeom>
          </p:spPr>
        </p:pic>
      </p:grpSp>
      <p:sp>
        <p:nvSpPr>
          <p:cNvPr id="17" name="TextBox 16">
            <a:extLst>
              <a:ext uri="{FF2B5EF4-FFF2-40B4-BE49-F238E27FC236}">
                <a16:creationId xmlns:a16="http://schemas.microsoft.com/office/drawing/2014/main" id="{7197439C-6AA4-4201-9558-CF94C316F883}"/>
              </a:ext>
            </a:extLst>
          </p:cNvPr>
          <p:cNvSpPr txBox="1"/>
          <p:nvPr/>
        </p:nvSpPr>
        <p:spPr>
          <a:xfrm>
            <a:off x="2481936" y="3914025"/>
            <a:ext cx="389850" cy="584775"/>
          </a:xfrm>
          <a:prstGeom prst="rect">
            <a:avLst/>
          </a:prstGeom>
          <a:noFill/>
        </p:spPr>
        <p:txBody>
          <a:bodyPr wrap="none" rtlCol="0">
            <a:spAutoFit/>
          </a:bodyPr>
          <a:lstStyle/>
          <a:p>
            <a:r>
              <a:rPr lang="en-US" sz="3200" b="1" i="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92554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Minterms</a:t>
            </a:r>
            <a:endParaRPr lang="en-US" sz="3900" dirty="0">
              <a:latin typeface="+mn-lt"/>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81000" y="1825624"/>
                <a:ext cx="11430000" cy="4530725"/>
              </a:xfrm>
            </p:spPr>
            <p:txBody>
              <a:bodyPr>
                <a:normAutofit/>
              </a:bodyPr>
              <a:lstStyle/>
              <a:p>
                <a:r>
                  <a:rPr lang="en-US" dirty="0"/>
                  <a:t>Binary Variable (</a:t>
                </a:r>
                <a:r>
                  <a:rPr lang="en-US" b="1" i="1" dirty="0"/>
                  <a:t>e.g., </a:t>
                </a:r>
                <a:r>
                  <a:rPr lang="en-US" b="1" dirty="0">
                    <a:solidFill>
                      <a:srgbClr val="0070C0"/>
                    </a:solidFill>
                  </a:rPr>
                  <a:t>x</a:t>
                </a:r>
                <a:r>
                  <a:rPr lang="en-US" dirty="0"/>
                  <a:t>) </a:t>
                </a:r>
              </a:p>
              <a:p>
                <a:pPr lvl="2"/>
                <a:r>
                  <a:rPr lang="en-US" dirty="0"/>
                  <a:t>Can be appeared in its either </a:t>
                </a:r>
                <a:r>
                  <a:rPr lang="en-US" b="1" dirty="0">
                    <a:solidFill>
                      <a:srgbClr val="00B0F0"/>
                    </a:solidFill>
                  </a:rPr>
                  <a:t>normal (x) </a:t>
                </a:r>
                <a:r>
                  <a:rPr lang="en-US" dirty="0"/>
                  <a:t>or </a:t>
                </a:r>
                <a:r>
                  <a:rPr lang="en-US" b="1" dirty="0">
                    <a:solidFill>
                      <a:srgbClr val="0070C0"/>
                    </a:solidFill>
                  </a:rPr>
                  <a:t>complement (x’) </a:t>
                </a:r>
                <a:r>
                  <a:rPr lang="en-US" b="1" dirty="0"/>
                  <a:t>form</a:t>
                </a:r>
              </a:p>
              <a:p>
                <a:pPr algn="just"/>
                <a:r>
                  <a:rPr lang="en-US" b="1" dirty="0"/>
                  <a:t>Minterm:</a:t>
                </a:r>
              </a:p>
              <a:p>
                <a:pPr lvl="1" algn="just"/>
                <a:r>
                  <a:rPr lang="en-US" dirty="0"/>
                  <a:t>A product (</a:t>
                </a:r>
                <a:r>
                  <a:rPr lang="en-US" b="1" dirty="0"/>
                  <a:t>ANDed term</a:t>
                </a:r>
                <a:r>
                  <a:rPr lang="en-US" dirty="0"/>
                  <a:t>) that contains </a:t>
                </a:r>
                <a:r>
                  <a:rPr lang="en-US" b="1" dirty="0">
                    <a:solidFill>
                      <a:srgbClr val="0070C0"/>
                    </a:solidFill>
                  </a:rPr>
                  <a:t>all variables</a:t>
                </a:r>
                <a:r>
                  <a:rPr lang="en-US" dirty="0"/>
                  <a:t> of a particular function in either complemented (</a:t>
                </a:r>
                <a:r>
                  <a:rPr lang="en-US" dirty="0">
                    <a:solidFill>
                      <a:srgbClr val="FF0000"/>
                    </a:solidFill>
                  </a:rPr>
                  <a:t>0 = absence of any variable</a:t>
                </a:r>
                <a:r>
                  <a:rPr lang="en-US" dirty="0"/>
                  <a:t>) or non-complemented (</a:t>
                </a:r>
                <a:r>
                  <a:rPr lang="en-US" dirty="0">
                    <a:solidFill>
                      <a:srgbClr val="FF0000"/>
                    </a:solidFill>
                  </a:rPr>
                  <a:t>1 = presence of any variable</a:t>
                </a:r>
                <a:r>
                  <a:rPr lang="en-US" dirty="0"/>
                  <a:t>) form. </a:t>
                </a:r>
              </a:p>
              <a:p>
                <a:pPr lvl="1" algn="just"/>
                <a:r>
                  <a:rPr lang="en-US" dirty="0"/>
                  <a:t>Also known as </a:t>
                </a:r>
                <a:r>
                  <a:rPr lang="en-US" b="1" dirty="0"/>
                  <a:t>Standard Product</a:t>
                </a:r>
              </a:p>
              <a:p>
                <a:pPr lvl="1" algn="just"/>
                <a:r>
                  <a:rPr lang="en-US" b="1" i="1" dirty="0"/>
                  <a:t>n </a:t>
                </a:r>
                <a:r>
                  <a:rPr lang="en-US" dirty="0"/>
                  <a:t>variables only can be combined with </a:t>
                </a:r>
                <a:r>
                  <a:rPr lang="en-US" b="1" dirty="0"/>
                  <a:t>AND</a:t>
                </a:r>
                <a:r>
                  <a:rPr lang="en-US" dirty="0"/>
                  <a:t> operator(s) to form </a:t>
                </a:r>
                <a:r>
                  <a:rPr lang="en-US" b="1" i="1" dirty="0"/>
                  <a:t>2</a:t>
                </a:r>
                <a:r>
                  <a:rPr lang="en-US" b="1" i="1" baseline="30000" dirty="0"/>
                  <a:t>n</a:t>
                </a:r>
                <a:r>
                  <a:rPr lang="en-US" b="1" i="1" dirty="0"/>
                  <a:t> </a:t>
                </a:r>
                <a:r>
                  <a:rPr lang="en-US" dirty="0"/>
                  <a:t>minterms</a:t>
                </a:r>
              </a:p>
              <a:p>
                <a:pPr lvl="3" algn="just"/>
                <a:r>
                  <a:rPr lang="en-US" dirty="0"/>
                  <a:t>Those minterms are numbered in </a:t>
                </a:r>
                <a:r>
                  <a:rPr lang="en-US" b="1" dirty="0"/>
                  <a:t>binary </a:t>
                </a:r>
                <a:r>
                  <a:rPr lang="en-US" dirty="0"/>
                  <a:t>between </a:t>
                </a:r>
                <a14:m>
                  <m:oMath xmlns:m="http://schemas.openxmlformats.org/officeDocument/2006/math">
                    <m:r>
                      <a:rPr lang="en-US" b="1" i="1" dirty="0" smtClean="0">
                        <a:latin typeface="Cambria Math" panose="02040503050406030204" pitchFamily="18" charset="0"/>
                      </a:rPr>
                      <m:t>𝟎</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𝟐</m:t>
                    </m:r>
                    <m:r>
                      <a:rPr lang="en-US" b="1" i="1" baseline="30000" dirty="0">
                        <a:latin typeface="Cambria Math" panose="02040503050406030204" pitchFamily="18" charset="0"/>
                      </a:rPr>
                      <m:t>𝒏</m:t>
                    </m:r>
                    <m:r>
                      <a:rPr lang="en-US" b="1" i="1" dirty="0">
                        <a:latin typeface="Cambria Math" panose="02040503050406030204" pitchFamily="18" charset="0"/>
                        <a:ea typeface="Cambria Math" panose="02040503050406030204" pitchFamily="18" charset="0"/>
                      </a:rPr>
                      <m:t>−</m:t>
                    </m:r>
                    <m:r>
                      <a:rPr lang="en-US" b="1" i="1" dirty="0">
                        <a:latin typeface="Cambria Math" panose="02040503050406030204" pitchFamily="18" charset="0"/>
                        <a:ea typeface="Cambria Math" panose="02040503050406030204" pitchFamily="18" charset="0"/>
                      </a:rPr>
                      <m:t>𝟏</m:t>
                    </m:r>
                  </m:oMath>
                </a14:m>
                <a:endParaRPr lang="en-US" dirty="0"/>
              </a:p>
              <a:p>
                <a:pPr lvl="1" algn="just"/>
                <a:r>
                  <a:rPr lang="en-US" dirty="0"/>
                  <a:t>Symbol of minterms – </a:t>
                </a:r>
                <a14:m>
                  <m:oMath xmlns:m="http://schemas.openxmlformats.org/officeDocument/2006/math">
                    <m:r>
                      <a:rPr lang="en-US" b="1" i="1" dirty="0" smtClean="0">
                        <a:latin typeface="Cambria Math" panose="02040503050406030204" pitchFamily="18" charset="0"/>
                      </a:rPr>
                      <m:t>𝒎</m:t>
                    </m:r>
                    <m:r>
                      <a:rPr lang="en-US" b="1" i="1" baseline="-25000" dirty="0" smtClean="0">
                        <a:latin typeface="Cambria Math" panose="02040503050406030204" pitchFamily="18" charset="0"/>
                      </a:rPr>
                      <m:t>𝒋</m:t>
                    </m:r>
                    <m:r>
                      <a:rPr lang="en-US" b="1" i="1" baseline="-25000" dirty="0">
                        <a:latin typeface="Cambria Math" panose="02040503050406030204" pitchFamily="18" charset="0"/>
                      </a:rPr>
                      <m:t> </m:t>
                    </m:r>
                  </m:oMath>
                </a14:m>
                <a:endParaRPr lang="en-US" b="1" i="1" baseline="-25000" dirty="0"/>
              </a:p>
              <a:p>
                <a:pPr lvl="3" algn="just"/>
                <a:r>
                  <a:rPr lang="en-US" dirty="0"/>
                  <a:t>Where </a:t>
                </a:r>
                <a:r>
                  <a:rPr lang="en-US" b="1" i="1" dirty="0"/>
                  <a:t>j </a:t>
                </a:r>
                <a:r>
                  <a:rPr lang="en-US" dirty="0"/>
                  <a:t>= </a:t>
                </a:r>
                <a:r>
                  <a:rPr lang="en-US" b="1" dirty="0">
                    <a:solidFill>
                      <a:srgbClr val="FF0000"/>
                    </a:solidFill>
                  </a:rPr>
                  <a:t>decimal equivalent </a:t>
                </a:r>
                <a:r>
                  <a:rPr lang="en-US" dirty="0"/>
                  <a:t>of those binary representations</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1825624"/>
                <a:ext cx="11430000" cy="4530725"/>
              </a:xfrm>
              <a:blipFill>
                <a:blip r:embed="rId3"/>
                <a:stretch>
                  <a:fillRect l="-960" t="-2151" r="-800"/>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34</a:t>
            </a:fld>
            <a:endParaRPr lang="en-US" sz="1800" dirty="0"/>
          </a:p>
        </p:txBody>
      </p:sp>
    </p:spTree>
    <p:extLst>
      <p:ext uri="{BB962C8B-B14F-4D97-AF65-F5344CB8AC3E}">
        <p14:creationId xmlns:p14="http://schemas.microsoft.com/office/powerpoint/2010/main" val="2040817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Minterms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35</a:t>
            </a:fld>
            <a:endParaRPr lang="en-US" sz="1800" dirty="0"/>
          </a:p>
        </p:txBody>
      </p:sp>
      <p:pic>
        <p:nvPicPr>
          <p:cNvPr id="12" name="Content Placeholder 11"/>
          <p:cNvPicPr>
            <a:picLocks noGrp="1" noChangeAspect="1"/>
          </p:cNvPicPr>
          <p:nvPr>
            <p:ph idx="1"/>
          </p:nvPr>
        </p:nvPicPr>
        <p:blipFill rotWithShape="1">
          <a:blip r:embed="rId4">
            <a:grayscl/>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t="6518" r="41425"/>
          <a:stretch/>
        </p:blipFill>
        <p:spPr>
          <a:xfrm>
            <a:off x="3430675" y="1446068"/>
            <a:ext cx="5330650" cy="3965864"/>
          </a:xfrm>
        </p:spPr>
      </p:pic>
    </p:spTree>
    <p:extLst>
      <p:ext uri="{BB962C8B-B14F-4D97-AF65-F5344CB8AC3E}">
        <p14:creationId xmlns:p14="http://schemas.microsoft.com/office/powerpoint/2010/main" val="1934312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Maxterms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825624"/>
                <a:ext cx="11430000" cy="4530725"/>
              </a:xfrm>
            </p:spPr>
            <p:txBody>
              <a:bodyPr>
                <a:normAutofit lnSpcReduction="10000"/>
              </a:bodyPr>
              <a:lstStyle/>
              <a:p>
                <a:pPr algn="just"/>
                <a:r>
                  <a:rPr lang="en-US" b="1" dirty="0"/>
                  <a:t>Maxterm: </a:t>
                </a:r>
              </a:p>
              <a:p>
                <a:pPr lvl="1" algn="just"/>
                <a:r>
                  <a:rPr lang="en-US" dirty="0"/>
                  <a:t>A sum (</a:t>
                </a:r>
                <a:r>
                  <a:rPr lang="en-US" b="1" dirty="0"/>
                  <a:t>ORed term</a:t>
                </a:r>
                <a:r>
                  <a:rPr lang="en-US" dirty="0"/>
                  <a:t>) that contains all variables of a particular function in either non-complemented (</a:t>
                </a:r>
                <a:r>
                  <a:rPr lang="en-US" dirty="0">
                    <a:solidFill>
                      <a:srgbClr val="FF0000"/>
                    </a:solidFill>
                  </a:rPr>
                  <a:t>0 = absence of any variable</a:t>
                </a:r>
                <a:r>
                  <a:rPr lang="en-US" dirty="0"/>
                  <a:t>) or complemented (</a:t>
                </a:r>
                <a:r>
                  <a:rPr lang="en-US" dirty="0">
                    <a:solidFill>
                      <a:srgbClr val="FF0000"/>
                    </a:solidFill>
                  </a:rPr>
                  <a:t>1 = presence of any variable</a:t>
                </a:r>
                <a:r>
                  <a:rPr lang="en-US" dirty="0"/>
                  <a:t>) form. </a:t>
                </a:r>
              </a:p>
              <a:p>
                <a:pPr lvl="1" algn="just"/>
                <a:r>
                  <a:rPr lang="en-US" dirty="0"/>
                  <a:t>Also known as </a:t>
                </a:r>
                <a:r>
                  <a:rPr lang="en-US" b="1" dirty="0"/>
                  <a:t>Standard Sum</a:t>
                </a:r>
              </a:p>
              <a:p>
                <a:pPr lvl="1" algn="just"/>
                <a:r>
                  <a:rPr lang="en-US" b="1" i="1" dirty="0"/>
                  <a:t>n</a:t>
                </a:r>
                <a:r>
                  <a:rPr lang="en-US" dirty="0"/>
                  <a:t> variables only can be combined with </a:t>
                </a:r>
                <a:r>
                  <a:rPr lang="en-US" b="1" dirty="0"/>
                  <a:t>OR</a:t>
                </a:r>
                <a:r>
                  <a:rPr lang="en-US" dirty="0"/>
                  <a:t> operator(s) to form </a:t>
                </a:r>
                <a:r>
                  <a:rPr lang="en-US" b="1" i="1" dirty="0"/>
                  <a:t>2</a:t>
                </a:r>
                <a:r>
                  <a:rPr lang="en-US" b="1" i="1" baseline="30000" dirty="0"/>
                  <a:t>n</a:t>
                </a:r>
                <a:r>
                  <a:rPr lang="en-US" b="1" i="1" dirty="0"/>
                  <a:t> </a:t>
                </a:r>
                <a:r>
                  <a:rPr lang="en-US" dirty="0"/>
                  <a:t>maxterms. </a:t>
                </a:r>
              </a:p>
              <a:p>
                <a:pPr lvl="3" algn="just"/>
                <a:r>
                  <a:rPr lang="en-US" dirty="0"/>
                  <a:t>Those maxterms are numbered in </a:t>
                </a:r>
                <a:r>
                  <a:rPr lang="en-US" b="1" dirty="0"/>
                  <a:t>binary </a:t>
                </a:r>
                <a:r>
                  <a:rPr lang="en-US" dirty="0"/>
                  <a:t>between </a:t>
                </a:r>
                <a14:m>
                  <m:oMath xmlns:m="http://schemas.openxmlformats.org/officeDocument/2006/math">
                    <m:r>
                      <a:rPr lang="en-US" b="1" i="1" dirty="0" smtClean="0">
                        <a:latin typeface="Cambria Math" panose="02040503050406030204" pitchFamily="18" charset="0"/>
                      </a:rPr>
                      <m:t>𝟎</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𝟐</m:t>
                    </m:r>
                    <m:r>
                      <a:rPr lang="en-US" b="1" i="1" baseline="30000" dirty="0">
                        <a:latin typeface="Cambria Math" panose="02040503050406030204" pitchFamily="18" charset="0"/>
                      </a:rPr>
                      <m:t>𝒏</m:t>
                    </m:r>
                    <m:r>
                      <a:rPr lang="en-US" b="1" i="1" dirty="0">
                        <a:latin typeface="Cambria Math" panose="02040503050406030204" pitchFamily="18" charset="0"/>
                        <a:ea typeface="Cambria Math" panose="02040503050406030204" pitchFamily="18" charset="0"/>
                      </a:rPr>
                      <m:t>−</m:t>
                    </m:r>
                    <m:r>
                      <a:rPr lang="en-US" b="1" i="1" dirty="0">
                        <a:latin typeface="Cambria Math" panose="02040503050406030204" pitchFamily="18" charset="0"/>
                        <a:ea typeface="Cambria Math" panose="02040503050406030204" pitchFamily="18" charset="0"/>
                      </a:rPr>
                      <m:t>𝟏</m:t>
                    </m:r>
                  </m:oMath>
                </a14:m>
                <a:endParaRPr lang="en-US" dirty="0"/>
              </a:p>
              <a:p>
                <a:pPr lvl="1" algn="just"/>
                <a:r>
                  <a:rPr lang="en-US" dirty="0"/>
                  <a:t>Symbol of maxterm – </a:t>
                </a:r>
                <a14:m>
                  <m:oMath xmlns:m="http://schemas.openxmlformats.org/officeDocument/2006/math">
                    <m:r>
                      <a:rPr lang="en-US" b="1" i="1" dirty="0" smtClean="0">
                        <a:latin typeface="Cambria Math" panose="02040503050406030204" pitchFamily="18" charset="0"/>
                      </a:rPr>
                      <m:t>𝑴</m:t>
                    </m:r>
                    <m:r>
                      <a:rPr lang="en-US" b="1" i="1" baseline="-25000" dirty="0" smtClean="0">
                        <a:latin typeface="Cambria Math" panose="02040503050406030204" pitchFamily="18" charset="0"/>
                      </a:rPr>
                      <m:t>𝒋</m:t>
                    </m:r>
                  </m:oMath>
                </a14:m>
                <a:r>
                  <a:rPr lang="en-US" b="1" baseline="-25000" dirty="0"/>
                  <a:t> </a:t>
                </a:r>
                <a:r>
                  <a:rPr lang="en-US" baseline="-25000" dirty="0"/>
                  <a:t> </a:t>
                </a:r>
              </a:p>
              <a:p>
                <a:pPr lvl="3" algn="just"/>
                <a:r>
                  <a:rPr lang="en-US" dirty="0"/>
                  <a:t>Where </a:t>
                </a:r>
                <a:r>
                  <a:rPr lang="en-US" b="1" i="1" dirty="0"/>
                  <a:t>j </a:t>
                </a:r>
                <a:r>
                  <a:rPr lang="en-US" dirty="0"/>
                  <a:t>= </a:t>
                </a:r>
                <a:r>
                  <a:rPr lang="en-US" b="1" dirty="0">
                    <a:solidFill>
                      <a:srgbClr val="FF0000"/>
                    </a:solidFill>
                  </a:rPr>
                  <a:t>decimal equivalent </a:t>
                </a:r>
                <a:r>
                  <a:rPr lang="en-US" dirty="0"/>
                  <a:t>of those binary representations</a:t>
                </a:r>
                <a:endParaRPr lang="en-US" i="1" baseline="-25000" dirty="0">
                  <a:solidFill>
                    <a:srgbClr val="FF0000"/>
                  </a:solidFill>
                </a:endParaRPr>
              </a:p>
              <a:p>
                <a:pPr algn="just"/>
                <a:endParaRPr lang="en-US" b="1" i="1" dirty="0">
                  <a:solidFill>
                    <a:srgbClr val="FF0000"/>
                  </a:solidFill>
                </a:endParaRPr>
              </a:p>
              <a:p>
                <a:pPr algn="ctr"/>
                <a:r>
                  <a:rPr lang="en-US" b="1" i="1" dirty="0">
                    <a:solidFill>
                      <a:srgbClr val="FF0000"/>
                    </a:solidFill>
                  </a:rPr>
                  <a:t>Note: </a:t>
                </a:r>
                <a:r>
                  <a:rPr lang="en-US" i="1" dirty="0">
                    <a:solidFill>
                      <a:schemeClr val="tx1"/>
                    </a:solidFill>
                  </a:rPr>
                  <a:t>Maxterm and its corresponding minterm are complements each other </a:t>
                </a:r>
                <a14:m>
                  <m:oMath xmlns:m="http://schemas.openxmlformats.org/officeDocument/2006/math">
                    <m:r>
                      <a:rPr lang="en-US" i="1" dirty="0" smtClean="0">
                        <a:solidFill>
                          <a:schemeClr val="tx1"/>
                        </a:solidFill>
                        <a:latin typeface="Cambria Math" panose="02040503050406030204" pitchFamily="18" charset="0"/>
                      </a:rPr>
                      <m:t>𝑚</m:t>
                    </m:r>
                    <m:r>
                      <a:rPr lang="en-US" b="0" i="1" baseline="-25000" dirty="0" smtClean="0">
                        <a:solidFill>
                          <a:schemeClr val="tx1"/>
                        </a:solidFill>
                        <a:latin typeface="Cambria Math" panose="02040503050406030204" pitchFamily="18" charset="0"/>
                      </a:rPr>
                      <m:t>𝑗</m:t>
                    </m:r>
                    <m:r>
                      <a:rPr lang="en-US" i="1" dirty="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𝑀</m:t>
                    </m:r>
                    <m:r>
                      <a:rPr lang="en-US" b="0" i="1" baseline="-25000" dirty="0" smtClean="0">
                        <a:solidFill>
                          <a:schemeClr val="tx1"/>
                        </a:solidFill>
                        <a:latin typeface="Cambria Math" panose="02040503050406030204" pitchFamily="18" charset="0"/>
                      </a:rPr>
                      <m:t>𝑗</m:t>
                    </m:r>
                    <m:r>
                      <a:rPr lang="en-US" b="0" i="1" dirty="0" smtClean="0">
                        <a:solidFill>
                          <a:schemeClr val="tx1"/>
                        </a:solidFill>
                        <a:latin typeface="Cambria Math" panose="02040503050406030204" pitchFamily="18" charset="0"/>
                      </a:rPr>
                      <m:t>′</m:t>
                    </m:r>
                  </m:oMath>
                </a14:m>
                <a:endParaRPr lang="en-US" dirty="0">
                  <a:solidFill>
                    <a:schemeClr val="tx1"/>
                  </a:solidFill>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825624"/>
                <a:ext cx="11430000" cy="4530725"/>
              </a:xfrm>
              <a:blipFill>
                <a:blip r:embed="rId3"/>
                <a:stretch>
                  <a:fillRect l="-960" t="-2957" r="-1333"/>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36</a:t>
            </a:fld>
            <a:endParaRPr lang="en-US" sz="1800" dirty="0"/>
          </a:p>
        </p:txBody>
      </p:sp>
    </p:spTree>
    <p:extLst>
      <p:ext uri="{BB962C8B-B14F-4D97-AF65-F5344CB8AC3E}">
        <p14:creationId xmlns:p14="http://schemas.microsoft.com/office/powerpoint/2010/main" val="4065951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Maxterms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37</a:t>
            </a:fld>
            <a:endParaRPr lang="en-US" sz="1800" dirty="0"/>
          </a:p>
        </p:txBody>
      </p:sp>
      <p:pic>
        <p:nvPicPr>
          <p:cNvPr id="15" name="Content Placeholder 9">
            <a:extLst>
              <a:ext uri="{FF2B5EF4-FFF2-40B4-BE49-F238E27FC236}">
                <a16:creationId xmlns:a16="http://schemas.microsoft.com/office/drawing/2014/main" id="{8D947534-85F3-4169-B211-D2017CAECEAF}"/>
              </a:ext>
            </a:extLst>
          </p:cNvPr>
          <p:cNvPicPr>
            <a:picLocks noChangeAspect="1"/>
          </p:cNvPicPr>
          <p:nvPr/>
        </p:nvPicPr>
        <p:blipFill>
          <a:blip r:embed="rId4">
            <a:grayscl/>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185497" y="1512502"/>
            <a:ext cx="5821006" cy="3832997"/>
          </a:xfrm>
          <a:prstGeom prst="rect">
            <a:avLst/>
          </a:prstGeom>
        </p:spPr>
      </p:pic>
    </p:spTree>
    <p:extLst>
      <p:ext uri="{BB962C8B-B14F-4D97-AF65-F5344CB8AC3E}">
        <p14:creationId xmlns:p14="http://schemas.microsoft.com/office/powerpoint/2010/main" val="2046954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Boolean Functions Using Minterms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38</a:t>
            </a:fld>
            <a:endParaRPr lang="en-US" sz="1800" dirty="0"/>
          </a:p>
        </p:txBody>
      </p:sp>
      <p:sp>
        <p:nvSpPr>
          <p:cNvPr id="3" name="Content Placeholder 2"/>
          <p:cNvSpPr>
            <a:spLocks noGrp="1"/>
          </p:cNvSpPr>
          <p:nvPr>
            <p:ph idx="1"/>
          </p:nvPr>
        </p:nvSpPr>
        <p:spPr>
          <a:xfrm>
            <a:off x="381000" y="1825625"/>
            <a:ext cx="11430000" cy="4351338"/>
          </a:xfrm>
        </p:spPr>
        <p:txBody>
          <a:bodyPr/>
          <a:lstStyle/>
          <a:p>
            <a:pPr algn="just"/>
            <a:r>
              <a:rPr lang="en-US" b="1" dirty="0"/>
              <a:t>Expression of a Boolean function</a:t>
            </a:r>
          </a:p>
          <a:p>
            <a:pPr lvl="1" algn="just"/>
            <a:r>
              <a:rPr lang="en-US" dirty="0"/>
              <a:t>From a given </a:t>
            </a:r>
            <a:r>
              <a:rPr lang="en-US" i="1" dirty="0"/>
              <a:t>truth table</a:t>
            </a:r>
            <a:r>
              <a:rPr lang="en-US" dirty="0"/>
              <a:t>, </a:t>
            </a:r>
            <a:r>
              <a:rPr lang="en-US" dirty="0">
                <a:solidFill>
                  <a:srgbClr val="FF0000"/>
                </a:solidFill>
              </a:rPr>
              <a:t>minterms</a:t>
            </a:r>
            <a:r>
              <a:rPr lang="en-US" dirty="0"/>
              <a:t> are produced from those combinations of the variables which </a:t>
            </a:r>
            <a:r>
              <a:rPr lang="en-US" dirty="0">
                <a:solidFill>
                  <a:srgbClr val="FF0000"/>
                </a:solidFill>
              </a:rPr>
              <a:t>produces </a:t>
            </a:r>
            <a:r>
              <a:rPr lang="en-US" b="1" dirty="0">
                <a:solidFill>
                  <a:srgbClr val="0070C0"/>
                </a:solidFill>
              </a:rPr>
              <a:t>1</a:t>
            </a:r>
            <a:r>
              <a:rPr lang="en-US" dirty="0"/>
              <a:t> (</a:t>
            </a:r>
            <a:r>
              <a:rPr lang="en-US" b="1" dirty="0"/>
              <a:t>True</a:t>
            </a:r>
            <a:r>
              <a:rPr lang="en-US" dirty="0"/>
              <a:t>) in the given function and then </a:t>
            </a:r>
            <a:r>
              <a:rPr lang="en-US" b="1" dirty="0"/>
              <a:t>OR</a:t>
            </a:r>
            <a:r>
              <a:rPr lang="en-US" dirty="0"/>
              <a:t> all of those minterms.</a:t>
            </a:r>
          </a:p>
        </p:txBody>
      </p:sp>
      <p:pic>
        <p:nvPicPr>
          <p:cNvPr id="11" name="Picture 10">
            <a:extLst>
              <a:ext uri="{FF2B5EF4-FFF2-40B4-BE49-F238E27FC236}">
                <a16:creationId xmlns:a16="http://schemas.microsoft.com/office/drawing/2014/main" id="{40E820CD-F8DA-4F50-95BC-31799EDB1BF5}"/>
              </a:ext>
            </a:extLst>
          </p:cNvPr>
          <p:cNvPicPr>
            <a:picLocks noChangeAspect="1"/>
          </p:cNvPicPr>
          <p:nvPr/>
        </p:nvPicPr>
        <p:blipFill rotWithShape="1">
          <a:blip r:embed="rId4">
            <a:grayscl/>
            <a:extLst>
              <a:ext uri="{BEBA8EAE-BF5A-486C-A8C5-ECC9F3942E4B}">
                <a14:imgProps xmlns:a14="http://schemas.microsoft.com/office/drawing/2010/main">
                  <a14:imgLayer r:embed="rId5">
                    <a14:imgEffect>
                      <a14:sharpenSoften amount="50000"/>
                    </a14:imgEffect>
                    <a14:imgEffect>
                      <a14:saturation sat="99000"/>
                    </a14:imgEffect>
                    <a14:imgEffect>
                      <a14:brightnessContrast contrast="-40000"/>
                    </a14:imgEffect>
                  </a14:imgLayer>
                </a14:imgProps>
              </a:ext>
              <a:ext uri="{28A0092B-C50C-407E-A947-70E740481C1C}">
                <a14:useLocalDpi xmlns:a14="http://schemas.microsoft.com/office/drawing/2010/main" val="0"/>
              </a:ext>
            </a:extLst>
          </a:blip>
          <a:srcRect l="1918" r="3924"/>
          <a:stretch/>
        </p:blipFill>
        <p:spPr>
          <a:xfrm>
            <a:off x="584552" y="3393091"/>
            <a:ext cx="4754880" cy="3063875"/>
          </a:xfrm>
          <a:prstGeom prst="rect">
            <a:avLst/>
          </a:prstGeom>
        </p:spPr>
      </p:pic>
      <p:pic>
        <p:nvPicPr>
          <p:cNvPr id="9" name="Picture 8"/>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687682" y="4001294"/>
            <a:ext cx="5516217" cy="626237"/>
          </a:xfrm>
          <a:prstGeom prst="rect">
            <a:avLst/>
          </a:prstGeom>
        </p:spPr>
      </p:pic>
      <p:pic>
        <p:nvPicPr>
          <p:cNvPr id="10" name="Picture 9"/>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720530" y="4762468"/>
            <a:ext cx="6438720" cy="617411"/>
          </a:xfrm>
          <a:prstGeom prst="rect">
            <a:avLst/>
          </a:prstGeom>
        </p:spPr>
      </p:pic>
      <p:sp>
        <p:nvSpPr>
          <p:cNvPr id="12" name="TextBox 11">
            <a:extLst>
              <a:ext uri="{FF2B5EF4-FFF2-40B4-BE49-F238E27FC236}">
                <a16:creationId xmlns:a16="http://schemas.microsoft.com/office/drawing/2014/main" id="{5827C00F-40FE-48BA-9F8F-329835922DB0}"/>
              </a:ext>
            </a:extLst>
          </p:cNvPr>
          <p:cNvSpPr txBox="1"/>
          <p:nvPr/>
        </p:nvSpPr>
        <p:spPr>
          <a:xfrm>
            <a:off x="5471160" y="5775960"/>
            <a:ext cx="6617324" cy="369332"/>
          </a:xfrm>
          <a:prstGeom prst="rect">
            <a:avLst/>
          </a:prstGeom>
          <a:noFill/>
        </p:spPr>
        <p:txBody>
          <a:bodyPr wrap="none" rtlCol="0">
            <a:spAutoFit/>
          </a:bodyPr>
          <a:lstStyle/>
          <a:p>
            <a:r>
              <a:rPr lang="en-US" b="1" dirty="0">
                <a:solidFill>
                  <a:srgbClr val="FF0000"/>
                </a:solidFill>
              </a:rPr>
              <a:t>Note:</a:t>
            </a:r>
            <a:r>
              <a:rPr lang="en-US" b="1" dirty="0"/>
              <a:t> Any Boolean function can be expressed as a </a:t>
            </a:r>
            <a:r>
              <a:rPr lang="en-US" b="1" u="sng" dirty="0">
                <a:solidFill>
                  <a:srgbClr val="0070C0"/>
                </a:solidFill>
              </a:rPr>
              <a:t>sum of minterms</a:t>
            </a:r>
          </a:p>
        </p:txBody>
      </p:sp>
    </p:spTree>
    <p:extLst>
      <p:ext uri="{BB962C8B-B14F-4D97-AF65-F5344CB8AC3E}">
        <p14:creationId xmlns:p14="http://schemas.microsoft.com/office/powerpoint/2010/main" val="3887809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322627"/>
            <a:ext cx="10515600" cy="1325563"/>
          </a:xfrm>
        </p:spPr>
        <p:txBody>
          <a:bodyPr>
            <a:normAutofit/>
          </a:bodyPr>
          <a:lstStyle/>
          <a:p>
            <a:r>
              <a:rPr lang="en-US" b="1" i="1" dirty="0">
                <a:solidFill>
                  <a:schemeClr val="accent5">
                    <a:lumMod val="75000"/>
                  </a:schemeClr>
                </a:solidFill>
                <a:latin typeface="+mn-lt"/>
              </a:rPr>
              <a:t>Complement of Boolean Functions </a:t>
            </a:r>
            <a:endParaRPr lang="en-US"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52920" y="0"/>
            <a:ext cx="457200" cy="748483"/>
          </a:xfrm>
          <a:prstGeom prst="rect">
            <a:avLst/>
          </a:prstGeom>
        </p:spPr>
      </p:pic>
      <p:sp>
        <p:nvSpPr>
          <p:cNvPr id="8" name="Date Placeholder 7"/>
          <p:cNvSpPr>
            <a:spLocks noGrp="1"/>
          </p:cNvSpPr>
          <p:nvPr>
            <p:ph type="dt" sz="half" idx="10"/>
          </p:nvPr>
        </p:nvSpPr>
        <p:spPr>
          <a:xfrm>
            <a:off x="716280" y="6313852"/>
            <a:ext cx="2743200" cy="365125"/>
          </a:xfrm>
        </p:spPr>
        <p:txBody>
          <a:bodyPr/>
          <a:lstStyle/>
          <a:p>
            <a:r>
              <a:rPr lang="en-US"/>
              <a:t>Chapter 2</a:t>
            </a:r>
          </a:p>
        </p:txBody>
      </p:sp>
      <p:sp>
        <p:nvSpPr>
          <p:cNvPr id="4" name="Footer Placeholder 3"/>
          <p:cNvSpPr>
            <a:spLocks noGrp="1"/>
          </p:cNvSpPr>
          <p:nvPr>
            <p:ph type="ftr" sz="quarter" idx="11"/>
          </p:nvPr>
        </p:nvSpPr>
        <p:spPr>
          <a:xfrm>
            <a:off x="3916680" y="6313852"/>
            <a:ext cx="4114800" cy="365125"/>
          </a:xfrm>
        </p:spPr>
        <p:txBody>
          <a:bodyPr/>
          <a:lstStyle/>
          <a:p>
            <a:r>
              <a:rPr lang="en-US"/>
              <a:t>CSE 4205: Digital Logic Design</a:t>
            </a:r>
          </a:p>
        </p:txBody>
      </p:sp>
      <p:sp>
        <p:nvSpPr>
          <p:cNvPr id="5" name="Slide Number Placeholder 4"/>
          <p:cNvSpPr>
            <a:spLocks noGrp="1"/>
          </p:cNvSpPr>
          <p:nvPr>
            <p:ph type="sldNum" sz="quarter" idx="12"/>
          </p:nvPr>
        </p:nvSpPr>
        <p:spPr>
          <a:xfrm>
            <a:off x="8488680" y="6313852"/>
            <a:ext cx="2743200" cy="365125"/>
          </a:xfrm>
        </p:spPr>
        <p:txBody>
          <a:bodyPr/>
          <a:lstStyle/>
          <a:p>
            <a:fld id="{2E7865C8-A00C-4A00-A7DE-A98002B852BF}" type="slidenum">
              <a:rPr lang="en-US" sz="1800" smtClean="0"/>
              <a:t>39</a:t>
            </a:fld>
            <a:endParaRPr lang="en-US" sz="1800" dirty="0"/>
          </a:p>
        </p:txBody>
      </p:sp>
      <p:sp>
        <p:nvSpPr>
          <p:cNvPr id="3" name="Content Placeholder 2"/>
          <p:cNvSpPr>
            <a:spLocks noGrp="1"/>
          </p:cNvSpPr>
          <p:nvPr>
            <p:ph idx="1"/>
          </p:nvPr>
        </p:nvSpPr>
        <p:spPr>
          <a:xfrm>
            <a:off x="716280" y="1783127"/>
            <a:ext cx="10515600" cy="4351338"/>
          </a:xfrm>
        </p:spPr>
        <p:txBody>
          <a:bodyPr/>
          <a:lstStyle/>
          <a:p>
            <a:r>
              <a:rPr lang="en-US" b="1" dirty="0"/>
              <a:t>Procedure using truth table: </a:t>
            </a:r>
          </a:p>
          <a:p>
            <a:pPr lvl="1"/>
            <a:r>
              <a:rPr lang="en-US" dirty="0"/>
              <a:t>Taking each combinations of variables (</a:t>
            </a:r>
            <a:r>
              <a:rPr lang="en-US" b="1" dirty="0">
                <a:solidFill>
                  <a:srgbClr val="0070C0"/>
                </a:solidFill>
              </a:rPr>
              <a:t>minterms</a:t>
            </a:r>
            <a:r>
              <a:rPr lang="en-US" dirty="0"/>
              <a:t>) that produces 0 (</a:t>
            </a:r>
            <a:r>
              <a:rPr lang="en-US" b="1" dirty="0"/>
              <a:t>False</a:t>
            </a:r>
            <a:r>
              <a:rPr lang="en-US" dirty="0"/>
              <a:t>) in the function and then OR all of those terms. </a:t>
            </a:r>
          </a:p>
          <a:p>
            <a:pPr lvl="2"/>
            <a:r>
              <a:rPr lang="en-US" b="1" i="1" dirty="0"/>
              <a:t>i.e. </a:t>
            </a:r>
            <a:r>
              <a:rPr lang="en-US" dirty="0"/>
              <a:t>Considering those minterms which are 0 in the truth table</a:t>
            </a:r>
          </a:p>
          <a:p>
            <a:pPr lvl="2"/>
            <a:endParaRPr lang="en-US" dirty="0"/>
          </a:p>
          <a:p>
            <a:endParaRPr lang="en-US" dirty="0"/>
          </a:p>
          <a:p>
            <a:endParaRPr lang="en-US" dirty="0"/>
          </a:p>
        </p:txBody>
      </p:sp>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913120" y="4008587"/>
            <a:ext cx="6097000" cy="595948"/>
          </a:xfrm>
          <a:prstGeom prst="rect">
            <a:avLst/>
          </a:prstGeom>
        </p:spPr>
      </p:pic>
      <p:sp>
        <p:nvSpPr>
          <p:cNvPr id="12" name="TextBox 11"/>
          <p:cNvSpPr txBox="1"/>
          <p:nvPr/>
        </p:nvSpPr>
        <p:spPr>
          <a:xfrm>
            <a:off x="5913120" y="4604535"/>
            <a:ext cx="2533149" cy="523220"/>
          </a:xfrm>
          <a:prstGeom prst="rect">
            <a:avLst/>
          </a:prstGeom>
          <a:noFill/>
        </p:spPr>
        <p:txBody>
          <a:bodyPr wrap="square" rtlCol="0">
            <a:spAutoFit/>
          </a:bodyPr>
          <a:lstStyle/>
          <a:p>
            <a:r>
              <a:rPr lang="en-US" sz="2800" i="1" dirty="0"/>
              <a:t>f</a:t>
            </a:r>
            <a:r>
              <a:rPr lang="en-US" sz="2800" i="1" baseline="-25000" dirty="0"/>
              <a:t>2</a:t>
            </a:r>
            <a:r>
              <a:rPr lang="en-US" sz="2800" i="1" dirty="0"/>
              <a:t>’ = </a:t>
            </a:r>
            <a:r>
              <a:rPr lang="en-US" sz="2800" i="1" dirty="0">
                <a:solidFill>
                  <a:srgbClr val="FF0000"/>
                </a:solidFill>
              </a:rPr>
              <a:t>?</a:t>
            </a:r>
          </a:p>
        </p:txBody>
      </p:sp>
      <p:pic>
        <p:nvPicPr>
          <p:cNvPr id="7" name="Picture 6">
            <a:extLst>
              <a:ext uri="{FF2B5EF4-FFF2-40B4-BE49-F238E27FC236}">
                <a16:creationId xmlns:a16="http://schemas.microsoft.com/office/drawing/2014/main" id="{842CDB82-3373-4CC8-B7C0-33A5A91E657A}"/>
              </a:ext>
            </a:extLst>
          </p:cNvPr>
          <p:cNvPicPr>
            <a:picLocks noChangeAspect="1"/>
          </p:cNvPicPr>
          <p:nvPr/>
        </p:nvPicPr>
        <p:blipFill rotWithShape="1">
          <a:blip r:embed="rId6">
            <a:grayscl/>
            <a:extLst>
              <a:ext uri="{BEBA8EAE-BF5A-486C-A8C5-ECC9F3942E4B}">
                <a14:imgProps xmlns:a14="http://schemas.microsoft.com/office/drawing/2010/main">
                  <a14:imgLayer r:embed="rId7">
                    <a14:imgEffect>
                      <a14:sharpenSoften amount="50000"/>
                    </a14:imgEffect>
                    <a14:imgEffect>
                      <a14:saturation sat="99000"/>
                    </a14:imgEffect>
                    <a14:imgEffect>
                      <a14:brightnessContrast contrast="-40000"/>
                    </a14:imgEffect>
                  </a14:imgLayer>
                </a14:imgProps>
              </a:ext>
              <a:ext uri="{28A0092B-C50C-407E-A947-70E740481C1C}">
                <a14:useLocalDpi xmlns:a14="http://schemas.microsoft.com/office/drawing/2010/main" val="0"/>
              </a:ext>
            </a:extLst>
          </a:blip>
          <a:srcRect l="1918" r="3924"/>
          <a:stretch/>
        </p:blipFill>
        <p:spPr>
          <a:xfrm>
            <a:off x="716280" y="3466659"/>
            <a:ext cx="4674954" cy="3212318"/>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0" name="Ink 9">
                <a:extLst>
                  <a:ext uri="{FF2B5EF4-FFF2-40B4-BE49-F238E27FC236}">
                    <a16:creationId xmlns:a16="http://schemas.microsoft.com/office/drawing/2014/main" id="{1E1CEE88-8E9A-4376-AC2B-AE379CFA61AF}"/>
                  </a:ext>
                </a:extLst>
              </p14:cNvPr>
              <p14:cNvContentPartPr/>
              <p14:nvPr/>
            </p14:nvContentPartPr>
            <p14:xfrm>
              <a:off x="9397800" y="4182333"/>
              <a:ext cx="360" cy="7200"/>
            </p14:xfrm>
          </p:contentPart>
        </mc:Choice>
        <mc:Fallback xmlns="">
          <p:pic>
            <p:nvPicPr>
              <p:cNvPr id="10" name="Ink 9">
                <a:extLst>
                  <a:ext uri="{FF2B5EF4-FFF2-40B4-BE49-F238E27FC236}">
                    <a16:creationId xmlns:a16="http://schemas.microsoft.com/office/drawing/2014/main" id="{1E1CEE88-8E9A-4376-AC2B-AE379CFA61AF}"/>
                  </a:ext>
                </a:extLst>
              </p:cNvPr>
              <p:cNvPicPr/>
              <p:nvPr/>
            </p:nvPicPr>
            <p:blipFill>
              <a:blip r:embed="rId9"/>
              <a:stretch>
                <a:fillRect/>
              </a:stretch>
            </p:blipFill>
            <p:spPr>
              <a:xfrm>
                <a:off x="9389160" y="4173333"/>
                <a:ext cx="18000" cy="24840"/>
              </a:xfrm>
              <a:prstGeom prst="rect">
                <a:avLst/>
              </a:prstGeom>
            </p:spPr>
          </p:pic>
        </mc:Fallback>
      </mc:AlternateContent>
      <p:grpSp>
        <p:nvGrpSpPr>
          <p:cNvPr id="16" name="Group 15">
            <a:extLst>
              <a:ext uri="{FF2B5EF4-FFF2-40B4-BE49-F238E27FC236}">
                <a16:creationId xmlns:a16="http://schemas.microsoft.com/office/drawing/2014/main" id="{25BB193E-97EF-4451-860D-DC0729380C94}"/>
              </a:ext>
            </a:extLst>
          </p:cNvPr>
          <p:cNvGrpSpPr/>
          <p:nvPr/>
        </p:nvGrpSpPr>
        <p:grpSpPr>
          <a:xfrm>
            <a:off x="9482400" y="4351173"/>
            <a:ext cx="360" cy="360"/>
            <a:chOff x="9482400" y="435117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1" name="Ink 10">
                  <a:extLst>
                    <a:ext uri="{FF2B5EF4-FFF2-40B4-BE49-F238E27FC236}">
                      <a16:creationId xmlns:a16="http://schemas.microsoft.com/office/drawing/2014/main" id="{BF237C68-A7E8-4BB6-8717-A0F475D0352E}"/>
                    </a:ext>
                  </a:extLst>
                </p14:cNvPr>
                <p14:cNvContentPartPr/>
                <p14:nvPr/>
              </p14:nvContentPartPr>
              <p14:xfrm>
                <a:off x="9482400" y="4351173"/>
                <a:ext cx="360" cy="360"/>
              </p14:xfrm>
            </p:contentPart>
          </mc:Choice>
          <mc:Fallback xmlns="">
            <p:pic>
              <p:nvPicPr>
                <p:cNvPr id="11" name="Ink 10">
                  <a:extLst>
                    <a:ext uri="{FF2B5EF4-FFF2-40B4-BE49-F238E27FC236}">
                      <a16:creationId xmlns:a16="http://schemas.microsoft.com/office/drawing/2014/main" id="{BF237C68-A7E8-4BB6-8717-A0F475D0352E}"/>
                    </a:ext>
                  </a:extLst>
                </p:cNvPr>
                <p:cNvPicPr/>
                <p:nvPr/>
              </p:nvPicPr>
              <p:blipFill>
                <a:blip r:embed="rId11"/>
                <a:stretch>
                  <a:fillRect/>
                </a:stretch>
              </p:blipFill>
              <p:spPr>
                <a:xfrm>
                  <a:off x="9473400" y="43425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3" name="Ink 12">
                  <a:extLst>
                    <a:ext uri="{FF2B5EF4-FFF2-40B4-BE49-F238E27FC236}">
                      <a16:creationId xmlns:a16="http://schemas.microsoft.com/office/drawing/2014/main" id="{EE4B1645-0B6E-4C10-938F-1C12BF19620E}"/>
                    </a:ext>
                  </a:extLst>
                </p14:cNvPr>
                <p14:cNvContentPartPr/>
                <p14:nvPr/>
              </p14:nvContentPartPr>
              <p14:xfrm>
                <a:off x="9482400" y="4351173"/>
                <a:ext cx="360" cy="360"/>
              </p14:xfrm>
            </p:contentPart>
          </mc:Choice>
          <mc:Fallback xmlns="">
            <p:pic>
              <p:nvPicPr>
                <p:cNvPr id="13" name="Ink 12">
                  <a:extLst>
                    <a:ext uri="{FF2B5EF4-FFF2-40B4-BE49-F238E27FC236}">
                      <a16:creationId xmlns:a16="http://schemas.microsoft.com/office/drawing/2014/main" id="{EE4B1645-0B6E-4C10-938F-1C12BF19620E}"/>
                    </a:ext>
                  </a:extLst>
                </p:cNvPr>
                <p:cNvPicPr/>
                <p:nvPr/>
              </p:nvPicPr>
              <p:blipFill>
                <a:blip r:embed="rId13"/>
                <a:stretch>
                  <a:fillRect/>
                </a:stretch>
              </p:blipFill>
              <p:spPr>
                <a:xfrm>
                  <a:off x="9473400" y="43425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4" name="Ink 13">
                  <a:extLst>
                    <a:ext uri="{FF2B5EF4-FFF2-40B4-BE49-F238E27FC236}">
                      <a16:creationId xmlns:a16="http://schemas.microsoft.com/office/drawing/2014/main" id="{B10613DD-BA91-4BF3-8E3E-0CE46A24EB6E}"/>
                    </a:ext>
                  </a:extLst>
                </p14:cNvPr>
                <p14:cNvContentPartPr/>
                <p14:nvPr/>
              </p14:nvContentPartPr>
              <p14:xfrm>
                <a:off x="9482400" y="4351173"/>
                <a:ext cx="360" cy="360"/>
              </p14:xfrm>
            </p:contentPart>
          </mc:Choice>
          <mc:Fallback xmlns="">
            <p:pic>
              <p:nvPicPr>
                <p:cNvPr id="14" name="Ink 13">
                  <a:extLst>
                    <a:ext uri="{FF2B5EF4-FFF2-40B4-BE49-F238E27FC236}">
                      <a16:creationId xmlns:a16="http://schemas.microsoft.com/office/drawing/2014/main" id="{B10613DD-BA91-4BF3-8E3E-0CE46A24EB6E}"/>
                    </a:ext>
                  </a:extLst>
                </p:cNvPr>
                <p:cNvPicPr/>
                <p:nvPr/>
              </p:nvPicPr>
              <p:blipFill>
                <a:blip r:embed="rId15"/>
                <a:stretch>
                  <a:fillRect/>
                </a:stretch>
              </p:blipFill>
              <p:spPr>
                <a:xfrm>
                  <a:off x="9473400" y="43425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5" name="Ink 14">
                  <a:extLst>
                    <a:ext uri="{FF2B5EF4-FFF2-40B4-BE49-F238E27FC236}">
                      <a16:creationId xmlns:a16="http://schemas.microsoft.com/office/drawing/2014/main" id="{71C61E80-3E3D-465F-A68C-5B49A6A95CC1}"/>
                    </a:ext>
                  </a:extLst>
                </p14:cNvPr>
                <p14:cNvContentPartPr/>
                <p14:nvPr/>
              </p14:nvContentPartPr>
              <p14:xfrm>
                <a:off x="9482400" y="4351173"/>
                <a:ext cx="360" cy="360"/>
              </p14:xfrm>
            </p:contentPart>
          </mc:Choice>
          <mc:Fallback xmlns="">
            <p:pic>
              <p:nvPicPr>
                <p:cNvPr id="15" name="Ink 14">
                  <a:extLst>
                    <a:ext uri="{FF2B5EF4-FFF2-40B4-BE49-F238E27FC236}">
                      <a16:creationId xmlns:a16="http://schemas.microsoft.com/office/drawing/2014/main" id="{71C61E80-3E3D-465F-A68C-5B49A6A95CC1}"/>
                    </a:ext>
                  </a:extLst>
                </p:cNvPr>
                <p:cNvPicPr/>
                <p:nvPr/>
              </p:nvPicPr>
              <p:blipFill>
                <a:blip r:embed="rId17"/>
                <a:stretch>
                  <a:fillRect/>
                </a:stretch>
              </p:blipFill>
              <p:spPr>
                <a:xfrm>
                  <a:off x="9473400" y="4342533"/>
                  <a:ext cx="18000" cy="18000"/>
                </a:xfrm>
                <a:prstGeom prst="rect">
                  <a:avLst/>
                </a:prstGeom>
              </p:spPr>
            </p:pic>
          </mc:Fallback>
        </mc:AlternateContent>
      </p:grpSp>
      <p:grpSp>
        <p:nvGrpSpPr>
          <p:cNvPr id="20" name="Group 19">
            <a:extLst>
              <a:ext uri="{FF2B5EF4-FFF2-40B4-BE49-F238E27FC236}">
                <a16:creationId xmlns:a16="http://schemas.microsoft.com/office/drawing/2014/main" id="{C97EC9A7-4335-4DF1-8A27-B7BB10371AA3}"/>
              </a:ext>
            </a:extLst>
          </p:cNvPr>
          <p:cNvGrpSpPr/>
          <p:nvPr/>
        </p:nvGrpSpPr>
        <p:grpSpPr>
          <a:xfrm>
            <a:off x="10084680" y="4453053"/>
            <a:ext cx="7200" cy="360"/>
            <a:chOff x="10084680" y="4453053"/>
            <a:chExt cx="7200" cy="360"/>
          </a:xfrm>
        </p:grpSpPr>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7" name="Ink 16">
                  <a:extLst>
                    <a:ext uri="{FF2B5EF4-FFF2-40B4-BE49-F238E27FC236}">
                      <a16:creationId xmlns:a16="http://schemas.microsoft.com/office/drawing/2014/main" id="{D53925CB-9FE0-487C-8204-3690C1AEFB5C}"/>
                    </a:ext>
                  </a:extLst>
                </p14:cNvPr>
                <p14:cNvContentPartPr/>
                <p14:nvPr/>
              </p14:nvContentPartPr>
              <p14:xfrm>
                <a:off x="10091520" y="4453053"/>
                <a:ext cx="360" cy="360"/>
              </p14:xfrm>
            </p:contentPart>
          </mc:Choice>
          <mc:Fallback xmlns="">
            <p:pic>
              <p:nvPicPr>
                <p:cNvPr id="17" name="Ink 16">
                  <a:extLst>
                    <a:ext uri="{FF2B5EF4-FFF2-40B4-BE49-F238E27FC236}">
                      <a16:creationId xmlns:a16="http://schemas.microsoft.com/office/drawing/2014/main" id="{D53925CB-9FE0-487C-8204-3690C1AEFB5C}"/>
                    </a:ext>
                  </a:extLst>
                </p:cNvPr>
                <p:cNvPicPr/>
                <p:nvPr/>
              </p:nvPicPr>
              <p:blipFill>
                <a:blip r:embed="rId19"/>
                <a:stretch>
                  <a:fillRect/>
                </a:stretch>
              </p:blipFill>
              <p:spPr>
                <a:xfrm>
                  <a:off x="10082880" y="444405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18" name="Ink 17">
                  <a:extLst>
                    <a:ext uri="{FF2B5EF4-FFF2-40B4-BE49-F238E27FC236}">
                      <a16:creationId xmlns:a16="http://schemas.microsoft.com/office/drawing/2014/main" id="{E35D6C21-158B-4336-A8F8-B52102006C7C}"/>
                    </a:ext>
                  </a:extLst>
                </p14:cNvPr>
                <p14:cNvContentPartPr/>
                <p14:nvPr/>
              </p14:nvContentPartPr>
              <p14:xfrm>
                <a:off x="10091520" y="4453053"/>
                <a:ext cx="360" cy="360"/>
              </p14:xfrm>
            </p:contentPart>
          </mc:Choice>
          <mc:Fallback xmlns="">
            <p:pic>
              <p:nvPicPr>
                <p:cNvPr id="18" name="Ink 17">
                  <a:extLst>
                    <a:ext uri="{FF2B5EF4-FFF2-40B4-BE49-F238E27FC236}">
                      <a16:creationId xmlns:a16="http://schemas.microsoft.com/office/drawing/2014/main" id="{E35D6C21-158B-4336-A8F8-B52102006C7C}"/>
                    </a:ext>
                  </a:extLst>
                </p:cNvPr>
                <p:cNvPicPr/>
                <p:nvPr/>
              </p:nvPicPr>
              <p:blipFill>
                <a:blip r:embed="rId21"/>
                <a:stretch>
                  <a:fillRect/>
                </a:stretch>
              </p:blipFill>
              <p:spPr>
                <a:xfrm>
                  <a:off x="10082880" y="444405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9" name="Ink 18">
                  <a:extLst>
                    <a:ext uri="{FF2B5EF4-FFF2-40B4-BE49-F238E27FC236}">
                      <a16:creationId xmlns:a16="http://schemas.microsoft.com/office/drawing/2014/main" id="{2F54E650-DF43-4FAA-AB83-36EECEC60C61}"/>
                    </a:ext>
                  </a:extLst>
                </p14:cNvPr>
                <p14:cNvContentPartPr/>
                <p14:nvPr/>
              </p14:nvContentPartPr>
              <p14:xfrm>
                <a:off x="10084680" y="4453053"/>
                <a:ext cx="7200" cy="360"/>
              </p14:xfrm>
            </p:contentPart>
          </mc:Choice>
          <mc:Fallback xmlns="">
            <p:pic>
              <p:nvPicPr>
                <p:cNvPr id="19" name="Ink 18">
                  <a:extLst>
                    <a:ext uri="{FF2B5EF4-FFF2-40B4-BE49-F238E27FC236}">
                      <a16:creationId xmlns:a16="http://schemas.microsoft.com/office/drawing/2014/main" id="{2F54E650-DF43-4FAA-AB83-36EECEC60C61}"/>
                    </a:ext>
                  </a:extLst>
                </p:cNvPr>
                <p:cNvPicPr/>
                <p:nvPr/>
              </p:nvPicPr>
              <p:blipFill>
                <a:blip r:embed="rId23"/>
                <a:stretch>
                  <a:fillRect/>
                </a:stretch>
              </p:blipFill>
              <p:spPr>
                <a:xfrm>
                  <a:off x="10076040" y="4444053"/>
                  <a:ext cx="24840" cy="18000"/>
                </a:xfrm>
                <a:prstGeom prst="rect">
                  <a:avLst/>
                </a:prstGeom>
              </p:spPr>
            </p:pic>
          </mc:Fallback>
        </mc:AlternateContent>
      </p:grpSp>
      <p:grpSp>
        <p:nvGrpSpPr>
          <p:cNvPr id="26" name="Group 25">
            <a:extLst>
              <a:ext uri="{FF2B5EF4-FFF2-40B4-BE49-F238E27FC236}">
                <a16:creationId xmlns:a16="http://schemas.microsoft.com/office/drawing/2014/main" id="{A7B5EFAE-9896-48BB-B7D9-083722217BE5}"/>
              </a:ext>
            </a:extLst>
          </p:cNvPr>
          <p:cNvGrpSpPr/>
          <p:nvPr/>
        </p:nvGrpSpPr>
        <p:grpSpPr>
          <a:xfrm>
            <a:off x="9566640" y="4182333"/>
            <a:ext cx="17640" cy="16920"/>
            <a:chOff x="9566640" y="4182333"/>
            <a:chExt cx="17640" cy="16920"/>
          </a:xfrm>
        </p:grpSpPr>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1" name="Ink 20">
                  <a:extLst>
                    <a:ext uri="{FF2B5EF4-FFF2-40B4-BE49-F238E27FC236}">
                      <a16:creationId xmlns:a16="http://schemas.microsoft.com/office/drawing/2014/main" id="{4141E014-2FBF-411B-8A03-F921912F1FFC}"/>
                    </a:ext>
                  </a:extLst>
                </p14:cNvPr>
                <p14:cNvContentPartPr/>
                <p14:nvPr/>
              </p14:nvContentPartPr>
              <p14:xfrm>
                <a:off x="9577080" y="4182333"/>
                <a:ext cx="7200" cy="10440"/>
              </p14:xfrm>
            </p:contentPart>
          </mc:Choice>
          <mc:Fallback xmlns="">
            <p:pic>
              <p:nvPicPr>
                <p:cNvPr id="21" name="Ink 20">
                  <a:extLst>
                    <a:ext uri="{FF2B5EF4-FFF2-40B4-BE49-F238E27FC236}">
                      <a16:creationId xmlns:a16="http://schemas.microsoft.com/office/drawing/2014/main" id="{4141E014-2FBF-411B-8A03-F921912F1FFC}"/>
                    </a:ext>
                  </a:extLst>
                </p:cNvPr>
                <p:cNvPicPr/>
                <p:nvPr/>
              </p:nvPicPr>
              <p:blipFill>
                <a:blip r:embed="rId25"/>
                <a:stretch>
                  <a:fillRect/>
                </a:stretch>
              </p:blipFill>
              <p:spPr>
                <a:xfrm>
                  <a:off x="9568080" y="4173333"/>
                  <a:ext cx="24840" cy="2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22" name="Ink 21">
                  <a:extLst>
                    <a:ext uri="{FF2B5EF4-FFF2-40B4-BE49-F238E27FC236}">
                      <a16:creationId xmlns:a16="http://schemas.microsoft.com/office/drawing/2014/main" id="{BA421E33-D48D-4A92-B6EC-3AEDB96D5DE6}"/>
                    </a:ext>
                  </a:extLst>
                </p14:cNvPr>
                <p14:cNvContentPartPr/>
                <p14:nvPr/>
              </p14:nvContentPartPr>
              <p14:xfrm>
                <a:off x="9566640" y="4198893"/>
                <a:ext cx="360" cy="360"/>
              </p14:xfrm>
            </p:contentPart>
          </mc:Choice>
          <mc:Fallback xmlns="">
            <p:pic>
              <p:nvPicPr>
                <p:cNvPr id="22" name="Ink 21">
                  <a:extLst>
                    <a:ext uri="{FF2B5EF4-FFF2-40B4-BE49-F238E27FC236}">
                      <a16:creationId xmlns:a16="http://schemas.microsoft.com/office/drawing/2014/main" id="{BA421E33-D48D-4A92-B6EC-3AEDB96D5DE6}"/>
                    </a:ext>
                  </a:extLst>
                </p:cNvPr>
                <p:cNvPicPr/>
                <p:nvPr/>
              </p:nvPicPr>
              <p:blipFill>
                <a:blip r:embed="rId27"/>
                <a:stretch>
                  <a:fillRect/>
                </a:stretch>
              </p:blipFill>
              <p:spPr>
                <a:xfrm>
                  <a:off x="9558000" y="4189893"/>
                  <a:ext cx="18000" cy="18000"/>
                </a:xfrm>
                <a:prstGeom prst="rect">
                  <a:avLst/>
                </a:prstGeom>
              </p:spPr>
            </p:pic>
          </mc:Fallback>
        </mc:AlternateContent>
      </p:grpSp>
      <p:grpSp>
        <p:nvGrpSpPr>
          <p:cNvPr id="30" name="Group 29">
            <a:extLst>
              <a:ext uri="{FF2B5EF4-FFF2-40B4-BE49-F238E27FC236}">
                <a16:creationId xmlns:a16="http://schemas.microsoft.com/office/drawing/2014/main" id="{567CC5C6-1D3C-490D-8F4A-25FF4B5B9010}"/>
              </a:ext>
            </a:extLst>
          </p:cNvPr>
          <p:cNvGrpSpPr/>
          <p:nvPr/>
        </p:nvGrpSpPr>
        <p:grpSpPr>
          <a:xfrm>
            <a:off x="8374680" y="2200893"/>
            <a:ext cx="57600" cy="34200"/>
            <a:chOff x="8374680" y="2200893"/>
            <a:chExt cx="57600" cy="34200"/>
          </a:xfrm>
        </p:grpSpPr>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23" name="Ink 22">
                  <a:extLst>
                    <a:ext uri="{FF2B5EF4-FFF2-40B4-BE49-F238E27FC236}">
                      <a16:creationId xmlns:a16="http://schemas.microsoft.com/office/drawing/2014/main" id="{139A5747-A6BA-417E-A5FA-E41DB803AB74}"/>
                    </a:ext>
                  </a:extLst>
                </p14:cNvPr>
                <p14:cNvContentPartPr/>
                <p14:nvPr/>
              </p14:nvContentPartPr>
              <p14:xfrm>
                <a:off x="8415000" y="2200893"/>
                <a:ext cx="17280" cy="7200"/>
              </p14:xfrm>
            </p:contentPart>
          </mc:Choice>
          <mc:Fallback xmlns="">
            <p:pic>
              <p:nvPicPr>
                <p:cNvPr id="23" name="Ink 22">
                  <a:extLst>
                    <a:ext uri="{FF2B5EF4-FFF2-40B4-BE49-F238E27FC236}">
                      <a16:creationId xmlns:a16="http://schemas.microsoft.com/office/drawing/2014/main" id="{139A5747-A6BA-417E-A5FA-E41DB803AB74}"/>
                    </a:ext>
                  </a:extLst>
                </p:cNvPr>
                <p:cNvPicPr/>
                <p:nvPr/>
              </p:nvPicPr>
              <p:blipFill>
                <a:blip r:embed="rId29"/>
                <a:stretch>
                  <a:fillRect/>
                </a:stretch>
              </p:blipFill>
              <p:spPr>
                <a:xfrm>
                  <a:off x="8406360" y="2191893"/>
                  <a:ext cx="34920" cy="24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24" name="Ink 23">
                  <a:extLst>
                    <a:ext uri="{FF2B5EF4-FFF2-40B4-BE49-F238E27FC236}">
                      <a16:creationId xmlns:a16="http://schemas.microsoft.com/office/drawing/2014/main" id="{32348FEC-6439-41B9-8D05-09D4F270A7D0}"/>
                    </a:ext>
                  </a:extLst>
                </p14:cNvPr>
                <p14:cNvContentPartPr/>
                <p14:nvPr/>
              </p14:nvContentPartPr>
              <p14:xfrm>
                <a:off x="8388360" y="2218173"/>
                <a:ext cx="10800" cy="7200"/>
              </p14:xfrm>
            </p:contentPart>
          </mc:Choice>
          <mc:Fallback xmlns="">
            <p:pic>
              <p:nvPicPr>
                <p:cNvPr id="24" name="Ink 23">
                  <a:extLst>
                    <a:ext uri="{FF2B5EF4-FFF2-40B4-BE49-F238E27FC236}">
                      <a16:creationId xmlns:a16="http://schemas.microsoft.com/office/drawing/2014/main" id="{32348FEC-6439-41B9-8D05-09D4F270A7D0}"/>
                    </a:ext>
                  </a:extLst>
                </p:cNvPr>
                <p:cNvPicPr/>
                <p:nvPr/>
              </p:nvPicPr>
              <p:blipFill>
                <a:blip r:embed="rId31"/>
                <a:stretch>
                  <a:fillRect/>
                </a:stretch>
              </p:blipFill>
              <p:spPr>
                <a:xfrm>
                  <a:off x="8379360" y="2209173"/>
                  <a:ext cx="28440" cy="24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27" name="Ink 26">
                  <a:extLst>
                    <a:ext uri="{FF2B5EF4-FFF2-40B4-BE49-F238E27FC236}">
                      <a16:creationId xmlns:a16="http://schemas.microsoft.com/office/drawing/2014/main" id="{B66CBD80-63CA-4827-89AC-1C0E73020E8A}"/>
                    </a:ext>
                  </a:extLst>
                </p14:cNvPr>
                <p14:cNvContentPartPr/>
                <p14:nvPr/>
              </p14:nvContentPartPr>
              <p14:xfrm>
                <a:off x="8381520" y="2234733"/>
                <a:ext cx="360" cy="360"/>
              </p14:xfrm>
            </p:contentPart>
          </mc:Choice>
          <mc:Fallback xmlns="">
            <p:pic>
              <p:nvPicPr>
                <p:cNvPr id="27" name="Ink 26">
                  <a:extLst>
                    <a:ext uri="{FF2B5EF4-FFF2-40B4-BE49-F238E27FC236}">
                      <a16:creationId xmlns:a16="http://schemas.microsoft.com/office/drawing/2014/main" id="{B66CBD80-63CA-4827-89AC-1C0E73020E8A}"/>
                    </a:ext>
                  </a:extLst>
                </p:cNvPr>
                <p:cNvPicPr/>
                <p:nvPr/>
              </p:nvPicPr>
              <p:blipFill>
                <a:blip r:embed="rId33"/>
                <a:stretch>
                  <a:fillRect/>
                </a:stretch>
              </p:blipFill>
              <p:spPr>
                <a:xfrm>
                  <a:off x="8372520" y="22257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28" name="Ink 27">
                  <a:extLst>
                    <a:ext uri="{FF2B5EF4-FFF2-40B4-BE49-F238E27FC236}">
                      <a16:creationId xmlns:a16="http://schemas.microsoft.com/office/drawing/2014/main" id="{73A88D99-849C-4C62-8A08-F3FBC51FBC4C}"/>
                    </a:ext>
                  </a:extLst>
                </p14:cNvPr>
                <p14:cNvContentPartPr/>
                <p14:nvPr/>
              </p14:nvContentPartPr>
              <p14:xfrm>
                <a:off x="8374680" y="2234733"/>
                <a:ext cx="7200" cy="360"/>
              </p14:xfrm>
            </p:contentPart>
          </mc:Choice>
          <mc:Fallback xmlns="">
            <p:pic>
              <p:nvPicPr>
                <p:cNvPr id="28" name="Ink 27">
                  <a:extLst>
                    <a:ext uri="{FF2B5EF4-FFF2-40B4-BE49-F238E27FC236}">
                      <a16:creationId xmlns:a16="http://schemas.microsoft.com/office/drawing/2014/main" id="{73A88D99-849C-4C62-8A08-F3FBC51FBC4C}"/>
                    </a:ext>
                  </a:extLst>
                </p:cNvPr>
                <p:cNvPicPr/>
                <p:nvPr/>
              </p:nvPicPr>
              <p:blipFill>
                <a:blip r:embed="rId35"/>
                <a:stretch>
                  <a:fillRect/>
                </a:stretch>
              </p:blipFill>
              <p:spPr>
                <a:xfrm>
                  <a:off x="8366040" y="2225733"/>
                  <a:ext cx="24840" cy="18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29" name="Ink 28">
                <a:extLst>
                  <a:ext uri="{FF2B5EF4-FFF2-40B4-BE49-F238E27FC236}">
                    <a16:creationId xmlns:a16="http://schemas.microsoft.com/office/drawing/2014/main" id="{5364F2B8-65B4-4DE1-8765-49DFC4C7CD39}"/>
                  </a:ext>
                </a:extLst>
              </p14:cNvPr>
              <p14:cNvContentPartPr/>
              <p14:nvPr/>
            </p14:nvContentPartPr>
            <p14:xfrm>
              <a:off x="9330120" y="4537293"/>
              <a:ext cx="360" cy="7200"/>
            </p14:xfrm>
          </p:contentPart>
        </mc:Choice>
        <mc:Fallback xmlns="">
          <p:pic>
            <p:nvPicPr>
              <p:cNvPr id="29" name="Ink 28">
                <a:extLst>
                  <a:ext uri="{FF2B5EF4-FFF2-40B4-BE49-F238E27FC236}">
                    <a16:creationId xmlns:a16="http://schemas.microsoft.com/office/drawing/2014/main" id="{5364F2B8-65B4-4DE1-8765-49DFC4C7CD39}"/>
                  </a:ext>
                </a:extLst>
              </p:cNvPr>
              <p:cNvPicPr/>
              <p:nvPr/>
            </p:nvPicPr>
            <p:blipFill>
              <a:blip r:embed="rId37"/>
              <a:stretch>
                <a:fillRect/>
              </a:stretch>
            </p:blipFill>
            <p:spPr>
              <a:xfrm>
                <a:off x="9321120" y="4528653"/>
                <a:ext cx="18000" cy="24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31" name="Ink 30">
                <a:extLst>
                  <a:ext uri="{FF2B5EF4-FFF2-40B4-BE49-F238E27FC236}">
                    <a16:creationId xmlns:a16="http://schemas.microsoft.com/office/drawing/2014/main" id="{61AD87D1-ADDB-46C3-A8FA-93D1D4062414}"/>
                  </a:ext>
                </a:extLst>
              </p14:cNvPr>
              <p14:cNvContentPartPr/>
              <p14:nvPr/>
            </p14:nvContentPartPr>
            <p14:xfrm>
              <a:off x="3521880" y="4216173"/>
              <a:ext cx="360" cy="360"/>
            </p14:xfrm>
          </p:contentPart>
        </mc:Choice>
        <mc:Fallback xmlns="">
          <p:pic>
            <p:nvPicPr>
              <p:cNvPr id="31" name="Ink 30">
                <a:extLst>
                  <a:ext uri="{FF2B5EF4-FFF2-40B4-BE49-F238E27FC236}">
                    <a16:creationId xmlns:a16="http://schemas.microsoft.com/office/drawing/2014/main" id="{61AD87D1-ADDB-46C3-A8FA-93D1D4062414}"/>
                  </a:ext>
                </a:extLst>
              </p:cNvPr>
              <p:cNvPicPr/>
              <p:nvPr/>
            </p:nvPicPr>
            <p:blipFill>
              <a:blip r:embed="rId39"/>
              <a:stretch>
                <a:fillRect/>
              </a:stretch>
            </p:blipFill>
            <p:spPr>
              <a:xfrm>
                <a:off x="3513240" y="420717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32" name="Ink 31">
                <a:extLst>
                  <a:ext uri="{FF2B5EF4-FFF2-40B4-BE49-F238E27FC236}">
                    <a16:creationId xmlns:a16="http://schemas.microsoft.com/office/drawing/2014/main" id="{4A02505E-13F7-4E12-9AB0-D39615EB851F}"/>
                  </a:ext>
                </a:extLst>
              </p14:cNvPr>
              <p14:cNvContentPartPr/>
              <p14:nvPr/>
            </p14:nvContentPartPr>
            <p14:xfrm>
              <a:off x="2302920" y="1421853"/>
              <a:ext cx="360" cy="30600"/>
            </p14:xfrm>
          </p:contentPart>
        </mc:Choice>
        <mc:Fallback xmlns="">
          <p:pic>
            <p:nvPicPr>
              <p:cNvPr id="32" name="Ink 31">
                <a:extLst>
                  <a:ext uri="{FF2B5EF4-FFF2-40B4-BE49-F238E27FC236}">
                    <a16:creationId xmlns:a16="http://schemas.microsoft.com/office/drawing/2014/main" id="{4A02505E-13F7-4E12-9AB0-D39615EB851F}"/>
                  </a:ext>
                </a:extLst>
              </p:cNvPr>
              <p:cNvPicPr/>
              <p:nvPr/>
            </p:nvPicPr>
            <p:blipFill>
              <a:blip r:embed="rId41"/>
              <a:stretch>
                <a:fillRect/>
              </a:stretch>
            </p:blipFill>
            <p:spPr>
              <a:xfrm>
                <a:off x="2293920" y="1413213"/>
                <a:ext cx="18000" cy="48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33" name="Ink 32">
                <a:extLst>
                  <a:ext uri="{FF2B5EF4-FFF2-40B4-BE49-F238E27FC236}">
                    <a16:creationId xmlns:a16="http://schemas.microsoft.com/office/drawing/2014/main" id="{9A151711-1152-4DD2-9872-BAAB2A3A7E89}"/>
                  </a:ext>
                </a:extLst>
              </p14:cNvPr>
              <p14:cNvContentPartPr/>
              <p14:nvPr/>
            </p14:nvContentPartPr>
            <p14:xfrm>
              <a:off x="1061280" y="2505453"/>
              <a:ext cx="276120" cy="360"/>
            </p14:xfrm>
          </p:contentPart>
        </mc:Choice>
        <mc:Fallback xmlns="">
          <p:pic>
            <p:nvPicPr>
              <p:cNvPr id="33" name="Ink 32">
                <a:extLst>
                  <a:ext uri="{FF2B5EF4-FFF2-40B4-BE49-F238E27FC236}">
                    <a16:creationId xmlns:a16="http://schemas.microsoft.com/office/drawing/2014/main" id="{9A151711-1152-4DD2-9872-BAAB2A3A7E89}"/>
                  </a:ext>
                </a:extLst>
              </p:cNvPr>
              <p:cNvPicPr/>
              <p:nvPr/>
            </p:nvPicPr>
            <p:blipFill>
              <a:blip r:embed="rId43"/>
              <a:stretch>
                <a:fillRect/>
              </a:stretch>
            </p:blipFill>
            <p:spPr>
              <a:xfrm>
                <a:off x="1052280" y="2496453"/>
                <a:ext cx="29376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34" name="Ink 33">
                <a:extLst>
                  <a:ext uri="{FF2B5EF4-FFF2-40B4-BE49-F238E27FC236}">
                    <a16:creationId xmlns:a16="http://schemas.microsoft.com/office/drawing/2014/main" id="{0B7A8D0C-9851-4483-AE70-055620061F0F}"/>
                  </a:ext>
                </a:extLst>
              </p14:cNvPr>
              <p14:cNvContentPartPr/>
              <p14:nvPr/>
            </p14:nvContentPartPr>
            <p14:xfrm>
              <a:off x="5740200" y="4639173"/>
              <a:ext cx="360" cy="360"/>
            </p14:xfrm>
          </p:contentPart>
        </mc:Choice>
        <mc:Fallback xmlns="">
          <p:pic>
            <p:nvPicPr>
              <p:cNvPr id="34" name="Ink 33">
                <a:extLst>
                  <a:ext uri="{FF2B5EF4-FFF2-40B4-BE49-F238E27FC236}">
                    <a16:creationId xmlns:a16="http://schemas.microsoft.com/office/drawing/2014/main" id="{0B7A8D0C-9851-4483-AE70-055620061F0F}"/>
                  </a:ext>
                </a:extLst>
              </p:cNvPr>
              <p:cNvPicPr/>
              <p:nvPr/>
            </p:nvPicPr>
            <p:blipFill>
              <a:blip r:embed="rId45"/>
              <a:stretch>
                <a:fillRect/>
              </a:stretch>
            </p:blipFill>
            <p:spPr>
              <a:xfrm>
                <a:off x="5731560" y="46305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35" name="Ink 34">
                <a:extLst>
                  <a:ext uri="{FF2B5EF4-FFF2-40B4-BE49-F238E27FC236}">
                    <a16:creationId xmlns:a16="http://schemas.microsoft.com/office/drawing/2014/main" id="{AD359B79-C7A9-4021-9C3F-11D6A57000B4}"/>
                  </a:ext>
                </a:extLst>
              </p14:cNvPr>
              <p14:cNvContentPartPr/>
              <p14:nvPr/>
            </p14:nvContentPartPr>
            <p14:xfrm>
              <a:off x="4435920" y="4496613"/>
              <a:ext cx="360" cy="7200"/>
            </p14:xfrm>
          </p:contentPart>
        </mc:Choice>
        <mc:Fallback xmlns="">
          <p:pic>
            <p:nvPicPr>
              <p:cNvPr id="35" name="Ink 34">
                <a:extLst>
                  <a:ext uri="{FF2B5EF4-FFF2-40B4-BE49-F238E27FC236}">
                    <a16:creationId xmlns:a16="http://schemas.microsoft.com/office/drawing/2014/main" id="{AD359B79-C7A9-4021-9C3F-11D6A57000B4}"/>
                  </a:ext>
                </a:extLst>
              </p:cNvPr>
              <p:cNvPicPr/>
              <p:nvPr/>
            </p:nvPicPr>
            <p:blipFill>
              <a:blip r:embed="rId47"/>
              <a:stretch>
                <a:fillRect/>
              </a:stretch>
            </p:blipFill>
            <p:spPr>
              <a:xfrm>
                <a:off x="4426920" y="4487973"/>
                <a:ext cx="18000" cy="24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36" name="Ink 35">
                <a:extLst>
                  <a:ext uri="{FF2B5EF4-FFF2-40B4-BE49-F238E27FC236}">
                    <a16:creationId xmlns:a16="http://schemas.microsoft.com/office/drawing/2014/main" id="{DDBC3469-CF7A-4B01-A826-0CBCFE42D7AB}"/>
                  </a:ext>
                </a:extLst>
              </p14:cNvPr>
              <p14:cNvContentPartPr/>
              <p14:nvPr/>
            </p14:nvContentPartPr>
            <p14:xfrm>
              <a:off x="4435920" y="4418853"/>
              <a:ext cx="360" cy="360"/>
            </p14:xfrm>
          </p:contentPart>
        </mc:Choice>
        <mc:Fallback xmlns="">
          <p:pic>
            <p:nvPicPr>
              <p:cNvPr id="36" name="Ink 35">
                <a:extLst>
                  <a:ext uri="{FF2B5EF4-FFF2-40B4-BE49-F238E27FC236}">
                    <a16:creationId xmlns:a16="http://schemas.microsoft.com/office/drawing/2014/main" id="{DDBC3469-CF7A-4B01-A826-0CBCFE42D7AB}"/>
                  </a:ext>
                </a:extLst>
              </p:cNvPr>
              <p:cNvPicPr/>
              <p:nvPr/>
            </p:nvPicPr>
            <p:blipFill>
              <a:blip r:embed="rId49"/>
              <a:stretch>
                <a:fillRect/>
              </a:stretch>
            </p:blipFill>
            <p:spPr>
              <a:xfrm>
                <a:off x="4426920" y="441021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37" name="Ink 36">
                <a:extLst>
                  <a:ext uri="{FF2B5EF4-FFF2-40B4-BE49-F238E27FC236}">
                    <a16:creationId xmlns:a16="http://schemas.microsoft.com/office/drawing/2014/main" id="{FF1C66C6-8EC4-459A-AD1A-93F6D4DB166A}"/>
                  </a:ext>
                </a:extLst>
              </p14:cNvPr>
              <p14:cNvContentPartPr/>
              <p14:nvPr/>
            </p14:nvContentPartPr>
            <p14:xfrm>
              <a:off x="7348680" y="3944733"/>
              <a:ext cx="360" cy="360"/>
            </p14:xfrm>
          </p:contentPart>
        </mc:Choice>
        <mc:Fallback xmlns="">
          <p:pic>
            <p:nvPicPr>
              <p:cNvPr id="37" name="Ink 36">
                <a:extLst>
                  <a:ext uri="{FF2B5EF4-FFF2-40B4-BE49-F238E27FC236}">
                    <a16:creationId xmlns:a16="http://schemas.microsoft.com/office/drawing/2014/main" id="{FF1C66C6-8EC4-459A-AD1A-93F6D4DB166A}"/>
                  </a:ext>
                </a:extLst>
              </p:cNvPr>
              <p:cNvPicPr/>
              <p:nvPr/>
            </p:nvPicPr>
            <p:blipFill>
              <a:blip r:embed="rId51"/>
              <a:stretch>
                <a:fillRect/>
              </a:stretch>
            </p:blipFill>
            <p:spPr>
              <a:xfrm>
                <a:off x="7339680" y="3936093"/>
                <a:ext cx="18000" cy="18000"/>
              </a:xfrm>
              <a:prstGeom prst="rect">
                <a:avLst/>
              </a:prstGeom>
            </p:spPr>
          </p:pic>
        </mc:Fallback>
      </mc:AlternateContent>
      <p:grpSp>
        <p:nvGrpSpPr>
          <p:cNvPr id="48" name="Group 47">
            <a:extLst>
              <a:ext uri="{FF2B5EF4-FFF2-40B4-BE49-F238E27FC236}">
                <a16:creationId xmlns:a16="http://schemas.microsoft.com/office/drawing/2014/main" id="{FCCA4D68-3A0F-4454-B591-310E2CA078C9}"/>
              </a:ext>
            </a:extLst>
          </p:cNvPr>
          <p:cNvGrpSpPr/>
          <p:nvPr/>
        </p:nvGrpSpPr>
        <p:grpSpPr>
          <a:xfrm>
            <a:off x="7466760" y="4250013"/>
            <a:ext cx="360" cy="360"/>
            <a:chOff x="7466760" y="425001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38" name="Ink 37">
                  <a:extLst>
                    <a:ext uri="{FF2B5EF4-FFF2-40B4-BE49-F238E27FC236}">
                      <a16:creationId xmlns:a16="http://schemas.microsoft.com/office/drawing/2014/main" id="{BAE50AD8-8E6D-4315-A30C-AF0A725CA041}"/>
                    </a:ext>
                  </a:extLst>
                </p14:cNvPr>
                <p14:cNvContentPartPr/>
                <p14:nvPr/>
              </p14:nvContentPartPr>
              <p14:xfrm>
                <a:off x="7466760" y="4250013"/>
                <a:ext cx="360" cy="360"/>
              </p14:xfrm>
            </p:contentPart>
          </mc:Choice>
          <mc:Fallback xmlns="">
            <p:pic>
              <p:nvPicPr>
                <p:cNvPr id="38" name="Ink 37">
                  <a:extLst>
                    <a:ext uri="{FF2B5EF4-FFF2-40B4-BE49-F238E27FC236}">
                      <a16:creationId xmlns:a16="http://schemas.microsoft.com/office/drawing/2014/main" id="{BAE50AD8-8E6D-4315-A30C-AF0A725CA041}"/>
                    </a:ext>
                  </a:extLst>
                </p:cNvPr>
                <p:cNvPicPr/>
                <p:nvPr/>
              </p:nvPicPr>
              <p:blipFill>
                <a:blip r:embed="rId53"/>
                <a:stretch>
                  <a:fillRect/>
                </a:stretch>
              </p:blipFill>
              <p:spPr>
                <a:xfrm>
                  <a:off x="7458120" y="424137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39" name="Ink 38">
                  <a:extLst>
                    <a:ext uri="{FF2B5EF4-FFF2-40B4-BE49-F238E27FC236}">
                      <a16:creationId xmlns:a16="http://schemas.microsoft.com/office/drawing/2014/main" id="{11B4CB24-D179-4DE8-AA16-369F173BC00A}"/>
                    </a:ext>
                  </a:extLst>
                </p14:cNvPr>
                <p14:cNvContentPartPr/>
                <p14:nvPr/>
              </p14:nvContentPartPr>
              <p14:xfrm>
                <a:off x="7466760" y="4250013"/>
                <a:ext cx="360" cy="360"/>
              </p14:xfrm>
            </p:contentPart>
          </mc:Choice>
          <mc:Fallback xmlns="">
            <p:pic>
              <p:nvPicPr>
                <p:cNvPr id="39" name="Ink 38">
                  <a:extLst>
                    <a:ext uri="{FF2B5EF4-FFF2-40B4-BE49-F238E27FC236}">
                      <a16:creationId xmlns:a16="http://schemas.microsoft.com/office/drawing/2014/main" id="{11B4CB24-D179-4DE8-AA16-369F173BC00A}"/>
                    </a:ext>
                  </a:extLst>
                </p:cNvPr>
                <p:cNvPicPr/>
                <p:nvPr/>
              </p:nvPicPr>
              <p:blipFill>
                <a:blip r:embed="rId55"/>
                <a:stretch>
                  <a:fillRect/>
                </a:stretch>
              </p:blipFill>
              <p:spPr>
                <a:xfrm>
                  <a:off x="7458120" y="4241373"/>
                  <a:ext cx="18000" cy="18000"/>
                </a:xfrm>
                <a:prstGeom prst="rect">
                  <a:avLst/>
                </a:prstGeom>
              </p:spPr>
            </p:pic>
          </mc:Fallback>
        </mc:AlternateContent>
      </p:grpSp>
      <p:grpSp>
        <p:nvGrpSpPr>
          <p:cNvPr id="47" name="Group 46">
            <a:extLst>
              <a:ext uri="{FF2B5EF4-FFF2-40B4-BE49-F238E27FC236}">
                <a16:creationId xmlns:a16="http://schemas.microsoft.com/office/drawing/2014/main" id="{92D71020-639E-4D45-AC3A-BFDF53CB5A32}"/>
              </a:ext>
            </a:extLst>
          </p:cNvPr>
          <p:cNvGrpSpPr/>
          <p:nvPr/>
        </p:nvGrpSpPr>
        <p:grpSpPr>
          <a:xfrm>
            <a:off x="7568640" y="4554573"/>
            <a:ext cx="360" cy="360"/>
            <a:chOff x="7568640" y="455457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40" name="Ink 39">
                  <a:extLst>
                    <a:ext uri="{FF2B5EF4-FFF2-40B4-BE49-F238E27FC236}">
                      <a16:creationId xmlns:a16="http://schemas.microsoft.com/office/drawing/2014/main" id="{FCF67F76-E84E-4961-9032-C27D4397C54D}"/>
                    </a:ext>
                  </a:extLst>
                </p14:cNvPr>
                <p14:cNvContentPartPr/>
                <p14:nvPr/>
              </p14:nvContentPartPr>
              <p14:xfrm>
                <a:off x="7568640" y="4554573"/>
                <a:ext cx="360" cy="360"/>
              </p14:xfrm>
            </p:contentPart>
          </mc:Choice>
          <mc:Fallback xmlns="">
            <p:pic>
              <p:nvPicPr>
                <p:cNvPr id="40" name="Ink 39">
                  <a:extLst>
                    <a:ext uri="{FF2B5EF4-FFF2-40B4-BE49-F238E27FC236}">
                      <a16:creationId xmlns:a16="http://schemas.microsoft.com/office/drawing/2014/main" id="{FCF67F76-E84E-4961-9032-C27D4397C54D}"/>
                    </a:ext>
                  </a:extLst>
                </p:cNvPr>
                <p:cNvPicPr/>
                <p:nvPr/>
              </p:nvPicPr>
              <p:blipFill>
                <a:blip r:embed="rId57"/>
                <a:stretch>
                  <a:fillRect/>
                </a:stretch>
              </p:blipFill>
              <p:spPr>
                <a:xfrm>
                  <a:off x="7560000" y="454593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41" name="Ink 40">
                  <a:extLst>
                    <a:ext uri="{FF2B5EF4-FFF2-40B4-BE49-F238E27FC236}">
                      <a16:creationId xmlns:a16="http://schemas.microsoft.com/office/drawing/2014/main" id="{683EFA20-C031-47B8-B073-E93662A5E8CB}"/>
                    </a:ext>
                  </a:extLst>
                </p14:cNvPr>
                <p14:cNvContentPartPr/>
                <p14:nvPr/>
              </p14:nvContentPartPr>
              <p14:xfrm>
                <a:off x="7568640" y="4554573"/>
                <a:ext cx="360" cy="360"/>
              </p14:xfrm>
            </p:contentPart>
          </mc:Choice>
          <mc:Fallback xmlns="">
            <p:pic>
              <p:nvPicPr>
                <p:cNvPr id="41" name="Ink 40">
                  <a:extLst>
                    <a:ext uri="{FF2B5EF4-FFF2-40B4-BE49-F238E27FC236}">
                      <a16:creationId xmlns:a16="http://schemas.microsoft.com/office/drawing/2014/main" id="{683EFA20-C031-47B8-B073-E93662A5E8CB}"/>
                    </a:ext>
                  </a:extLst>
                </p:cNvPr>
                <p:cNvPicPr/>
                <p:nvPr/>
              </p:nvPicPr>
              <p:blipFill>
                <a:blip r:embed="rId59"/>
                <a:stretch>
                  <a:fillRect/>
                </a:stretch>
              </p:blipFill>
              <p:spPr>
                <a:xfrm>
                  <a:off x="7560000" y="4545933"/>
                  <a:ext cx="18000" cy="18000"/>
                </a:xfrm>
                <a:prstGeom prst="rect">
                  <a:avLst/>
                </a:prstGeom>
              </p:spPr>
            </p:pic>
          </mc:Fallback>
        </mc:AlternateContent>
      </p:grpSp>
      <p:grpSp>
        <p:nvGrpSpPr>
          <p:cNvPr id="46" name="Group 45">
            <a:extLst>
              <a:ext uri="{FF2B5EF4-FFF2-40B4-BE49-F238E27FC236}">
                <a16:creationId xmlns:a16="http://schemas.microsoft.com/office/drawing/2014/main" id="{B4846A69-A126-449F-AFA2-80295E1DB734}"/>
              </a:ext>
            </a:extLst>
          </p:cNvPr>
          <p:cNvGrpSpPr/>
          <p:nvPr/>
        </p:nvGrpSpPr>
        <p:grpSpPr>
          <a:xfrm>
            <a:off x="7704360" y="4283493"/>
            <a:ext cx="360" cy="360"/>
            <a:chOff x="7704360" y="428349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42" name="Ink 41">
                  <a:extLst>
                    <a:ext uri="{FF2B5EF4-FFF2-40B4-BE49-F238E27FC236}">
                      <a16:creationId xmlns:a16="http://schemas.microsoft.com/office/drawing/2014/main" id="{ADA7DAD0-8669-44F6-BD76-B2BE4103D441}"/>
                    </a:ext>
                  </a:extLst>
                </p14:cNvPr>
                <p14:cNvContentPartPr/>
                <p14:nvPr/>
              </p14:nvContentPartPr>
              <p14:xfrm>
                <a:off x="7704360" y="4283493"/>
                <a:ext cx="360" cy="360"/>
              </p14:xfrm>
            </p:contentPart>
          </mc:Choice>
          <mc:Fallback xmlns="">
            <p:pic>
              <p:nvPicPr>
                <p:cNvPr id="42" name="Ink 41">
                  <a:extLst>
                    <a:ext uri="{FF2B5EF4-FFF2-40B4-BE49-F238E27FC236}">
                      <a16:creationId xmlns:a16="http://schemas.microsoft.com/office/drawing/2014/main" id="{ADA7DAD0-8669-44F6-BD76-B2BE4103D441}"/>
                    </a:ext>
                  </a:extLst>
                </p:cNvPr>
                <p:cNvPicPr/>
                <p:nvPr/>
              </p:nvPicPr>
              <p:blipFill>
                <a:blip r:embed="rId61"/>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43" name="Ink 42">
                  <a:extLst>
                    <a:ext uri="{FF2B5EF4-FFF2-40B4-BE49-F238E27FC236}">
                      <a16:creationId xmlns:a16="http://schemas.microsoft.com/office/drawing/2014/main" id="{393C0894-83CB-4F2B-AD1E-6E4350B225AA}"/>
                    </a:ext>
                  </a:extLst>
                </p14:cNvPr>
                <p14:cNvContentPartPr/>
                <p14:nvPr/>
              </p14:nvContentPartPr>
              <p14:xfrm>
                <a:off x="7704360" y="4283493"/>
                <a:ext cx="360" cy="360"/>
              </p14:xfrm>
            </p:contentPart>
          </mc:Choice>
          <mc:Fallback xmlns="">
            <p:pic>
              <p:nvPicPr>
                <p:cNvPr id="43" name="Ink 42">
                  <a:extLst>
                    <a:ext uri="{FF2B5EF4-FFF2-40B4-BE49-F238E27FC236}">
                      <a16:creationId xmlns:a16="http://schemas.microsoft.com/office/drawing/2014/main" id="{393C0894-83CB-4F2B-AD1E-6E4350B225AA}"/>
                    </a:ext>
                  </a:extLst>
                </p:cNvPr>
                <p:cNvPicPr/>
                <p:nvPr/>
              </p:nvPicPr>
              <p:blipFill>
                <a:blip r:embed="rId63"/>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44" name="Ink 43">
                  <a:extLst>
                    <a:ext uri="{FF2B5EF4-FFF2-40B4-BE49-F238E27FC236}">
                      <a16:creationId xmlns:a16="http://schemas.microsoft.com/office/drawing/2014/main" id="{5B4AEEB9-3641-420F-ADC0-EEEA2E1706C9}"/>
                    </a:ext>
                  </a:extLst>
                </p14:cNvPr>
                <p14:cNvContentPartPr/>
                <p14:nvPr/>
              </p14:nvContentPartPr>
              <p14:xfrm>
                <a:off x="7704360" y="4283493"/>
                <a:ext cx="360" cy="360"/>
              </p14:xfrm>
            </p:contentPart>
          </mc:Choice>
          <mc:Fallback xmlns="">
            <p:pic>
              <p:nvPicPr>
                <p:cNvPr id="44" name="Ink 43">
                  <a:extLst>
                    <a:ext uri="{FF2B5EF4-FFF2-40B4-BE49-F238E27FC236}">
                      <a16:creationId xmlns:a16="http://schemas.microsoft.com/office/drawing/2014/main" id="{5B4AEEB9-3641-420F-ADC0-EEEA2E1706C9}"/>
                    </a:ext>
                  </a:extLst>
                </p:cNvPr>
                <p:cNvPicPr/>
                <p:nvPr/>
              </p:nvPicPr>
              <p:blipFill>
                <a:blip r:embed="rId65"/>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45" name="Ink 44">
                  <a:extLst>
                    <a:ext uri="{FF2B5EF4-FFF2-40B4-BE49-F238E27FC236}">
                      <a16:creationId xmlns:a16="http://schemas.microsoft.com/office/drawing/2014/main" id="{145350C3-ED10-4C22-A31C-3FE511ADCF52}"/>
                    </a:ext>
                  </a:extLst>
                </p14:cNvPr>
                <p14:cNvContentPartPr/>
                <p14:nvPr/>
              </p14:nvContentPartPr>
              <p14:xfrm>
                <a:off x="7704360" y="4283493"/>
                <a:ext cx="360" cy="360"/>
              </p14:xfrm>
            </p:contentPart>
          </mc:Choice>
          <mc:Fallback xmlns="">
            <p:pic>
              <p:nvPicPr>
                <p:cNvPr id="45" name="Ink 44">
                  <a:extLst>
                    <a:ext uri="{FF2B5EF4-FFF2-40B4-BE49-F238E27FC236}">
                      <a16:creationId xmlns:a16="http://schemas.microsoft.com/office/drawing/2014/main" id="{145350C3-ED10-4C22-A31C-3FE511ADCF52}"/>
                    </a:ext>
                  </a:extLst>
                </p:cNvPr>
                <p:cNvPicPr/>
                <p:nvPr/>
              </p:nvPicPr>
              <p:blipFill>
                <a:blip r:embed="rId67"/>
                <a:stretch>
                  <a:fillRect/>
                </a:stretch>
              </p:blipFill>
              <p:spPr>
                <a:xfrm>
                  <a:off x="7695720" y="4274493"/>
                  <a:ext cx="18000" cy="18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49" name="Ink 48">
                <a:extLst>
                  <a:ext uri="{FF2B5EF4-FFF2-40B4-BE49-F238E27FC236}">
                    <a16:creationId xmlns:a16="http://schemas.microsoft.com/office/drawing/2014/main" id="{AF65E92E-9442-4FEB-A380-8864D1CAC436}"/>
                  </a:ext>
                </a:extLst>
              </p14:cNvPr>
              <p14:cNvContentPartPr/>
              <p14:nvPr/>
            </p14:nvContentPartPr>
            <p14:xfrm>
              <a:off x="7704360" y="4283493"/>
              <a:ext cx="360" cy="360"/>
            </p14:xfrm>
          </p:contentPart>
        </mc:Choice>
        <mc:Fallback xmlns="">
          <p:pic>
            <p:nvPicPr>
              <p:cNvPr id="49" name="Ink 48">
                <a:extLst>
                  <a:ext uri="{FF2B5EF4-FFF2-40B4-BE49-F238E27FC236}">
                    <a16:creationId xmlns:a16="http://schemas.microsoft.com/office/drawing/2014/main" id="{AF65E92E-9442-4FEB-A380-8864D1CAC436}"/>
                  </a:ext>
                </a:extLst>
              </p:cNvPr>
              <p:cNvPicPr/>
              <p:nvPr/>
            </p:nvPicPr>
            <p:blipFill>
              <a:blip r:embed="rId69"/>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50" name="Ink 49">
                <a:extLst>
                  <a:ext uri="{FF2B5EF4-FFF2-40B4-BE49-F238E27FC236}">
                    <a16:creationId xmlns:a16="http://schemas.microsoft.com/office/drawing/2014/main" id="{3F9BDA0A-F9C8-4330-9FD0-315E6D73558B}"/>
                  </a:ext>
                </a:extLst>
              </p14:cNvPr>
              <p14:cNvContentPartPr/>
              <p14:nvPr/>
            </p14:nvContentPartPr>
            <p14:xfrm>
              <a:off x="7704360" y="4283493"/>
              <a:ext cx="360" cy="360"/>
            </p14:xfrm>
          </p:contentPart>
        </mc:Choice>
        <mc:Fallback xmlns="">
          <p:pic>
            <p:nvPicPr>
              <p:cNvPr id="50" name="Ink 49">
                <a:extLst>
                  <a:ext uri="{FF2B5EF4-FFF2-40B4-BE49-F238E27FC236}">
                    <a16:creationId xmlns:a16="http://schemas.microsoft.com/office/drawing/2014/main" id="{3F9BDA0A-F9C8-4330-9FD0-315E6D73558B}"/>
                  </a:ext>
                </a:extLst>
              </p:cNvPr>
              <p:cNvPicPr/>
              <p:nvPr/>
            </p:nvPicPr>
            <p:blipFill>
              <a:blip r:embed="rId71"/>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51" name="Ink 50">
                <a:extLst>
                  <a:ext uri="{FF2B5EF4-FFF2-40B4-BE49-F238E27FC236}">
                    <a16:creationId xmlns:a16="http://schemas.microsoft.com/office/drawing/2014/main" id="{AADA9FDE-4503-4909-B86B-4A17AF44F74A}"/>
                  </a:ext>
                </a:extLst>
              </p14:cNvPr>
              <p14:cNvContentPartPr/>
              <p14:nvPr/>
            </p14:nvContentPartPr>
            <p14:xfrm>
              <a:off x="7704360" y="4283493"/>
              <a:ext cx="360" cy="360"/>
            </p14:xfrm>
          </p:contentPart>
        </mc:Choice>
        <mc:Fallback xmlns="">
          <p:pic>
            <p:nvPicPr>
              <p:cNvPr id="51" name="Ink 50">
                <a:extLst>
                  <a:ext uri="{FF2B5EF4-FFF2-40B4-BE49-F238E27FC236}">
                    <a16:creationId xmlns:a16="http://schemas.microsoft.com/office/drawing/2014/main" id="{AADA9FDE-4503-4909-B86B-4A17AF44F74A}"/>
                  </a:ext>
                </a:extLst>
              </p:cNvPr>
              <p:cNvPicPr/>
              <p:nvPr/>
            </p:nvPicPr>
            <p:blipFill>
              <a:blip r:embed="rId73"/>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52" name="Ink 51">
                <a:extLst>
                  <a:ext uri="{FF2B5EF4-FFF2-40B4-BE49-F238E27FC236}">
                    <a16:creationId xmlns:a16="http://schemas.microsoft.com/office/drawing/2014/main" id="{408997FC-96A1-485B-BC9B-C077A28C2098}"/>
                  </a:ext>
                </a:extLst>
              </p14:cNvPr>
              <p14:cNvContentPartPr/>
              <p14:nvPr/>
            </p14:nvContentPartPr>
            <p14:xfrm>
              <a:off x="7704360" y="4283493"/>
              <a:ext cx="360" cy="360"/>
            </p14:xfrm>
          </p:contentPart>
        </mc:Choice>
        <mc:Fallback xmlns="">
          <p:pic>
            <p:nvPicPr>
              <p:cNvPr id="52" name="Ink 51">
                <a:extLst>
                  <a:ext uri="{FF2B5EF4-FFF2-40B4-BE49-F238E27FC236}">
                    <a16:creationId xmlns:a16="http://schemas.microsoft.com/office/drawing/2014/main" id="{408997FC-96A1-485B-BC9B-C077A28C2098}"/>
                  </a:ext>
                </a:extLst>
              </p:cNvPr>
              <p:cNvPicPr/>
              <p:nvPr/>
            </p:nvPicPr>
            <p:blipFill>
              <a:blip r:embed="rId75"/>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53" name="Ink 52">
                <a:extLst>
                  <a:ext uri="{FF2B5EF4-FFF2-40B4-BE49-F238E27FC236}">
                    <a16:creationId xmlns:a16="http://schemas.microsoft.com/office/drawing/2014/main" id="{18618E0B-F4E8-41F3-8399-61835BD4DABD}"/>
                  </a:ext>
                </a:extLst>
              </p14:cNvPr>
              <p14:cNvContentPartPr/>
              <p14:nvPr/>
            </p14:nvContentPartPr>
            <p14:xfrm>
              <a:off x="7704360" y="4283493"/>
              <a:ext cx="360" cy="360"/>
            </p14:xfrm>
          </p:contentPart>
        </mc:Choice>
        <mc:Fallback xmlns="">
          <p:pic>
            <p:nvPicPr>
              <p:cNvPr id="53" name="Ink 52">
                <a:extLst>
                  <a:ext uri="{FF2B5EF4-FFF2-40B4-BE49-F238E27FC236}">
                    <a16:creationId xmlns:a16="http://schemas.microsoft.com/office/drawing/2014/main" id="{18618E0B-F4E8-41F3-8399-61835BD4DABD}"/>
                  </a:ext>
                </a:extLst>
              </p:cNvPr>
              <p:cNvPicPr/>
              <p:nvPr/>
            </p:nvPicPr>
            <p:blipFill>
              <a:blip r:embed="rId77"/>
              <a:stretch>
                <a:fillRect/>
              </a:stretch>
            </p:blipFill>
            <p:spPr>
              <a:xfrm>
                <a:off x="7695720" y="4274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54" name="Ink 53">
                <a:extLst>
                  <a:ext uri="{FF2B5EF4-FFF2-40B4-BE49-F238E27FC236}">
                    <a16:creationId xmlns:a16="http://schemas.microsoft.com/office/drawing/2014/main" id="{31D633C8-B084-4CD4-8741-1B169485A016}"/>
                  </a:ext>
                </a:extLst>
              </p14:cNvPr>
              <p14:cNvContentPartPr/>
              <p14:nvPr/>
            </p14:nvContentPartPr>
            <p14:xfrm>
              <a:off x="4327920" y="5164053"/>
              <a:ext cx="7200" cy="360"/>
            </p14:xfrm>
          </p:contentPart>
        </mc:Choice>
        <mc:Fallback xmlns="">
          <p:pic>
            <p:nvPicPr>
              <p:cNvPr id="54" name="Ink 53">
                <a:extLst>
                  <a:ext uri="{FF2B5EF4-FFF2-40B4-BE49-F238E27FC236}">
                    <a16:creationId xmlns:a16="http://schemas.microsoft.com/office/drawing/2014/main" id="{31D633C8-B084-4CD4-8741-1B169485A016}"/>
                  </a:ext>
                </a:extLst>
              </p:cNvPr>
              <p:cNvPicPr/>
              <p:nvPr/>
            </p:nvPicPr>
            <p:blipFill>
              <a:blip r:embed="rId79"/>
              <a:stretch>
                <a:fillRect/>
              </a:stretch>
            </p:blipFill>
            <p:spPr>
              <a:xfrm>
                <a:off x="4318920" y="5155053"/>
                <a:ext cx="2484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55" name="Ink 54">
                <a:extLst>
                  <a:ext uri="{FF2B5EF4-FFF2-40B4-BE49-F238E27FC236}">
                    <a16:creationId xmlns:a16="http://schemas.microsoft.com/office/drawing/2014/main" id="{4402D826-2F4D-4884-937D-88883F971337}"/>
                  </a:ext>
                </a:extLst>
              </p14:cNvPr>
              <p14:cNvContentPartPr/>
              <p14:nvPr/>
            </p14:nvContentPartPr>
            <p14:xfrm>
              <a:off x="4317480" y="5164053"/>
              <a:ext cx="360" cy="360"/>
            </p14:xfrm>
          </p:contentPart>
        </mc:Choice>
        <mc:Fallback xmlns="">
          <p:pic>
            <p:nvPicPr>
              <p:cNvPr id="55" name="Ink 54">
                <a:extLst>
                  <a:ext uri="{FF2B5EF4-FFF2-40B4-BE49-F238E27FC236}">
                    <a16:creationId xmlns:a16="http://schemas.microsoft.com/office/drawing/2014/main" id="{4402D826-2F4D-4884-937D-88883F971337}"/>
                  </a:ext>
                </a:extLst>
              </p:cNvPr>
              <p:cNvPicPr/>
              <p:nvPr/>
            </p:nvPicPr>
            <p:blipFill>
              <a:blip r:embed="rId81"/>
              <a:stretch>
                <a:fillRect/>
              </a:stretch>
            </p:blipFill>
            <p:spPr>
              <a:xfrm>
                <a:off x="4308840" y="515505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56" name="Ink 55">
                <a:extLst>
                  <a:ext uri="{FF2B5EF4-FFF2-40B4-BE49-F238E27FC236}">
                    <a16:creationId xmlns:a16="http://schemas.microsoft.com/office/drawing/2014/main" id="{D06204A9-3DCB-40D8-AB0C-51EE9F04A941}"/>
                  </a:ext>
                </a:extLst>
              </p14:cNvPr>
              <p14:cNvContentPartPr/>
              <p14:nvPr/>
            </p14:nvContentPartPr>
            <p14:xfrm>
              <a:off x="3741480" y="3030693"/>
              <a:ext cx="360" cy="360"/>
            </p14:xfrm>
          </p:contentPart>
        </mc:Choice>
        <mc:Fallback xmlns="">
          <p:pic>
            <p:nvPicPr>
              <p:cNvPr id="56" name="Ink 55">
                <a:extLst>
                  <a:ext uri="{FF2B5EF4-FFF2-40B4-BE49-F238E27FC236}">
                    <a16:creationId xmlns:a16="http://schemas.microsoft.com/office/drawing/2014/main" id="{D06204A9-3DCB-40D8-AB0C-51EE9F04A941}"/>
                  </a:ext>
                </a:extLst>
              </p:cNvPr>
              <p:cNvPicPr/>
              <p:nvPr/>
            </p:nvPicPr>
            <p:blipFill>
              <a:blip r:embed="rId83"/>
              <a:stretch>
                <a:fillRect/>
              </a:stretch>
            </p:blipFill>
            <p:spPr>
              <a:xfrm>
                <a:off x="3732840" y="302205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57" name="Ink 56">
                <a:extLst>
                  <a:ext uri="{FF2B5EF4-FFF2-40B4-BE49-F238E27FC236}">
                    <a16:creationId xmlns:a16="http://schemas.microsoft.com/office/drawing/2014/main" id="{CBD65BD3-3700-4B1F-9249-19FC551948CC}"/>
                  </a:ext>
                </a:extLst>
              </p14:cNvPr>
              <p14:cNvContentPartPr/>
              <p14:nvPr/>
            </p14:nvContentPartPr>
            <p14:xfrm>
              <a:off x="4199040" y="2302413"/>
              <a:ext cx="360" cy="360"/>
            </p14:xfrm>
          </p:contentPart>
        </mc:Choice>
        <mc:Fallback xmlns="">
          <p:pic>
            <p:nvPicPr>
              <p:cNvPr id="57" name="Ink 56">
                <a:extLst>
                  <a:ext uri="{FF2B5EF4-FFF2-40B4-BE49-F238E27FC236}">
                    <a16:creationId xmlns:a16="http://schemas.microsoft.com/office/drawing/2014/main" id="{CBD65BD3-3700-4B1F-9249-19FC551948CC}"/>
                  </a:ext>
                </a:extLst>
              </p:cNvPr>
              <p:cNvPicPr/>
              <p:nvPr/>
            </p:nvPicPr>
            <p:blipFill>
              <a:blip r:embed="rId85"/>
              <a:stretch>
                <a:fillRect/>
              </a:stretch>
            </p:blipFill>
            <p:spPr>
              <a:xfrm>
                <a:off x="4190400" y="229377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58" name="Ink 57">
                <a:extLst>
                  <a:ext uri="{FF2B5EF4-FFF2-40B4-BE49-F238E27FC236}">
                    <a16:creationId xmlns:a16="http://schemas.microsoft.com/office/drawing/2014/main" id="{1D200129-4668-4FDC-AC36-C91F48A3DC8A}"/>
                  </a:ext>
                </a:extLst>
              </p14:cNvPr>
              <p14:cNvContentPartPr/>
              <p14:nvPr/>
            </p14:nvContentPartPr>
            <p14:xfrm>
              <a:off x="4537800" y="1844853"/>
              <a:ext cx="360" cy="360"/>
            </p14:xfrm>
          </p:contentPart>
        </mc:Choice>
        <mc:Fallback xmlns="">
          <p:pic>
            <p:nvPicPr>
              <p:cNvPr id="58" name="Ink 57">
                <a:extLst>
                  <a:ext uri="{FF2B5EF4-FFF2-40B4-BE49-F238E27FC236}">
                    <a16:creationId xmlns:a16="http://schemas.microsoft.com/office/drawing/2014/main" id="{1D200129-4668-4FDC-AC36-C91F48A3DC8A}"/>
                  </a:ext>
                </a:extLst>
              </p:cNvPr>
              <p:cNvPicPr/>
              <p:nvPr/>
            </p:nvPicPr>
            <p:blipFill>
              <a:blip r:embed="rId87"/>
              <a:stretch>
                <a:fillRect/>
              </a:stretch>
            </p:blipFill>
            <p:spPr>
              <a:xfrm>
                <a:off x="4528800" y="183621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59" name="Ink 58">
                <a:extLst>
                  <a:ext uri="{FF2B5EF4-FFF2-40B4-BE49-F238E27FC236}">
                    <a16:creationId xmlns:a16="http://schemas.microsoft.com/office/drawing/2014/main" id="{C9D44A14-A9FB-4F9E-A894-D1471D09C2EF}"/>
                  </a:ext>
                </a:extLst>
              </p14:cNvPr>
              <p14:cNvContentPartPr/>
              <p14:nvPr/>
            </p14:nvContentPartPr>
            <p14:xfrm>
              <a:off x="4876200" y="744693"/>
              <a:ext cx="360" cy="360"/>
            </p14:xfrm>
          </p:contentPart>
        </mc:Choice>
        <mc:Fallback xmlns="">
          <p:pic>
            <p:nvPicPr>
              <p:cNvPr id="59" name="Ink 58">
                <a:extLst>
                  <a:ext uri="{FF2B5EF4-FFF2-40B4-BE49-F238E27FC236}">
                    <a16:creationId xmlns:a16="http://schemas.microsoft.com/office/drawing/2014/main" id="{C9D44A14-A9FB-4F9E-A894-D1471D09C2EF}"/>
                  </a:ext>
                </a:extLst>
              </p:cNvPr>
              <p:cNvPicPr/>
              <p:nvPr/>
            </p:nvPicPr>
            <p:blipFill>
              <a:blip r:embed="rId89"/>
              <a:stretch>
                <a:fillRect/>
              </a:stretch>
            </p:blipFill>
            <p:spPr>
              <a:xfrm>
                <a:off x="4867560" y="736053"/>
                <a:ext cx="18000" cy="18000"/>
              </a:xfrm>
              <a:prstGeom prst="rect">
                <a:avLst/>
              </a:prstGeom>
            </p:spPr>
          </p:pic>
        </mc:Fallback>
      </mc:AlternateContent>
    </p:spTree>
    <p:extLst>
      <p:ext uri="{BB962C8B-B14F-4D97-AF65-F5344CB8AC3E}">
        <p14:creationId xmlns:p14="http://schemas.microsoft.com/office/powerpoint/2010/main" val="3270584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Boolean Functions Using Maxterms</a:t>
            </a:r>
            <a:endParaRPr lang="en-US" sz="3900" dirty="0">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40</a:t>
            </a:fld>
            <a:endParaRPr lang="en-US" sz="1800" dirty="0"/>
          </a:p>
        </p:txBody>
      </p:sp>
      <p:sp>
        <p:nvSpPr>
          <p:cNvPr id="3" name="Content Placeholder 2"/>
          <p:cNvSpPr>
            <a:spLocks noGrp="1"/>
          </p:cNvSpPr>
          <p:nvPr>
            <p:ph idx="1"/>
          </p:nvPr>
        </p:nvSpPr>
        <p:spPr>
          <a:xfrm>
            <a:off x="381000" y="1690688"/>
            <a:ext cx="11430000" cy="4351338"/>
          </a:xfrm>
        </p:spPr>
        <p:txBody>
          <a:bodyPr>
            <a:normAutofit fontScale="92500" lnSpcReduction="10000"/>
          </a:bodyPr>
          <a:lstStyle/>
          <a:p>
            <a:r>
              <a:rPr lang="en-US" b="1" dirty="0"/>
              <a:t>Procedure</a:t>
            </a:r>
            <a:r>
              <a:rPr lang="en-US" dirty="0"/>
              <a:t>:</a:t>
            </a:r>
          </a:p>
          <a:p>
            <a:pPr lvl="1"/>
            <a:r>
              <a:rPr lang="en-US" dirty="0"/>
              <a:t> Taking the complement of complemented function (</a:t>
            </a:r>
            <a:r>
              <a:rPr lang="en-US" i="1" dirty="0"/>
              <a:t>f</a:t>
            </a:r>
            <a:r>
              <a:rPr lang="en-US" i="1" baseline="-25000" dirty="0"/>
              <a:t>1</a:t>
            </a:r>
            <a:r>
              <a:rPr lang="en-US" i="1" dirty="0"/>
              <a:t>’</a:t>
            </a:r>
            <a:r>
              <a:rPr lang="en-US" dirty="0"/>
              <a:t>). </a:t>
            </a:r>
          </a:p>
          <a:p>
            <a:endParaRPr lang="en-US" dirty="0"/>
          </a:p>
          <a:p>
            <a:endParaRPr lang="en-US" dirty="0"/>
          </a:p>
          <a:p>
            <a:endParaRPr lang="en-US" dirty="0"/>
          </a:p>
          <a:p>
            <a:endParaRPr lang="en-US" dirty="0"/>
          </a:p>
          <a:p>
            <a:endParaRPr lang="en-US" dirty="0"/>
          </a:p>
          <a:p>
            <a:r>
              <a:rPr lang="en-US" b="1" dirty="0">
                <a:solidFill>
                  <a:srgbClr val="FF0000"/>
                </a:solidFill>
              </a:rPr>
              <a:t>Note:</a:t>
            </a:r>
          </a:p>
          <a:p>
            <a:pPr lvl="1"/>
            <a:r>
              <a:rPr lang="en-US" dirty="0"/>
              <a:t>Any Boolean function can also be written as a </a:t>
            </a:r>
            <a:r>
              <a:rPr lang="en-US" b="1" u="sng" dirty="0">
                <a:solidFill>
                  <a:srgbClr val="0070C0"/>
                </a:solidFill>
              </a:rPr>
              <a:t>product (AND) of maxterms</a:t>
            </a:r>
            <a:r>
              <a:rPr lang="en-US" dirty="0"/>
              <a:t>.</a:t>
            </a:r>
          </a:p>
          <a:p>
            <a:pPr lvl="1"/>
            <a:r>
              <a:rPr lang="en-US" i="1" dirty="0"/>
              <a:t>Boolean function written as a </a:t>
            </a:r>
            <a:r>
              <a:rPr lang="en-US" i="1" u="sng" dirty="0"/>
              <a:t>sum of minterms</a:t>
            </a:r>
            <a:r>
              <a:rPr lang="en-US" i="1" dirty="0"/>
              <a:t> or </a:t>
            </a:r>
            <a:r>
              <a:rPr lang="en-US" i="1" u="sng" dirty="0"/>
              <a:t>product of maxterms</a:t>
            </a:r>
            <a:r>
              <a:rPr lang="en-US" dirty="0"/>
              <a:t> – </a:t>
            </a:r>
            <a:r>
              <a:rPr lang="en-US" sz="3000" b="1" dirty="0"/>
              <a:t>Canonical form</a:t>
            </a:r>
          </a:p>
        </p:txBody>
      </p:sp>
      <p:pic>
        <p:nvPicPr>
          <p:cNvPr id="11" name="Picture 10"/>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1000"/>
                    </a14:imgEffect>
                  </a14:imgLayer>
                </a14:imgProps>
              </a:ext>
              <a:ext uri="{28A0092B-C50C-407E-A947-70E740481C1C}">
                <a14:useLocalDpi xmlns:a14="http://schemas.microsoft.com/office/drawing/2010/main" val="0"/>
              </a:ext>
            </a:extLst>
          </a:blip>
          <a:stretch>
            <a:fillRect/>
          </a:stretch>
        </p:blipFill>
        <p:spPr>
          <a:xfrm>
            <a:off x="2377440" y="3429000"/>
            <a:ext cx="7085989" cy="1000536"/>
          </a:xfrm>
          <a:prstGeom prst="rect">
            <a:avLst/>
          </a:prstGeom>
        </p:spPr>
      </p:pic>
      <p:grpSp>
        <p:nvGrpSpPr>
          <p:cNvPr id="9" name="Group 8"/>
          <p:cNvGrpSpPr/>
          <p:nvPr/>
        </p:nvGrpSpPr>
        <p:grpSpPr>
          <a:xfrm>
            <a:off x="2377440" y="2433207"/>
            <a:ext cx="8642077" cy="914616"/>
            <a:chOff x="1697230" y="2509202"/>
            <a:chExt cx="9895468" cy="1097280"/>
          </a:xfrm>
        </p:grpSpPr>
        <p:pic>
          <p:nvPicPr>
            <p:cNvPr id="10" name="Picture 9"/>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697230" y="2509202"/>
              <a:ext cx="8113695" cy="109728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9461031" y="2531688"/>
                  <a:ext cx="2131667" cy="5354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300" b="1" i="1" smtClean="0">
                            <a:latin typeface="Cambria Math" panose="02040503050406030204" pitchFamily="18" charset="0"/>
                          </a:rPr>
                          <m:t>(</m:t>
                        </m:r>
                        <m:r>
                          <a:rPr lang="en-US" sz="2300" b="1" i="1" smtClean="0">
                            <a:latin typeface="Cambria Math" panose="02040503050406030204" pitchFamily="18" charset="0"/>
                          </a:rPr>
                          <m:t>𝒙</m:t>
                        </m:r>
                        <m:r>
                          <a:rPr lang="en-US" sz="2300" b="1" i="1" smtClean="0">
                            <a:latin typeface="Cambria Math" panose="02040503050406030204" pitchFamily="18" charset="0"/>
                          </a:rPr>
                          <m:t>+</m:t>
                        </m:r>
                        <m:sSup>
                          <m:sSupPr>
                            <m:ctrlPr>
                              <a:rPr lang="en-US" sz="2300" b="1" i="1" smtClean="0">
                                <a:latin typeface="Cambria Math" panose="02040503050406030204" pitchFamily="18" charset="0"/>
                              </a:rPr>
                            </m:ctrlPr>
                          </m:sSupPr>
                          <m:e>
                            <m:r>
                              <a:rPr lang="en-US" sz="2300" b="1" i="1" smtClean="0">
                                <a:latin typeface="Cambria Math" panose="02040503050406030204" pitchFamily="18" charset="0"/>
                              </a:rPr>
                              <m:t>𝒚</m:t>
                            </m:r>
                          </m:e>
                          <m:sup>
                            <m:r>
                              <a:rPr lang="en-US" sz="2300" b="1" i="1" smtClean="0">
                                <a:latin typeface="Cambria Math" panose="02040503050406030204" pitchFamily="18" charset="0"/>
                              </a:rPr>
                              <m:t>′</m:t>
                            </m:r>
                          </m:sup>
                        </m:sSup>
                        <m:r>
                          <a:rPr lang="en-US" sz="2300" b="1" i="1" smtClean="0">
                            <a:latin typeface="Cambria Math" panose="02040503050406030204" pitchFamily="18" charset="0"/>
                          </a:rPr>
                          <m:t>+</m:t>
                        </m:r>
                        <m:r>
                          <a:rPr lang="en-US" sz="2300" b="1" i="1" smtClean="0">
                            <a:latin typeface="Cambria Math" panose="02040503050406030204" pitchFamily="18" charset="0"/>
                          </a:rPr>
                          <m:t>𝒛</m:t>
                        </m:r>
                        <m:r>
                          <a:rPr lang="en-US" sz="2300" b="1" i="1" smtClean="0">
                            <a:latin typeface="Cambria Math" panose="02040503050406030204" pitchFamily="18" charset="0"/>
                          </a:rPr>
                          <m:t>′)</m:t>
                        </m:r>
                      </m:oMath>
                    </m:oMathPara>
                  </a14:m>
                  <a:endParaRPr lang="en-US" sz="2300" b="1" dirty="0"/>
                </a:p>
              </p:txBody>
            </p:sp>
          </mc:Choice>
          <mc:Fallback xmlns="">
            <p:sp>
              <p:nvSpPr>
                <p:cNvPr id="7" name="TextBox 6"/>
                <p:cNvSpPr txBox="1">
                  <a:spLocks noRot="1" noChangeAspect="1" noMove="1" noResize="1" noEditPoints="1" noAdjustHandles="1" noChangeArrowheads="1" noChangeShapeType="1" noTextEdit="1"/>
                </p:cNvSpPr>
                <p:nvPr/>
              </p:nvSpPr>
              <p:spPr>
                <a:xfrm>
                  <a:off x="9461031" y="2531688"/>
                  <a:ext cx="2131667" cy="535405"/>
                </a:xfrm>
                <a:prstGeom prst="rect">
                  <a:avLst/>
                </a:prstGeom>
                <a:blipFill>
                  <a:blip r:embed="rId8"/>
                  <a:stretch>
                    <a:fillRect l="-327" r="-327" b="-19178"/>
                  </a:stretch>
                </a:blipFill>
              </p:spPr>
              <p:txBody>
                <a:bodyPr/>
                <a:lstStyle/>
                <a:p>
                  <a:r>
                    <a:rPr lang="en-US">
                      <a:noFill/>
                    </a:rPr>
                    <a:t> </a:t>
                  </a:r>
                </a:p>
              </p:txBody>
            </p:sp>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2" name="Ink 11">
                <a:extLst>
                  <a:ext uri="{FF2B5EF4-FFF2-40B4-BE49-F238E27FC236}">
                    <a16:creationId xmlns:a16="http://schemas.microsoft.com/office/drawing/2014/main" id="{9BC77D60-4E83-4F11-A936-2699F0820974}"/>
                  </a:ext>
                </a:extLst>
              </p14:cNvPr>
              <p14:cNvContentPartPr/>
              <p14:nvPr/>
            </p14:nvContentPartPr>
            <p14:xfrm>
              <a:off x="3640320" y="3149133"/>
              <a:ext cx="360" cy="360"/>
            </p14:xfrm>
          </p:contentPart>
        </mc:Choice>
        <mc:Fallback xmlns="">
          <p:pic>
            <p:nvPicPr>
              <p:cNvPr id="12" name="Ink 11">
                <a:extLst>
                  <a:ext uri="{FF2B5EF4-FFF2-40B4-BE49-F238E27FC236}">
                    <a16:creationId xmlns:a16="http://schemas.microsoft.com/office/drawing/2014/main" id="{9BC77D60-4E83-4F11-A936-2699F0820974}"/>
                  </a:ext>
                </a:extLst>
              </p:cNvPr>
              <p:cNvPicPr/>
              <p:nvPr/>
            </p:nvPicPr>
            <p:blipFill>
              <a:blip r:embed="rId10"/>
              <a:stretch>
                <a:fillRect/>
              </a:stretch>
            </p:blipFill>
            <p:spPr>
              <a:xfrm>
                <a:off x="3631680" y="3140493"/>
                <a:ext cx="18000" cy="18000"/>
              </a:xfrm>
              <a:prstGeom prst="rect">
                <a:avLst/>
              </a:prstGeom>
            </p:spPr>
          </p:pic>
        </mc:Fallback>
      </mc:AlternateContent>
      <p:grpSp>
        <p:nvGrpSpPr>
          <p:cNvPr id="23" name="Group 22">
            <a:extLst>
              <a:ext uri="{FF2B5EF4-FFF2-40B4-BE49-F238E27FC236}">
                <a16:creationId xmlns:a16="http://schemas.microsoft.com/office/drawing/2014/main" id="{0179DF2E-402E-4F9A-97F1-C7D4127026B1}"/>
              </a:ext>
            </a:extLst>
          </p:cNvPr>
          <p:cNvGrpSpPr/>
          <p:nvPr/>
        </p:nvGrpSpPr>
        <p:grpSpPr>
          <a:xfrm>
            <a:off x="3860640" y="2861133"/>
            <a:ext cx="360" cy="360"/>
            <a:chOff x="3860640" y="286113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3" name="Ink 12">
                  <a:extLst>
                    <a:ext uri="{FF2B5EF4-FFF2-40B4-BE49-F238E27FC236}">
                      <a16:creationId xmlns:a16="http://schemas.microsoft.com/office/drawing/2014/main" id="{27083C10-26F0-4E78-94E6-DAB26C26ECFB}"/>
                    </a:ext>
                  </a:extLst>
                </p14:cNvPr>
                <p14:cNvContentPartPr/>
                <p14:nvPr/>
              </p14:nvContentPartPr>
              <p14:xfrm>
                <a:off x="3860640" y="2861133"/>
                <a:ext cx="360" cy="360"/>
              </p14:xfrm>
            </p:contentPart>
          </mc:Choice>
          <mc:Fallback xmlns="">
            <p:pic>
              <p:nvPicPr>
                <p:cNvPr id="13" name="Ink 12">
                  <a:extLst>
                    <a:ext uri="{FF2B5EF4-FFF2-40B4-BE49-F238E27FC236}">
                      <a16:creationId xmlns:a16="http://schemas.microsoft.com/office/drawing/2014/main" id="{27083C10-26F0-4E78-94E6-DAB26C26ECFB}"/>
                    </a:ext>
                  </a:extLst>
                </p:cNvPr>
                <p:cNvPicPr/>
                <p:nvPr/>
              </p:nvPicPr>
              <p:blipFill>
                <a:blip r:embed="rId12"/>
                <a:stretch>
                  <a:fillRect/>
                </a:stretch>
              </p:blipFill>
              <p:spPr>
                <a:xfrm>
                  <a:off x="3851640" y="2852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4" name="Ink 13">
                  <a:extLst>
                    <a:ext uri="{FF2B5EF4-FFF2-40B4-BE49-F238E27FC236}">
                      <a16:creationId xmlns:a16="http://schemas.microsoft.com/office/drawing/2014/main" id="{00F04D96-E760-4D0A-84C9-6EAAB2BC43E5}"/>
                    </a:ext>
                  </a:extLst>
                </p14:cNvPr>
                <p14:cNvContentPartPr/>
                <p14:nvPr/>
              </p14:nvContentPartPr>
              <p14:xfrm>
                <a:off x="3860640" y="2861133"/>
                <a:ext cx="360" cy="360"/>
              </p14:xfrm>
            </p:contentPart>
          </mc:Choice>
          <mc:Fallback xmlns="">
            <p:pic>
              <p:nvPicPr>
                <p:cNvPr id="14" name="Ink 13">
                  <a:extLst>
                    <a:ext uri="{FF2B5EF4-FFF2-40B4-BE49-F238E27FC236}">
                      <a16:creationId xmlns:a16="http://schemas.microsoft.com/office/drawing/2014/main" id="{00F04D96-E760-4D0A-84C9-6EAAB2BC43E5}"/>
                    </a:ext>
                  </a:extLst>
                </p:cNvPr>
                <p:cNvPicPr/>
                <p:nvPr/>
              </p:nvPicPr>
              <p:blipFill>
                <a:blip r:embed="rId12"/>
                <a:stretch>
                  <a:fillRect/>
                </a:stretch>
              </p:blipFill>
              <p:spPr>
                <a:xfrm>
                  <a:off x="3851640" y="2852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6" name="Ink 15">
                  <a:extLst>
                    <a:ext uri="{FF2B5EF4-FFF2-40B4-BE49-F238E27FC236}">
                      <a16:creationId xmlns:a16="http://schemas.microsoft.com/office/drawing/2014/main" id="{531486AB-4D7D-4FFD-8D86-E77BAE5C6A60}"/>
                    </a:ext>
                  </a:extLst>
                </p14:cNvPr>
                <p14:cNvContentPartPr/>
                <p14:nvPr/>
              </p14:nvContentPartPr>
              <p14:xfrm>
                <a:off x="3860640" y="2861133"/>
                <a:ext cx="360" cy="360"/>
              </p14:xfrm>
            </p:contentPart>
          </mc:Choice>
          <mc:Fallback xmlns="">
            <p:pic>
              <p:nvPicPr>
                <p:cNvPr id="16" name="Ink 15">
                  <a:extLst>
                    <a:ext uri="{FF2B5EF4-FFF2-40B4-BE49-F238E27FC236}">
                      <a16:creationId xmlns:a16="http://schemas.microsoft.com/office/drawing/2014/main" id="{531486AB-4D7D-4FFD-8D86-E77BAE5C6A60}"/>
                    </a:ext>
                  </a:extLst>
                </p:cNvPr>
                <p:cNvPicPr/>
                <p:nvPr/>
              </p:nvPicPr>
              <p:blipFill>
                <a:blip r:embed="rId12"/>
                <a:stretch>
                  <a:fillRect/>
                </a:stretch>
              </p:blipFill>
              <p:spPr>
                <a:xfrm>
                  <a:off x="3851640" y="285249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7" name="Ink 16">
                  <a:extLst>
                    <a:ext uri="{FF2B5EF4-FFF2-40B4-BE49-F238E27FC236}">
                      <a16:creationId xmlns:a16="http://schemas.microsoft.com/office/drawing/2014/main" id="{24BFF704-71E0-427F-9C22-C64327008D17}"/>
                    </a:ext>
                  </a:extLst>
                </p14:cNvPr>
                <p14:cNvContentPartPr/>
                <p14:nvPr/>
              </p14:nvContentPartPr>
              <p14:xfrm>
                <a:off x="3860640" y="2861133"/>
                <a:ext cx="360" cy="360"/>
              </p14:xfrm>
            </p:contentPart>
          </mc:Choice>
          <mc:Fallback xmlns="">
            <p:pic>
              <p:nvPicPr>
                <p:cNvPr id="17" name="Ink 16">
                  <a:extLst>
                    <a:ext uri="{FF2B5EF4-FFF2-40B4-BE49-F238E27FC236}">
                      <a16:creationId xmlns:a16="http://schemas.microsoft.com/office/drawing/2014/main" id="{24BFF704-71E0-427F-9C22-C64327008D17}"/>
                    </a:ext>
                  </a:extLst>
                </p:cNvPr>
                <p:cNvPicPr/>
                <p:nvPr/>
              </p:nvPicPr>
              <p:blipFill>
                <a:blip r:embed="rId12"/>
                <a:stretch>
                  <a:fillRect/>
                </a:stretch>
              </p:blipFill>
              <p:spPr>
                <a:xfrm>
                  <a:off x="3851640" y="2852493"/>
                  <a:ext cx="18000" cy="18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8" name="Ink 17">
                <a:extLst>
                  <a:ext uri="{FF2B5EF4-FFF2-40B4-BE49-F238E27FC236}">
                    <a16:creationId xmlns:a16="http://schemas.microsoft.com/office/drawing/2014/main" id="{3E8FA85C-5254-4341-9372-F16AFA542E2C}"/>
                  </a:ext>
                </a:extLst>
              </p14:cNvPr>
              <p14:cNvContentPartPr/>
              <p14:nvPr/>
            </p14:nvContentPartPr>
            <p14:xfrm>
              <a:off x="-542160" y="4300773"/>
              <a:ext cx="360" cy="360"/>
            </p14:xfrm>
          </p:contentPart>
        </mc:Choice>
        <mc:Fallback xmlns="">
          <p:pic>
            <p:nvPicPr>
              <p:cNvPr id="18" name="Ink 17">
                <a:extLst>
                  <a:ext uri="{FF2B5EF4-FFF2-40B4-BE49-F238E27FC236}">
                    <a16:creationId xmlns:a16="http://schemas.microsoft.com/office/drawing/2014/main" id="{3E8FA85C-5254-4341-9372-F16AFA542E2C}"/>
                  </a:ext>
                </a:extLst>
              </p:cNvPr>
              <p:cNvPicPr/>
              <p:nvPr/>
            </p:nvPicPr>
            <p:blipFill>
              <a:blip r:embed="rId17"/>
              <a:stretch>
                <a:fillRect/>
              </a:stretch>
            </p:blipFill>
            <p:spPr>
              <a:xfrm>
                <a:off x="-550800" y="4291773"/>
                <a:ext cx="18000" cy="18000"/>
              </a:xfrm>
              <a:prstGeom prst="rect">
                <a:avLst/>
              </a:prstGeom>
            </p:spPr>
          </p:pic>
        </mc:Fallback>
      </mc:AlternateContent>
      <p:grpSp>
        <p:nvGrpSpPr>
          <p:cNvPr id="22" name="Group 21">
            <a:extLst>
              <a:ext uri="{FF2B5EF4-FFF2-40B4-BE49-F238E27FC236}">
                <a16:creationId xmlns:a16="http://schemas.microsoft.com/office/drawing/2014/main" id="{322E18E9-14B6-43B1-9409-23B422ECE79C}"/>
              </a:ext>
            </a:extLst>
          </p:cNvPr>
          <p:cNvGrpSpPr/>
          <p:nvPr/>
        </p:nvGrpSpPr>
        <p:grpSpPr>
          <a:xfrm>
            <a:off x="4215600" y="3369453"/>
            <a:ext cx="360" cy="360"/>
            <a:chOff x="4215600" y="3369453"/>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9" name="Ink 18">
                  <a:extLst>
                    <a:ext uri="{FF2B5EF4-FFF2-40B4-BE49-F238E27FC236}">
                      <a16:creationId xmlns:a16="http://schemas.microsoft.com/office/drawing/2014/main" id="{EC0F2315-C02E-46A4-89E8-1974A8910FDA}"/>
                    </a:ext>
                  </a:extLst>
                </p14:cNvPr>
                <p14:cNvContentPartPr/>
                <p14:nvPr/>
              </p14:nvContentPartPr>
              <p14:xfrm>
                <a:off x="4215600" y="3369453"/>
                <a:ext cx="360" cy="360"/>
              </p14:xfrm>
            </p:contentPart>
          </mc:Choice>
          <mc:Fallback xmlns="">
            <p:pic>
              <p:nvPicPr>
                <p:cNvPr id="19" name="Ink 18">
                  <a:extLst>
                    <a:ext uri="{FF2B5EF4-FFF2-40B4-BE49-F238E27FC236}">
                      <a16:creationId xmlns:a16="http://schemas.microsoft.com/office/drawing/2014/main" id="{EC0F2315-C02E-46A4-89E8-1974A8910FDA}"/>
                    </a:ext>
                  </a:extLst>
                </p:cNvPr>
                <p:cNvPicPr/>
                <p:nvPr/>
              </p:nvPicPr>
              <p:blipFill>
                <a:blip r:embed="rId19"/>
                <a:stretch>
                  <a:fillRect/>
                </a:stretch>
              </p:blipFill>
              <p:spPr>
                <a:xfrm>
                  <a:off x="4206960" y="336045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0" name="Ink 19">
                  <a:extLst>
                    <a:ext uri="{FF2B5EF4-FFF2-40B4-BE49-F238E27FC236}">
                      <a16:creationId xmlns:a16="http://schemas.microsoft.com/office/drawing/2014/main" id="{70B1882E-05B9-4648-B52D-A8F8A3783293}"/>
                    </a:ext>
                  </a:extLst>
                </p14:cNvPr>
                <p14:cNvContentPartPr/>
                <p14:nvPr/>
              </p14:nvContentPartPr>
              <p14:xfrm>
                <a:off x="4215600" y="3369453"/>
                <a:ext cx="360" cy="360"/>
              </p14:xfrm>
            </p:contentPart>
          </mc:Choice>
          <mc:Fallback xmlns="">
            <p:pic>
              <p:nvPicPr>
                <p:cNvPr id="20" name="Ink 19">
                  <a:extLst>
                    <a:ext uri="{FF2B5EF4-FFF2-40B4-BE49-F238E27FC236}">
                      <a16:creationId xmlns:a16="http://schemas.microsoft.com/office/drawing/2014/main" id="{70B1882E-05B9-4648-B52D-A8F8A3783293}"/>
                    </a:ext>
                  </a:extLst>
                </p:cNvPr>
                <p:cNvPicPr/>
                <p:nvPr/>
              </p:nvPicPr>
              <p:blipFill>
                <a:blip r:embed="rId19"/>
                <a:stretch>
                  <a:fillRect/>
                </a:stretch>
              </p:blipFill>
              <p:spPr>
                <a:xfrm>
                  <a:off x="4206960" y="3360453"/>
                  <a:ext cx="18000" cy="18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21" name="Ink 20">
                <a:extLst>
                  <a:ext uri="{FF2B5EF4-FFF2-40B4-BE49-F238E27FC236}">
                    <a16:creationId xmlns:a16="http://schemas.microsoft.com/office/drawing/2014/main" id="{6EA5E421-4F7F-4AE8-B75F-D7247831329A}"/>
                  </a:ext>
                </a:extLst>
              </p14:cNvPr>
              <p14:cNvContentPartPr/>
              <p14:nvPr/>
            </p14:nvContentPartPr>
            <p14:xfrm>
              <a:off x="4469760" y="2929173"/>
              <a:ext cx="360" cy="360"/>
            </p14:xfrm>
          </p:contentPart>
        </mc:Choice>
        <mc:Fallback xmlns="">
          <p:pic>
            <p:nvPicPr>
              <p:cNvPr id="21" name="Ink 20">
                <a:extLst>
                  <a:ext uri="{FF2B5EF4-FFF2-40B4-BE49-F238E27FC236}">
                    <a16:creationId xmlns:a16="http://schemas.microsoft.com/office/drawing/2014/main" id="{6EA5E421-4F7F-4AE8-B75F-D7247831329A}"/>
                  </a:ext>
                </a:extLst>
              </p:cNvPr>
              <p:cNvPicPr/>
              <p:nvPr/>
            </p:nvPicPr>
            <p:blipFill>
              <a:blip r:embed="rId22"/>
              <a:stretch>
                <a:fillRect/>
              </a:stretch>
            </p:blipFill>
            <p:spPr>
              <a:xfrm>
                <a:off x="4461120" y="2920173"/>
                <a:ext cx="18000" cy="18000"/>
              </a:xfrm>
              <a:prstGeom prst="rect">
                <a:avLst/>
              </a:prstGeom>
            </p:spPr>
          </p:pic>
        </mc:Fallback>
      </mc:AlternateContent>
    </p:spTree>
    <p:extLst>
      <p:ext uri="{BB962C8B-B14F-4D97-AF65-F5344CB8AC3E}">
        <p14:creationId xmlns:p14="http://schemas.microsoft.com/office/powerpoint/2010/main" val="18494991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6640" cy="1325563"/>
          </a:xfrm>
        </p:spPr>
        <p:txBody>
          <a:bodyPr>
            <a:normAutofit/>
          </a:bodyPr>
          <a:lstStyle/>
          <a:p>
            <a:r>
              <a:rPr lang="en-US" b="1" i="1" dirty="0">
                <a:solidFill>
                  <a:schemeClr val="accent5">
                    <a:lumMod val="75000"/>
                  </a:schemeClr>
                </a:solidFill>
                <a:latin typeface="+mn-lt"/>
              </a:rPr>
              <a:t>Boolean Function in Canonical Form </a:t>
            </a:r>
            <a:br>
              <a:rPr lang="en-US" b="1" i="1" dirty="0">
                <a:solidFill>
                  <a:schemeClr val="accent5">
                    <a:lumMod val="75000"/>
                  </a:schemeClr>
                </a:solidFill>
                <a:latin typeface="+mn-lt"/>
              </a:rPr>
            </a:br>
            <a:r>
              <a:rPr lang="en-US" sz="2500" b="1" i="1" dirty="0">
                <a:solidFill>
                  <a:srgbClr val="FF0000"/>
                </a:solidFill>
                <a:latin typeface="+mn-lt"/>
              </a:rPr>
              <a:t>Using Minterms</a:t>
            </a:r>
            <a:endParaRPr lang="en-US" sz="2500" dirty="0">
              <a:solidFill>
                <a:srgbClr val="FF0000"/>
              </a:solidFill>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41</a:t>
            </a:fld>
            <a:endParaRPr lang="en-US" sz="18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690688"/>
                <a:ext cx="10515600" cy="4351338"/>
              </a:xfrm>
            </p:spPr>
            <p:txBody>
              <a:bodyPr>
                <a:normAutofit/>
              </a:bodyPr>
              <a:lstStyle/>
              <a:p>
                <a:pPr algn="just"/>
                <a:r>
                  <a:rPr lang="en-US" dirty="0"/>
                  <a:t>Usually, Boolean function is expressed in </a:t>
                </a:r>
                <a:r>
                  <a:rPr lang="en-US" b="1" dirty="0"/>
                  <a:t>canonical form </a:t>
                </a:r>
                <a:r>
                  <a:rPr lang="en-US" dirty="0"/>
                  <a:t>using minterms. </a:t>
                </a:r>
              </a:p>
              <a:p>
                <a:pPr lvl="1" algn="just"/>
                <a:r>
                  <a:rPr lang="en-US" dirty="0"/>
                  <a:t>Known as </a:t>
                </a:r>
                <a:r>
                  <a:rPr lang="en-US" b="1" dirty="0"/>
                  <a:t>Sum of minterms/products (SOP</a:t>
                </a:r>
                <a:r>
                  <a:rPr lang="en-US" dirty="0"/>
                  <a:t>)</a:t>
                </a:r>
              </a:p>
              <a:p>
                <a:pPr lvl="1"/>
                <a:r>
                  <a:rPr lang="en-US" sz="2000" dirty="0">
                    <a:solidFill>
                      <a:srgbClr val="FF0000"/>
                    </a:solidFill>
                  </a:rPr>
                  <a:t>If the function is not in this form,</a:t>
                </a:r>
              </a:p>
              <a:p>
                <a:pPr lvl="2"/>
                <a:r>
                  <a:rPr lang="en-US" dirty="0"/>
                  <a:t>At first, the expression is </a:t>
                </a:r>
                <a:r>
                  <a:rPr lang="en-US" b="1" dirty="0"/>
                  <a:t>expanded</a:t>
                </a:r>
                <a:r>
                  <a:rPr lang="en-US" dirty="0"/>
                  <a:t> into a </a:t>
                </a:r>
                <a:r>
                  <a:rPr lang="en-US" dirty="0">
                    <a:solidFill>
                      <a:srgbClr val="0070C0"/>
                    </a:solidFill>
                  </a:rPr>
                  <a:t>sum of AND terms</a:t>
                </a:r>
              </a:p>
              <a:p>
                <a:pPr lvl="2"/>
                <a:r>
                  <a:rPr lang="en-US" dirty="0"/>
                  <a:t>Then, Each term is inspected whether it contains all the variables.</a:t>
                </a:r>
              </a:p>
              <a:p>
                <a:pPr lvl="3"/>
                <a:r>
                  <a:rPr lang="en-US" sz="2000" dirty="0"/>
                  <a:t>If any variable (</a:t>
                </a:r>
                <a:r>
                  <a:rPr lang="en-US" sz="2000" b="1" i="1" dirty="0"/>
                  <a:t>e.g., </a:t>
                </a:r>
                <a14:m>
                  <m:oMath xmlns:m="http://schemas.openxmlformats.org/officeDocument/2006/math">
                    <m:r>
                      <a:rPr lang="en-US" sz="2000" i="1" dirty="0" smtClean="0">
                        <a:latin typeface="Cambria Math" panose="02040503050406030204" pitchFamily="18" charset="0"/>
                      </a:rPr>
                      <m:t>𝑥</m:t>
                    </m:r>
                  </m:oMath>
                </a14:m>
                <a:r>
                  <a:rPr lang="en-US" sz="2000" dirty="0"/>
                  <a:t>) is </a:t>
                </a:r>
                <a:r>
                  <a:rPr lang="en-US" sz="2000" b="1" dirty="0">
                    <a:solidFill>
                      <a:schemeClr val="accent2">
                        <a:lumMod val="75000"/>
                      </a:schemeClr>
                    </a:solidFill>
                  </a:rPr>
                  <a:t>missed</a:t>
                </a:r>
                <a:r>
                  <a:rPr lang="en-US" sz="2000" dirty="0"/>
                  <a:t>, that very term is </a:t>
                </a:r>
                <a:r>
                  <a:rPr lang="en-US" sz="2000" b="1" dirty="0"/>
                  <a:t>AND</a:t>
                </a:r>
                <a:r>
                  <a:rPr lang="en-US" sz="2000" dirty="0"/>
                  <a:t>ed with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a:latin typeface="Cambria Math" panose="02040503050406030204" pitchFamily="18" charset="0"/>
                      </a:rPr>
                      <m:t>’</m:t>
                    </m:r>
                  </m:oMath>
                </a14:m>
                <a:r>
                  <a:rPr lang="en-US" sz="2000"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690688"/>
                <a:ext cx="10515600" cy="4351338"/>
              </a:xfrm>
              <a:blipFill>
                <a:blip r:embed="rId4"/>
                <a:stretch>
                  <a:fillRect l="-1043" t="-2241" r="-1159"/>
                </a:stretch>
              </a:blipFill>
            </p:spPr>
            <p:txBody>
              <a:bodyPr/>
              <a:lstStyle/>
              <a:p>
                <a:r>
                  <a:rPr lang="en-US">
                    <a:noFill/>
                  </a:rPr>
                  <a:t> </a:t>
                </a:r>
              </a:p>
            </p:txBody>
          </p:sp>
        </mc:Fallback>
      </mc:AlternateContent>
      <p:pic>
        <p:nvPicPr>
          <p:cNvPr id="7" name="Picture 6"/>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155767" y="4953632"/>
            <a:ext cx="5758547" cy="1020662"/>
          </a:xfrm>
          <a:prstGeom prst="rect">
            <a:avLst/>
          </a:prstGeom>
        </p:spPr>
      </p:pic>
      <p:pic>
        <p:nvPicPr>
          <p:cNvPr id="9" name="Picture 8"/>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290606" y="4544896"/>
            <a:ext cx="1745054" cy="377661"/>
          </a:xfrm>
          <a:prstGeom prst="rect">
            <a:avLst/>
          </a:prstGeom>
        </p:spPr>
      </p:pic>
      <p:pic>
        <p:nvPicPr>
          <p:cNvPr id="12" name="Picture 11"/>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219949" y="5871990"/>
            <a:ext cx="3119230" cy="433561"/>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0" name="Ink 9">
                <a:extLst>
                  <a:ext uri="{FF2B5EF4-FFF2-40B4-BE49-F238E27FC236}">
                    <a16:creationId xmlns:a16="http://schemas.microsoft.com/office/drawing/2014/main" id="{8BDC24DE-CFC6-4151-BAA0-B4C746354908}"/>
                  </a:ext>
                </a:extLst>
              </p14:cNvPr>
              <p14:cNvContentPartPr/>
              <p14:nvPr/>
            </p14:nvContentPartPr>
            <p14:xfrm>
              <a:off x="9583920" y="1676013"/>
              <a:ext cx="360" cy="360"/>
            </p14:xfrm>
          </p:contentPart>
        </mc:Choice>
        <mc:Fallback xmlns="">
          <p:pic>
            <p:nvPicPr>
              <p:cNvPr id="10" name="Ink 9">
                <a:extLst>
                  <a:ext uri="{FF2B5EF4-FFF2-40B4-BE49-F238E27FC236}">
                    <a16:creationId xmlns:a16="http://schemas.microsoft.com/office/drawing/2014/main" id="{8BDC24DE-CFC6-4151-BAA0-B4C746354908}"/>
                  </a:ext>
                </a:extLst>
              </p:cNvPr>
              <p:cNvPicPr/>
              <p:nvPr/>
            </p:nvPicPr>
            <p:blipFill>
              <a:blip r:embed="rId12"/>
              <a:stretch>
                <a:fillRect/>
              </a:stretch>
            </p:blipFill>
            <p:spPr>
              <a:xfrm>
                <a:off x="9575280" y="166701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1" name="Ink 10">
                <a:extLst>
                  <a:ext uri="{FF2B5EF4-FFF2-40B4-BE49-F238E27FC236}">
                    <a16:creationId xmlns:a16="http://schemas.microsoft.com/office/drawing/2014/main" id="{B2FDD56D-2892-4530-B3A4-A1D851F7C712}"/>
                  </a:ext>
                </a:extLst>
              </p14:cNvPr>
              <p14:cNvContentPartPr/>
              <p14:nvPr/>
            </p14:nvContentPartPr>
            <p14:xfrm>
              <a:off x="12783960" y="2014413"/>
              <a:ext cx="360" cy="360"/>
            </p14:xfrm>
          </p:contentPart>
        </mc:Choice>
        <mc:Fallback xmlns="">
          <p:pic>
            <p:nvPicPr>
              <p:cNvPr id="11" name="Ink 10">
                <a:extLst>
                  <a:ext uri="{FF2B5EF4-FFF2-40B4-BE49-F238E27FC236}">
                    <a16:creationId xmlns:a16="http://schemas.microsoft.com/office/drawing/2014/main" id="{B2FDD56D-2892-4530-B3A4-A1D851F7C712}"/>
                  </a:ext>
                </a:extLst>
              </p:cNvPr>
              <p:cNvPicPr/>
              <p:nvPr/>
            </p:nvPicPr>
            <p:blipFill>
              <a:blip r:embed="rId14"/>
              <a:stretch>
                <a:fillRect/>
              </a:stretch>
            </p:blipFill>
            <p:spPr>
              <a:xfrm>
                <a:off x="12775320" y="2005773"/>
                <a:ext cx="18000" cy="18000"/>
              </a:xfrm>
              <a:prstGeom prst="rect">
                <a:avLst/>
              </a:prstGeom>
            </p:spPr>
          </p:pic>
        </mc:Fallback>
      </mc:AlternateContent>
      <p:sp>
        <p:nvSpPr>
          <p:cNvPr id="13" name="TextBox 12">
            <a:extLst>
              <a:ext uri="{FF2B5EF4-FFF2-40B4-BE49-F238E27FC236}">
                <a16:creationId xmlns:a16="http://schemas.microsoft.com/office/drawing/2014/main" id="{4F1BEB77-CFB7-4ABA-838C-469240219C78}"/>
              </a:ext>
            </a:extLst>
          </p:cNvPr>
          <p:cNvSpPr txBox="1"/>
          <p:nvPr/>
        </p:nvSpPr>
        <p:spPr>
          <a:xfrm>
            <a:off x="7302425" y="5454162"/>
            <a:ext cx="1089657" cy="338554"/>
          </a:xfrm>
          <a:prstGeom prst="rect">
            <a:avLst/>
          </a:prstGeom>
          <a:noFill/>
        </p:spPr>
        <p:txBody>
          <a:bodyPr wrap="none" rtlCol="0">
            <a:spAutoFit/>
          </a:bodyPr>
          <a:lstStyle/>
          <a:p>
            <a:r>
              <a:rPr lang="en-US" sz="1600" b="1" dirty="0">
                <a:solidFill>
                  <a:schemeClr val="accent2">
                    <a:lumMod val="75000"/>
                  </a:schemeClr>
                </a:solidFill>
              </a:rPr>
              <a:t>Notation 1</a:t>
            </a:r>
          </a:p>
        </p:txBody>
      </p:sp>
      <p:sp>
        <p:nvSpPr>
          <p:cNvPr id="15" name="TextBox 14">
            <a:extLst>
              <a:ext uri="{FF2B5EF4-FFF2-40B4-BE49-F238E27FC236}">
                <a16:creationId xmlns:a16="http://schemas.microsoft.com/office/drawing/2014/main" id="{6CA6318D-F1C6-41C0-8A4A-16081D6735D0}"/>
              </a:ext>
            </a:extLst>
          </p:cNvPr>
          <p:cNvSpPr txBox="1"/>
          <p:nvPr/>
        </p:nvSpPr>
        <p:spPr>
          <a:xfrm>
            <a:off x="7302425" y="5871990"/>
            <a:ext cx="1089657" cy="338554"/>
          </a:xfrm>
          <a:prstGeom prst="rect">
            <a:avLst/>
          </a:prstGeom>
          <a:noFill/>
        </p:spPr>
        <p:txBody>
          <a:bodyPr wrap="none" rtlCol="0">
            <a:spAutoFit/>
          </a:bodyPr>
          <a:lstStyle/>
          <a:p>
            <a:r>
              <a:rPr lang="en-US" sz="1600" b="1" dirty="0">
                <a:solidFill>
                  <a:schemeClr val="accent2">
                    <a:lumMod val="75000"/>
                  </a:schemeClr>
                </a:solidFill>
              </a:rPr>
              <a:t>Notation 2</a:t>
            </a:r>
          </a:p>
        </p:txBody>
      </p:sp>
    </p:spTree>
    <p:extLst>
      <p:ext uri="{BB962C8B-B14F-4D97-AF65-F5344CB8AC3E}">
        <p14:creationId xmlns:p14="http://schemas.microsoft.com/office/powerpoint/2010/main" val="2200329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6640" cy="1325563"/>
          </a:xfrm>
        </p:spPr>
        <p:txBody>
          <a:bodyPr>
            <a:normAutofit/>
          </a:bodyPr>
          <a:lstStyle/>
          <a:p>
            <a:r>
              <a:rPr lang="en-US" b="1" i="1" dirty="0">
                <a:solidFill>
                  <a:schemeClr val="accent5">
                    <a:lumMod val="75000"/>
                  </a:schemeClr>
                </a:solidFill>
                <a:latin typeface="+mn-lt"/>
              </a:rPr>
              <a:t>Boolean Function in Canonical Form… </a:t>
            </a:r>
            <a:br>
              <a:rPr lang="en-US" b="1" i="1" dirty="0">
                <a:solidFill>
                  <a:schemeClr val="accent5">
                    <a:lumMod val="75000"/>
                  </a:schemeClr>
                </a:solidFill>
                <a:latin typeface="+mn-lt"/>
              </a:rPr>
            </a:br>
            <a:r>
              <a:rPr lang="en-US" sz="2500" b="1" i="1" dirty="0">
                <a:solidFill>
                  <a:srgbClr val="FF0000"/>
                </a:solidFill>
                <a:latin typeface="+mn-lt"/>
              </a:rPr>
              <a:t>Using Minterms</a:t>
            </a:r>
            <a:endParaRPr lang="en-US" sz="2500" dirty="0">
              <a:solidFill>
                <a:srgbClr val="FF0000"/>
              </a:solidFill>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42</a:t>
            </a:fld>
            <a:endParaRPr lang="en-US" sz="1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90688"/>
                <a:ext cx="10515600" cy="4351338"/>
              </a:xfrm>
            </p:spPr>
            <p:txBody>
              <a:bodyPr>
                <a:normAutofit/>
              </a:bodyPr>
              <a:lstStyle/>
              <a:p>
                <a:pPr algn="just"/>
                <a:r>
                  <a:rPr lang="en-US" dirty="0"/>
                  <a:t>It is also convenient to </a:t>
                </a:r>
                <a:r>
                  <a:rPr lang="en-US" b="1" dirty="0">
                    <a:solidFill>
                      <a:schemeClr val="accent2">
                        <a:lumMod val="75000"/>
                      </a:schemeClr>
                    </a:solidFill>
                  </a:rPr>
                  <a:t>derive</a:t>
                </a:r>
                <a:r>
                  <a:rPr lang="en-US" dirty="0"/>
                  <a:t> minterms of a Boolean function obtaining the </a:t>
                </a:r>
                <a:r>
                  <a:rPr lang="en-US" b="1" dirty="0"/>
                  <a:t>truth table </a:t>
                </a:r>
                <a:r>
                  <a:rPr lang="en-US" dirty="0"/>
                  <a:t>of the function directly from the expression and selecting the minterms (</a:t>
                </a:r>
                <a:r>
                  <a:rPr lang="en-US" b="1" dirty="0"/>
                  <a:t>=1</a:t>
                </a:r>
                <a:r>
                  <a:rPr lang="en-US" dirty="0"/>
                  <a:t>) from the truth table. </a:t>
                </a:r>
              </a:p>
              <a:p>
                <a:pPr lvl="2" algn="just"/>
                <a:r>
                  <a:rPr lang="en-US" b="1" dirty="0"/>
                  <a:t>Example: </a:t>
                </a:r>
                <a14:m>
                  <m:oMath xmlns:m="http://schemas.openxmlformats.org/officeDocument/2006/math">
                    <m:r>
                      <a:rPr lang="en-US" i="1" dirty="0" smtClean="0">
                        <a:latin typeface="Cambria Math" panose="02040503050406030204" pitchFamily="18" charset="0"/>
                      </a:rPr>
                      <m:t>𝐹</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m:t>
                    </m:r>
                    <m:r>
                      <a:rPr lang="en-US" i="1" dirty="0" smtClean="0">
                        <a:latin typeface="Cambria Math" panose="02040503050406030204" pitchFamily="18" charset="0"/>
                      </a:rPr>
                      <m:t>𝐵</m:t>
                    </m:r>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  </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90688"/>
                <a:ext cx="10515600" cy="4351338"/>
              </a:xfrm>
              <a:blipFill>
                <a:blip r:embed="rId4"/>
                <a:stretch>
                  <a:fillRect l="-1043" t="-2241" r="-1159"/>
                </a:stretch>
              </a:blipFill>
            </p:spPr>
            <p:txBody>
              <a:bodyPr/>
              <a:lstStyle/>
              <a:p>
                <a:r>
                  <a:rPr lang="en-US">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0" name="Ink 9">
                <a:extLst>
                  <a:ext uri="{FF2B5EF4-FFF2-40B4-BE49-F238E27FC236}">
                    <a16:creationId xmlns:a16="http://schemas.microsoft.com/office/drawing/2014/main" id="{8BDC24DE-CFC6-4151-BAA0-B4C746354908}"/>
                  </a:ext>
                </a:extLst>
              </p14:cNvPr>
              <p14:cNvContentPartPr/>
              <p14:nvPr/>
            </p14:nvContentPartPr>
            <p14:xfrm>
              <a:off x="9583920" y="1676013"/>
              <a:ext cx="360" cy="360"/>
            </p14:xfrm>
          </p:contentPart>
        </mc:Choice>
        <mc:Fallback xmlns="">
          <p:pic>
            <p:nvPicPr>
              <p:cNvPr id="10" name="Ink 9">
                <a:extLst>
                  <a:ext uri="{FF2B5EF4-FFF2-40B4-BE49-F238E27FC236}">
                    <a16:creationId xmlns:a16="http://schemas.microsoft.com/office/drawing/2014/main" id="{8BDC24DE-CFC6-4151-BAA0-B4C746354908}"/>
                  </a:ext>
                </a:extLst>
              </p:cNvPr>
              <p:cNvPicPr/>
              <p:nvPr/>
            </p:nvPicPr>
            <p:blipFill>
              <a:blip r:embed="rId6"/>
              <a:stretch>
                <a:fillRect/>
              </a:stretch>
            </p:blipFill>
            <p:spPr>
              <a:xfrm>
                <a:off x="9574920" y="1667013"/>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1" name="Ink 10">
                <a:extLst>
                  <a:ext uri="{FF2B5EF4-FFF2-40B4-BE49-F238E27FC236}">
                    <a16:creationId xmlns:a16="http://schemas.microsoft.com/office/drawing/2014/main" id="{B2FDD56D-2892-4530-B3A4-A1D851F7C712}"/>
                  </a:ext>
                </a:extLst>
              </p14:cNvPr>
              <p14:cNvContentPartPr/>
              <p14:nvPr/>
            </p14:nvContentPartPr>
            <p14:xfrm>
              <a:off x="12783960" y="2014413"/>
              <a:ext cx="360" cy="360"/>
            </p14:xfrm>
          </p:contentPart>
        </mc:Choice>
        <mc:Fallback xmlns="">
          <p:pic>
            <p:nvPicPr>
              <p:cNvPr id="11" name="Ink 10">
                <a:extLst>
                  <a:ext uri="{FF2B5EF4-FFF2-40B4-BE49-F238E27FC236}">
                    <a16:creationId xmlns:a16="http://schemas.microsoft.com/office/drawing/2014/main" id="{B2FDD56D-2892-4530-B3A4-A1D851F7C712}"/>
                  </a:ext>
                </a:extLst>
              </p:cNvPr>
              <p:cNvPicPr/>
              <p:nvPr/>
            </p:nvPicPr>
            <p:blipFill>
              <a:blip r:embed="rId8"/>
              <a:stretch>
                <a:fillRect/>
              </a:stretch>
            </p:blipFill>
            <p:spPr>
              <a:xfrm>
                <a:off x="12774960" y="2005413"/>
                <a:ext cx="18000" cy="18000"/>
              </a:xfrm>
              <a:prstGeom prst="rect">
                <a:avLst/>
              </a:prstGeom>
            </p:spPr>
          </p:pic>
        </mc:Fallback>
      </mc:AlternateContent>
      <p:pic>
        <p:nvPicPr>
          <p:cNvPr id="14" name="Picture 13">
            <a:extLst>
              <a:ext uri="{FF2B5EF4-FFF2-40B4-BE49-F238E27FC236}">
                <a16:creationId xmlns:a16="http://schemas.microsoft.com/office/drawing/2014/main" id="{A3342972-1EFF-4762-AB92-6B5ED9303104}"/>
              </a:ext>
            </a:extLst>
          </p:cNvPr>
          <p:cNvPicPr>
            <a:picLocks noChangeAspect="1"/>
          </p:cNvPicPr>
          <p:nvPr/>
        </p:nvPicPr>
        <p:blipFill>
          <a:blip r:embed="rId9">
            <a:grayscl/>
            <a:extLst>
              <a:ext uri="{BEBA8EAE-BF5A-486C-A8C5-ECC9F3942E4B}">
                <a14:imgProps xmlns:a14="http://schemas.microsoft.com/office/drawing/2010/main">
                  <a14:imgLayer r:embed="rId10">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336505" y="3429000"/>
            <a:ext cx="3816895" cy="3429000"/>
          </a:xfrm>
          <a:prstGeom prst="rect">
            <a:avLst/>
          </a:prstGeom>
        </p:spPr>
      </p:pic>
    </p:spTree>
    <p:extLst>
      <p:ext uri="{BB962C8B-B14F-4D97-AF65-F5344CB8AC3E}">
        <p14:creationId xmlns:p14="http://schemas.microsoft.com/office/powerpoint/2010/main" val="10709135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6640" cy="1325563"/>
          </a:xfrm>
        </p:spPr>
        <p:txBody>
          <a:bodyPr>
            <a:normAutofit/>
          </a:bodyPr>
          <a:lstStyle/>
          <a:p>
            <a:r>
              <a:rPr lang="en-US" b="1" i="1" dirty="0">
                <a:solidFill>
                  <a:schemeClr val="accent5">
                    <a:lumMod val="75000"/>
                  </a:schemeClr>
                </a:solidFill>
                <a:latin typeface="+mn-lt"/>
              </a:rPr>
              <a:t>Boolean Function in Canonical Form</a:t>
            </a:r>
            <a:br>
              <a:rPr lang="en-US" b="1" i="1" dirty="0">
                <a:solidFill>
                  <a:schemeClr val="accent5">
                    <a:lumMod val="75000"/>
                  </a:schemeClr>
                </a:solidFill>
                <a:latin typeface="+mn-lt"/>
              </a:rPr>
            </a:br>
            <a:r>
              <a:rPr lang="en-US" sz="2500" b="1" i="1" dirty="0">
                <a:solidFill>
                  <a:srgbClr val="FF0000"/>
                </a:solidFill>
                <a:latin typeface="+mn-lt"/>
              </a:rPr>
              <a:t>Using Maxterms</a:t>
            </a:r>
            <a:endParaRPr lang="en-US" sz="2500" dirty="0">
              <a:solidFill>
                <a:srgbClr val="FF0000"/>
              </a:solidFill>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43</a:t>
            </a:fld>
            <a:endParaRPr lang="en-US" sz="18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666866"/>
                <a:ext cx="10515600" cy="4351338"/>
              </a:xfrm>
            </p:spPr>
            <p:txBody>
              <a:bodyPr>
                <a:normAutofit/>
              </a:bodyPr>
              <a:lstStyle/>
              <a:p>
                <a:r>
                  <a:rPr lang="en-US" dirty="0"/>
                  <a:t>Boolean function is also expressed in </a:t>
                </a:r>
                <a:r>
                  <a:rPr lang="en-US" b="1" dirty="0"/>
                  <a:t>canonical form </a:t>
                </a:r>
                <a:r>
                  <a:rPr lang="en-US" dirty="0"/>
                  <a:t>using maxterms </a:t>
                </a:r>
              </a:p>
              <a:p>
                <a:pPr lvl="1"/>
                <a:r>
                  <a:rPr lang="en-US" dirty="0"/>
                  <a:t>Known as </a:t>
                </a:r>
                <a:r>
                  <a:rPr lang="en-US" b="1" dirty="0"/>
                  <a:t>Product of maxterms/sums (POS)</a:t>
                </a:r>
              </a:p>
              <a:p>
                <a:pPr lvl="1"/>
                <a:r>
                  <a:rPr lang="en-US" sz="2000" dirty="0">
                    <a:solidFill>
                      <a:srgbClr val="FF0000"/>
                    </a:solidFill>
                  </a:rPr>
                  <a:t>If the function is not in this form,</a:t>
                </a:r>
              </a:p>
              <a:p>
                <a:pPr lvl="2"/>
                <a:r>
                  <a:rPr lang="en-US" dirty="0"/>
                  <a:t>At first, the expression is </a:t>
                </a:r>
                <a:r>
                  <a:rPr lang="en-US" b="1" dirty="0">
                    <a:solidFill>
                      <a:schemeClr val="accent2">
                        <a:lumMod val="75000"/>
                      </a:schemeClr>
                    </a:solidFill>
                  </a:rPr>
                  <a:t>expanded</a:t>
                </a:r>
                <a:r>
                  <a:rPr lang="en-US" dirty="0"/>
                  <a:t> into a </a:t>
                </a:r>
                <a:r>
                  <a:rPr lang="en-US" b="1" dirty="0"/>
                  <a:t>product </a:t>
                </a:r>
                <a:r>
                  <a:rPr lang="en-US" dirty="0"/>
                  <a:t>of </a:t>
                </a:r>
                <a:r>
                  <a:rPr lang="en-US" b="1" dirty="0"/>
                  <a:t>OR</a:t>
                </a:r>
                <a:r>
                  <a:rPr lang="en-US" dirty="0"/>
                  <a:t> terms</a:t>
                </a:r>
              </a:p>
              <a:p>
                <a:pPr lvl="3"/>
                <a:r>
                  <a:rPr lang="en-US" b="1" dirty="0"/>
                  <a:t>Distributive law is more convenient </a:t>
                </a:r>
                <a:r>
                  <a:rPr lang="en-US" dirty="0"/>
                  <a:t>to use here. [</a:t>
                </a:r>
                <a:r>
                  <a:rPr lang="en-US" b="1" i="1" dirty="0">
                    <a:solidFill>
                      <a:srgbClr val="FF0000"/>
                    </a:solidFill>
                  </a:rPr>
                  <a:t>i.e.,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𝒚𝒛</m:t>
                    </m:r>
                    <m:r>
                      <a:rPr lang="en-US" b="1" i="1" dirty="0">
                        <a:latin typeface="Cambria Math" panose="02040503050406030204" pitchFamily="18" charset="0"/>
                      </a:rPr>
                      <m:t>=(</m:t>
                    </m:r>
                    <m:r>
                      <a:rPr lang="en-US" b="1" i="1" dirty="0" smtClean="0">
                        <a:latin typeface="Cambria Math" panose="02040503050406030204" pitchFamily="18" charset="0"/>
                      </a:rPr>
                      <m:t>𝒙</m:t>
                    </m:r>
                    <m:r>
                      <a:rPr lang="en-US" b="1" i="1" dirty="0" smtClean="0">
                        <a:latin typeface="Cambria Math" panose="02040503050406030204" pitchFamily="18" charset="0"/>
                      </a:rPr>
                      <m:t>+</m:t>
                    </m:r>
                    <m:r>
                      <a:rPr lang="en-US" b="1" i="1" dirty="0" smtClean="0">
                        <a:latin typeface="Cambria Math" panose="02040503050406030204" pitchFamily="18" charset="0"/>
                      </a:rPr>
                      <m:t>𝒚</m:t>
                    </m:r>
                    <m:r>
                      <a:rPr lang="en-US" b="1" i="1" dirty="0">
                        <a:latin typeface="Cambria Math" panose="02040503050406030204" pitchFamily="18" charset="0"/>
                      </a:rPr>
                      <m:t>)(</m:t>
                    </m:r>
                    <m:r>
                      <a:rPr lang="en-US" b="1" i="1" dirty="0">
                        <a:latin typeface="Cambria Math" panose="02040503050406030204" pitchFamily="18" charset="0"/>
                      </a:rPr>
                      <m:t>𝒙</m:t>
                    </m:r>
                    <m:r>
                      <a:rPr lang="en-US" b="1" i="1" dirty="0">
                        <a:latin typeface="Cambria Math" panose="02040503050406030204" pitchFamily="18" charset="0"/>
                      </a:rPr>
                      <m:t>+</m:t>
                    </m:r>
                    <m:r>
                      <a:rPr lang="en-US" b="1" i="1" dirty="0" smtClean="0">
                        <a:latin typeface="Cambria Math" panose="02040503050406030204" pitchFamily="18" charset="0"/>
                      </a:rPr>
                      <m:t>𝒛</m:t>
                    </m:r>
                    <m:r>
                      <a:rPr lang="en-US" b="1" i="1" dirty="0">
                        <a:latin typeface="Cambria Math" panose="02040503050406030204" pitchFamily="18" charset="0"/>
                      </a:rPr>
                      <m:t>)</m:t>
                    </m:r>
                  </m:oMath>
                </a14:m>
                <a:r>
                  <a:rPr lang="en-US" dirty="0"/>
                  <a:t>]</a:t>
                </a:r>
              </a:p>
              <a:p>
                <a:pPr lvl="2"/>
                <a:r>
                  <a:rPr lang="en-US" dirty="0"/>
                  <a:t>Each term is inspected whether it contains all the variables.</a:t>
                </a:r>
              </a:p>
              <a:p>
                <a:pPr lvl="3"/>
                <a:r>
                  <a:rPr lang="en-US" sz="2000" dirty="0"/>
                  <a:t>If any variable (</a:t>
                </a:r>
                <a14:m>
                  <m:oMath xmlns:m="http://schemas.openxmlformats.org/officeDocument/2006/math">
                    <m:r>
                      <a:rPr lang="en-US" sz="2000" i="1" dirty="0" smtClean="0">
                        <a:latin typeface="Cambria Math" panose="02040503050406030204" pitchFamily="18" charset="0"/>
                      </a:rPr>
                      <m:t>𝑥</m:t>
                    </m:r>
                  </m:oMath>
                </a14:m>
                <a:r>
                  <a:rPr lang="en-US" sz="2000" dirty="0"/>
                  <a:t>) is missed, </a:t>
                </a:r>
                <a:r>
                  <a:rPr lang="en-US" sz="2000" b="1" dirty="0"/>
                  <a:t>OR</a:t>
                </a:r>
                <a:r>
                  <a:rPr lang="en-US" sz="2000" dirty="0"/>
                  <a:t>ed that term with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a:latin typeface="Cambria Math" panose="02040503050406030204" pitchFamily="18" charset="0"/>
                      </a:rPr>
                      <m:t>’</m:t>
                    </m:r>
                  </m:oMath>
                </a14:m>
                <a:r>
                  <a:rPr lang="en-US" sz="2000"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666866"/>
                <a:ext cx="10515600" cy="4351338"/>
              </a:xfrm>
              <a:blipFill>
                <a:blip r:embed="rId4"/>
                <a:stretch>
                  <a:fillRect l="-1043" t="-2241" r="-522"/>
                </a:stretch>
              </a:blipFill>
            </p:spPr>
            <p:txBody>
              <a:bodyPr/>
              <a:lstStyle/>
              <a:p>
                <a:r>
                  <a:rPr lang="en-US">
                    <a:noFill/>
                  </a:rPr>
                  <a:t> </a:t>
                </a:r>
              </a:p>
            </p:txBody>
          </p:sp>
        </mc:Fallback>
      </mc:AlternateContent>
      <p:pic>
        <p:nvPicPr>
          <p:cNvPr id="10" name="Picture 9"/>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581400" y="4505216"/>
            <a:ext cx="1590468" cy="397618"/>
          </a:xfrm>
          <a:prstGeom prst="rect">
            <a:avLst/>
          </a:prstGeom>
        </p:spPr>
      </p:pic>
      <p:pic>
        <p:nvPicPr>
          <p:cNvPr id="11" name="Picture 10"/>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476845" y="4933539"/>
            <a:ext cx="6205861" cy="855565"/>
          </a:xfrm>
          <a:prstGeom prst="rect">
            <a:avLst/>
          </a:prstGeom>
        </p:spPr>
      </p:pic>
      <p:pic>
        <p:nvPicPr>
          <p:cNvPr id="15" name="Picture 14"/>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475073" y="5812105"/>
            <a:ext cx="2816797" cy="446717"/>
          </a:xfrm>
          <a:prstGeom prst="rect">
            <a:avLst/>
          </a:prstGeom>
        </p:spPr>
      </p:pic>
      <p:sp>
        <p:nvSpPr>
          <p:cNvPr id="17" name="TextBox 16">
            <a:extLst>
              <a:ext uri="{FF2B5EF4-FFF2-40B4-BE49-F238E27FC236}">
                <a16:creationId xmlns:a16="http://schemas.microsoft.com/office/drawing/2014/main" id="{DE207518-DECC-4F0E-ABEE-D42EC1F6E15C}"/>
              </a:ext>
            </a:extLst>
          </p:cNvPr>
          <p:cNvSpPr txBox="1"/>
          <p:nvPr/>
        </p:nvSpPr>
        <p:spPr>
          <a:xfrm>
            <a:off x="7240828" y="5394277"/>
            <a:ext cx="1089657" cy="338554"/>
          </a:xfrm>
          <a:prstGeom prst="rect">
            <a:avLst/>
          </a:prstGeom>
          <a:noFill/>
        </p:spPr>
        <p:txBody>
          <a:bodyPr wrap="none" rtlCol="0">
            <a:spAutoFit/>
          </a:bodyPr>
          <a:lstStyle/>
          <a:p>
            <a:r>
              <a:rPr lang="en-US" sz="1600" b="1" dirty="0">
                <a:solidFill>
                  <a:schemeClr val="accent2">
                    <a:lumMod val="75000"/>
                  </a:schemeClr>
                </a:solidFill>
              </a:rPr>
              <a:t>Notation 1</a:t>
            </a:r>
          </a:p>
        </p:txBody>
      </p:sp>
      <p:sp>
        <p:nvSpPr>
          <p:cNvPr id="18" name="TextBox 17">
            <a:extLst>
              <a:ext uri="{FF2B5EF4-FFF2-40B4-BE49-F238E27FC236}">
                <a16:creationId xmlns:a16="http://schemas.microsoft.com/office/drawing/2014/main" id="{0626B0C0-45FB-4932-91B7-75331C45D69D}"/>
              </a:ext>
            </a:extLst>
          </p:cNvPr>
          <p:cNvSpPr txBox="1"/>
          <p:nvPr/>
        </p:nvSpPr>
        <p:spPr>
          <a:xfrm>
            <a:off x="7226122" y="5851625"/>
            <a:ext cx="1089657" cy="338554"/>
          </a:xfrm>
          <a:prstGeom prst="rect">
            <a:avLst/>
          </a:prstGeom>
          <a:noFill/>
        </p:spPr>
        <p:txBody>
          <a:bodyPr wrap="none" rtlCol="0">
            <a:spAutoFit/>
          </a:bodyPr>
          <a:lstStyle/>
          <a:p>
            <a:r>
              <a:rPr lang="en-US" sz="1600" b="1" dirty="0">
                <a:solidFill>
                  <a:schemeClr val="accent2">
                    <a:lumMod val="75000"/>
                  </a:schemeClr>
                </a:solidFill>
              </a:rPr>
              <a:t>Notation 2</a:t>
            </a:r>
          </a:p>
        </p:txBody>
      </p:sp>
    </p:spTree>
    <p:extLst>
      <p:ext uri="{BB962C8B-B14F-4D97-AF65-F5344CB8AC3E}">
        <p14:creationId xmlns:p14="http://schemas.microsoft.com/office/powerpoint/2010/main" val="1931719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Conversions between Canonical Forms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complement of a function expressed as SOP </a:t>
                </a:r>
                <a:r>
                  <a:rPr lang="en-US" b="1" dirty="0">
                    <a:solidFill>
                      <a:srgbClr val="FF0000"/>
                    </a:solidFill>
                  </a:rPr>
                  <a:t>equals </a:t>
                </a:r>
                <a:r>
                  <a:rPr lang="en-US" dirty="0"/>
                  <a:t>SOP of missing minterms from the original function </a:t>
                </a:r>
              </a:p>
              <a:p>
                <a:endParaRPr lang="en-US" dirty="0"/>
              </a:p>
              <a:p>
                <a:pPr marL="0" indent="0">
                  <a:buNone/>
                </a:pPr>
                <a:endParaRPr lang="en-US" dirty="0"/>
              </a:p>
              <a:p>
                <a:r>
                  <a:rPr lang="en-US" dirty="0"/>
                  <a:t>If the complement of </a:t>
                </a:r>
                <a14:m>
                  <m:oMath xmlns:m="http://schemas.openxmlformats.org/officeDocument/2006/math">
                    <m:r>
                      <a:rPr lang="en-US" b="1" i="1" dirty="0" smtClean="0">
                        <a:latin typeface="Cambria Math" panose="02040503050406030204" pitchFamily="18" charset="0"/>
                      </a:rPr>
                      <m:t>𝑭</m:t>
                    </m:r>
                    <m:r>
                      <a:rPr lang="en-US" b="1" i="1" dirty="0" smtClean="0">
                        <a:latin typeface="Cambria Math" panose="02040503050406030204" pitchFamily="18" charset="0"/>
                      </a:rPr>
                      <m:t>’</m:t>
                    </m:r>
                  </m:oMath>
                </a14:m>
                <a:r>
                  <a:rPr lang="en-US" b="1" dirty="0"/>
                  <a:t> </a:t>
                </a:r>
                <a:r>
                  <a:rPr lang="en-US" dirty="0"/>
                  <a:t>is taken following </a:t>
                </a:r>
                <a:r>
                  <a:rPr lang="en-US" b="1" dirty="0"/>
                  <a:t>De Morgan’s Law</a:t>
                </a:r>
                <a:r>
                  <a:rPr lang="en-US" dirty="0"/>
                  <a:t>, we will get the original function </a:t>
                </a:r>
                <a14:m>
                  <m:oMath xmlns:m="http://schemas.openxmlformats.org/officeDocument/2006/math">
                    <m:r>
                      <a:rPr lang="en-US" b="1" i="1" dirty="0" smtClean="0">
                        <a:latin typeface="Cambria Math" panose="02040503050406030204" pitchFamily="18" charset="0"/>
                      </a:rPr>
                      <m:t>𝑭</m:t>
                    </m:r>
                  </m:oMath>
                </a14:m>
                <a:r>
                  <a:rPr lang="en-US" dirty="0"/>
                  <a:t> in different form</a:t>
                </a:r>
              </a:p>
              <a:p>
                <a:pPr marL="0" indent="0">
                  <a:buNone/>
                </a:pPr>
                <a:endParaRPr lang="en-US" i="1" dirty="0"/>
              </a:p>
              <a:p>
                <a:r>
                  <a:rPr lang="en-US" b="1" dirty="0"/>
                  <a:t>Form this conversion, it is proved that:</a:t>
                </a:r>
              </a:p>
              <a:p>
                <a:pPr marL="0" indent="0" algn="ctr">
                  <a:buNone/>
                </a:pPr>
                <a14:m>
                  <m:oMathPara xmlns:m="http://schemas.openxmlformats.org/officeDocument/2006/math">
                    <m:oMathParaPr>
                      <m:jc m:val="centerGroup"/>
                    </m:oMathParaPr>
                    <m:oMath xmlns:m="http://schemas.openxmlformats.org/officeDocument/2006/math">
                      <m:r>
                        <m:rPr>
                          <m:nor/>
                        </m:rPr>
                        <a:rPr lang="en-US" sz="2400" i="1" dirty="0"/>
                        <m:t>m</m:t>
                      </m:r>
                      <m:r>
                        <m:rPr>
                          <m:nor/>
                        </m:rPr>
                        <a:rPr lang="en-US" sz="2400" i="1" baseline="-25000" dirty="0"/>
                        <m:t>j</m:t>
                      </m:r>
                      <m:r>
                        <m:rPr>
                          <m:nor/>
                        </m:rPr>
                        <a:rPr lang="en-US" sz="2400" i="1" dirty="0"/>
                        <m:t> = </m:t>
                      </m:r>
                      <m:r>
                        <m:rPr>
                          <m:nor/>
                        </m:rPr>
                        <a:rPr lang="en-US" sz="2400" i="1" dirty="0"/>
                        <m:t>Mj</m:t>
                      </m:r>
                      <m:r>
                        <m:rPr>
                          <m:nor/>
                        </m:rPr>
                        <a:rPr lang="en-US" sz="2400" i="1" dirty="0"/>
                        <m:t>’</m:t>
                      </m:r>
                    </m:oMath>
                  </m:oMathPara>
                </a14:m>
                <a:endParaRPr lang="en-US" sz="2400"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44</a:t>
            </a:fld>
            <a:endParaRPr lang="en-US" sz="1800" dirty="0"/>
          </a:p>
        </p:txBody>
      </p:sp>
      <p:pic>
        <p:nvPicPr>
          <p:cNvPr id="7" name="Picture 6"/>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210492" y="2782751"/>
            <a:ext cx="2963519" cy="401433"/>
          </a:xfrm>
          <a:prstGeom prst="rect">
            <a:avLst/>
          </a:prstGeom>
        </p:spPr>
      </p:pic>
      <p:pic>
        <p:nvPicPr>
          <p:cNvPr id="9" name="Picture 8"/>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157327" y="3237156"/>
            <a:ext cx="4609021" cy="460903"/>
          </a:xfrm>
          <a:prstGeom prst="rect">
            <a:avLst/>
          </a:prstGeom>
        </p:spPr>
      </p:pic>
      <p:pic>
        <p:nvPicPr>
          <p:cNvPr id="10" name="Picture 9"/>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136064" y="4634374"/>
            <a:ext cx="6968354" cy="407001"/>
          </a:xfrm>
          <a:prstGeom prst="rect">
            <a:avLst/>
          </a:prstGeom>
        </p:spPr>
      </p:pic>
    </p:spTree>
    <p:extLst>
      <p:ext uri="{BB962C8B-B14F-4D97-AF65-F5344CB8AC3E}">
        <p14:creationId xmlns:p14="http://schemas.microsoft.com/office/powerpoint/2010/main" val="18909330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b="1" i="1" dirty="0">
                <a:solidFill>
                  <a:schemeClr val="accent5">
                    <a:lumMod val="75000"/>
                  </a:schemeClr>
                </a:solidFill>
                <a:latin typeface="+mn-lt"/>
              </a:rPr>
              <a:t>Conversions between Canonical Forms…</a:t>
            </a:r>
            <a:endParaRPr lang="en-US" sz="3900" dirty="0">
              <a:latin typeface="+mn-lt"/>
            </a:endParaRPr>
          </a:p>
        </p:txBody>
      </p:sp>
      <p:sp>
        <p:nvSpPr>
          <p:cNvPr id="3" name="Content Placeholder 2"/>
          <p:cNvSpPr>
            <a:spLocks noGrp="1"/>
          </p:cNvSpPr>
          <p:nvPr>
            <p:ph idx="1"/>
          </p:nvPr>
        </p:nvSpPr>
        <p:spPr/>
        <p:txBody>
          <a:bodyPr>
            <a:normAutofit/>
          </a:bodyPr>
          <a:lstStyle/>
          <a:p>
            <a:r>
              <a:rPr lang="en-US" b="1" dirty="0"/>
              <a:t>General conversion procedure:</a:t>
            </a:r>
          </a:p>
          <a:p>
            <a:pPr lvl="1"/>
            <a:r>
              <a:rPr lang="en-US" dirty="0"/>
              <a:t>To convert from one canonical form to another, interchange the symbols </a:t>
            </a:r>
            <a:r>
              <a:rPr lang="en-US" b="1" dirty="0"/>
              <a:t>∑ </a:t>
            </a:r>
            <a:r>
              <a:rPr lang="en-US" dirty="0"/>
              <a:t>and </a:t>
            </a:r>
            <a:r>
              <a:rPr lang="en-US" b="1" dirty="0"/>
              <a:t>∏</a:t>
            </a:r>
            <a:r>
              <a:rPr lang="en-US" dirty="0"/>
              <a:t> and list those numbers missing from the original form</a:t>
            </a:r>
          </a:p>
          <a:p>
            <a:pPr lvl="2"/>
            <a:r>
              <a:rPr lang="en-US" sz="2400" dirty="0"/>
              <a:t>To find the missing terms, one must realize that the total number of minterms or maxterms is </a:t>
            </a:r>
            <a:r>
              <a:rPr lang="en-US" sz="2400" b="1" i="1" dirty="0"/>
              <a:t>2</a:t>
            </a:r>
            <a:r>
              <a:rPr lang="en-US" sz="3000" b="1" i="1" baseline="30000" dirty="0"/>
              <a:t>n</a:t>
            </a:r>
            <a:r>
              <a:rPr lang="en-US" sz="2400" dirty="0"/>
              <a:t>, where </a:t>
            </a:r>
            <a:r>
              <a:rPr lang="en-US" sz="2400" b="1" i="1" dirty="0"/>
              <a:t>n </a:t>
            </a:r>
            <a:r>
              <a:rPr lang="en-US" sz="2400" dirty="0"/>
              <a:t>is the number of binary variables in the function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45</a:t>
            </a:fld>
            <a:endParaRPr lang="en-US" sz="1800" dirty="0"/>
          </a:p>
        </p:txBody>
      </p:sp>
    </p:spTree>
    <p:extLst>
      <p:ext uri="{BB962C8B-B14F-4D97-AF65-F5344CB8AC3E}">
        <p14:creationId xmlns:p14="http://schemas.microsoft.com/office/powerpoint/2010/main" val="1473578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Conversions between Canonical Forms…</a:t>
            </a:r>
            <a:endParaRPr lang="en-US" sz="3900" dirty="0">
              <a:latin typeface="+mn-lt"/>
            </a:endParaRPr>
          </a:p>
        </p:txBody>
      </p:sp>
      <p:sp>
        <p:nvSpPr>
          <p:cNvPr id="3" name="Content Placeholder 2"/>
          <p:cNvSpPr>
            <a:spLocks noGrp="1"/>
          </p:cNvSpPr>
          <p:nvPr>
            <p:ph idx="1"/>
          </p:nvPr>
        </p:nvSpPr>
        <p:spPr/>
        <p:txBody>
          <a:bodyPr/>
          <a:lstStyle/>
          <a:p>
            <a:r>
              <a:rPr lang="en-US" b="1" dirty="0"/>
              <a:t>Another Example:</a:t>
            </a:r>
            <a:r>
              <a:rPr lang="en-US" b="1" i="1" dirty="0"/>
              <a:t> </a:t>
            </a:r>
            <a:endParaRPr lang="en-US" b="1"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46</a:t>
            </a:fld>
            <a:endParaRPr lang="en-US" sz="1800" dirty="0"/>
          </a:p>
        </p:txBody>
      </p:sp>
      <p:grpSp>
        <p:nvGrpSpPr>
          <p:cNvPr id="7" name="Group 6"/>
          <p:cNvGrpSpPr/>
          <p:nvPr/>
        </p:nvGrpSpPr>
        <p:grpSpPr>
          <a:xfrm>
            <a:off x="1454680" y="2761135"/>
            <a:ext cx="2583920" cy="1595759"/>
            <a:chOff x="1830304" y="2608334"/>
            <a:chExt cx="2583920" cy="1165426"/>
          </a:xfrm>
        </p:grpSpPr>
        <p:pic>
          <p:nvPicPr>
            <p:cNvPr id="11" name="Picture 10"/>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830304" y="2608334"/>
              <a:ext cx="1813454" cy="424010"/>
            </a:xfrm>
            <a:prstGeom prst="rect">
              <a:avLst/>
            </a:prstGeom>
          </p:spPr>
        </p:pic>
        <p:pic>
          <p:nvPicPr>
            <p:cNvPr id="12" name="Picture 11"/>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830304" y="3038735"/>
              <a:ext cx="2460567" cy="365760"/>
            </a:xfrm>
            <a:prstGeom prst="rect">
              <a:avLst/>
            </a:prstGeom>
          </p:spPr>
        </p:pic>
        <p:pic>
          <p:nvPicPr>
            <p:cNvPr id="13" name="Picture 12"/>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830304" y="3408000"/>
              <a:ext cx="2583920" cy="365760"/>
            </a:xfrm>
            <a:prstGeom prst="rect">
              <a:avLst/>
            </a:prstGeom>
          </p:spPr>
        </p:pic>
      </p:grpSp>
      <p:pic>
        <p:nvPicPr>
          <p:cNvPr id="14" name="Picture 13"/>
          <p:cNvPicPr>
            <a:picLocks noChangeAspect="1"/>
          </p:cNvPicPr>
          <p:nvPr/>
        </p:nvPicPr>
        <p:blipFill rotWithShape="1">
          <a:blip r:embed="rId10">
            <a:grayscl/>
            <a:extLst>
              <a:ext uri="{BEBA8EAE-BF5A-486C-A8C5-ECC9F3942E4B}">
                <a14:imgProps xmlns:a14="http://schemas.microsoft.com/office/drawing/2010/main">
                  <a14:imgLayer r:embed="rId11">
                    <a14:imgEffect>
                      <a14:sharpenSoften amount="55000"/>
                    </a14:imgEffect>
                    <a14:imgEffect>
                      <a14:brightnessContrast bright="1000" contrast="-40000"/>
                    </a14:imgEffect>
                  </a14:imgLayer>
                </a14:imgProps>
              </a:ext>
              <a:ext uri="{28A0092B-C50C-407E-A947-70E740481C1C}">
                <a14:useLocalDpi xmlns:a14="http://schemas.microsoft.com/office/drawing/2010/main" val="0"/>
              </a:ext>
            </a:extLst>
          </a:blip>
          <a:srcRect t="8160"/>
          <a:stretch/>
        </p:blipFill>
        <p:spPr>
          <a:xfrm>
            <a:off x="5297756" y="2371319"/>
            <a:ext cx="6056044" cy="3470332"/>
          </a:xfrm>
          <a:prstGeom prst="rect">
            <a:avLst/>
          </a:prstGeom>
        </p:spPr>
      </p:pic>
      <p:sp>
        <p:nvSpPr>
          <p:cNvPr id="9" name="TextBox 8">
            <a:extLst>
              <a:ext uri="{FF2B5EF4-FFF2-40B4-BE49-F238E27FC236}">
                <a16:creationId xmlns:a16="http://schemas.microsoft.com/office/drawing/2014/main" id="{D50BCD91-CE2B-499F-ADEB-4EB50E51031B}"/>
              </a:ext>
            </a:extLst>
          </p:cNvPr>
          <p:cNvSpPr txBox="1"/>
          <p:nvPr/>
        </p:nvSpPr>
        <p:spPr>
          <a:xfrm>
            <a:off x="851455" y="5810031"/>
            <a:ext cx="11167160" cy="707886"/>
          </a:xfrm>
          <a:prstGeom prst="rect">
            <a:avLst/>
          </a:prstGeom>
          <a:noFill/>
        </p:spPr>
        <p:txBody>
          <a:bodyPr wrap="none" rtlCol="0">
            <a:spAutoFit/>
          </a:bodyPr>
          <a:lstStyle/>
          <a:p>
            <a:r>
              <a:rPr lang="en-US" sz="2000" b="1" dirty="0">
                <a:solidFill>
                  <a:srgbClr val="FF0000"/>
                </a:solidFill>
              </a:rPr>
              <a:t>Note:</a:t>
            </a:r>
            <a:r>
              <a:rPr lang="en-US" sz="2000" b="1" dirty="0"/>
              <a:t> </a:t>
            </a:r>
            <a:r>
              <a:rPr lang="en-US" sz="2000" dirty="0"/>
              <a:t>In the truth table, 1’s of the function represent the minterms and 0’s represent the maxterm which </a:t>
            </a:r>
          </a:p>
          <a:p>
            <a:r>
              <a:rPr lang="en-US" sz="2000" dirty="0"/>
              <a:t>are true for the given function. </a:t>
            </a:r>
          </a:p>
        </p:txBody>
      </p:sp>
    </p:spTree>
    <p:extLst>
      <p:ext uri="{BB962C8B-B14F-4D97-AF65-F5344CB8AC3E}">
        <p14:creationId xmlns:p14="http://schemas.microsoft.com/office/powerpoint/2010/main" val="3894032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Standard Forms</a:t>
            </a:r>
            <a:endParaRPr lang="en-US" sz="3900" dirty="0">
              <a:latin typeface="+mn-lt"/>
            </a:endParaRPr>
          </a:p>
        </p:txBody>
      </p:sp>
      <p:sp>
        <p:nvSpPr>
          <p:cNvPr id="3" name="Content Placeholder 2"/>
          <p:cNvSpPr>
            <a:spLocks noGrp="1"/>
          </p:cNvSpPr>
          <p:nvPr>
            <p:ph idx="1"/>
          </p:nvPr>
        </p:nvSpPr>
        <p:spPr>
          <a:xfrm>
            <a:off x="838200" y="1880329"/>
            <a:ext cx="10515600" cy="4296633"/>
          </a:xfrm>
        </p:spPr>
        <p:txBody>
          <a:bodyPr>
            <a:normAutofit/>
          </a:bodyPr>
          <a:lstStyle/>
          <a:p>
            <a:r>
              <a:rPr lang="en-US" b="1" dirty="0"/>
              <a:t>Canonical forms: </a:t>
            </a:r>
          </a:p>
          <a:p>
            <a:pPr lvl="1"/>
            <a:r>
              <a:rPr lang="en-US" dirty="0"/>
              <a:t>Both are easily formed from truth table</a:t>
            </a:r>
          </a:p>
          <a:p>
            <a:pPr lvl="1"/>
            <a:r>
              <a:rPr lang="en-US" b="1" dirty="0">
                <a:solidFill>
                  <a:schemeClr val="accent2">
                    <a:lumMod val="75000"/>
                  </a:schemeClr>
                </a:solidFill>
              </a:rPr>
              <a:t>Rarely </a:t>
            </a:r>
            <a:r>
              <a:rPr lang="en-US" dirty="0"/>
              <a:t>have least number of literals (</a:t>
            </a:r>
            <a:r>
              <a:rPr lang="en-US" dirty="0">
                <a:solidFill>
                  <a:srgbClr val="FF0000"/>
                </a:solidFill>
              </a:rPr>
              <a:t>!!!</a:t>
            </a:r>
            <a:r>
              <a:rPr lang="en-US" dirty="0"/>
              <a:t>)</a:t>
            </a:r>
          </a:p>
          <a:p>
            <a:pPr lvl="2"/>
            <a:r>
              <a:rPr lang="en-US" dirty="0"/>
              <a:t>Each minterm or maxterm must contain </a:t>
            </a:r>
            <a:r>
              <a:rPr lang="en-US" b="1" dirty="0"/>
              <a:t>all variables</a:t>
            </a:r>
            <a:r>
              <a:rPr lang="en-US" dirty="0"/>
              <a:t>; either primed or unprimed </a:t>
            </a:r>
          </a:p>
          <a:p>
            <a:r>
              <a:rPr lang="en-US" b="1" dirty="0"/>
              <a:t>Standard form: </a:t>
            </a:r>
          </a:p>
          <a:p>
            <a:pPr lvl="1"/>
            <a:r>
              <a:rPr lang="en-US" dirty="0"/>
              <a:t>Terms may have </a:t>
            </a:r>
            <a:r>
              <a:rPr lang="en-US" b="1" dirty="0"/>
              <a:t>one</a:t>
            </a:r>
            <a:r>
              <a:rPr lang="en-US" dirty="0"/>
              <a:t>, </a:t>
            </a:r>
            <a:r>
              <a:rPr lang="en-US" b="1" dirty="0"/>
              <a:t>two</a:t>
            </a:r>
            <a:r>
              <a:rPr lang="en-US" dirty="0"/>
              <a:t>, </a:t>
            </a:r>
            <a:r>
              <a:rPr lang="en-US" b="1" dirty="0"/>
              <a:t>three </a:t>
            </a:r>
            <a:r>
              <a:rPr lang="en-US" dirty="0"/>
              <a:t>or </a:t>
            </a:r>
            <a:r>
              <a:rPr lang="en-US" b="1" dirty="0"/>
              <a:t>any </a:t>
            </a:r>
            <a:r>
              <a:rPr lang="en-US" dirty="0"/>
              <a:t>number of literals.</a:t>
            </a:r>
          </a:p>
          <a:p>
            <a:pPr lvl="1"/>
            <a:r>
              <a:rPr lang="en-US" b="1" dirty="0"/>
              <a:t>Two types:</a:t>
            </a:r>
            <a:r>
              <a:rPr lang="en-US" dirty="0"/>
              <a:t> SOP and POS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47</a:t>
            </a:fld>
            <a:endParaRPr lang="en-US" sz="1800" dirty="0"/>
          </a:p>
        </p:txBody>
      </p:sp>
    </p:spTree>
    <p:extLst>
      <p:ext uri="{BB962C8B-B14F-4D97-AF65-F5344CB8AC3E}">
        <p14:creationId xmlns:p14="http://schemas.microsoft.com/office/powerpoint/2010/main" val="381747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Standard Forms: SOP and POS</a:t>
            </a:r>
            <a:endParaRPr lang="en-US" sz="3900" dirty="0">
              <a:latin typeface="+mn-lt"/>
            </a:endParaRPr>
          </a:p>
        </p:txBody>
      </p:sp>
      <p:sp>
        <p:nvSpPr>
          <p:cNvPr id="3" name="Content Placeholder 2"/>
          <p:cNvSpPr>
            <a:spLocks noGrp="1"/>
          </p:cNvSpPr>
          <p:nvPr>
            <p:ph idx="1"/>
          </p:nvPr>
        </p:nvSpPr>
        <p:spPr>
          <a:xfrm>
            <a:off x="838200" y="1744865"/>
            <a:ext cx="10515600" cy="4296633"/>
          </a:xfrm>
        </p:spPr>
        <p:txBody>
          <a:bodyPr>
            <a:normAutofit lnSpcReduction="10000"/>
          </a:bodyPr>
          <a:lstStyle/>
          <a:p>
            <a:r>
              <a:rPr lang="en-US" b="1" dirty="0"/>
              <a:t>SOP</a:t>
            </a:r>
          </a:p>
          <a:p>
            <a:pPr lvl="1"/>
            <a:r>
              <a:rPr lang="en-US" dirty="0"/>
              <a:t>Has </a:t>
            </a:r>
            <a:r>
              <a:rPr lang="en-US" b="1" dirty="0"/>
              <a:t>ANDed terms </a:t>
            </a:r>
            <a:r>
              <a:rPr lang="en-US" dirty="0"/>
              <a:t>(products) which are finally </a:t>
            </a:r>
            <a:r>
              <a:rPr lang="en-US" b="1" dirty="0"/>
              <a:t>ORed </a:t>
            </a:r>
            <a:r>
              <a:rPr lang="en-US" dirty="0"/>
              <a:t>(sum)</a:t>
            </a:r>
          </a:p>
          <a:p>
            <a:pPr lvl="1"/>
            <a:r>
              <a:rPr lang="en-US" b="1" dirty="0">
                <a:solidFill>
                  <a:schemeClr val="accent2">
                    <a:lumMod val="75000"/>
                  </a:schemeClr>
                </a:solidFill>
              </a:rPr>
              <a:t>Logic diagrams </a:t>
            </a:r>
            <a:r>
              <a:rPr lang="en-US" dirty="0"/>
              <a:t>contain a group of </a:t>
            </a:r>
            <a:r>
              <a:rPr lang="en-US" b="1" dirty="0">
                <a:solidFill>
                  <a:srgbClr val="002060"/>
                </a:solidFill>
              </a:rPr>
              <a:t>AND </a:t>
            </a:r>
            <a:r>
              <a:rPr lang="en-US" dirty="0"/>
              <a:t>gates followed by a single </a:t>
            </a:r>
            <a:r>
              <a:rPr lang="en-US" b="1" dirty="0">
                <a:solidFill>
                  <a:srgbClr val="002060"/>
                </a:solidFill>
              </a:rPr>
              <a:t>OR</a:t>
            </a:r>
            <a:r>
              <a:rPr lang="en-US" dirty="0"/>
              <a:t> gate</a:t>
            </a:r>
          </a:p>
          <a:p>
            <a:pPr lvl="2"/>
            <a:r>
              <a:rPr lang="en-US" dirty="0"/>
              <a:t>It’s assumed that the complements of variables are directly available in their input</a:t>
            </a:r>
          </a:p>
          <a:p>
            <a:pPr lvl="2"/>
            <a:r>
              <a:rPr lang="en-US" dirty="0"/>
              <a:t>Known as </a:t>
            </a:r>
            <a:r>
              <a:rPr lang="en-US" b="1" dirty="0"/>
              <a:t>two-level-implementation</a:t>
            </a:r>
          </a:p>
          <a:p>
            <a:endParaRPr lang="en-US" b="1" dirty="0"/>
          </a:p>
          <a:p>
            <a:r>
              <a:rPr lang="en-US" b="1" dirty="0"/>
              <a:t>POS</a:t>
            </a:r>
          </a:p>
          <a:p>
            <a:pPr lvl="1"/>
            <a:r>
              <a:rPr lang="en-US" dirty="0"/>
              <a:t>Has </a:t>
            </a:r>
            <a:r>
              <a:rPr lang="en-US" b="1" dirty="0"/>
              <a:t>ORed terms </a:t>
            </a:r>
            <a:r>
              <a:rPr lang="en-US" dirty="0"/>
              <a:t>(sums) which are finally </a:t>
            </a:r>
            <a:r>
              <a:rPr lang="en-US" b="1" dirty="0"/>
              <a:t>ANDed </a:t>
            </a:r>
            <a:r>
              <a:rPr lang="en-US" dirty="0"/>
              <a:t>(product)</a:t>
            </a:r>
          </a:p>
          <a:p>
            <a:pPr lvl="1"/>
            <a:r>
              <a:rPr lang="en-US" b="1" dirty="0">
                <a:solidFill>
                  <a:srgbClr val="C00000"/>
                </a:solidFill>
              </a:rPr>
              <a:t>Logic diagrams </a:t>
            </a:r>
            <a:r>
              <a:rPr lang="en-US" dirty="0"/>
              <a:t>contain a group of </a:t>
            </a:r>
            <a:r>
              <a:rPr lang="en-US" b="1" dirty="0"/>
              <a:t>OR</a:t>
            </a:r>
            <a:r>
              <a:rPr lang="en-US" dirty="0"/>
              <a:t> gates followed by a single </a:t>
            </a:r>
            <a:r>
              <a:rPr lang="en-US" b="1" dirty="0"/>
              <a:t>AND </a:t>
            </a:r>
            <a:r>
              <a:rPr lang="en-US" dirty="0"/>
              <a:t>gate</a:t>
            </a:r>
          </a:p>
          <a:p>
            <a:pPr lvl="2"/>
            <a:r>
              <a:rPr lang="en-US" dirty="0"/>
              <a:t>It’s assumed that the complements of variables are directly available in their input</a:t>
            </a:r>
          </a:p>
          <a:p>
            <a:pPr lvl="2"/>
            <a:r>
              <a:rPr lang="en-US" dirty="0"/>
              <a:t>Another </a:t>
            </a:r>
            <a:r>
              <a:rPr lang="en-US" b="1" dirty="0"/>
              <a:t>two-level-implementation</a:t>
            </a:r>
          </a:p>
          <a:p>
            <a:pPr lvl="2"/>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48</a:t>
            </a:fld>
            <a:endParaRPr lang="en-US" sz="1800" dirty="0"/>
          </a:p>
        </p:txBody>
      </p:sp>
      <p:grpSp>
        <p:nvGrpSpPr>
          <p:cNvPr id="25" name="Group 24">
            <a:extLst>
              <a:ext uri="{FF2B5EF4-FFF2-40B4-BE49-F238E27FC236}">
                <a16:creationId xmlns:a16="http://schemas.microsoft.com/office/drawing/2014/main" id="{35459F5E-E12A-482D-93E7-E0E3FB3FB154}"/>
              </a:ext>
            </a:extLst>
          </p:cNvPr>
          <p:cNvGrpSpPr/>
          <p:nvPr/>
        </p:nvGrpSpPr>
        <p:grpSpPr>
          <a:xfrm>
            <a:off x="3818466" y="3698447"/>
            <a:ext cx="3596908" cy="457200"/>
            <a:chOff x="3927530" y="5016674"/>
            <a:chExt cx="3596908" cy="457200"/>
          </a:xfrm>
        </p:grpSpPr>
        <p:pic>
          <p:nvPicPr>
            <p:cNvPr id="22" name="Picture 21">
              <a:extLst>
                <a:ext uri="{FF2B5EF4-FFF2-40B4-BE49-F238E27FC236}">
                  <a16:creationId xmlns:a16="http://schemas.microsoft.com/office/drawing/2014/main" id="{022A8D6C-712A-4D50-804F-A3DC67DED16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781242" y="5016674"/>
              <a:ext cx="2743196" cy="457200"/>
            </a:xfrm>
            <a:prstGeom prst="rect">
              <a:avLst/>
            </a:prstGeom>
          </p:spPr>
        </p:pic>
        <p:sp>
          <p:nvSpPr>
            <p:cNvPr id="24" name="TextBox 23">
              <a:extLst>
                <a:ext uri="{FF2B5EF4-FFF2-40B4-BE49-F238E27FC236}">
                  <a16:creationId xmlns:a16="http://schemas.microsoft.com/office/drawing/2014/main" id="{3589439F-6849-4FCA-BDE2-007F8FE06D67}"/>
                </a:ext>
              </a:extLst>
            </p:cNvPr>
            <p:cNvSpPr txBox="1"/>
            <p:nvPr/>
          </p:nvSpPr>
          <p:spPr>
            <a:xfrm>
              <a:off x="3927530" y="5016674"/>
              <a:ext cx="636713" cy="369332"/>
            </a:xfrm>
            <a:prstGeom prst="rect">
              <a:avLst/>
            </a:prstGeom>
            <a:noFill/>
          </p:spPr>
          <p:txBody>
            <a:bodyPr wrap="none" rtlCol="0">
              <a:spAutoFit/>
            </a:bodyPr>
            <a:lstStyle/>
            <a:p>
              <a:r>
                <a:rPr lang="en-US" b="1" dirty="0"/>
                <a:t>SOP:</a:t>
              </a:r>
            </a:p>
          </p:txBody>
        </p:sp>
      </p:grpSp>
      <p:grpSp>
        <p:nvGrpSpPr>
          <p:cNvPr id="26" name="Group 25">
            <a:extLst>
              <a:ext uri="{FF2B5EF4-FFF2-40B4-BE49-F238E27FC236}">
                <a16:creationId xmlns:a16="http://schemas.microsoft.com/office/drawing/2014/main" id="{F1E2F8AE-2E03-4535-9195-B4F5A3FE5AAC}"/>
              </a:ext>
            </a:extLst>
          </p:cNvPr>
          <p:cNvGrpSpPr/>
          <p:nvPr/>
        </p:nvGrpSpPr>
        <p:grpSpPr>
          <a:xfrm>
            <a:off x="3877193" y="5885897"/>
            <a:ext cx="4333165" cy="548640"/>
            <a:chOff x="3585175" y="4761781"/>
            <a:chExt cx="4333165" cy="548640"/>
          </a:xfrm>
        </p:grpSpPr>
        <p:pic>
          <p:nvPicPr>
            <p:cNvPr id="27" name="Picture 26">
              <a:extLst>
                <a:ext uri="{FF2B5EF4-FFF2-40B4-BE49-F238E27FC236}">
                  <a16:creationId xmlns:a16="http://schemas.microsoft.com/office/drawing/2014/main" id="{40B224CD-3E21-4A4C-AFB0-CA5DA59EA84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435112" y="4761781"/>
              <a:ext cx="3483228" cy="548640"/>
            </a:xfrm>
            <a:prstGeom prst="rect">
              <a:avLst/>
            </a:prstGeom>
          </p:spPr>
        </p:pic>
        <p:sp>
          <p:nvSpPr>
            <p:cNvPr id="28" name="TextBox 27">
              <a:extLst>
                <a:ext uri="{FF2B5EF4-FFF2-40B4-BE49-F238E27FC236}">
                  <a16:creationId xmlns:a16="http://schemas.microsoft.com/office/drawing/2014/main" id="{BE6B21E4-A954-41BD-9C46-24E75C6891CA}"/>
                </a:ext>
              </a:extLst>
            </p:cNvPr>
            <p:cNvSpPr txBox="1"/>
            <p:nvPr/>
          </p:nvSpPr>
          <p:spPr>
            <a:xfrm>
              <a:off x="3585175" y="4815195"/>
              <a:ext cx="636713" cy="369332"/>
            </a:xfrm>
            <a:prstGeom prst="rect">
              <a:avLst/>
            </a:prstGeom>
            <a:noFill/>
          </p:spPr>
          <p:txBody>
            <a:bodyPr wrap="none" rtlCol="0">
              <a:spAutoFit/>
            </a:bodyPr>
            <a:lstStyle/>
            <a:p>
              <a:r>
                <a:rPr lang="en-US" b="1" dirty="0"/>
                <a:t>POS:</a:t>
              </a:r>
            </a:p>
          </p:txBody>
        </p:sp>
      </p:grpSp>
    </p:spTree>
    <p:extLst>
      <p:ext uri="{BB962C8B-B14F-4D97-AF65-F5344CB8AC3E}">
        <p14:creationId xmlns:p14="http://schemas.microsoft.com/office/powerpoint/2010/main" val="1114818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SOP and POS: Circuit Diagram</a:t>
            </a:r>
            <a:br>
              <a:rPr lang="en-US" b="1" i="1" dirty="0">
                <a:solidFill>
                  <a:schemeClr val="accent5">
                    <a:lumMod val="75000"/>
                  </a:schemeClr>
                </a:solidFill>
                <a:latin typeface="+mn-lt"/>
              </a:rPr>
            </a:br>
            <a:r>
              <a:rPr lang="en-US" sz="2500" b="1" i="1" dirty="0">
                <a:solidFill>
                  <a:srgbClr val="FF0000"/>
                </a:solidFill>
                <a:latin typeface="+mn-lt"/>
              </a:rPr>
              <a:t>Two Level Implementation</a:t>
            </a:r>
            <a:endParaRPr lang="en-US" sz="2500" dirty="0">
              <a:solidFill>
                <a:srgbClr val="FF0000"/>
              </a:solidFill>
              <a:latin typeface="+mn-lt"/>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49</a:t>
            </a:fld>
            <a:endParaRPr lang="en-US" sz="1800" dirty="0"/>
          </a:p>
        </p:txBody>
      </p:sp>
      <p:pic>
        <p:nvPicPr>
          <p:cNvPr id="7" name="Content Placeholder 6">
            <a:extLst>
              <a:ext uri="{FF2B5EF4-FFF2-40B4-BE49-F238E27FC236}">
                <a16:creationId xmlns:a16="http://schemas.microsoft.com/office/drawing/2014/main" id="{430EE4FE-2D8D-4120-A200-7909EB596363}"/>
              </a:ext>
            </a:extLst>
          </p:cNvPr>
          <p:cNvPicPr>
            <a:picLocks noGrp="1" noChangeAspect="1"/>
          </p:cNvPicPr>
          <p:nvPr>
            <p:ph idx="1"/>
          </p:nvPr>
        </p:nvPicPr>
        <p:blipFill>
          <a:blip r:embed="rId4">
            <a:grayscl/>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98471" y="2144514"/>
            <a:ext cx="10798256" cy="2738314"/>
          </a:xfrm>
          <a:prstGeom prst="rect">
            <a:avLst/>
          </a:prstGeom>
        </p:spPr>
      </p:pic>
      <p:sp>
        <p:nvSpPr>
          <p:cNvPr id="9" name="TextBox 8">
            <a:extLst>
              <a:ext uri="{FF2B5EF4-FFF2-40B4-BE49-F238E27FC236}">
                <a16:creationId xmlns:a16="http://schemas.microsoft.com/office/drawing/2014/main" id="{4C8524E1-EF53-47AB-91F4-6E8C6925111C}"/>
              </a:ext>
            </a:extLst>
          </p:cNvPr>
          <p:cNvSpPr txBox="1"/>
          <p:nvPr/>
        </p:nvSpPr>
        <p:spPr>
          <a:xfrm>
            <a:off x="2064126" y="5798145"/>
            <a:ext cx="8654673" cy="369332"/>
          </a:xfrm>
          <a:prstGeom prst="rect">
            <a:avLst/>
          </a:prstGeom>
          <a:noFill/>
        </p:spPr>
        <p:txBody>
          <a:bodyPr wrap="square" rtlCol="0">
            <a:spAutoFit/>
          </a:bodyPr>
          <a:lstStyle/>
          <a:p>
            <a:r>
              <a:rPr lang="en-US" b="1" dirty="0">
                <a:solidFill>
                  <a:srgbClr val="FF0000"/>
                </a:solidFill>
              </a:rPr>
              <a:t>Note:</a:t>
            </a:r>
            <a:r>
              <a:rPr lang="en-US" b="1" dirty="0"/>
              <a:t> It is assumed that Input variables are directly available in their complements.  </a:t>
            </a:r>
          </a:p>
        </p:txBody>
      </p:sp>
    </p:spTree>
    <p:extLst>
      <p:ext uri="{BB962C8B-B14F-4D97-AF65-F5344CB8AC3E}">
        <p14:creationId xmlns:p14="http://schemas.microsoft.com/office/powerpoint/2010/main" val="2568619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Standard Forms and Nonstandard Forms</a:t>
            </a:r>
            <a:endParaRPr lang="en-US" sz="3900" dirty="0">
              <a:latin typeface="+mn-lt"/>
            </a:endParaRPr>
          </a:p>
        </p:txBody>
      </p:sp>
      <p:sp>
        <p:nvSpPr>
          <p:cNvPr id="3" name="Content Placeholder 2"/>
          <p:cNvSpPr>
            <a:spLocks noGrp="1"/>
          </p:cNvSpPr>
          <p:nvPr>
            <p:ph idx="1"/>
          </p:nvPr>
        </p:nvSpPr>
        <p:spPr>
          <a:xfrm>
            <a:off x="838200" y="1880329"/>
            <a:ext cx="10515600" cy="4296633"/>
          </a:xfrm>
        </p:spPr>
        <p:txBody>
          <a:bodyPr>
            <a:normAutofit/>
          </a:bodyPr>
          <a:lstStyle/>
          <a:p>
            <a:r>
              <a:rPr lang="en-US" b="1" dirty="0"/>
              <a:t>Nonstandard form:</a:t>
            </a:r>
          </a:p>
          <a:p>
            <a:pPr lvl="1"/>
            <a:r>
              <a:rPr lang="en-US" dirty="0"/>
              <a:t>The Boolean expression is </a:t>
            </a:r>
            <a:r>
              <a:rPr lang="en-US" b="1" dirty="0"/>
              <a:t>neither </a:t>
            </a:r>
            <a:r>
              <a:rPr lang="en-US" dirty="0"/>
              <a:t>in </a:t>
            </a:r>
            <a:r>
              <a:rPr lang="en-US" b="1" dirty="0">
                <a:solidFill>
                  <a:schemeClr val="accent6">
                    <a:lumMod val="75000"/>
                  </a:schemeClr>
                </a:solidFill>
              </a:rPr>
              <a:t>SOP </a:t>
            </a:r>
            <a:r>
              <a:rPr lang="en-US" b="1" dirty="0"/>
              <a:t>nor </a:t>
            </a:r>
            <a:r>
              <a:rPr lang="en-US" dirty="0"/>
              <a:t>in </a:t>
            </a:r>
            <a:r>
              <a:rPr lang="en-US" b="1" dirty="0">
                <a:solidFill>
                  <a:schemeClr val="accent6">
                    <a:lumMod val="75000"/>
                  </a:schemeClr>
                </a:solidFill>
              </a:rPr>
              <a:t>POS </a:t>
            </a:r>
            <a:r>
              <a:rPr lang="en-US" dirty="0"/>
              <a:t>form</a:t>
            </a:r>
          </a:p>
          <a:p>
            <a:pPr lvl="2"/>
            <a:r>
              <a:rPr lang="en-US" dirty="0"/>
              <a:t>May require </a:t>
            </a:r>
            <a:r>
              <a:rPr lang="en-US" b="1" dirty="0"/>
              <a:t>random </a:t>
            </a:r>
            <a:r>
              <a:rPr lang="en-US" dirty="0"/>
              <a:t>number of </a:t>
            </a:r>
            <a:r>
              <a:rPr lang="en-US" b="1" dirty="0">
                <a:solidFill>
                  <a:schemeClr val="accent1">
                    <a:lumMod val="50000"/>
                  </a:schemeClr>
                </a:solidFill>
              </a:rPr>
              <a:t>AND an OR gates </a:t>
            </a:r>
          </a:p>
          <a:p>
            <a:pPr lvl="2"/>
            <a:r>
              <a:rPr lang="en-US" dirty="0"/>
              <a:t>Also, the number of </a:t>
            </a:r>
            <a:r>
              <a:rPr lang="en-US" b="1" dirty="0">
                <a:solidFill>
                  <a:srgbClr val="00B0F0"/>
                </a:solidFill>
              </a:rPr>
              <a:t>levels for implementation </a:t>
            </a:r>
            <a:r>
              <a:rPr lang="en-US" dirty="0"/>
              <a:t>are </a:t>
            </a:r>
            <a:r>
              <a:rPr lang="en-US" b="1" dirty="0"/>
              <a:t>random</a:t>
            </a:r>
          </a:p>
          <a:p>
            <a:pPr lvl="1"/>
            <a:r>
              <a:rPr lang="en-US" dirty="0"/>
              <a:t>Can be converted to standard form following the </a:t>
            </a:r>
            <a:r>
              <a:rPr lang="en-US" b="1" dirty="0"/>
              <a:t>distributive law</a:t>
            </a:r>
          </a:p>
          <a:p>
            <a:pPr lvl="2"/>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50</a:t>
            </a:fld>
            <a:endParaRPr lang="en-US" sz="1800" dirty="0"/>
          </a:p>
        </p:txBody>
      </p:sp>
      <p:grpSp>
        <p:nvGrpSpPr>
          <p:cNvPr id="16" name="Group 15">
            <a:extLst>
              <a:ext uri="{FF2B5EF4-FFF2-40B4-BE49-F238E27FC236}">
                <a16:creationId xmlns:a16="http://schemas.microsoft.com/office/drawing/2014/main" id="{5E6043B8-8208-4693-B994-D0F3A2ABFA4D}"/>
              </a:ext>
            </a:extLst>
          </p:cNvPr>
          <p:cNvGrpSpPr/>
          <p:nvPr/>
        </p:nvGrpSpPr>
        <p:grpSpPr>
          <a:xfrm>
            <a:off x="2471019" y="4147849"/>
            <a:ext cx="7249961" cy="934796"/>
            <a:chOff x="2471019" y="5604116"/>
            <a:chExt cx="7249961" cy="934796"/>
          </a:xfrm>
        </p:grpSpPr>
        <p:pic>
          <p:nvPicPr>
            <p:cNvPr id="7" name="Picture 6">
              <a:extLst>
                <a:ext uri="{FF2B5EF4-FFF2-40B4-BE49-F238E27FC236}">
                  <a16:creationId xmlns:a16="http://schemas.microsoft.com/office/drawing/2014/main" id="{087BF7EB-D51D-48F0-A796-84BDEC12FC3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741204" y="5604116"/>
              <a:ext cx="2548413" cy="512064"/>
            </a:xfrm>
            <a:prstGeom prst="rect">
              <a:avLst/>
            </a:prstGeom>
          </p:spPr>
        </p:pic>
        <p:sp>
          <p:nvSpPr>
            <p:cNvPr id="11" name="TextBox 10">
              <a:extLst>
                <a:ext uri="{FF2B5EF4-FFF2-40B4-BE49-F238E27FC236}">
                  <a16:creationId xmlns:a16="http://schemas.microsoft.com/office/drawing/2014/main" id="{6C71BEB2-7BEA-41D5-A4EC-D55AE7458E07}"/>
                </a:ext>
              </a:extLst>
            </p:cNvPr>
            <p:cNvSpPr txBox="1"/>
            <p:nvPr/>
          </p:nvSpPr>
          <p:spPr>
            <a:xfrm>
              <a:off x="2471019" y="5675482"/>
              <a:ext cx="2040110" cy="369332"/>
            </a:xfrm>
            <a:prstGeom prst="rect">
              <a:avLst/>
            </a:prstGeom>
            <a:noFill/>
          </p:spPr>
          <p:txBody>
            <a:bodyPr wrap="none" rtlCol="0">
              <a:spAutoFit/>
            </a:bodyPr>
            <a:lstStyle/>
            <a:p>
              <a:r>
                <a:rPr lang="en-US" b="1" dirty="0"/>
                <a:t>Nonstandard Form:</a:t>
              </a:r>
            </a:p>
          </p:txBody>
        </p:sp>
        <p:pic>
          <p:nvPicPr>
            <p:cNvPr id="13" name="Picture 12">
              <a:extLst>
                <a:ext uri="{FF2B5EF4-FFF2-40B4-BE49-F238E27FC236}">
                  <a16:creationId xmlns:a16="http://schemas.microsoft.com/office/drawing/2014/main" id="{B7F1676C-72CC-4E6D-AEF7-1D53351AE60A}"/>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741204" y="6081712"/>
              <a:ext cx="4979776" cy="457200"/>
            </a:xfrm>
            <a:prstGeom prst="rect">
              <a:avLst/>
            </a:prstGeom>
          </p:spPr>
        </p:pic>
        <p:sp>
          <p:nvSpPr>
            <p:cNvPr id="15" name="TextBox 14">
              <a:extLst>
                <a:ext uri="{FF2B5EF4-FFF2-40B4-BE49-F238E27FC236}">
                  <a16:creationId xmlns:a16="http://schemas.microsoft.com/office/drawing/2014/main" id="{BE4EAD07-0A36-43A7-BD32-EDACA5A64769}"/>
                </a:ext>
              </a:extLst>
            </p:cNvPr>
            <p:cNvSpPr txBox="1"/>
            <p:nvPr/>
          </p:nvSpPr>
          <p:spPr>
            <a:xfrm>
              <a:off x="2878664" y="6101369"/>
              <a:ext cx="1728216" cy="369332"/>
            </a:xfrm>
            <a:prstGeom prst="rect">
              <a:avLst/>
            </a:prstGeom>
            <a:noFill/>
          </p:spPr>
          <p:txBody>
            <a:bodyPr wrap="square" rtlCol="0">
              <a:spAutoFit/>
            </a:bodyPr>
            <a:lstStyle/>
            <a:p>
              <a:r>
                <a:rPr lang="en-US" b="1" dirty="0"/>
                <a:t>Standard Form:</a:t>
              </a:r>
            </a:p>
          </p:txBody>
        </p:sp>
      </p:grpSp>
    </p:spTree>
    <p:extLst>
      <p:ext uri="{BB962C8B-B14F-4D97-AF65-F5344CB8AC3E}">
        <p14:creationId xmlns:p14="http://schemas.microsoft.com/office/powerpoint/2010/main" val="6082261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Standard Forms and Nonstandard Forms…</a:t>
            </a:r>
            <a:endParaRPr lang="en-US" sz="3900" dirty="0">
              <a:latin typeface="+mn-lt"/>
            </a:endParaRPr>
          </a:p>
        </p:txBody>
      </p:sp>
      <p:pic>
        <p:nvPicPr>
          <p:cNvPr id="15" name="Content Placeholder 14"/>
          <p:cNvPicPr>
            <a:picLocks noGrp="1" noChangeAspect="1"/>
          </p:cNvPicPr>
          <p:nvPr>
            <p:ph idx="1"/>
          </p:nvPr>
        </p:nvPicPr>
        <p:blipFill>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83256" y="2016160"/>
            <a:ext cx="11020184" cy="3182373"/>
          </a:xfr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51</a:t>
            </a:fld>
            <a:endParaRPr lang="en-US" sz="1800" dirty="0"/>
          </a:p>
        </p:txBody>
      </p:sp>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Tree>
    <p:extLst>
      <p:ext uri="{BB962C8B-B14F-4D97-AF65-F5344CB8AC3E}">
        <p14:creationId xmlns:p14="http://schemas.microsoft.com/office/powerpoint/2010/main" val="4051590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chemeClr val="accent5">
                    <a:lumMod val="75000"/>
                  </a:schemeClr>
                </a:solidFill>
                <a:latin typeface="+mn-lt"/>
              </a:rPr>
              <a:t>Other Logic Operations</a:t>
            </a:r>
            <a:endParaRPr lang="en-US" sz="3900" dirty="0">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978662" cy="4351338"/>
              </a:xfrm>
            </p:spPr>
            <p:txBody>
              <a:bodyPr/>
              <a:lstStyle/>
              <a:p>
                <a:r>
                  <a:rPr lang="en-US" dirty="0"/>
                  <a:t>For </a:t>
                </a:r>
                <a:r>
                  <a:rPr lang="en-US" b="1" i="1" dirty="0"/>
                  <a:t>n</a:t>
                </a:r>
                <a:r>
                  <a:rPr lang="en-US" dirty="0"/>
                  <a:t> number of Boolean variables-</a:t>
                </a:r>
              </a:p>
              <a:p>
                <a:pPr lvl="1"/>
                <a:r>
                  <a:rPr lang="en-US" b="1" i="1" dirty="0"/>
                  <a:t>2</a:t>
                </a:r>
                <a:r>
                  <a:rPr lang="en-US" b="1" i="1" baseline="30000" dirty="0"/>
                  <a:t>n</a:t>
                </a:r>
                <a:r>
                  <a:rPr lang="en-US" b="1" i="1" dirty="0"/>
                  <a:t> </a:t>
                </a:r>
                <a:r>
                  <a:rPr lang="en-US" dirty="0"/>
                  <a:t>number of rows of combinations can be produced of a truth table</a:t>
                </a:r>
              </a:p>
              <a:p>
                <a:pPr lvl="1"/>
                <a:r>
                  <a:rPr lang="en-US" dirty="0"/>
                  <a:t>In total </a:t>
                </a:r>
                <a:r>
                  <a:rPr lang="en-US" b="1" i="1" dirty="0"/>
                  <a:t>2</a:t>
                </a:r>
                <a:r>
                  <a:rPr lang="en-US" b="1" i="1" baseline="30000" dirty="0"/>
                  <a:t>2</a:t>
                </a:r>
                <a:r>
                  <a:rPr lang="en-US" b="1" i="1" baseline="60000" dirty="0"/>
                  <a:t>n</a:t>
                </a:r>
                <a:r>
                  <a:rPr lang="en-US" dirty="0"/>
                  <a:t> number of different functions are possible (</a:t>
                </a:r>
                <a:r>
                  <a:rPr lang="en-US" b="1" dirty="0">
                    <a:solidFill>
                      <a:srgbClr val="FF0000"/>
                    </a:solidFill>
                  </a:rPr>
                  <a:t>How?</a:t>
                </a:r>
                <a:r>
                  <a:rPr lang="en-US" dirty="0"/>
                  <a:t>)</a:t>
                </a:r>
              </a:p>
              <a:p>
                <a:pPr lvl="2"/>
                <a:r>
                  <a:rPr lang="en-US" sz="2200" dirty="0"/>
                  <a:t>In figure, each column (</a:t>
                </a:r>
                <a14:m>
                  <m:oMath xmlns:m="http://schemas.openxmlformats.org/officeDocument/2006/math">
                    <m:r>
                      <a:rPr lang="en-US" sz="2200" i="1" dirty="0" smtClean="0">
                        <a:latin typeface="Cambria Math" panose="02040503050406030204" pitchFamily="18" charset="0"/>
                      </a:rPr>
                      <m:t>𝐹</m:t>
                    </m:r>
                    <m:r>
                      <a:rPr lang="en-US" sz="2200" i="1" baseline="-25000" dirty="0" smtClean="0">
                        <a:latin typeface="Cambria Math" panose="02040503050406030204" pitchFamily="18" charset="0"/>
                      </a:rPr>
                      <m:t>0</m:t>
                    </m:r>
                    <m:r>
                      <a:rPr lang="en-US" sz="2200" i="1" dirty="0" smtClean="0">
                        <a:latin typeface="Cambria Math" panose="02040503050406030204" pitchFamily="18" charset="0"/>
                      </a:rPr>
                      <m:t>~</m:t>
                    </m:r>
                    <m:r>
                      <a:rPr lang="en-US" sz="2200" i="1" dirty="0" smtClean="0">
                        <a:latin typeface="Cambria Math" panose="02040503050406030204" pitchFamily="18" charset="0"/>
                      </a:rPr>
                      <m:t>𝐹</m:t>
                    </m:r>
                    <m:r>
                      <a:rPr lang="en-US" sz="2200" i="1" baseline="-25000" dirty="0" smtClean="0">
                        <a:latin typeface="Cambria Math" panose="02040503050406030204" pitchFamily="18" charset="0"/>
                      </a:rPr>
                      <m:t>15</m:t>
                    </m:r>
                  </m:oMath>
                </a14:m>
                <a:r>
                  <a:rPr lang="en-US" sz="2200" dirty="0"/>
                  <a:t>) represents a truth table for one possible function</a:t>
                </a:r>
              </a:p>
              <a:p>
                <a:pPr lvl="2"/>
                <a:r>
                  <a:rPr lang="en-US" sz="2200" dirty="0"/>
                  <a:t>These functions also could be expressed as algebraic expressions (using SOP or POS)</a:t>
                </a:r>
              </a:p>
              <a:p>
                <a:pPr marL="0" indent="0">
                  <a:buNone/>
                </a:pPr>
                <a:endParaRPr lang="en-US" sz="2200" dirty="0"/>
              </a:p>
              <a:p>
                <a:endParaRPr lang="en-US" sz="2200"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978662" cy="4351338"/>
              </a:xfrm>
              <a:blipFill>
                <a:blip r:embed="rId3"/>
                <a:stretch>
                  <a:fillRect l="-1000" t="-2241"/>
                </a:stretch>
              </a:blipFill>
            </p:spPr>
            <p:txBody>
              <a:bodyPr/>
              <a:lstStyle/>
              <a:p>
                <a:r>
                  <a:rPr lang="en-US">
                    <a:noFill/>
                  </a:rPr>
                  <a:t> </a:t>
                </a:r>
              </a:p>
            </p:txBody>
          </p:sp>
        </mc:Fallback>
      </mc:AlternateContent>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52</a:t>
            </a:fld>
            <a:endParaRPr lang="en-US" sz="1800" dirty="0"/>
          </a:p>
        </p:txBody>
      </p:sp>
      <p:pic>
        <p:nvPicPr>
          <p:cNvPr id="7" name="Picture 6"/>
          <p:cNvPicPr>
            <a:picLocks noChangeAspect="1"/>
          </p:cNvPicPr>
          <p:nvPr/>
        </p:nvPicPr>
        <p:blipFill>
          <a:blip r:embed="rId5">
            <a:grayscl/>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193603" y="4001294"/>
            <a:ext cx="9804793" cy="2069901"/>
          </a:xfrm>
          <a:prstGeom prst="rect">
            <a:avLst/>
          </a:prstGeom>
        </p:spPr>
      </p:pic>
    </p:spTree>
    <p:extLst>
      <p:ext uri="{BB962C8B-B14F-4D97-AF65-F5344CB8AC3E}">
        <p14:creationId xmlns:p14="http://schemas.microsoft.com/office/powerpoint/2010/main" val="5228993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53</a:t>
            </a:fld>
            <a:endParaRPr lang="en-US"/>
          </a:p>
        </p:txBody>
      </p:sp>
      <p:pic>
        <p:nvPicPr>
          <p:cNvPr id="7" name="Picture 6"/>
          <p:cNvPicPr>
            <a:picLocks noChangeAspect="1"/>
          </p:cNvPicPr>
          <p:nvPr/>
        </p:nvPicPr>
        <p:blipFill>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430866" y="991817"/>
            <a:ext cx="9330267" cy="5834804"/>
          </a:xfrm>
          <a:prstGeom prst="rect">
            <a:avLst/>
          </a:prstGeom>
        </p:spPr>
      </p:pic>
      <p:sp>
        <p:nvSpPr>
          <p:cNvPr id="2" name="Title 1"/>
          <p:cNvSpPr>
            <a:spLocks noGrp="1"/>
          </p:cNvSpPr>
          <p:nvPr>
            <p:ph type="title"/>
          </p:nvPr>
        </p:nvSpPr>
        <p:spPr>
          <a:xfrm>
            <a:off x="838200" y="136525"/>
            <a:ext cx="10515600" cy="1325563"/>
          </a:xfrm>
        </p:spPr>
        <p:txBody>
          <a:bodyPr/>
          <a:lstStyle/>
          <a:p>
            <a:r>
              <a:rPr lang="en-US" b="1" i="1" dirty="0">
                <a:solidFill>
                  <a:srgbClr val="4472C4">
                    <a:lumMod val="75000"/>
                  </a:srgbClr>
                </a:solidFill>
                <a:latin typeface="Calibri" panose="020F0502020204030204"/>
              </a:rPr>
              <a:t>16 Boolean Functions: Algebraic Expressions</a:t>
            </a:r>
            <a:endParaRPr lang="en-US" dirty="0"/>
          </a:p>
        </p:txBody>
      </p:sp>
    </p:spTree>
    <p:extLst>
      <p:ext uri="{BB962C8B-B14F-4D97-AF65-F5344CB8AC3E}">
        <p14:creationId xmlns:p14="http://schemas.microsoft.com/office/powerpoint/2010/main" val="3841266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Other Logic Operations…</a:t>
            </a:r>
            <a:endParaRPr lang="en-US" dirty="0"/>
          </a:p>
        </p:txBody>
      </p:sp>
      <p:sp>
        <p:nvSpPr>
          <p:cNvPr id="3" name="Content Placeholder 2"/>
          <p:cNvSpPr>
            <a:spLocks noGrp="1"/>
          </p:cNvSpPr>
          <p:nvPr>
            <p:ph idx="1"/>
          </p:nvPr>
        </p:nvSpPr>
        <p:spPr>
          <a:xfrm>
            <a:off x="838199" y="1825625"/>
            <a:ext cx="10992729" cy="4351338"/>
          </a:xfrm>
        </p:spPr>
        <p:txBody>
          <a:bodyPr/>
          <a:lstStyle/>
          <a:p>
            <a:pPr algn="just"/>
            <a:r>
              <a:rPr lang="en-US" dirty="0"/>
              <a:t>16 functions are subdivided into 3 categories:</a:t>
            </a:r>
          </a:p>
          <a:p>
            <a:pPr lvl="1" algn="just"/>
            <a:r>
              <a:rPr lang="en-US" dirty="0"/>
              <a:t>2 functions that produce </a:t>
            </a:r>
            <a:r>
              <a:rPr lang="en-US" b="1" dirty="0"/>
              <a:t>a constant </a:t>
            </a:r>
            <a:r>
              <a:rPr lang="en-US" dirty="0"/>
              <a:t>0 or 1</a:t>
            </a:r>
          </a:p>
          <a:p>
            <a:pPr lvl="2" algn="just"/>
            <a:r>
              <a:rPr lang="en-US" dirty="0"/>
              <a:t>Constant functions</a:t>
            </a:r>
          </a:p>
          <a:p>
            <a:pPr lvl="1" algn="just"/>
            <a:r>
              <a:rPr lang="en-US" dirty="0"/>
              <a:t>4 functions with </a:t>
            </a:r>
            <a:r>
              <a:rPr lang="en-US" b="1" dirty="0"/>
              <a:t>unary operations</a:t>
            </a:r>
          </a:p>
          <a:p>
            <a:pPr lvl="2" algn="just"/>
            <a:r>
              <a:rPr lang="en-US" dirty="0"/>
              <a:t>Complement and transfer (or buffer).  </a:t>
            </a:r>
          </a:p>
          <a:p>
            <a:pPr lvl="1" algn="just"/>
            <a:r>
              <a:rPr lang="en-US" b="1" dirty="0">
                <a:solidFill>
                  <a:srgbClr val="FF0000"/>
                </a:solidFill>
              </a:rPr>
              <a:t>10</a:t>
            </a:r>
            <a:r>
              <a:rPr lang="en-US" dirty="0"/>
              <a:t> functions with </a:t>
            </a:r>
            <a:r>
              <a:rPr lang="en-US" b="1" dirty="0"/>
              <a:t>binary operators </a:t>
            </a:r>
            <a:r>
              <a:rPr lang="en-US" dirty="0"/>
              <a:t>that define </a:t>
            </a:r>
            <a:r>
              <a:rPr lang="en-US" b="1" dirty="0">
                <a:solidFill>
                  <a:srgbClr val="FF0000"/>
                </a:solidFill>
              </a:rPr>
              <a:t>eight </a:t>
            </a:r>
            <a:r>
              <a:rPr lang="en-US" dirty="0"/>
              <a:t>different operations</a:t>
            </a:r>
          </a:p>
          <a:p>
            <a:pPr lvl="2" algn="just"/>
            <a:r>
              <a:rPr lang="en-US" dirty="0"/>
              <a:t>AND, OR, NAND, NOR, exclusive‐OR (XOR), equivalence (XNOR), inhibition, and implication. </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54</a:t>
            </a:fld>
            <a:endParaRPr lang="en-US"/>
          </a:p>
        </p:txBody>
      </p:sp>
    </p:spTree>
    <p:extLst>
      <p:ext uri="{BB962C8B-B14F-4D97-AF65-F5344CB8AC3E}">
        <p14:creationId xmlns:p14="http://schemas.microsoft.com/office/powerpoint/2010/main" val="3043696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lstStyle/>
          <a:p>
            <a:r>
              <a:rPr lang="en-US" b="1" i="1" dirty="0">
                <a:solidFill>
                  <a:srgbClr val="4472C4">
                    <a:lumMod val="75000"/>
                  </a:srgbClr>
                </a:solidFill>
                <a:latin typeface="Calibri" panose="020F0502020204030204"/>
              </a:rPr>
              <a:t>Digital Logic Gates </a:t>
            </a:r>
            <a:endParaRPr lang="en-US" dirty="0"/>
          </a:p>
        </p:txBody>
      </p:sp>
      <p:sp>
        <p:nvSpPr>
          <p:cNvPr id="3" name="Content Placeholder 2"/>
          <p:cNvSpPr>
            <a:spLocks noGrp="1"/>
          </p:cNvSpPr>
          <p:nvPr>
            <p:ph idx="1"/>
          </p:nvPr>
        </p:nvSpPr>
        <p:spPr>
          <a:xfrm>
            <a:off x="381000" y="1825625"/>
            <a:ext cx="11430000" cy="4351338"/>
          </a:xfrm>
        </p:spPr>
        <p:txBody>
          <a:bodyPr>
            <a:normAutofit/>
          </a:bodyPr>
          <a:lstStyle/>
          <a:p>
            <a:r>
              <a:rPr lang="en-US" dirty="0"/>
              <a:t>Boolean functions are usually implemented with AND, OR, NOT gates</a:t>
            </a:r>
          </a:p>
          <a:p>
            <a:r>
              <a:rPr lang="en-US" dirty="0"/>
              <a:t>Consideration to construct other logic gates:</a:t>
            </a:r>
          </a:p>
          <a:p>
            <a:pPr lvl="1"/>
            <a:r>
              <a:rPr lang="en-US" b="1" dirty="0"/>
              <a:t>Feasibility </a:t>
            </a:r>
            <a:r>
              <a:rPr lang="en-US" dirty="0"/>
              <a:t>and </a:t>
            </a:r>
            <a:r>
              <a:rPr lang="en-US" b="1" dirty="0"/>
              <a:t>economy </a:t>
            </a:r>
            <a:r>
              <a:rPr lang="en-US" dirty="0"/>
              <a:t>of producing gates with physical components</a:t>
            </a:r>
          </a:p>
          <a:p>
            <a:pPr lvl="1"/>
            <a:r>
              <a:rPr lang="en-US" dirty="0"/>
              <a:t>The possibility of </a:t>
            </a:r>
            <a:r>
              <a:rPr lang="en-US" b="1" dirty="0"/>
              <a:t>extending the number of inputs </a:t>
            </a:r>
            <a:r>
              <a:rPr lang="en-US" dirty="0"/>
              <a:t>more than two</a:t>
            </a:r>
          </a:p>
          <a:p>
            <a:pPr lvl="1"/>
            <a:r>
              <a:rPr lang="en-US" dirty="0"/>
              <a:t>Basic properties of binary operator like </a:t>
            </a:r>
            <a:r>
              <a:rPr lang="en-US" b="1" dirty="0"/>
              <a:t>commutativity </a:t>
            </a:r>
            <a:r>
              <a:rPr lang="en-US" dirty="0"/>
              <a:t>and </a:t>
            </a:r>
            <a:r>
              <a:rPr lang="en-US" b="1" dirty="0"/>
              <a:t>associativity</a:t>
            </a:r>
          </a:p>
          <a:p>
            <a:pPr lvl="1"/>
            <a:r>
              <a:rPr lang="en-US" dirty="0"/>
              <a:t>The ability to </a:t>
            </a:r>
            <a:r>
              <a:rPr lang="en-US" b="1" dirty="0"/>
              <a:t>implement Boolean function </a:t>
            </a:r>
            <a:r>
              <a:rPr lang="en-US" dirty="0"/>
              <a:t>alone or in conjunction with other gates</a:t>
            </a:r>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55</a:t>
            </a:fld>
            <a:endParaRPr lang="en-US"/>
          </a:p>
        </p:txBody>
      </p:sp>
    </p:spTree>
    <p:extLst>
      <p:ext uri="{BB962C8B-B14F-4D97-AF65-F5344CB8AC3E}">
        <p14:creationId xmlns:p14="http://schemas.microsoft.com/office/powerpoint/2010/main" val="4145491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lstStyle/>
          <a:p>
            <a:r>
              <a:rPr lang="en-US" b="1" i="1" dirty="0">
                <a:solidFill>
                  <a:srgbClr val="4472C4">
                    <a:lumMod val="75000"/>
                  </a:srgbClr>
                </a:solidFill>
                <a:latin typeface="Calibri" panose="020F0502020204030204"/>
              </a:rPr>
              <a:t>Digital Logic Gates: Candidates </a:t>
            </a:r>
            <a:endParaRPr lang="en-US" dirty="0"/>
          </a:p>
        </p:txBody>
      </p:sp>
      <p:sp>
        <p:nvSpPr>
          <p:cNvPr id="3" name="Content Placeholder 2"/>
          <p:cNvSpPr>
            <a:spLocks noGrp="1"/>
          </p:cNvSpPr>
          <p:nvPr>
            <p:ph idx="1"/>
          </p:nvPr>
        </p:nvSpPr>
        <p:spPr>
          <a:xfrm>
            <a:off x="381000" y="1825625"/>
            <a:ext cx="11430000" cy="4351338"/>
          </a:xfrm>
        </p:spPr>
        <p:txBody>
          <a:bodyPr>
            <a:normAutofit/>
          </a:bodyPr>
          <a:lstStyle/>
          <a:p>
            <a:r>
              <a:rPr lang="en-US" dirty="0"/>
              <a:t>Among 16 functions from previous table with two variables</a:t>
            </a:r>
          </a:p>
          <a:p>
            <a:pPr lvl="1"/>
            <a:r>
              <a:rPr lang="en-US" dirty="0"/>
              <a:t>2 functions are constants </a:t>
            </a:r>
          </a:p>
          <a:p>
            <a:pPr lvl="1"/>
            <a:r>
              <a:rPr lang="en-US" dirty="0"/>
              <a:t>4 functions are repeated </a:t>
            </a:r>
          </a:p>
          <a:p>
            <a:pPr lvl="1"/>
            <a:r>
              <a:rPr lang="en-US" b="1" dirty="0"/>
              <a:t>Only 10 functions </a:t>
            </a:r>
            <a:r>
              <a:rPr lang="en-US" dirty="0"/>
              <a:t>left to be considered as logic gates</a:t>
            </a:r>
          </a:p>
          <a:p>
            <a:r>
              <a:rPr lang="en-US" b="1" dirty="0">
                <a:solidFill>
                  <a:srgbClr val="FF0000"/>
                </a:solidFill>
              </a:rPr>
              <a:t>Implication </a:t>
            </a:r>
            <a:r>
              <a:rPr lang="en-US" dirty="0"/>
              <a:t>and</a:t>
            </a:r>
            <a:r>
              <a:rPr lang="en-US" b="1" dirty="0">
                <a:solidFill>
                  <a:srgbClr val="FF0000"/>
                </a:solidFill>
              </a:rPr>
              <a:t> Inhibition </a:t>
            </a:r>
            <a:r>
              <a:rPr lang="en-US" dirty="0"/>
              <a:t>don't follow the </a:t>
            </a:r>
            <a:r>
              <a:rPr lang="en-US" b="1" dirty="0"/>
              <a:t>associative</a:t>
            </a:r>
            <a:r>
              <a:rPr lang="en-US" dirty="0"/>
              <a:t> and </a:t>
            </a:r>
            <a:r>
              <a:rPr lang="en-US" b="1" dirty="0"/>
              <a:t>commutative</a:t>
            </a:r>
            <a:r>
              <a:rPr lang="en-US" dirty="0"/>
              <a:t> laws.</a:t>
            </a:r>
          </a:p>
          <a:p>
            <a:pPr lvl="1"/>
            <a:r>
              <a:rPr lang="en-US" b="1" dirty="0"/>
              <a:t>Impractical </a:t>
            </a:r>
            <a:r>
              <a:rPr lang="en-US" dirty="0"/>
              <a:t>to use as standard logic gates</a:t>
            </a:r>
          </a:p>
          <a:p>
            <a:r>
              <a:rPr lang="en-US" dirty="0"/>
              <a:t>So, others are used as standard gates in digital computer design</a:t>
            </a:r>
          </a:p>
          <a:p>
            <a:pPr lvl="1"/>
            <a:r>
              <a:rPr lang="en-US" b="1" i="1" dirty="0"/>
              <a:t>i.e.,</a:t>
            </a:r>
            <a:r>
              <a:rPr lang="en-US" dirty="0"/>
              <a:t> Complement, transfer, AND, OR, NAND, NOR, XOR, XNOR </a:t>
            </a:r>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56</a:t>
            </a:fld>
            <a:endParaRPr lang="en-US"/>
          </a:p>
        </p:txBody>
      </p:sp>
    </p:spTree>
    <p:extLst>
      <p:ext uri="{BB962C8B-B14F-4D97-AF65-F5344CB8AC3E}">
        <p14:creationId xmlns:p14="http://schemas.microsoft.com/office/powerpoint/2010/main" val="1642943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3685"/>
            <a:ext cx="10515600" cy="1325563"/>
          </a:xfrm>
        </p:spPr>
        <p:txBody>
          <a:bodyPr/>
          <a:lstStyle/>
          <a:p>
            <a:r>
              <a:rPr lang="en-US" b="1" i="1" dirty="0">
                <a:solidFill>
                  <a:srgbClr val="4472C4">
                    <a:lumMod val="75000"/>
                  </a:srgbClr>
                </a:solidFill>
                <a:latin typeface="Calibri" panose="020F0502020204030204"/>
              </a:rPr>
              <a:t>Digital Logic Gates: AND, OR, NOT, Buffer</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57</a:t>
            </a:fld>
            <a:endParaRPr lang="en-US"/>
          </a:p>
        </p:txBody>
      </p:sp>
      <p:pic>
        <p:nvPicPr>
          <p:cNvPr id="7" name="Content Placeholder 6"/>
          <p:cNvPicPr>
            <a:picLocks noGrp="1" noChangeAspect="1"/>
          </p:cNvPicPr>
          <p:nvPr>
            <p:ph idx="1"/>
          </p:nvPr>
        </p:nvPicPr>
        <p:blipFill>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877300" y="1225296"/>
            <a:ext cx="6437400" cy="5496179"/>
          </a:xfrm>
        </p:spPr>
      </p:pic>
    </p:spTree>
    <p:extLst>
      <p:ext uri="{BB962C8B-B14F-4D97-AF65-F5344CB8AC3E}">
        <p14:creationId xmlns:p14="http://schemas.microsoft.com/office/powerpoint/2010/main" val="3820459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924" y="291973"/>
            <a:ext cx="10515600" cy="1325563"/>
          </a:xfrm>
        </p:spPr>
        <p:txBody>
          <a:bodyPr/>
          <a:lstStyle/>
          <a:p>
            <a:r>
              <a:rPr lang="en-US" b="1" i="1" dirty="0">
                <a:solidFill>
                  <a:srgbClr val="4472C4">
                    <a:lumMod val="75000"/>
                  </a:srgbClr>
                </a:solidFill>
                <a:latin typeface="Calibri" panose="020F0502020204030204"/>
              </a:rPr>
              <a:t>Digital Logic Gates: NAND, NOR, XOR, XNOR</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58</a:t>
            </a:fld>
            <a:endParaRPr lang="en-US"/>
          </a:p>
        </p:txBody>
      </p:sp>
      <p:pic>
        <p:nvPicPr>
          <p:cNvPr id="8" name="Picture 7"/>
          <p:cNvPicPr>
            <a:picLocks noChangeAspect="1"/>
          </p:cNvPicPr>
          <p:nvPr/>
        </p:nvPicPr>
        <p:blipFill>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977953" y="1188720"/>
            <a:ext cx="6572604" cy="5669280"/>
          </a:xfrm>
          <a:prstGeom prst="rect">
            <a:avLst/>
          </a:prstGeom>
        </p:spPr>
      </p:pic>
    </p:spTree>
    <p:extLst>
      <p:ext uri="{BB962C8B-B14F-4D97-AF65-F5344CB8AC3E}">
        <p14:creationId xmlns:p14="http://schemas.microsoft.com/office/powerpoint/2010/main" val="1291246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normAutofit/>
          </a:bodyPr>
          <a:lstStyle/>
          <a:p>
            <a:r>
              <a:rPr lang="en-US" b="1" i="1" dirty="0">
                <a:solidFill>
                  <a:schemeClr val="accent5">
                    <a:lumMod val="75000"/>
                  </a:schemeClr>
                </a:solidFill>
                <a:latin typeface="+mn-lt"/>
              </a:rPr>
              <a:t>Extension to Multiple Inputs: Problem</a:t>
            </a:r>
            <a:endParaRPr lang="en-US" sz="3900" dirty="0">
              <a:latin typeface="+mn-lt"/>
            </a:endParaRPr>
          </a:p>
        </p:txBody>
      </p:sp>
      <p:sp>
        <p:nvSpPr>
          <p:cNvPr id="3" name="Content Placeholder 2"/>
          <p:cNvSpPr>
            <a:spLocks noGrp="1"/>
          </p:cNvSpPr>
          <p:nvPr>
            <p:ph idx="1"/>
          </p:nvPr>
        </p:nvSpPr>
        <p:spPr>
          <a:xfrm>
            <a:off x="381000" y="1825625"/>
            <a:ext cx="11430000" cy="4351338"/>
          </a:xfrm>
        </p:spPr>
        <p:txBody>
          <a:bodyPr/>
          <a:lstStyle/>
          <a:p>
            <a:r>
              <a:rPr lang="en-US" dirty="0"/>
              <a:t>A gate (other than inverter and buffer) can be extended to have multiple inputs if it follows </a:t>
            </a:r>
            <a:r>
              <a:rPr lang="en-US" b="1" dirty="0"/>
              <a:t>commutative </a:t>
            </a:r>
            <a:r>
              <a:rPr lang="en-US" dirty="0"/>
              <a:t>and </a:t>
            </a:r>
            <a:r>
              <a:rPr lang="en-US" b="1" dirty="0"/>
              <a:t>associative </a:t>
            </a:r>
            <a:r>
              <a:rPr lang="en-US" dirty="0"/>
              <a:t>laws (</a:t>
            </a:r>
            <a:r>
              <a:rPr lang="en-US" b="1" i="1" dirty="0"/>
              <a:t>e.g., </a:t>
            </a:r>
            <a:r>
              <a:rPr lang="en-US" dirty="0"/>
              <a:t>OR)</a:t>
            </a:r>
          </a:p>
          <a:p>
            <a:endParaRPr lang="en-US" dirty="0"/>
          </a:p>
          <a:p>
            <a:endParaRPr lang="en-US" dirty="0"/>
          </a:p>
          <a:p>
            <a:endParaRPr lang="en-US" dirty="0"/>
          </a:p>
          <a:p>
            <a:r>
              <a:rPr lang="en-US" dirty="0"/>
              <a:t>NAND and NOR are </a:t>
            </a:r>
            <a:r>
              <a:rPr lang="en-US" b="1" dirty="0"/>
              <a:t>commutative </a:t>
            </a:r>
            <a:r>
              <a:rPr lang="en-US" dirty="0"/>
              <a:t>and </a:t>
            </a:r>
            <a:r>
              <a:rPr lang="en-US" b="1" dirty="0">
                <a:solidFill>
                  <a:srgbClr val="FF0000"/>
                </a:solidFill>
              </a:rPr>
              <a:t>not associative </a:t>
            </a:r>
            <a:r>
              <a:rPr lang="en-US" dirty="0"/>
              <a:t>so we can’t extend them into multiple inputs in traditional way. (</a:t>
            </a:r>
            <a:r>
              <a:rPr lang="en-US" b="1" i="1" dirty="0"/>
              <a:t>e.g., </a:t>
            </a:r>
            <a:r>
              <a:rPr lang="en-US" dirty="0"/>
              <a:t>NOR)</a:t>
            </a:r>
          </a:p>
          <a:p>
            <a:endParaRPr lang="en-US" dirty="0"/>
          </a:p>
          <a:p>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Date Placeholder 7"/>
          <p:cNvSpPr>
            <a:spLocks noGrp="1"/>
          </p:cNvSpPr>
          <p:nvPr>
            <p:ph type="dt" sz="half" idx="10"/>
          </p:nvPr>
        </p:nvSpPr>
        <p:spPr/>
        <p:txBody>
          <a:bodyPr/>
          <a:lstStyle/>
          <a:p>
            <a:r>
              <a:rPr lang="en-US"/>
              <a:t>Chapter 2</a:t>
            </a:r>
          </a:p>
        </p:txBody>
      </p:sp>
      <p:sp>
        <p:nvSpPr>
          <p:cNvPr id="4" name="Footer Placeholder 3"/>
          <p:cNvSpPr>
            <a:spLocks noGrp="1"/>
          </p:cNvSpPr>
          <p:nvPr>
            <p:ph type="ftr" sz="quarter" idx="11"/>
          </p:nvPr>
        </p:nvSpPr>
        <p:spPr/>
        <p:txBody>
          <a:bodyPr/>
          <a:lstStyle/>
          <a:p>
            <a:r>
              <a:rPr lang="en-US"/>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800" smtClean="0"/>
              <a:t>59</a:t>
            </a:fld>
            <a:endParaRPr lang="en-US" sz="1800" dirty="0"/>
          </a:p>
        </p:txBody>
      </p:sp>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734621" y="5187788"/>
            <a:ext cx="7192481" cy="989175"/>
          </a:xfrm>
          <a:prstGeom prst="rect">
            <a:avLst/>
          </a:prstGeom>
        </p:spPr>
      </p:pic>
      <p:pic>
        <p:nvPicPr>
          <p:cNvPr id="11" name="Picture 10">
            <a:extLst>
              <a:ext uri="{FF2B5EF4-FFF2-40B4-BE49-F238E27FC236}">
                <a16:creationId xmlns:a16="http://schemas.microsoft.com/office/drawing/2014/main" id="{AE2BC517-B7C4-4BCB-A0E7-6C3EC131770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377951" y="2743636"/>
            <a:ext cx="7050503" cy="989175"/>
          </a:xfrm>
          <a:prstGeom prst="rect">
            <a:avLst/>
          </a:prstGeom>
        </p:spPr>
      </p:pic>
    </p:spTree>
    <p:extLst>
      <p:ext uri="{BB962C8B-B14F-4D97-AF65-F5344CB8AC3E}">
        <p14:creationId xmlns:p14="http://schemas.microsoft.com/office/powerpoint/2010/main" val="39929358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66120" cy="1325563"/>
          </a:xfrm>
        </p:spPr>
        <p:txBody>
          <a:bodyPr/>
          <a:lstStyle/>
          <a:p>
            <a:r>
              <a:rPr lang="en-US" b="1" i="1" dirty="0">
                <a:solidFill>
                  <a:srgbClr val="4472C4">
                    <a:lumMod val="75000"/>
                  </a:srgbClr>
                </a:solidFill>
                <a:latin typeface="Calibri" panose="020F0502020204030204"/>
              </a:rPr>
              <a:t>Extension to Multiple Inputs: Problem - NOR</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60</a:t>
            </a:fld>
            <a:endParaRPr lang="en-US"/>
          </a:p>
        </p:txBody>
      </p:sp>
      <p:pic>
        <p:nvPicPr>
          <p:cNvPr id="10" name="Content Placeholder 9">
            <a:extLst>
              <a:ext uri="{FF2B5EF4-FFF2-40B4-BE49-F238E27FC236}">
                <a16:creationId xmlns:a16="http://schemas.microsoft.com/office/drawing/2014/main" id="{1EB271E1-119F-4C5E-8EB9-E07300D2611B}"/>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746334" y="1441493"/>
            <a:ext cx="6699332" cy="5279982"/>
          </a:xfrm>
        </p:spPr>
      </p:pic>
      <p:sp>
        <p:nvSpPr>
          <p:cNvPr id="3" name="TextBox 2">
            <a:extLst>
              <a:ext uri="{FF2B5EF4-FFF2-40B4-BE49-F238E27FC236}">
                <a16:creationId xmlns:a16="http://schemas.microsoft.com/office/drawing/2014/main" id="{E35D2148-42C3-4BCA-846A-D00E678DF8EA}"/>
              </a:ext>
            </a:extLst>
          </p:cNvPr>
          <p:cNvSpPr txBox="1"/>
          <p:nvPr/>
        </p:nvSpPr>
        <p:spPr>
          <a:xfrm>
            <a:off x="2889504" y="2961537"/>
            <a:ext cx="304892" cy="461665"/>
          </a:xfrm>
          <a:prstGeom prst="rect">
            <a:avLst/>
          </a:prstGeom>
          <a:solidFill>
            <a:schemeClr val="bg1"/>
          </a:solidFill>
        </p:spPr>
        <p:txBody>
          <a:bodyPr wrap="none" rtlCol="0">
            <a:spAutoFit/>
          </a:bodyPr>
          <a:lstStyle/>
          <a:p>
            <a:r>
              <a:rPr lang="en-US" sz="2400" b="1" i="1" dirty="0">
                <a:latin typeface="Times New Roman" panose="02020603050405020304" pitchFamily="18" charset="0"/>
                <a:cs typeface="Times New Roman" panose="02020603050405020304" pitchFamily="18" charset="0"/>
              </a:rPr>
              <a:t>z</a:t>
            </a:r>
          </a:p>
        </p:txBody>
      </p:sp>
    </p:spTree>
    <p:extLst>
      <p:ext uri="{BB962C8B-B14F-4D97-AF65-F5344CB8AC3E}">
        <p14:creationId xmlns:p14="http://schemas.microsoft.com/office/powerpoint/2010/main" val="2481046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Extension to Multiple Inputs: Redefinition </a:t>
            </a:r>
            <a:endParaRPr lang="en-US" dirty="0"/>
          </a:p>
        </p:txBody>
      </p:sp>
      <p:sp>
        <p:nvSpPr>
          <p:cNvPr id="3" name="Content Placeholder 2"/>
          <p:cNvSpPr>
            <a:spLocks noGrp="1"/>
          </p:cNvSpPr>
          <p:nvPr>
            <p:ph idx="1"/>
          </p:nvPr>
        </p:nvSpPr>
        <p:spPr>
          <a:xfrm>
            <a:off x="838199" y="1825625"/>
            <a:ext cx="11067925" cy="4715852"/>
          </a:xfrm>
        </p:spPr>
        <p:txBody>
          <a:bodyPr>
            <a:normAutofit/>
          </a:bodyPr>
          <a:lstStyle/>
          <a:p>
            <a:r>
              <a:rPr lang="en-US" b="1" dirty="0">
                <a:solidFill>
                  <a:schemeClr val="accent6">
                    <a:lumMod val="50000"/>
                  </a:schemeClr>
                </a:solidFill>
              </a:rPr>
              <a:t>To overcome this problem</a:t>
            </a:r>
            <a:r>
              <a:rPr lang="en-US" dirty="0"/>
              <a:t>, we should define the multiple NOR (or NAND) gate as a complemented OR (or AND) gate:</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61</a:t>
            </a:fld>
            <a:endParaRPr lang="en-US"/>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038600" y="2869012"/>
            <a:ext cx="3763278" cy="954587"/>
          </a:xfrm>
          <a:prstGeom prst="rect">
            <a:avLst/>
          </a:prstGeom>
        </p:spPr>
      </p:pic>
      <p:pic>
        <p:nvPicPr>
          <p:cNvPr id="9" name="Content Placeholder 6">
            <a:extLst>
              <a:ext uri="{FF2B5EF4-FFF2-40B4-BE49-F238E27FC236}">
                <a16:creationId xmlns:a16="http://schemas.microsoft.com/office/drawing/2014/main" id="{7B34A793-8724-4E6E-BB97-B9B0ED05F3BA}"/>
              </a:ext>
            </a:extLst>
          </p:cNvPr>
          <p:cNvPicPr>
            <a:picLocks noChangeAspect="1"/>
          </p:cNvPicPr>
          <p:nvPr/>
        </p:nvPicPr>
        <p:blipFill rotWithShape="1">
          <a:blip r:embed="rId4">
            <a:grayscl/>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b="57882"/>
          <a:stretch/>
        </p:blipFill>
        <p:spPr>
          <a:xfrm>
            <a:off x="285874" y="3988191"/>
            <a:ext cx="11620251" cy="2504684"/>
          </a:xfrm>
          <a:prstGeom prst="rect">
            <a:avLst/>
          </a:prstGeom>
        </p:spPr>
      </p:pic>
    </p:spTree>
    <p:extLst>
      <p:ext uri="{BB962C8B-B14F-4D97-AF65-F5344CB8AC3E}">
        <p14:creationId xmlns:p14="http://schemas.microsoft.com/office/powerpoint/2010/main" val="36746383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Extension to Multiple Inputs: Attention</a:t>
            </a:r>
            <a:endParaRPr lang="en-US" dirty="0"/>
          </a:p>
        </p:txBody>
      </p:sp>
      <p:sp>
        <p:nvSpPr>
          <p:cNvPr id="3" name="Content Placeholder 2"/>
          <p:cNvSpPr>
            <a:spLocks noGrp="1"/>
          </p:cNvSpPr>
          <p:nvPr>
            <p:ph idx="1"/>
          </p:nvPr>
        </p:nvSpPr>
        <p:spPr>
          <a:xfrm>
            <a:off x="838200" y="1825625"/>
            <a:ext cx="10829544" cy="4715852"/>
          </a:xfrm>
        </p:spPr>
        <p:txBody>
          <a:bodyPr>
            <a:normAutofit/>
          </a:bodyPr>
          <a:lstStyle/>
          <a:p>
            <a:r>
              <a:rPr lang="en-US" dirty="0"/>
              <a:t>In</a:t>
            </a:r>
            <a:r>
              <a:rPr lang="en-US" b="1" dirty="0">
                <a:solidFill>
                  <a:srgbClr val="FF0000"/>
                </a:solidFill>
              </a:rPr>
              <a:t> cascaded </a:t>
            </a:r>
            <a:r>
              <a:rPr lang="en-US" dirty="0"/>
              <a:t>NOR and NAND operations, we should use the </a:t>
            </a:r>
            <a:r>
              <a:rPr lang="en-US" b="1" dirty="0"/>
              <a:t>parenthesis</a:t>
            </a:r>
            <a:r>
              <a:rPr lang="en-US" dirty="0"/>
              <a:t> properly to make the sequence correct:</a:t>
            </a:r>
          </a:p>
          <a:p>
            <a:endParaRPr lang="en-US" dirty="0"/>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62</a:t>
            </a:fld>
            <a:endParaRPr lang="en-US"/>
          </a:p>
        </p:txBody>
      </p:sp>
      <p:pic>
        <p:nvPicPr>
          <p:cNvPr id="9" name="Content Placeholder 6">
            <a:extLst>
              <a:ext uri="{FF2B5EF4-FFF2-40B4-BE49-F238E27FC236}">
                <a16:creationId xmlns:a16="http://schemas.microsoft.com/office/drawing/2014/main" id="{81FA11AE-1DBB-4D73-BB7F-F65EE43A64F1}"/>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t="46748" b="9828"/>
          <a:stretch/>
        </p:blipFill>
        <p:spPr>
          <a:xfrm>
            <a:off x="1299742" y="2873805"/>
            <a:ext cx="9592516" cy="2505114"/>
          </a:xfrm>
          <a:prstGeom prst="rect">
            <a:avLst/>
          </a:prstGeom>
        </p:spPr>
      </p:pic>
    </p:spTree>
    <p:extLst>
      <p:ext uri="{BB962C8B-B14F-4D97-AF65-F5344CB8AC3E}">
        <p14:creationId xmlns:p14="http://schemas.microsoft.com/office/powerpoint/2010/main" val="37833643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0972800" cy="1325563"/>
          </a:xfrm>
        </p:spPr>
        <p:txBody>
          <a:bodyPr/>
          <a:lstStyle/>
          <a:p>
            <a:r>
              <a:rPr lang="en-US" b="1" i="1" dirty="0">
                <a:solidFill>
                  <a:srgbClr val="4472C4">
                    <a:lumMod val="75000"/>
                  </a:srgbClr>
                </a:solidFill>
                <a:latin typeface="Calibri" panose="020F0502020204030204"/>
              </a:rPr>
              <a:t>Extension to Multiple Inputs: XOR and XNOR</a:t>
            </a:r>
            <a:endParaRPr lang="en-US" dirty="0"/>
          </a:p>
        </p:txBody>
      </p:sp>
      <p:sp>
        <p:nvSpPr>
          <p:cNvPr id="3" name="Content Placeholder 2"/>
          <p:cNvSpPr>
            <a:spLocks noGrp="1"/>
          </p:cNvSpPr>
          <p:nvPr>
            <p:ph idx="1"/>
          </p:nvPr>
        </p:nvSpPr>
        <p:spPr>
          <a:xfrm>
            <a:off x="381000" y="1690688"/>
            <a:ext cx="11430000" cy="4850789"/>
          </a:xfrm>
        </p:spPr>
        <p:txBody>
          <a:bodyPr>
            <a:normAutofit/>
          </a:bodyPr>
          <a:lstStyle/>
          <a:p>
            <a:r>
              <a:rPr lang="en-US" dirty="0"/>
              <a:t>Both are </a:t>
            </a:r>
            <a:r>
              <a:rPr lang="en-US" b="1" dirty="0"/>
              <a:t>associative </a:t>
            </a:r>
            <a:r>
              <a:rPr lang="en-US" dirty="0"/>
              <a:t>and </a:t>
            </a:r>
            <a:r>
              <a:rPr lang="en-US" b="1" dirty="0"/>
              <a:t>commutative </a:t>
            </a:r>
          </a:p>
          <a:p>
            <a:pPr lvl="1"/>
            <a:r>
              <a:rPr lang="en-US" dirty="0">
                <a:solidFill>
                  <a:srgbClr val="FF0000"/>
                </a:solidFill>
              </a:rPr>
              <a:t>But definition can be modified different way:</a:t>
            </a:r>
          </a:p>
          <a:p>
            <a:pPr lvl="2"/>
            <a:r>
              <a:rPr lang="en-US" b="1" dirty="0"/>
              <a:t>XOR </a:t>
            </a:r>
            <a:r>
              <a:rPr lang="en-US" dirty="0"/>
              <a:t>– Odd function considering 1</a:t>
            </a:r>
          </a:p>
          <a:p>
            <a:pPr lvl="2"/>
            <a:r>
              <a:rPr lang="en-US" b="1" dirty="0"/>
              <a:t>XNOR</a:t>
            </a:r>
            <a:r>
              <a:rPr lang="en-US" dirty="0"/>
              <a:t> – Even function considering 1, exclusively complement of XOR</a:t>
            </a:r>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63</a:t>
            </a:fld>
            <a:endParaRPr lang="en-US"/>
          </a:p>
        </p:txBody>
      </p:sp>
      <p:pic>
        <p:nvPicPr>
          <p:cNvPr id="9" name="Content Placeholder 6">
            <a:extLst>
              <a:ext uri="{FF2B5EF4-FFF2-40B4-BE49-F238E27FC236}">
                <a16:creationId xmlns:a16="http://schemas.microsoft.com/office/drawing/2014/main" id="{E27567D2-4153-4A45-913C-F333A6064C66}"/>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t="3385" b="4015"/>
          <a:stretch/>
        </p:blipFill>
        <p:spPr>
          <a:xfrm>
            <a:off x="2474976" y="3358799"/>
            <a:ext cx="7242048" cy="3362676"/>
          </a:xfrm>
          <a:prstGeom prst="rect">
            <a:avLst/>
          </a:prstGeom>
        </p:spPr>
      </p:pic>
    </p:spTree>
    <p:extLst>
      <p:ext uri="{BB962C8B-B14F-4D97-AF65-F5344CB8AC3E}">
        <p14:creationId xmlns:p14="http://schemas.microsoft.com/office/powerpoint/2010/main" val="32244823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6525"/>
            <a:ext cx="11430000" cy="1325563"/>
          </a:xfrm>
        </p:spPr>
        <p:txBody>
          <a:bodyPr/>
          <a:lstStyle/>
          <a:p>
            <a:r>
              <a:rPr lang="en-US" b="1" i="1" dirty="0">
                <a:solidFill>
                  <a:srgbClr val="4472C4">
                    <a:lumMod val="75000"/>
                  </a:srgbClr>
                </a:solidFill>
                <a:latin typeface="Calibri" panose="020F0502020204030204"/>
              </a:rPr>
              <a:t>Positive and Negative Logic</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64</a:t>
            </a:fld>
            <a:endParaRPr lang="en-US"/>
          </a:p>
        </p:txBody>
      </p:sp>
      <p:pic>
        <p:nvPicPr>
          <p:cNvPr id="7" name="Picture 6"/>
          <p:cNvPicPr>
            <a:picLocks noChangeAspect="1"/>
          </p:cNvPicPr>
          <p:nvPr/>
        </p:nvPicPr>
        <p:blipFill>
          <a:blip r:embed="rId2">
            <a:grayscl/>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900087" y="5027751"/>
            <a:ext cx="5952913" cy="1748588"/>
          </a:xfrm>
          <a:prstGeom prst="rect">
            <a:avLst/>
          </a:prstGeom>
        </p:spPr>
      </p:pic>
      <p:sp>
        <p:nvSpPr>
          <p:cNvPr id="3" name="Content Placeholder 2"/>
          <p:cNvSpPr>
            <a:spLocks noGrp="1"/>
          </p:cNvSpPr>
          <p:nvPr>
            <p:ph idx="1"/>
          </p:nvPr>
        </p:nvSpPr>
        <p:spPr>
          <a:xfrm>
            <a:off x="381000" y="1461136"/>
            <a:ext cx="11713464" cy="4351338"/>
          </a:xfrm>
        </p:spPr>
        <p:txBody>
          <a:bodyPr/>
          <a:lstStyle/>
          <a:p>
            <a:r>
              <a:rPr lang="en-US" dirty="0"/>
              <a:t>Binary signal at inputs and outputs has one of two values </a:t>
            </a:r>
          </a:p>
          <a:p>
            <a:pPr lvl="2"/>
            <a:r>
              <a:rPr lang="en-US" b="1" dirty="0"/>
              <a:t>Logic 1</a:t>
            </a:r>
            <a:r>
              <a:rPr lang="en-US" dirty="0"/>
              <a:t> and </a:t>
            </a:r>
            <a:r>
              <a:rPr lang="en-US" b="1" dirty="0"/>
              <a:t>Logic 0</a:t>
            </a:r>
          </a:p>
          <a:p>
            <a:pPr lvl="2"/>
            <a:r>
              <a:rPr lang="en-US" b="1" dirty="0">
                <a:solidFill>
                  <a:srgbClr val="FF0000"/>
                </a:solidFill>
              </a:rPr>
              <a:t>Except during transition</a:t>
            </a:r>
          </a:p>
          <a:p>
            <a:r>
              <a:rPr lang="en-US" dirty="0"/>
              <a:t>There are two different assignments of analog signal levels (</a:t>
            </a:r>
            <a:r>
              <a:rPr lang="en-US" b="1" dirty="0"/>
              <a:t>H</a:t>
            </a:r>
            <a:r>
              <a:rPr lang="en-US" dirty="0"/>
              <a:t>igh and </a:t>
            </a:r>
            <a:r>
              <a:rPr lang="en-US" b="1" dirty="0"/>
              <a:t>L</a:t>
            </a:r>
            <a:r>
              <a:rPr lang="en-US" dirty="0"/>
              <a:t>ow) </a:t>
            </a:r>
            <a:br>
              <a:rPr lang="en-US" dirty="0"/>
            </a:br>
            <a:r>
              <a:rPr lang="en-US" dirty="0"/>
              <a:t>to these logic values </a:t>
            </a:r>
          </a:p>
          <a:p>
            <a:pPr lvl="2"/>
            <a:r>
              <a:rPr lang="en-US" dirty="0"/>
              <a:t>Assigning logic values to its </a:t>
            </a:r>
            <a:r>
              <a:rPr lang="en-US" b="1" dirty="0"/>
              <a:t>relative</a:t>
            </a:r>
            <a:r>
              <a:rPr lang="en-US" dirty="0"/>
              <a:t> amplitudes of signal levels – </a:t>
            </a:r>
            <a:r>
              <a:rPr lang="en-US" b="1" dirty="0">
                <a:solidFill>
                  <a:srgbClr val="FF0000"/>
                </a:solidFill>
              </a:rPr>
              <a:t>sometimes both amplitudes may be </a:t>
            </a:r>
            <a:r>
              <a:rPr lang="en-US" b="1" dirty="0">
                <a:solidFill>
                  <a:srgbClr val="002060"/>
                </a:solidFill>
              </a:rPr>
              <a:t>considered as either </a:t>
            </a:r>
            <a:r>
              <a:rPr lang="en-US" b="1" dirty="0"/>
              <a:t>positive </a:t>
            </a:r>
            <a:r>
              <a:rPr lang="en-US" b="1" dirty="0">
                <a:solidFill>
                  <a:srgbClr val="FF0000"/>
                </a:solidFill>
              </a:rPr>
              <a:t>or </a:t>
            </a:r>
            <a:r>
              <a:rPr lang="en-US" b="1" dirty="0"/>
              <a:t>negative – So </a:t>
            </a:r>
            <a:r>
              <a:rPr lang="en-US" dirty="0"/>
              <a:t>actual amplitude is not that much informative</a:t>
            </a:r>
            <a:endParaRPr lang="en-US" b="1" dirty="0"/>
          </a:p>
          <a:p>
            <a:r>
              <a:rPr lang="en-US" sz="2600" dirty="0"/>
              <a:t>If </a:t>
            </a:r>
            <a:r>
              <a:rPr lang="en-US" sz="2600" b="1" dirty="0"/>
              <a:t>High</a:t>
            </a:r>
            <a:r>
              <a:rPr lang="en-US" sz="2600" dirty="0"/>
              <a:t> (H) level represents logic 1 – </a:t>
            </a:r>
            <a:r>
              <a:rPr lang="en-US" sz="2600" b="1" dirty="0">
                <a:solidFill>
                  <a:srgbClr val="FF0000"/>
                </a:solidFill>
              </a:rPr>
              <a:t>positive</a:t>
            </a:r>
            <a:r>
              <a:rPr lang="en-US" sz="2600" b="1" dirty="0"/>
              <a:t> logic system</a:t>
            </a:r>
          </a:p>
          <a:p>
            <a:r>
              <a:rPr lang="en-US" sz="2600" dirty="0"/>
              <a:t>If </a:t>
            </a:r>
            <a:r>
              <a:rPr lang="en-US" sz="2600" b="1" dirty="0"/>
              <a:t>Low</a:t>
            </a:r>
            <a:r>
              <a:rPr lang="en-US" sz="2600" dirty="0"/>
              <a:t> (L) level represents logic 1 – </a:t>
            </a:r>
            <a:r>
              <a:rPr lang="en-US" sz="2600" b="1" dirty="0">
                <a:solidFill>
                  <a:srgbClr val="FF0000"/>
                </a:solidFill>
              </a:rPr>
              <a:t>negative</a:t>
            </a:r>
            <a:r>
              <a:rPr lang="en-US" sz="2600" b="1" dirty="0"/>
              <a:t> logic system</a:t>
            </a:r>
          </a:p>
          <a:p>
            <a:endParaRPr lang="en-US" dirty="0"/>
          </a:p>
        </p:txBody>
      </p:sp>
    </p:spTree>
    <p:extLst>
      <p:ext uri="{BB962C8B-B14F-4D97-AF65-F5344CB8AC3E}">
        <p14:creationId xmlns:p14="http://schemas.microsoft.com/office/powerpoint/2010/main" val="17608187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Positive and Negative Logic…</a:t>
            </a:r>
            <a:endParaRPr lang="en-US" dirty="0"/>
          </a:p>
        </p:txBody>
      </p:sp>
      <p:pic>
        <p:nvPicPr>
          <p:cNvPr id="7" name="Content Placeholder 6"/>
          <p:cNvPicPr>
            <a:picLocks noGrp="1" noChangeAspect="1"/>
          </p:cNvPicPr>
          <p:nvPr>
            <p:ph idx="1"/>
          </p:nvPr>
        </p:nvPicPr>
        <p:blipFill rotWithShape="1">
          <a:blip r:embed="rId3">
            <a:extLst>
              <a:ext uri="{28A0092B-C50C-407E-A947-70E740481C1C}">
                <a14:useLocalDpi xmlns:a14="http://schemas.microsoft.com/office/drawing/2010/main" val="0"/>
              </a:ext>
            </a:extLst>
          </a:blip>
          <a:srcRect t="52306"/>
          <a:stretch/>
        </p:blipFill>
        <p:spPr>
          <a:xfrm>
            <a:off x="393426" y="3862705"/>
            <a:ext cx="5916108" cy="2347058"/>
          </a:xfrm>
        </p:spPr>
      </p:pic>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65</a:t>
            </a:fld>
            <a:endParaRPr lang="en-US"/>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5534" y="4102038"/>
            <a:ext cx="5305128" cy="1961137"/>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b="51917"/>
          <a:stretch/>
        </p:blipFill>
        <p:spPr>
          <a:xfrm>
            <a:off x="4038600" y="1866918"/>
            <a:ext cx="5308389" cy="2123182"/>
          </a:xfrm>
          <a:prstGeom prst="rect">
            <a:avLst/>
          </a:prstGeom>
        </p:spPr>
      </p:pic>
    </p:spTree>
    <p:extLst>
      <p:ext uri="{BB962C8B-B14F-4D97-AF65-F5344CB8AC3E}">
        <p14:creationId xmlns:p14="http://schemas.microsoft.com/office/powerpoint/2010/main" val="8114475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dirty="0"/>
            </a:br>
            <a:endParaRPr lang="en-US" sz="3900" dirty="0"/>
          </a:p>
        </p:txBody>
      </p:sp>
      <p:sp>
        <p:nvSpPr>
          <p:cNvPr id="13" name="Content Placeholder 12"/>
          <p:cNvSpPr>
            <a:spLocks noGrp="1"/>
          </p:cNvSpPr>
          <p:nvPr>
            <p:ph idx="1"/>
          </p:nvPr>
        </p:nvSpPr>
        <p:spPr>
          <a:xfrm>
            <a:off x="838199" y="1825624"/>
            <a:ext cx="11020865" cy="4659581"/>
          </a:xfrm>
        </p:spPr>
        <p:txBody>
          <a:bodyPr>
            <a:normAutofit/>
          </a:bodyPr>
          <a:lstStyle/>
          <a:p>
            <a:r>
              <a:rPr lang="en-US" dirty="0"/>
              <a:t>Digital circuit constructed with </a:t>
            </a:r>
            <a:r>
              <a:rPr lang="en-US" b="1" dirty="0"/>
              <a:t>integrated circuit</a:t>
            </a:r>
          </a:p>
          <a:p>
            <a:r>
              <a:rPr lang="en-US" b="1" dirty="0"/>
              <a:t>IC</a:t>
            </a:r>
            <a:r>
              <a:rPr lang="en-US" dirty="0"/>
              <a:t> – small die (dice) of </a:t>
            </a:r>
            <a:r>
              <a:rPr lang="en-US" b="1" dirty="0"/>
              <a:t>semiconductor crystal </a:t>
            </a:r>
            <a:r>
              <a:rPr lang="en-US" dirty="0"/>
              <a:t>named as </a:t>
            </a:r>
            <a:r>
              <a:rPr lang="en-US" b="1" dirty="0"/>
              <a:t>chip </a:t>
            </a:r>
            <a:r>
              <a:rPr lang="en-US" dirty="0"/>
              <a:t>based on what other components are embedded</a:t>
            </a:r>
          </a:p>
          <a:p>
            <a:pPr lvl="2"/>
            <a:r>
              <a:rPr lang="en-US" sz="2200" b="1" dirty="0"/>
              <a:t>Components </a:t>
            </a:r>
            <a:r>
              <a:rPr lang="en-US" sz="2200" dirty="0"/>
              <a:t>of </a:t>
            </a:r>
            <a:r>
              <a:rPr lang="en-US" sz="2200" i="1" dirty="0"/>
              <a:t>Chip</a:t>
            </a:r>
            <a:r>
              <a:rPr lang="en-US" sz="2200" dirty="0"/>
              <a:t> – transistors, diodes, resistors, capacitors and so on</a:t>
            </a:r>
          </a:p>
          <a:p>
            <a:pPr lvl="2"/>
            <a:r>
              <a:rPr lang="en-US" sz="2200" dirty="0"/>
              <a:t>These components are </a:t>
            </a:r>
            <a:r>
              <a:rPr lang="en-US" sz="2200" dirty="0">
                <a:solidFill>
                  <a:srgbClr val="FF0000"/>
                </a:solidFill>
              </a:rPr>
              <a:t>interconnected inside</a:t>
            </a:r>
          </a:p>
          <a:p>
            <a:pPr lvl="2"/>
            <a:r>
              <a:rPr lang="en-US" sz="2200" dirty="0"/>
              <a:t>This chip is mounted (organized) on a </a:t>
            </a:r>
            <a:r>
              <a:rPr lang="en-US" sz="2200" b="1" dirty="0">
                <a:solidFill>
                  <a:srgbClr val="FF0000"/>
                </a:solidFill>
              </a:rPr>
              <a:t>ceramic/plastic package </a:t>
            </a:r>
            <a:r>
              <a:rPr lang="en-US" sz="2200" dirty="0"/>
              <a:t>and connections are made of </a:t>
            </a:r>
            <a:r>
              <a:rPr lang="en-US" sz="2200" b="1" dirty="0">
                <a:solidFill>
                  <a:srgbClr val="FF0000"/>
                </a:solidFill>
              </a:rPr>
              <a:t>external pin</a:t>
            </a:r>
          </a:p>
          <a:p>
            <a:pPr lvl="2"/>
            <a:r>
              <a:rPr lang="en-US" sz="2200" b="1" dirty="0">
                <a:solidFill>
                  <a:srgbClr val="00B050"/>
                </a:solidFill>
              </a:rPr>
              <a:t>Differ </a:t>
            </a:r>
            <a:r>
              <a:rPr lang="en-US" sz="2200" dirty="0"/>
              <a:t>from other </a:t>
            </a:r>
            <a:r>
              <a:rPr lang="en-US" sz="2200" b="1" dirty="0"/>
              <a:t>detachable electronic circuit </a:t>
            </a:r>
            <a:r>
              <a:rPr lang="en-US" sz="2200" dirty="0"/>
              <a:t>(with registers, capacitors)</a:t>
            </a:r>
          </a:p>
          <a:p>
            <a:pPr lvl="2"/>
            <a:r>
              <a:rPr lang="en-US" sz="2200" b="1" dirty="0"/>
              <a:t>Designation of IC </a:t>
            </a:r>
            <a:r>
              <a:rPr lang="en-US" sz="2200" dirty="0"/>
              <a:t>printed on the surface</a:t>
            </a:r>
          </a:p>
          <a:p>
            <a:pPr lvl="1"/>
            <a:endParaRPr lang="en-US" dirty="0"/>
          </a:p>
          <a:p>
            <a:endParaRPr lang="en-US" dirty="0"/>
          </a:p>
          <a:p>
            <a:endParaRPr lang="en-US" dirty="0"/>
          </a:p>
        </p:txBody>
      </p:sp>
      <p:sp>
        <p:nvSpPr>
          <p:cNvPr id="7" name="Date Placeholder 6"/>
          <p:cNvSpPr>
            <a:spLocks noGrp="1"/>
          </p:cNvSpPr>
          <p:nvPr>
            <p:ph type="dt" sz="half" idx="10"/>
          </p:nvPr>
        </p:nvSpPr>
        <p:spPr/>
        <p:txBody>
          <a:bodyPr/>
          <a:lstStyle/>
          <a:p>
            <a:r>
              <a:rPr lang="en-US" sz="1600"/>
              <a:t>Chapter 1</a:t>
            </a:r>
            <a:endParaRPr lang="en-US" sz="1600" dirty="0"/>
          </a:p>
        </p:txBody>
      </p:sp>
      <p:sp>
        <p:nvSpPr>
          <p:cNvPr id="4" name="Footer Placeholder 3"/>
          <p:cNvSpPr>
            <a:spLocks noGrp="1"/>
          </p:cNvSpPr>
          <p:nvPr>
            <p:ph type="ftr" sz="quarter" idx="11"/>
          </p:nvPr>
        </p:nvSpPr>
        <p:spPr/>
        <p:txBody>
          <a:bodyPr/>
          <a:lstStyle/>
          <a:p>
            <a:r>
              <a:rPr lang="en-US" sz="1600" dirty="0"/>
              <a:t>CSE 4205: Digital Logic Design</a:t>
            </a:r>
          </a:p>
        </p:txBody>
      </p:sp>
      <p:sp>
        <p:nvSpPr>
          <p:cNvPr id="5" name="Slide Number Placeholder 4"/>
          <p:cNvSpPr>
            <a:spLocks noGrp="1"/>
          </p:cNvSpPr>
          <p:nvPr>
            <p:ph type="sldNum" sz="quarter" idx="12"/>
          </p:nvPr>
        </p:nvSpPr>
        <p:spPr/>
        <p:txBody>
          <a:bodyPr/>
          <a:lstStyle/>
          <a:p>
            <a:fld id="{2E7865C8-A00C-4A00-A7DE-A98002B852BF}" type="slidenum">
              <a:rPr lang="en-US" sz="1600" smtClean="0"/>
              <a:t>66</a:t>
            </a:fld>
            <a:endParaRPr lang="en-US" sz="16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Title 1"/>
          <p:cNvSpPr txBox="1">
            <a:spLocks/>
          </p:cNvSpPr>
          <p:nvPr/>
        </p:nvSpPr>
        <p:spPr>
          <a:xfrm>
            <a:off x="717645"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solidFill>
                  <a:schemeClr val="accent5">
                    <a:lumMod val="75000"/>
                  </a:schemeClr>
                </a:solidFill>
                <a:latin typeface="+mn-lt"/>
              </a:rPr>
              <a:t>Integrated Circuits</a:t>
            </a:r>
            <a:endParaRPr lang="en-US" dirty="0">
              <a:latin typeface="+mn-lt"/>
            </a:endParaRPr>
          </a:p>
        </p:txBody>
      </p:sp>
    </p:spTree>
    <p:extLst>
      <p:ext uri="{BB962C8B-B14F-4D97-AF65-F5344CB8AC3E}">
        <p14:creationId xmlns:p14="http://schemas.microsoft.com/office/powerpoint/2010/main" val="8955987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dirty="0"/>
            </a:br>
            <a:endParaRPr lang="en-US" sz="3900" dirty="0"/>
          </a:p>
        </p:txBody>
      </p:sp>
      <p:sp>
        <p:nvSpPr>
          <p:cNvPr id="13" name="Content Placeholder 12"/>
          <p:cNvSpPr>
            <a:spLocks noGrp="1"/>
          </p:cNvSpPr>
          <p:nvPr>
            <p:ph idx="1"/>
          </p:nvPr>
        </p:nvSpPr>
        <p:spPr>
          <a:xfrm>
            <a:off x="1024128" y="1690688"/>
            <a:ext cx="10786872" cy="4800599"/>
          </a:xfrm>
        </p:spPr>
        <p:txBody>
          <a:bodyPr>
            <a:normAutofit/>
          </a:bodyPr>
          <a:lstStyle/>
          <a:p>
            <a:r>
              <a:rPr lang="en-US" b="1" dirty="0"/>
              <a:t>Advantages:</a:t>
            </a:r>
          </a:p>
          <a:p>
            <a:pPr lvl="1"/>
            <a:r>
              <a:rPr lang="en-US" dirty="0"/>
              <a:t>Small in size</a:t>
            </a:r>
          </a:p>
          <a:p>
            <a:pPr lvl="1"/>
            <a:r>
              <a:rPr lang="en-US" dirty="0"/>
              <a:t>Cost effective</a:t>
            </a:r>
          </a:p>
          <a:p>
            <a:pPr lvl="1"/>
            <a:r>
              <a:rPr lang="en-US" dirty="0"/>
              <a:t>Reduced power consumption</a:t>
            </a:r>
          </a:p>
          <a:p>
            <a:pPr lvl="1"/>
            <a:r>
              <a:rPr lang="en-US" dirty="0"/>
              <a:t>High reliability against failure</a:t>
            </a:r>
          </a:p>
          <a:p>
            <a:r>
              <a:rPr lang="en-US" b="1" dirty="0"/>
              <a:t>Linear and Digital IC </a:t>
            </a:r>
            <a:r>
              <a:rPr lang="en-US" dirty="0"/>
              <a:t>– for </a:t>
            </a:r>
            <a:r>
              <a:rPr lang="en-US" b="1" dirty="0">
                <a:solidFill>
                  <a:srgbClr val="00B050"/>
                </a:solidFill>
              </a:rPr>
              <a:t>continuous </a:t>
            </a:r>
            <a:r>
              <a:rPr lang="en-US" dirty="0"/>
              <a:t>signal and </a:t>
            </a:r>
            <a:r>
              <a:rPr lang="en-US" b="1" dirty="0">
                <a:solidFill>
                  <a:srgbClr val="FF0000"/>
                </a:solidFill>
              </a:rPr>
              <a:t>discrete </a:t>
            </a:r>
            <a:r>
              <a:rPr lang="en-US" dirty="0"/>
              <a:t>signal respectively from external sources </a:t>
            </a:r>
          </a:p>
          <a:p>
            <a:r>
              <a:rPr lang="en-US" b="1" dirty="0"/>
              <a:t>Two types </a:t>
            </a:r>
            <a:r>
              <a:rPr lang="en-US" dirty="0"/>
              <a:t>of packages:</a:t>
            </a:r>
          </a:p>
          <a:p>
            <a:pPr lvl="1"/>
            <a:r>
              <a:rPr lang="en-US" dirty="0"/>
              <a:t>Flat </a:t>
            </a:r>
          </a:p>
          <a:p>
            <a:pPr lvl="1"/>
            <a:r>
              <a:rPr lang="en-US" dirty="0"/>
              <a:t>Dual in Line</a:t>
            </a:r>
          </a:p>
          <a:p>
            <a:endParaRPr lang="en-US" dirty="0"/>
          </a:p>
          <a:p>
            <a:endParaRPr lang="en-US" dirty="0"/>
          </a:p>
        </p:txBody>
      </p:sp>
      <p:sp>
        <p:nvSpPr>
          <p:cNvPr id="7" name="Date Placeholder 6"/>
          <p:cNvSpPr>
            <a:spLocks noGrp="1"/>
          </p:cNvSpPr>
          <p:nvPr>
            <p:ph type="dt" sz="half" idx="10"/>
          </p:nvPr>
        </p:nvSpPr>
        <p:spPr/>
        <p:txBody>
          <a:bodyPr/>
          <a:lstStyle/>
          <a:p>
            <a:r>
              <a:rPr lang="en-US" sz="1600"/>
              <a:t>Chapter 1</a:t>
            </a:r>
            <a:endParaRPr lang="en-US" sz="1600" dirty="0"/>
          </a:p>
        </p:txBody>
      </p:sp>
      <p:sp>
        <p:nvSpPr>
          <p:cNvPr id="5" name="Slide Number Placeholder 4"/>
          <p:cNvSpPr>
            <a:spLocks noGrp="1"/>
          </p:cNvSpPr>
          <p:nvPr>
            <p:ph type="sldNum" sz="quarter" idx="12"/>
          </p:nvPr>
        </p:nvSpPr>
        <p:spPr/>
        <p:txBody>
          <a:bodyPr/>
          <a:lstStyle/>
          <a:p>
            <a:fld id="{2E7865C8-A00C-4A00-A7DE-A98002B852BF}" type="slidenum">
              <a:rPr lang="en-US" sz="1600" smtClean="0"/>
              <a:t>67</a:t>
            </a:fld>
            <a:endParaRPr lang="en-US" sz="16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74840" y="42498"/>
            <a:ext cx="457200" cy="748483"/>
          </a:xfrm>
          <a:prstGeom prst="rect">
            <a:avLst/>
          </a:prstGeom>
        </p:spPr>
      </p:pic>
      <p:sp>
        <p:nvSpPr>
          <p:cNvPr id="8" name="Title 1"/>
          <p:cNvSpPr txBox="1">
            <a:spLocks/>
          </p:cNvSpPr>
          <p:nvPr/>
        </p:nvSpPr>
        <p:spPr>
          <a:xfrm>
            <a:off x="1024128" y="500062"/>
            <a:ext cx="107868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solidFill>
                  <a:schemeClr val="accent5">
                    <a:lumMod val="75000"/>
                  </a:schemeClr>
                </a:solidFill>
                <a:latin typeface="+mn-lt"/>
              </a:rPr>
              <a:t>Integrated Circuits…</a:t>
            </a:r>
            <a:endParaRPr lang="en-US" dirty="0">
              <a:latin typeface="+mn-lt"/>
            </a:endParaRPr>
          </a:p>
        </p:txBody>
      </p:sp>
      <p:pic>
        <p:nvPicPr>
          <p:cNvPr id="3" name="Picture 2">
            <a:extLst>
              <a:ext uri="{FF2B5EF4-FFF2-40B4-BE49-F238E27FC236}">
                <a16:creationId xmlns:a16="http://schemas.microsoft.com/office/drawing/2014/main" id="{0518746A-FF17-440F-BF29-055A4073B0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0" y="4640382"/>
            <a:ext cx="3206086" cy="2125544"/>
          </a:xfrm>
          <a:prstGeom prst="rect">
            <a:avLst/>
          </a:prstGeom>
        </p:spPr>
      </p:pic>
      <p:pic>
        <p:nvPicPr>
          <p:cNvPr id="10" name="Picture 9">
            <a:extLst>
              <a:ext uri="{FF2B5EF4-FFF2-40B4-BE49-F238E27FC236}">
                <a16:creationId xmlns:a16="http://schemas.microsoft.com/office/drawing/2014/main" id="{9ECE2BF9-8C99-4A02-AE4E-8F0316E054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09531" y="5254388"/>
            <a:ext cx="1762836" cy="1467087"/>
          </a:xfrm>
          <a:prstGeom prst="rect">
            <a:avLst/>
          </a:prstGeom>
        </p:spPr>
      </p:pic>
    </p:spTree>
    <p:extLst>
      <p:ext uri="{BB962C8B-B14F-4D97-AF65-F5344CB8AC3E}">
        <p14:creationId xmlns:p14="http://schemas.microsoft.com/office/powerpoint/2010/main" val="1244818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125"/>
            <a:ext cx="11430000" cy="1325563"/>
          </a:xfrm>
        </p:spPr>
        <p:txBody>
          <a:bodyPr/>
          <a:lstStyle/>
          <a:p>
            <a:r>
              <a:rPr lang="en-US" b="1" i="1" dirty="0">
                <a:solidFill>
                  <a:srgbClr val="4472C4">
                    <a:lumMod val="75000"/>
                  </a:srgbClr>
                </a:solidFill>
                <a:latin typeface="Calibri" panose="020F0502020204030204"/>
              </a:rPr>
              <a:t>Types of ICs: Complexity</a:t>
            </a:r>
            <a:endParaRPr lang="en-US" dirty="0"/>
          </a:p>
        </p:txBody>
      </p:sp>
      <p:sp>
        <p:nvSpPr>
          <p:cNvPr id="3" name="Content Placeholder 2"/>
          <p:cNvSpPr>
            <a:spLocks noGrp="1"/>
          </p:cNvSpPr>
          <p:nvPr>
            <p:ph idx="1"/>
          </p:nvPr>
        </p:nvSpPr>
        <p:spPr>
          <a:xfrm>
            <a:off x="381000" y="1825625"/>
            <a:ext cx="11430000" cy="4351338"/>
          </a:xfrm>
        </p:spPr>
        <p:txBody>
          <a:bodyPr/>
          <a:lstStyle/>
          <a:p>
            <a:r>
              <a:rPr lang="en-US" dirty="0"/>
              <a:t>Based on the </a:t>
            </a:r>
            <a:r>
              <a:rPr lang="en-US" b="1" dirty="0">
                <a:solidFill>
                  <a:srgbClr val="FF0000"/>
                </a:solidFill>
              </a:rPr>
              <a:t>number of gates inside (complexity) </a:t>
            </a:r>
            <a:r>
              <a:rPr lang="en-US" dirty="0"/>
              <a:t>– </a:t>
            </a:r>
          </a:p>
          <a:p>
            <a:pPr lvl="1"/>
            <a:r>
              <a:rPr lang="en-US" b="1" dirty="0"/>
              <a:t>SSI</a:t>
            </a:r>
            <a:r>
              <a:rPr lang="en-US" dirty="0"/>
              <a:t> – with several independent gates with their inputs and outputs (&lt;10)</a:t>
            </a:r>
          </a:p>
          <a:p>
            <a:pPr lvl="1"/>
            <a:r>
              <a:rPr lang="en-US" b="1" dirty="0"/>
              <a:t>MSI</a:t>
            </a:r>
            <a:r>
              <a:rPr lang="en-US" dirty="0"/>
              <a:t> – for specific elementary operations – decoder, encoder, adder, etc. (10	~1000)</a:t>
            </a:r>
          </a:p>
          <a:p>
            <a:pPr lvl="1"/>
            <a:r>
              <a:rPr lang="en-US" b="1" dirty="0"/>
              <a:t>LSI </a:t>
            </a:r>
            <a:r>
              <a:rPr lang="en-US" dirty="0"/>
              <a:t>– include digital system like processor, memory chip, etc. (&gt;10,000)</a:t>
            </a:r>
          </a:p>
          <a:p>
            <a:pPr lvl="1"/>
            <a:r>
              <a:rPr lang="en-US" b="1" dirty="0"/>
              <a:t>VLSI</a:t>
            </a:r>
            <a:r>
              <a:rPr lang="en-US" dirty="0"/>
              <a:t> – include complex microcomputer chip due to low cost and smaller in size (&gt;1M)</a:t>
            </a:r>
          </a:p>
          <a:p>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68</a:t>
            </a:fld>
            <a:endParaRPr lang="en-US"/>
          </a:p>
        </p:txBody>
      </p:sp>
      <p:pic>
        <p:nvPicPr>
          <p:cNvPr id="8" name="Picture 7">
            <a:extLst>
              <a:ext uri="{FF2B5EF4-FFF2-40B4-BE49-F238E27FC236}">
                <a16:creationId xmlns:a16="http://schemas.microsoft.com/office/drawing/2014/main" id="{7E20F400-9EB5-469E-ABB7-C0BD79883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4001294"/>
            <a:ext cx="5836920" cy="2739804"/>
          </a:xfrm>
          <a:prstGeom prst="rect">
            <a:avLst/>
          </a:prstGeom>
        </p:spPr>
      </p:pic>
    </p:spTree>
    <p:extLst>
      <p:ext uri="{BB962C8B-B14F-4D97-AF65-F5344CB8AC3E}">
        <p14:creationId xmlns:p14="http://schemas.microsoft.com/office/powerpoint/2010/main" val="404722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Types of ICs: Technology </a:t>
            </a:r>
          </a:p>
        </p:txBody>
      </p:sp>
      <p:sp>
        <p:nvSpPr>
          <p:cNvPr id="3" name="Content Placeholder 2"/>
          <p:cNvSpPr>
            <a:spLocks noGrp="1"/>
          </p:cNvSpPr>
          <p:nvPr>
            <p:ph idx="1"/>
          </p:nvPr>
        </p:nvSpPr>
        <p:spPr/>
        <p:txBody>
          <a:bodyPr/>
          <a:lstStyle/>
          <a:p>
            <a:r>
              <a:rPr lang="en-US" b="1" dirty="0"/>
              <a:t>TTL  </a:t>
            </a:r>
            <a:r>
              <a:rPr lang="en-US" dirty="0"/>
              <a:t>-  transistor–transistor  logic (standard)</a:t>
            </a:r>
          </a:p>
          <a:p>
            <a:r>
              <a:rPr lang="en-US" b="1" dirty="0"/>
              <a:t>ECL </a:t>
            </a:r>
            <a:r>
              <a:rPr lang="en-US" dirty="0"/>
              <a:t> -  emitter‐coupled  logic (high speed)</a:t>
            </a:r>
          </a:p>
          <a:p>
            <a:r>
              <a:rPr lang="en-US" b="1" dirty="0"/>
              <a:t>MOS</a:t>
            </a:r>
            <a:r>
              <a:rPr lang="en-US" dirty="0"/>
              <a:t>  -  metal‐oxide  semiconductor (high component density)</a:t>
            </a:r>
          </a:p>
          <a:p>
            <a:r>
              <a:rPr lang="en-US" b="1" dirty="0"/>
              <a:t>CMOS  </a:t>
            </a:r>
            <a:r>
              <a:rPr lang="en-US" dirty="0"/>
              <a:t>-  complementary  metal‐oxide  semiconductor (lower energy)</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69</a:t>
            </a:fld>
            <a:endParaRPr lang="en-US"/>
          </a:p>
        </p:txBody>
      </p:sp>
    </p:spTree>
    <p:extLst>
      <p:ext uri="{BB962C8B-B14F-4D97-AF65-F5344CB8AC3E}">
        <p14:creationId xmlns:p14="http://schemas.microsoft.com/office/powerpoint/2010/main" val="3783478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39272" cy="1325563"/>
          </a:xfrm>
        </p:spPr>
        <p:txBody>
          <a:bodyPr/>
          <a:lstStyle/>
          <a:p>
            <a:r>
              <a:rPr lang="en-US" b="1" i="1" dirty="0">
                <a:solidFill>
                  <a:srgbClr val="4472C4">
                    <a:lumMod val="75000"/>
                  </a:srgbClr>
                </a:solidFill>
                <a:latin typeface="Calibri" panose="020F0502020204030204"/>
              </a:rPr>
              <a:t>Digital logic family: Distinguishing Parameters</a:t>
            </a:r>
            <a:endParaRPr lang="en-US" dirty="0"/>
          </a:p>
        </p:txBody>
      </p:sp>
      <p:sp>
        <p:nvSpPr>
          <p:cNvPr id="3" name="Content Placeholder 2"/>
          <p:cNvSpPr>
            <a:spLocks noGrp="1"/>
          </p:cNvSpPr>
          <p:nvPr>
            <p:ph idx="1"/>
          </p:nvPr>
        </p:nvSpPr>
        <p:spPr/>
        <p:txBody>
          <a:bodyPr/>
          <a:lstStyle/>
          <a:p>
            <a:r>
              <a:rPr lang="en-US" b="1" dirty="0"/>
              <a:t>Parameters </a:t>
            </a:r>
            <a:r>
              <a:rPr lang="en-US" dirty="0"/>
              <a:t>in digital logic families:</a:t>
            </a:r>
          </a:p>
          <a:p>
            <a:pPr lvl="1"/>
            <a:r>
              <a:rPr lang="en-US" dirty="0"/>
              <a:t>Fan out </a:t>
            </a:r>
            <a:r>
              <a:rPr lang="en-US" dirty="0">
                <a:solidFill>
                  <a:srgbClr val="FF0000"/>
                </a:solidFill>
              </a:rPr>
              <a:t>= maximum number </a:t>
            </a:r>
            <a:r>
              <a:rPr lang="en-US">
                <a:solidFill>
                  <a:srgbClr val="FF0000"/>
                </a:solidFill>
              </a:rPr>
              <a:t>of output </a:t>
            </a:r>
            <a:r>
              <a:rPr lang="en-US" dirty="0">
                <a:solidFill>
                  <a:srgbClr val="FF0000"/>
                </a:solidFill>
              </a:rPr>
              <a:t>signals</a:t>
            </a:r>
          </a:p>
          <a:p>
            <a:pPr lvl="1"/>
            <a:r>
              <a:rPr lang="en-US" dirty="0"/>
              <a:t>Fan in </a:t>
            </a:r>
            <a:r>
              <a:rPr lang="en-US" dirty="0">
                <a:solidFill>
                  <a:srgbClr val="FF0000"/>
                </a:solidFill>
              </a:rPr>
              <a:t>= maximum number of input signals </a:t>
            </a:r>
          </a:p>
          <a:p>
            <a:pPr lvl="1"/>
            <a:r>
              <a:rPr lang="en-US" dirty="0"/>
              <a:t>Power dissipation</a:t>
            </a:r>
          </a:p>
          <a:p>
            <a:pPr lvl="1"/>
            <a:r>
              <a:rPr lang="en-US" dirty="0"/>
              <a:t>Propagation delay</a:t>
            </a:r>
          </a:p>
          <a:p>
            <a:pPr lvl="1"/>
            <a:r>
              <a:rPr lang="en-US" dirty="0"/>
              <a:t>Noise margin</a:t>
            </a:r>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70</a:t>
            </a:fld>
            <a:endParaRPr lang="en-US"/>
          </a:p>
        </p:txBody>
      </p:sp>
    </p:spTree>
    <p:extLst>
      <p:ext uri="{BB962C8B-B14F-4D97-AF65-F5344CB8AC3E}">
        <p14:creationId xmlns:p14="http://schemas.microsoft.com/office/powerpoint/2010/main" val="2456690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Extension to Multiple Inputs…</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71</a:t>
            </a:fld>
            <a:endParaRPr lang="en-US"/>
          </a:p>
        </p:txBody>
      </p:sp>
      <p:sp>
        <p:nvSpPr>
          <p:cNvPr id="8" name="Content Placeholder 7">
            <a:extLst>
              <a:ext uri="{FF2B5EF4-FFF2-40B4-BE49-F238E27FC236}">
                <a16:creationId xmlns:a16="http://schemas.microsoft.com/office/drawing/2014/main" id="{0E965DE2-D2C9-4160-9811-17F466DF69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609288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solidFill>
                  <a:srgbClr val="4472C4">
                    <a:lumMod val="75000"/>
                  </a:srgbClr>
                </a:solidFill>
                <a:latin typeface="Calibri" panose="020F0502020204030204"/>
              </a:rPr>
              <a:t>Extension Multiple Inputs…</a:t>
            </a:r>
            <a:endParaRPr lang="en-US" dirty="0"/>
          </a:p>
        </p:txBody>
      </p:sp>
      <p:sp>
        <p:nvSpPr>
          <p:cNvPr id="4" name="Date Placeholder 3"/>
          <p:cNvSpPr>
            <a:spLocks noGrp="1"/>
          </p:cNvSpPr>
          <p:nvPr>
            <p:ph type="dt" sz="half" idx="10"/>
          </p:nvPr>
        </p:nvSpPr>
        <p:spPr/>
        <p:txBody>
          <a:bodyPr/>
          <a:lstStyle/>
          <a:p>
            <a:r>
              <a:rPr lang="en-US"/>
              <a:t>Chapter 2</a:t>
            </a:r>
          </a:p>
        </p:txBody>
      </p:sp>
      <p:sp>
        <p:nvSpPr>
          <p:cNvPr id="5" name="Footer Placeholder 4"/>
          <p:cNvSpPr>
            <a:spLocks noGrp="1"/>
          </p:cNvSpPr>
          <p:nvPr>
            <p:ph type="ftr" sz="quarter" idx="11"/>
          </p:nvPr>
        </p:nvSpPr>
        <p:spPr/>
        <p:txBody>
          <a:bodyPr/>
          <a:lstStyle/>
          <a:p>
            <a:r>
              <a:rPr lang="en-US"/>
              <a:t>CSE 4205: Digital Logic Design</a:t>
            </a:r>
          </a:p>
        </p:txBody>
      </p:sp>
      <p:sp>
        <p:nvSpPr>
          <p:cNvPr id="6" name="Slide Number Placeholder 5"/>
          <p:cNvSpPr>
            <a:spLocks noGrp="1"/>
          </p:cNvSpPr>
          <p:nvPr>
            <p:ph type="sldNum" sz="quarter" idx="12"/>
          </p:nvPr>
        </p:nvSpPr>
        <p:spPr/>
        <p:txBody>
          <a:bodyPr/>
          <a:lstStyle/>
          <a:p>
            <a:fld id="{2E7865C8-A00C-4A00-A7DE-A98002B852BF}" type="slidenum">
              <a:rPr lang="en-US" smtClean="0"/>
              <a:t>72</a:t>
            </a:fld>
            <a:endParaRPr lang="en-US"/>
          </a:p>
        </p:txBody>
      </p:sp>
      <p:sp>
        <p:nvSpPr>
          <p:cNvPr id="8" name="Content Placeholder 7">
            <a:extLst>
              <a:ext uri="{FF2B5EF4-FFF2-40B4-BE49-F238E27FC236}">
                <a16:creationId xmlns:a16="http://schemas.microsoft.com/office/drawing/2014/main" id="{75CAA21E-9D74-4F58-B29C-0B3CA4AFECD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4213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36029</TotalTime>
  <Words>6405</Words>
  <Application>Microsoft Office PowerPoint</Application>
  <PresentationFormat>Widescreen</PresentationFormat>
  <Paragraphs>885</Paragraphs>
  <Slides>72</Slides>
  <Notes>60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72</vt:i4>
      </vt:variant>
    </vt:vector>
  </HeadingPairs>
  <TitlesOfParts>
    <vt:vector size="79" baseType="lpstr">
      <vt:lpstr>Arial</vt:lpstr>
      <vt:lpstr>Calibri</vt:lpstr>
      <vt:lpstr>Calibri Light</vt:lpstr>
      <vt:lpstr>Cambria Math</vt:lpstr>
      <vt:lpstr>Times New Roman</vt:lpstr>
      <vt:lpstr>Office Theme</vt:lpstr>
      <vt:lpstr>1_Office Theme</vt:lpstr>
      <vt:lpstr>Boolean Algebra &amp; Logic Gates</vt:lpstr>
      <vt:lpstr>Remaining to Add</vt:lpstr>
      <vt:lpstr>Basic Definitions</vt:lpstr>
      <vt:lpstr>Common Postulates of a Mathematical System</vt:lpstr>
      <vt:lpstr>Common Postulates…</vt:lpstr>
      <vt:lpstr>Common Postulates…</vt:lpstr>
      <vt:lpstr>Basic Definitions - II</vt:lpstr>
      <vt:lpstr>Boolean Algebra</vt:lpstr>
      <vt:lpstr>Huntington Postulates for Boolean Algebra</vt:lpstr>
      <vt:lpstr>Huntington Postulates…</vt:lpstr>
      <vt:lpstr>Boolean Algebra VS Ordinary Algebra Field of binary and real numbers</vt:lpstr>
      <vt:lpstr>Two-valued Boolean Algebra</vt:lpstr>
      <vt:lpstr>Property: Duality</vt:lpstr>
      <vt:lpstr>Basic Theorems</vt:lpstr>
      <vt:lpstr>Proof of Basic Theorems</vt:lpstr>
      <vt:lpstr>Proof of Basic Theorems…</vt:lpstr>
      <vt:lpstr>Proof of Basic Theorems…</vt:lpstr>
      <vt:lpstr>Proof of Basic Theorems…</vt:lpstr>
      <vt:lpstr>Proof of Basic Theorems…</vt:lpstr>
      <vt:lpstr>Truth Table</vt:lpstr>
      <vt:lpstr>Proof using Truth Table</vt:lpstr>
      <vt:lpstr>Operator Precedence</vt:lpstr>
      <vt:lpstr>Venn Diagram</vt:lpstr>
      <vt:lpstr>Boolean Function</vt:lpstr>
      <vt:lpstr>Boolean Function in Truth Table</vt:lpstr>
      <vt:lpstr>Boolean Function in Circuit Diagram</vt:lpstr>
      <vt:lpstr>Boolean Function in Circuit Diagram: Example</vt:lpstr>
      <vt:lpstr>Boolean Function: Reformation</vt:lpstr>
      <vt:lpstr>Boolean Function: Redesign - Example</vt:lpstr>
      <vt:lpstr>Algebraic Manipulation</vt:lpstr>
      <vt:lpstr>Simplification of Boolean Function</vt:lpstr>
      <vt:lpstr>Complement of a function</vt:lpstr>
      <vt:lpstr>Complement of a function: Example</vt:lpstr>
      <vt:lpstr>Minterms</vt:lpstr>
      <vt:lpstr>Minterms</vt:lpstr>
      <vt:lpstr>Maxterms</vt:lpstr>
      <vt:lpstr>Maxterms</vt:lpstr>
      <vt:lpstr>Boolean Functions Using Minterms</vt:lpstr>
      <vt:lpstr>Complement of Boolean Functions </vt:lpstr>
      <vt:lpstr>Boolean Functions Using Maxterms</vt:lpstr>
      <vt:lpstr>Boolean Function in Canonical Form  Using Minterms</vt:lpstr>
      <vt:lpstr>Boolean Function in Canonical Form…  Using Minterms</vt:lpstr>
      <vt:lpstr>Boolean Function in Canonical Form Using Maxterms</vt:lpstr>
      <vt:lpstr>Conversions between Canonical Forms</vt:lpstr>
      <vt:lpstr>Conversions between Canonical Forms…</vt:lpstr>
      <vt:lpstr>Conversions between Canonical Forms…</vt:lpstr>
      <vt:lpstr>Standard Forms</vt:lpstr>
      <vt:lpstr>Standard Forms: SOP and POS</vt:lpstr>
      <vt:lpstr>SOP and POS: Circuit Diagram Two Level Implementation</vt:lpstr>
      <vt:lpstr>Standard Forms and Nonstandard Forms</vt:lpstr>
      <vt:lpstr>Standard Forms and Nonstandard Forms…</vt:lpstr>
      <vt:lpstr>Other Logic Operations</vt:lpstr>
      <vt:lpstr>16 Boolean Functions: Algebraic Expressions</vt:lpstr>
      <vt:lpstr>Other Logic Operations…</vt:lpstr>
      <vt:lpstr>Digital Logic Gates </vt:lpstr>
      <vt:lpstr>Digital Logic Gates: Candidates </vt:lpstr>
      <vt:lpstr>Digital Logic Gates: AND, OR, NOT, Buffer</vt:lpstr>
      <vt:lpstr>Digital Logic Gates: NAND, NOR, XOR, XNOR</vt:lpstr>
      <vt:lpstr>Extension to Multiple Inputs: Problem</vt:lpstr>
      <vt:lpstr>Extension to Multiple Inputs: Problem - NOR</vt:lpstr>
      <vt:lpstr>Extension to Multiple Inputs: Redefinition </vt:lpstr>
      <vt:lpstr>Extension to Multiple Inputs: Attention</vt:lpstr>
      <vt:lpstr>Extension to Multiple Inputs: XOR and XNOR</vt:lpstr>
      <vt:lpstr>Positive and Negative Logic</vt:lpstr>
      <vt:lpstr>Positive and Negative Logic…</vt:lpstr>
      <vt:lpstr> </vt:lpstr>
      <vt:lpstr> </vt:lpstr>
      <vt:lpstr>Types of ICs: Complexity</vt:lpstr>
      <vt:lpstr>Types of ICs: Technology </vt:lpstr>
      <vt:lpstr>Digital logic family: Distinguishing Parameters</vt:lpstr>
      <vt:lpstr>Extension to Multiple Inputs…</vt:lpstr>
      <vt:lpstr>Extension Multiple Inputs…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4205 Digital Logic Design</dc:title>
  <dc:creator>Admin</dc:creator>
  <cp:lastModifiedBy>Rahat Ashmafee</cp:lastModifiedBy>
  <cp:revision>340</cp:revision>
  <dcterms:created xsi:type="dcterms:W3CDTF">2018-06-27T14:59:12Z</dcterms:created>
  <dcterms:modified xsi:type="dcterms:W3CDTF">2021-12-09T08:37:48Z</dcterms:modified>
</cp:coreProperties>
</file>