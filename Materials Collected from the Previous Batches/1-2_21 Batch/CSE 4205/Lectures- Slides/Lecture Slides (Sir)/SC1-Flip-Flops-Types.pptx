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6" r:id="rId1"/>
    <p:sldMasterId id="2147483768" r:id="rId2"/>
  </p:sldMasterIdLst>
  <p:notesMasterIdLst>
    <p:notesMasterId r:id="rId54"/>
  </p:notesMasterIdLst>
  <p:handoutMasterIdLst>
    <p:handoutMasterId r:id="rId55"/>
  </p:handoutMasterIdLst>
  <p:sldIdLst>
    <p:sldId id="256" r:id="rId3"/>
    <p:sldId id="347" r:id="rId4"/>
    <p:sldId id="257" r:id="rId5"/>
    <p:sldId id="278" r:id="rId6"/>
    <p:sldId id="279" r:id="rId7"/>
    <p:sldId id="258" r:id="rId8"/>
    <p:sldId id="348" r:id="rId9"/>
    <p:sldId id="349" r:id="rId10"/>
    <p:sldId id="350" r:id="rId11"/>
    <p:sldId id="262" r:id="rId12"/>
    <p:sldId id="260" r:id="rId13"/>
    <p:sldId id="355" r:id="rId14"/>
    <p:sldId id="280" r:id="rId15"/>
    <p:sldId id="352" r:id="rId16"/>
    <p:sldId id="353" r:id="rId17"/>
    <p:sldId id="281" r:id="rId18"/>
    <p:sldId id="351" r:id="rId19"/>
    <p:sldId id="263" r:id="rId20"/>
    <p:sldId id="265" r:id="rId21"/>
    <p:sldId id="357" r:id="rId22"/>
    <p:sldId id="358" r:id="rId23"/>
    <p:sldId id="359" r:id="rId24"/>
    <p:sldId id="360" r:id="rId25"/>
    <p:sldId id="361" r:id="rId26"/>
    <p:sldId id="362" r:id="rId27"/>
    <p:sldId id="363" r:id="rId28"/>
    <p:sldId id="367" r:id="rId29"/>
    <p:sldId id="364" r:id="rId30"/>
    <p:sldId id="368" r:id="rId31"/>
    <p:sldId id="365" r:id="rId32"/>
    <p:sldId id="366" r:id="rId33"/>
    <p:sldId id="369" r:id="rId34"/>
    <p:sldId id="370" r:id="rId35"/>
    <p:sldId id="273" r:id="rId36"/>
    <p:sldId id="274" r:id="rId37"/>
    <p:sldId id="275" r:id="rId38"/>
    <p:sldId id="276" r:id="rId39"/>
    <p:sldId id="371" r:id="rId40"/>
    <p:sldId id="372" r:id="rId41"/>
    <p:sldId id="374" r:id="rId42"/>
    <p:sldId id="373" r:id="rId43"/>
    <p:sldId id="316" r:id="rId44"/>
    <p:sldId id="375" r:id="rId45"/>
    <p:sldId id="317" r:id="rId46"/>
    <p:sldId id="376" r:id="rId47"/>
    <p:sldId id="318" r:id="rId48"/>
    <p:sldId id="319" r:id="rId49"/>
    <p:sldId id="320" r:id="rId50"/>
    <p:sldId id="321" r:id="rId51"/>
    <p:sldId id="322" r:id="rId52"/>
    <p:sldId id="323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32" autoAdjust="0"/>
    <p:restoredTop sz="78129" autoAdjust="0"/>
  </p:normalViewPr>
  <p:slideViewPr>
    <p:cSldViewPr snapToGrid="0">
      <p:cViewPr varScale="1">
        <p:scale>
          <a:sx n="89" d="100"/>
          <a:sy n="89" d="100"/>
        </p:scale>
        <p:origin x="15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C1B9E-036F-4426-B1FE-095181F8A776}" type="datetimeFigureOut">
              <a:rPr lang="en-US" smtClean="0"/>
              <a:t>01-Mar-22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Lecture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4AD7F4-E4FF-401B-A654-C6B99FAB5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23367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01T14:36:06.4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1,'316'15,"-135"8,188 14,540-35,-439-5,-436 5,53 9,-53-6,56 3,306-9,-375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01T14:36:10.2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2,'193'-2,"206"4,-117 24,-186-16,95 4,1160-16,-730 3,-600-1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1416C-0C94-4347-BEE5-16334176E4E3}" type="datetimeFigureOut">
              <a:rPr lang="en-US" smtClean="0"/>
              <a:t>01-Mar-22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Lecture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DAB20-FECD-48F0-A350-11C52BC51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86870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49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digital computer?</a:t>
            </a:r>
            <a:r>
              <a:rPr lang="en-US" baseline="0" dirty="0"/>
              <a:t> Examples where we can use this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E03ABA-567C-4E7A-9095-3D9C26910D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0993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70546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807608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757810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9729673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Here, S and R are inputs</a:t>
            </a:r>
          </a:p>
          <a:p>
            <a:r>
              <a:rPr lang="en-US" dirty="0"/>
              <a:t>Y is output</a:t>
            </a:r>
          </a:p>
          <a:p>
            <a:r>
              <a:rPr lang="en-US" dirty="0"/>
              <a:t>Q is the present memory state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0851329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6137288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9482361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0318022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366774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7967541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Bistable </a:t>
            </a:r>
            <a:r>
              <a:rPr lang="en-US" dirty="0"/>
              <a:t>= stable in either states (0 and 1)</a:t>
            </a:r>
          </a:p>
          <a:p>
            <a:r>
              <a:rPr lang="en-US" b="1" dirty="0"/>
              <a:t>Multivibrator </a:t>
            </a:r>
            <a:r>
              <a:rPr lang="en-US" dirty="0"/>
              <a:t>= an electronic circuit which is used to implement a simple two state system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6656834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3041583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4128294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5311184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8832163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7531024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3569613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Discuss all cases from the truth table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Start with S=0 and R=0. It considers both cases of Q (0 and 1). It results in memory state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Then, S=0 and S=1 (second and third cases). Here we will not consider Q. Because, inputs themselves force to change the Q.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/>
              <a:t>S (input) and Q (output) should be in opposite direction/level for with NOR gates 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Last occurrence from the truth table is only possible, if its previous state was undefined. After that if the state is S=0 and R=0, </a:t>
            </a:r>
            <a:r>
              <a:rPr lang="en-US" b="1" dirty="0"/>
              <a:t>the output, Q totally depends on speed of the NOR gate (which NOR gate will be 0 at first)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8447442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 is called S’-R’ because, S’ and R’ with NAND gates is similar to S and R with NOR gates. It can be verified from the truth table mentioned above.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/>
              <a:t>But</a:t>
            </a:r>
            <a:r>
              <a:rPr lang="en-US" dirty="0"/>
              <a:t>, they, both are same in operation with S and R inputs which can be justified from the truth table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Discuss all cases from the truth table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/>
              <a:t>S (input) and Q (output) should be in same direction/level for with NAND gates 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Last occurrence from the truth table is only possible, if its previous state was undefined. After that if the state is S=0 and R=0, </a:t>
            </a:r>
            <a:r>
              <a:rPr lang="en-US" b="1" dirty="0"/>
              <a:t>the output, Q totally depends on speed of the NAND gate (which NAND gate will be 1 at first)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5768362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 is called S’-R’ because, S’ and R’ with NAND gates is similar to S and R with NOR gates. It can be verified from the truth table mentioned above.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/>
              <a:t>But</a:t>
            </a:r>
            <a:r>
              <a:rPr lang="en-US" dirty="0"/>
              <a:t>, they, both are same in operation with S and R inputs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565289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If clock=0, both AND gates produce 0 and 0 in the inputs of S and R which in turn keeps the latch in memory state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If the clock=1, the changes in S and R will be passed and change the Q (output).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S and Q should be in opposite direction/level for with NOR gates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6789542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If clock=0, both NAND gates produce 1 and 1 in the inputs of S and R which in turn keeps the latch in memory state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If the clock=1, the changes in S and R will be passed and change the Q (output).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This complete circuit works as a S- R flip-flop considering same inputs for S and 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398413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2089178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3956413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9846792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0377152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6050296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989127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21152208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9121256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29269348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5309837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39988247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63555995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2225073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78204966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08866900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65271359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17289334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15376461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0205722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71586844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70043917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55715207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7695354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28964042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58715160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50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59738685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51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276215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216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740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267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453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03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156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12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843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74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7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396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20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4033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4793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611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969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7145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175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9341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3024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3914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608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Lecture 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022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698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customXml" Target="../ink/ink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microsoft.com/office/2007/relationships/hdphoto" Target="../media/hdphoto2.wdp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microsoft.com/office/2007/relationships/hdphoto" Target="../media/hdphoto3.wdp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Relationship Id="rId5" Type="http://schemas.microsoft.com/office/2007/relationships/hdphoto" Target="../media/hdphoto4.wdp"/><Relationship Id="rId4" Type="http://schemas.openxmlformats.org/officeDocument/2006/relationships/image" Target="../media/image46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1.jpe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4125" y="2751674"/>
            <a:ext cx="9144000" cy="916888"/>
          </a:xfrm>
        </p:spPr>
        <p:txBody>
          <a:bodyPr/>
          <a:lstStyle/>
          <a:p>
            <a:pPr algn="l"/>
            <a:r>
              <a:rPr lang="en-US" b="1" dirty="0">
                <a:latin typeface="+mn-lt"/>
              </a:rPr>
              <a:t>Sequential Logic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4125" y="4707506"/>
            <a:ext cx="9144000" cy="1655762"/>
          </a:xfrm>
        </p:spPr>
        <p:txBody>
          <a:bodyPr/>
          <a:lstStyle/>
          <a:p>
            <a:pPr algn="l"/>
            <a:r>
              <a:rPr lang="en-US" b="1" dirty="0"/>
              <a:t>Course Teacher: Md. Hamjajul Ashmafee</a:t>
            </a:r>
          </a:p>
          <a:p>
            <a:pPr algn="l"/>
            <a:r>
              <a:rPr lang="en-US" b="1" dirty="0"/>
              <a:t>Lecturer, CSE, IUT</a:t>
            </a:r>
          </a:p>
          <a:p>
            <a:pPr algn="l"/>
            <a:r>
              <a:rPr lang="en-US" b="1" dirty="0"/>
              <a:t>Email: ashmafee@iut-dhaka.edu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573" y="109679"/>
            <a:ext cx="731108" cy="1188720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674125" y="704039"/>
            <a:ext cx="9144000" cy="13908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500" b="1" dirty="0"/>
              <a:t>CSE 4205</a:t>
            </a:r>
            <a:br>
              <a:rPr lang="en-US" sz="4500" b="1" dirty="0"/>
            </a:br>
            <a:r>
              <a:rPr lang="en-US" sz="4500" b="1" dirty="0"/>
              <a:t>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1015783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573" y="109679"/>
            <a:ext cx="731108" cy="118872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3FC56E42-0C73-470E-AC06-355EB3188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Remaining to Add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8C1F6F8-7666-4B8F-A967-DD26827AE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other books and internet resources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1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7011D-92ED-4732-AC78-E5139C3602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1308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25"/>
          <a:stretch/>
        </p:blipFill>
        <p:spPr>
          <a:xfrm>
            <a:off x="1799551" y="4623124"/>
            <a:ext cx="2831978" cy="200518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Introduction – Combinational Circuit </a:t>
            </a:r>
            <a:endParaRPr lang="en-US" sz="39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034932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So far digital circuits considered earlier – </a:t>
                </a:r>
                <a:r>
                  <a:rPr lang="en-US" b="1" dirty="0"/>
                  <a:t>combinational circuit </a:t>
                </a:r>
              </a:p>
              <a:p>
                <a:pPr lvl="1"/>
                <a:r>
                  <a:rPr lang="en-US" dirty="0"/>
                  <a:t>But, it is only a part of the digital system.</a:t>
                </a:r>
                <a:endParaRPr lang="en-US" b="1" dirty="0"/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Definition: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𝑷𝒓𝒆𝒔𝒆𝒏𝒕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𝑶𝒖𝒕𝒑𝒖𝒕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𝑝𝑟𝑒𝑠𝑒𝑛𝑡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𝑖𝑛𝑝𝑢𝑡𝑠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b="1" dirty="0">
                    <a:solidFill>
                      <a:srgbClr val="FF0000"/>
                    </a:solidFill>
                  </a:rPr>
                  <a:t>Output</a:t>
                </a:r>
                <a:r>
                  <a:rPr lang="en-US" dirty="0"/>
                  <a:t> </a:t>
                </a:r>
                <a:r>
                  <a:rPr lang="en-US" u="sng" dirty="0"/>
                  <a:t>at any instant</a:t>
                </a:r>
                <a:r>
                  <a:rPr lang="en-US" dirty="0"/>
                  <a:t> entirely depends on the current </a:t>
                </a:r>
                <a:r>
                  <a:rPr lang="en-US" b="1" dirty="0">
                    <a:solidFill>
                      <a:srgbClr val="FF0000"/>
                    </a:solidFill>
                  </a:rPr>
                  <a:t>inputs</a:t>
                </a:r>
                <a:r>
                  <a:rPr lang="en-US" dirty="0"/>
                  <a:t> .</a:t>
                </a:r>
              </a:p>
              <a:p>
                <a:pPr lvl="1"/>
                <a:r>
                  <a:rPr lang="en-US" dirty="0"/>
                  <a:t>If there is any change in the inputs, the output will be changed immediately (considering the </a:t>
                </a:r>
                <a:r>
                  <a:rPr lang="en-US" b="1" dirty="0"/>
                  <a:t>propagation delay</a:t>
                </a:r>
                <a:r>
                  <a:rPr lang="en-US" dirty="0"/>
                  <a:t>)</a:t>
                </a:r>
              </a:p>
              <a:p>
                <a:r>
                  <a:rPr lang="en-US" b="1" dirty="0"/>
                  <a:t>Example</a:t>
                </a:r>
                <a:r>
                  <a:rPr lang="en-US" dirty="0"/>
                  <a:t>: Adder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034932" cy="4351338"/>
              </a:xfrm>
              <a:blipFill>
                <a:blip r:embed="rId4"/>
                <a:stretch>
                  <a:fillRect l="-994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7" t="2973" r="1414" b="8254"/>
          <a:stretch/>
        </p:blipFill>
        <p:spPr>
          <a:xfrm>
            <a:off x="6774202" y="4953541"/>
            <a:ext cx="3672796" cy="153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552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Introduction – Memory 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147474" cy="4351338"/>
          </a:xfrm>
        </p:spPr>
        <p:txBody>
          <a:bodyPr>
            <a:normAutofit/>
          </a:bodyPr>
          <a:lstStyle/>
          <a:p>
            <a:r>
              <a:rPr lang="en-US" b="1" dirty="0"/>
              <a:t>Electronic devices </a:t>
            </a:r>
            <a:r>
              <a:rPr lang="en-US" dirty="0"/>
              <a:t>nowadays have the ability to send, receive, store, retrieve and process </a:t>
            </a:r>
            <a:r>
              <a:rPr lang="en-US" u="sng" dirty="0"/>
              <a:t>information</a:t>
            </a:r>
            <a:r>
              <a:rPr lang="en-US" dirty="0"/>
              <a:t> in binary format </a:t>
            </a:r>
          </a:p>
          <a:p>
            <a:pPr lvl="1"/>
            <a:r>
              <a:rPr lang="en-US" dirty="0"/>
              <a:t>It is only possible because of ability to </a:t>
            </a:r>
            <a:r>
              <a:rPr lang="en-US" u="sng" dirty="0"/>
              <a:t>store information</a:t>
            </a:r>
            <a:r>
              <a:rPr lang="en-US" dirty="0"/>
              <a:t> (</a:t>
            </a:r>
            <a:r>
              <a:rPr lang="en-US" b="1" dirty="0">
                <a:solidFill>
                  <a:srgbClr val="FF0000"/>
                </a:solidFill>
              </a:rPr>
              <a:t>memory</a:t>
            </a:r>
            <a:r>
              <a:rPr lang="en-US" dirty="0"/>
              <a:t>)</a:t>
            </a:r>
          </a:p>
          <a:p>
            <a:r>
              <a:rPr lang="en-US" dirty="0"/>
              <a:t>The circuits that include memory element called </a:t>
            </a:r>
            <a:r>
              <a:rPr lang="en-US" b="1" dirty="0"/>
              <a:t>sequential circuit/logic</a:t>
            </a:r>
          </a:p>
          <a:p>
            <a:pPr lvl="1"/>
            <a:r>
              <a:rPr lang="en-US" b="1" dirty="0"/>
              <a:t>It is another major aspect of the digital system </a:t>
            </a:r>
            <a:endParaRPr lang="en-US" dirty="0"/>
          </a:p>
          <a:p>
            <a:r>
              <a:rPr lang="en-US" dirty="0"/>
              <a:t>But, design of sequential circuit depends on the combinational circuit design 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9276" y="4606051"/>
            <a:ext cx="3185828" cy="211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363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919" y="365125"/>
            <a:ext cx="10878881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Sequential Circuit</a:t>
            </a:r>
            <a:endParaRPr lang="en-US" sz="39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74919" y="1520275"/>
                <a:ext cx="11589833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600" b="1" i="1" dirty="0" smtClean="0">
                        <a:latin typeface="Cambria Math" panose="02040503050406030204" pitchFamily="18" charset="0"/>
                      </a:rPr>
                      <m:t>𝑪𝒐𝒎𝒃𝒊𝒏𝒂𝒕𝒊𝒐𝒏𝒂𝒍</m:t>
                    </m:r>
                    <m:r>
                      <a:rPr lang="en-US" sz="26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1" i="1" dirty="0" smtClean="0">
                        <a:latin typeface="Cambria Math" panose="02040503050406030204" pitchFamily="18" charset="0"/>
                      </a:rPr>
                      <m:t>𝒄𝒊𝒓𝒄𝒖𝒊𝒕</m:t>
                    </m:r>
                    <m:r>
                      <a:rPr lang="en-US" sz="2600" b="1" i="1" dirty="0" smtClean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1" i="1" dirty="0">
                        <a:latin typeface="Cambria Math" panose="02040503050406030204" pitchFamily="18" charset="0"/>
                      </a:rPr>
                      <m:t>𝒔𝒕𝒐𝒓𝒂𝒈𝒆</m:t>
                    </m:r>
                    <m:r>
                      <a:rPr lang="en-US" sz="26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1" i="1" dirty="0">
                        <a:latin typeface="Cambria Math" panose="02040503050406030204" pitchFamily="18" charset="0"/>
                      </a:rPr>
                      <m:t>𝒆𝒍𝒆𝒎𝒆𝒏𝒕𝒔</m:t>
                    </m:r>
                    <m:r>
                      <a:rPr lang="en-US" sz="2600" b="1" i="1" dirty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1" i="1" dirty="0">
                        <a:latin typeface="Cambria Math" panose="02040503050406030204" pitchFamily="18" charset="0"/>
                      </a:rPr>
                      <m:t>𝑺𝒆𝒒𝒖𝒆𝒏𝒕𝒊𝒂𝒍</m:t>
                    </m:r>
                    <m:r>
                      <a:rPr lang="en-US" sz="26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1" i="1" dirty="0" smtClean="0">
                        <a:latin typeface="Cambria Math" panose="02040503050406030204" pitchFamily="18" charset="0"/>
                      </a:rPr>
                      <m:t>𝒄𝒊𝒓𝒄𝒖𝒊𝒕</m:t>
                    </m:r>
                  </m:oMath>
                </a14:m>
                <a:endParaRPr lang="en-US" sz="2600" b="1" dirty="0"/>
              </a:p>
              <a:p>
                <a:r>
                  <a:rPr lang="en-US" b="1" dirty="0"/>
                  <a:t>Storage elements </a:t>
                </a:r>
                <a:r>
                  <a:rPr lang="en-US" dirty="0"/>
                  <a:t>stores binary information (1 or 0) which are called </a:t>
                </a:r>
                <a:r>
                  <a:rPr lang="en-US" b="1" dirty="0">
                    <a:solidFill>
                      <a:srgbClr val="FF0000"/>
                    </a:solidFill>
                  </a:rPr>
                  <a:t>states </a:t>
                </a:r>
              </a:p>
              <a:p>
                <a:pPr lvl="1"/>
                <a:r>
                  <a:rPr lang="en-US" b="1" dirty="0">
                    <a:solidFill>
                      <a:srgbClr val="FF0000"/>
                    </a:solidFill>
                  </a:rPr>
                  <a:t>This states are time variant</a:t>
                </a:r>
              </a:p>
              <a:p>
                <a:r>
                  <a:rPr lang="en-US" b="1" i="1" dirty="0"/>
                  <a:t>Present output of the sequential circuit </a:t>
                </a:r>
                <a:r>
                  <a:rPr lang="en-US" i="1" dirty="0"/>
                  <a:t>= F</a:t>
                </a:r>
                <a:r>
                  <a:rPr lang="en-US" i="1" baseline="-25000" dirty="0"/>
                  <a:t>1</a:t>
                </a:r>
                <a:r>
                  <a:rPr lang="en-US" i="1" dirty="0"/>
                  <a:t> (present input, </a:t>
                </a:r>
                <a:r>
                  <a:rPr lang="en-US" b="1" i="1" dirty="0">
                    <a:solidFill>
                      <a:srgbClr val="00B0F0"/>
                    </a:solidFill>
                  </a:rPr>
                  <a:t>present state</a:t>
                </a:r>
                <a:r>
                  <a:rPr lang="en-US" i="1" dirty="0"/>
                  <a:t>)</a:t>
                </a:r>
              </a:p>
              <a:p>
                <a:r>
                  <a:rPr lang="en-US" b="1" i="1" dirty="0"/>
                  <a:t>Next state of memory element </a:t>
                </a:r>
                <a:r>
                  <a:rPr lang="en-US" i="1" dirty="0"/>
                  <a:t>= F</a:t>
                </a:r>
                <a:r>
                  <a:rPr lang="en-US" i="1" baseline="-25000" dirty="0"/>
                  <a:t>2</a:t>
                </a:r>
                <a:r>
                  <a:rPr lang="en-US" i="1" dirty="0"/>
                  <a:t> (present input, </a:t>
                </a:r>
                <a:r>
                  <a:rPr lang="en-US" b="1" i="1" dirty="0">
                    <a:solidFill>
                      <a:srgbClr val="00B0F0"/>
                    </a:solidFill>
                  </a:rPr>
                  <a:t>present state</a:t>
                </a:r>
                <a:r>
                  <a:rPr lang="en-US" i="1" dirty="0"/>
                  <a:t>)</a:t>
                </a:r>
                <a:endParaRPr lang="en-US" dirty="0"/>
              </a:p>
              <a:p>
                <a:r>
                  <a:rPr lang="en-US" b="1" dirty="0">
                    <a:solidFill>
                      <a:srgbClr val="00B0F0"/>
                    </a:solidFill>
                  </a:rPr>
                  <a:t>Storage element</a:t>
                </a:r>
                <a:r>
                  <a:rPr lang="en-US" b="1" dirty="0"/>
                  <a:t> feeds back its state as </a:t>
                </a:r>
                <a:r>
                  <a:rPr lang="en-US" b="1" dirty="0">
                    <a:solidFill>
                      <a:srgbClr val="FF0000"/>
                    </a:solidFill>
                  </a:rPr>
                  <a:t>input </a:t>
                </a:r>
                <a:r>
                  <a:rPr lang="en-US" dirty="0"/>
                  <a:t>to the combinational circuit through a </a:t>
                </a:r>
                <a:r>
                  <a:rPr lang="en-US" b="1" dirty="0">
                    <a:solidFill>
                      <a:srgbClr val="FF0000"/>
                    </a:solidFill>
                  </a:rPr>
                  <a:t>feedback path</a:t>
                </a:r>
              </a:p>
              <a:p>
                <a:pPr lvl="1"/>
                <a:r>
                  <a:rPr lang="en-US" b="1" dirty="0">
                    <a:solidFill>
                      <a:srgbClr val="FF0000"/>
                    </a:solidFill>
                  </a:rPr>
                  <a:t>This feedback path is called a loop</a:t>
                </a:r>
              </a:p>
              <a:p>
                <a:r>
                  <a:rPr lang="en-US" b="1" dirty="0"/>
                  <a:t>Example</a:t>
                </a:r>
                <a:r>
                  <a:rPr lang="en-US" dirty="0"/>
                  <a:t>: Counter, Register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4919" y="1520275"/>
                <a:ext cx="11589833" cy="4351338"/>
              </a:xfrm>
              <a:blipFill>
                <a:blip r:embed="rId3"/>
                <a:stretch>
                  <a:fillRect l="-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5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212" y="4666294"/>
            <a:ext cx="6518788" cy="169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720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Sequential Circuit – A closer Look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6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B0FE18-E638-4275-893D-72CFDAD1D5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437" y="2497352"/>
            <a:ext cx="8855516" cy="25128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63B2D90-2031-49A3-AC96-6CD8A908374E}"/>
                  </a:ext>
                </a:extLst>
              </p14:cNvPr>
              <p14:cNvContentPartPr/>
              <p14:nvPr/>
            </p14:nvContentPartPr>
            <p14:xfrm>
              <a:off x="3550753" y="4003242"/>
              <a:ext cx="1046880" cy="36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63B2D90-2031-49A3-AC96-6CD8A908374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97113" y="3895602"/>
                <a:ext cx="115452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05D05AD-0F9A-437E-8BD7-935BEFA98FD5}"/>
                  </a:ext>
                </a:extLst>
              </p14:cNvPr>
              <p14:cNvContentPartPr/>
              <p14:nvPr/>
            </p14:nvContentPartPr>
            <p14:xfrm>
              <a:off x="8433433" y="4002882"/>
              <a:ext cx="1135800" cy="190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05D05AD-0F9A-437E-8BD7-935BEFA98FD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79793" y="3894882"/>
                <a:ext cx="1243440" cy="23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7678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Time Sequence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Sequential circuit includes </a:t>
            </a:r>
            <a:r>
              <a:rPr lang="en-US" b="1" dirty="0"/>
              <a:t>time sequence </a:t>
            </a:r>
            <a:r>
              <a:rPr lang="en-US" dirty="0"/>
              <a:t>of inputs, outputs and internal memory states</a:t>
            </a:r>
          </a:p>
          <a:p>
            <a:pPr lvl="1"/>
            <a:r>
              <a:rPr lang="en-US" dirty="0"/>
              <a:t>This time-sequence determines </a:t>
            </a:r>
            <a:r>
              <a:rPr lang="en-US"/>
              <a:t>the behavior </a:t>
            </a:r>
            <a:r>
              <a:rPr lang="en-US" dirty="0"/>
              <a:t>of a sequential circuit. 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7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pic>
        <p:nvPicPr>
          <p:cNvPr id="7" name="Picture 6" descr="A picture containing diagram&#10;&#10;Description automatically generated">
            <a:extLst>
              <a:ext uri="{FF2B5EF4-FFF2-40B4-BE49-F238E27FC236}">
                <a16:creationId xmlns:a16="http://schemas.microsoft.com/office/drawing/2014/main" id="{4C12F0EF-062A-456D-8CB0-77623DF62A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355" y="3315063"/>
            <a:ext cx="8463290" cy="299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424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969" y="365125"/>
            <a:ext cx="10625831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Classification of Sequential Circuit 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836" y="1690688"/>
            <a:ext cx="1073396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/>
              <a:t>Two </a:t>
            </a:r>
            <a:r>
              <a:rPr lang="en-US" i="1" dirty="0"/>
              <a:t>types of sequential circuit</a:t>
            </a:r>
            <a:r>
              <a:rPr lang="en-US" dirty="0"/>
              <a:t> – based on </a:t>
            </a:r>
            <a:r>
              <a:rPr lang="en-US" b="1" dirty="0"/>
              <a:t>timing</a:t>
            </a:r>
            <a:r>
              <a:rPr lang="en-US" dirty="0"/>
              <a:t> of their input signal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Synchronous or clocked sequential circuit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Asynchronous or unclocked sequential circuit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8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427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Asynchronous Sequential Circuit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596" y="1690688"/>
            <a:ext cx="11034204" cy="4351338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Behavior defined based on the </a:t>
            </a:r>
            <a:r>
              <a:rPr lang="en-US" b="1" dirty="0">
                <a:solidFill>
                  <a:srgbClr val="FF0000"/>
                </a:solidFill>
              </a:rPr>
              <a:t>order/sequence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of input signals at </a:t>
            </a:r>
            <a:r>
              <a:rPr lang="en-US" b="1" dirty="0">
                <a:solidFill>
                  <a:srgbClr val="FF0000"/>
                </a:solidFill>
              </a:rPr>
              <a:t>any instant </a:t>
            </a:r>
            <a:r>
              <a:rPr lang="en-US" dirty="0"/>
              <a:t>of time</a:t>
            </a:r>
          </a:p>
          <a:p>
            <a:pPr lvl="2"/>
            <a:r>
              <a:rPr lang="en-US" dirty="0"/>
              <a:t>Only affected whenever the inputs change 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No synchronization </a:t>
            </a:r>
            <a:r>
              <a:rPr lang="en-US" dirty="0"/>
              <a:t>with clock pulse</a:t>
            </a:r>
          </a:p>
          <a:p>
            <a:pPr lvl="1"/>
            <a:r>
              <a:rPr lang="en-US" b="1" dirty="0"/>
              <a:t>Example</a:t>
            </a:r>
            <a:r>
              <a:rPr lang="en-US" dirty="0"/>
              <a:t>: Latch</a:t>
            </a:r>
          </a:p>
          <a:p>
            <a:pPr lvl="1"/>
            <a:r>
              <a:rPr lang="en-US" b="1" dirty="0"/>
              <a:t>Time delayed memory element</a:t>
            </a:r>
          </a:p>
          <a:p>
            <a:pPr lvl="2"/>
            <a:r>
              <a:rPr lang="en-US" dirty="0"/>
              <a:t>Propagation delay is kept higher to provide storage attributes </a:t>
            </a:r>
          </a:p>
          <a:p>
            <a:pPr lvl="2"/>
            <a:r>
              <a:rPr lang="en-US" dirty="0"/>
              <a:t>Intentionally built with delay units </a:t>
            </a:r>
          </a:p>
          <a:p>
            <a:pPr lvl="1"/>
            <a:r>
              <a:rPr lang="en-US" b="1" dirty="0"/>
              <a:t>Drawback: </a:t>
            </a:r>
            <a:r>
              <a:rPr lang="en-US" b="1" dirty="0">
                <a:solidFill>
                  <a:srgbClr val="FF0000"/>
                </a:solidFill>
              </a:rPr>
              <a:t>unstable states </a:t>
            </a:r>
            <a:r>
              <a:rPr lang="en-US" dirty="0"/>
              <a:t>at times due to some undesirable feedbacks</a:t>
            </a:r>
          </a:p>
          <a:p>
            <a:pPr lvl="1"/>
            <a:r>
              <a:rPr lang="en-US" b="1" dirty="0"/>
              <a:t>Advantage: </a:t>
            </a:r>
            <a:r>
              <a:rPr lang="en-US" b="1" dirty="0">
                <a:solidFill>
                  <a:srgbClr val="FF0000"/>
                </a:solidFill>
              </a:rPr>
              <a:t>faster </a:t>
            </a:r>
            <a:r>
              <a:rPr lang="en-US" dirty="0"/>
              <a:t>than the synchronous sequential circuit </a:t>
            </a:r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9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2194149"/>
            <a:ext cx="2595095" cy="203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747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Synchronous Sequential Circuit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719" y="1825625"/>
            <a:ext cx="11603114" cy="4351338"/>
          </a:xfrm>
        </p:spPr>
        <p:txBody>
          <a:bodyPr>
            <a:normAutofit lnSpcReduction="10000"/>
          </a:bodyPr>
          <a:lstStyle/>
          <a:p>
            <a:pPr lvl="1"/>
            <a:r>
              <a:rPr lang="en-US" dirty="0"/>
              <a:t>Behavior defined based on the input signals at </a:t>
            </a:r>
            <a:r>
              <a:rPr lang="en-US" b="1" dirty="0">
                <a:solidFill>
                  <a:srgbClr val="FF0000"/>
                </a:solidFill>
              </a:rPr>
              <a:t>discrete</a:t>
            </a:r>
            <a:r>
              <a:rPr lang="en-US" dirty="0"/>
              <a:t> instants of time</a:t>
            </a:r>
          </a:p>
          <a:p>
            <a:pPr lvl="1"/>
            <a:r>
              <a:rPr lang="en-US" b="1" dirty="0"/>
              <a:t>Example</a:t>
            </a:r>
            <a:r>
              <a:rPr lang="en-US" dirty="0"/>
              <a:t>: Flip-flop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Synchronization</a:t>
            </a:r>
            <a:r>
              <a:rPr lang="en-US" dirty="0"/>
              <a:t> achieved through timing device </a:t>
            </a:r>
          </a:p>
          <a:p>
            <a:pPr lvl="2"/>
            <a:r>
              <a:rPr lang="en-US" dirty="0"/>
              <a:t>Also, known as </a:t>
            </a:r>
            <a:r>
              <a:rPr lang="en-US" b="1" dirty="0"/>
              <a:t>system clock </a:t>
            </a:r>
            <a:r>
              <a:rPr lang="en-US" dirty="0"/>
              <a:t>or </a:t>
            </a:r>
            <a:r>
              <a:rPr lang="en-US" b="1" dirty="0"/>
              <a:t>master clock generator</a:t>
            </a:r>
          </a:p>
          <a:p>
            <a:pPr lvl="2"/>
            <a:r>
              <a:rPr lang="en-US" dirty="0"/>
              <a:t>It generates a periodic train of clock pulses </a:t>
            </a:r>
          </a:p>
          <a:p>
            <a:pPr lvl="2"/>
            <a:r>
              <a:rPr lang="en-US" dirty="0"/>
              <a:t>This clock pulse is ANDed with specific input signal</a:t>
            </a:r>
          </a:p>
          <a:p>
            <a:pPr lvl="1"/>
            <a:r>
              <a:rPr lang="en-US" dirty="0"/>
              <a:t>Clock pulse driven storage element </a:t>
            </a:r>
          </a:p>
          <a:p>
            <a:pPr lvl="2"/>
            <a:r>
              <a:rPr lang="en-US" dirty="0"/>
              <a:t>Only affected with arrival of each </a:t>
            </a:r>
            <a:r>
              <a:rPr lang="en-US" b="1" dirty="0"/>
              <a:t>clock pulse</a:t>
            </a:r>
          </a:p>
          <a:p>
            <a:pPr lvl="1"/>
            <a:r>
              <a:rPr lang="en-US" b="1" dirty="0"/>
              <a:t>Clock pulse </a:t>
            </a:r>
            <a:r>
              <a:rPr lang="en-US" dirty="0"/>
              <a:t>will define </a:t>
            </a:r>
            <a:r>
              <a:rPr lang="en-US" b="1" dirty="0">
                <a:solidFill>
                  <a:srgbClr val="FF0000"/>
                </a:solidFill>
              </a:rPr>
              <a:t>when</a:t>
            </a:r>
            <a:r>
              <a:rPr lang="en-US" b="1" dirty="0"/>
              <a:t> </a:t>
            </a:r>
            <a:r>
              <a:rPr lang="en-US" dirty="0"/>
              <a:t>changes will occur</a:t>
            </a:r>
          </a:p>
          <a:p>
            <a:pPr lvl="1"/>
            <a:r>
              <a:rPr lang="en-US" b="1" dirty="0"/>
              <a:t>External inputs </a:t>
            </a:r>
            <a:r>
              <a:rPr lang="en-US" dirty="0"/>
              <a:t>will define</a:t>
            </a:r>
            <a:r>
              <a:rPr lang="en-US" b="1" dirty="0">
                <a:solidFill>
                  <a:srgbClr val="FF0000"/>
                </a:solidFill>
              </a:rPr>
              <a:t> what </a:t>
            </a:r>
            <a:r>
              <a:rPr lang="en-US" dirty="0"/>
              <a:t>changes will occur</a:t>
            </a:r>
          </a:p>
          <a:p>
            <a:pPr lvl="1"/>
            <a:r>
              <a:rPr lang="en-US" b="1" dirty="0"/>
              <a:t>Advantages </a:t>
            </a:r>
            <a:r>
              <a:rPr lang="en-US" dirty="0"/>
              <a:t>– eliminate instability problem</a:t>
            </a:r>
          </a:p>
          <a:p>
            <a:pPr lvl="1"/>
            <a:r>
              <a:rPr lang="en-US" dirty="0"/>
              <a:t>Common practice in electronic devises </a:t>
            </a:r>
          </a:p>
          <a:p>
            <a:pPr algn="just"/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10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2585662"/>
            <a:ext cx="3304568" cy="20595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E1B5FF-8767-41E7-8562-2ED05D75BBF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818"/>
          <a:stretch/>
        </p:blipFill>
        <p:spPr>
          <a:xfrm>
            <a:off x="7228083" y="3429000"/>
            <a:ext cx="938905" cy="45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890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Clocked Sequential Circuit</a:t>
            </a:r>
            <a:endParaRPr lang="en-US" sz="3900" dirty="0">
              <a:latin typeface="+mn-lt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0370" y="1839235"/>
            <a:ext cx="6411257" cy="3625936"/>
          </a:xfr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11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7B85CF-829D-4A9D-92A2-A2DE5A0D7D25}"/>
              </a:ext>
            </a:extLst>
          </p:cNvPr>
          <p:cNvSpPr txBox="1"/>
          <p:nvPr/>
        </p:nvSpPr>
        <p:spPr>
          <a:xfrm>
            <a:off x="4113524" y="5887379"/>
            <a:ext cx="4399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Note: </a:t>
            </a:r>
            <a:r>
              <a:rPr lang="en-US" dirty="0"/>
              <a:t>Here, the storage element is a flip-flop </a:t>
            </a:r>
          </a:p>
        </p:txBody>
      </p:sp>
    </p:spTree>
    <p:extLst>
      <p:ext uri="{BB962C8B-B14F-4D97-AF65-F5344CB8AC3E}">
        <p14:creationId xmlns:p14="http://schemas.microsoft.com/office/powerpoint/2010/main" val="4135891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Clock</a:t>
            </a:r>
            <a:endParaRPr lang="en-US" sz="3900" dirty="0">
              <a:latin typeface="+mn-lt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12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2063A9A1-065C-4838-A50D-0BBA4B537C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29" y="4163527"/>
            <a:ext cx="6184290" cy="1884157"/>
          </a:xfr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7AA586F-EE8C-469E-81ED-11FF958737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432" y="1431959"/>
            <a:ext cx="4821936" cy="238677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1355A8E-6D29-49B9-B684-528A139B952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11" t="33411" r="15030" b="7314"/>
          <a:stretch/>
        </p:blipFill>
        <p:spPr>
          <a:xfrm>
            <a:off x="6737644" y="1431959"/>
            <a:ext cx="5328953" cy="25915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BEA63F-5B82-45C3-B2C1-06B4E83BF811}"/>
              </a:ext>
            </a:extLst>
          </p:cNvPr>
          <p:cNvSpPr txBox="1"/>
          <p:nvPr/>
        </p:nvSpPr>
        <p:spPr>
          <a:xfrm>
            <a:off x="8610600" y="4163527"/>
            <a:ext cx="2027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T</a:t>
            </a:r>
            <a:r>
              <a:rPr lang="en-US" b="1" i="1" baseline="-25000" dirty="0"/>
              <a:t>w</a:t>
            </a:r>
            <a:r>
              <a:rPr lang="en-US" dirty="0"/>
              <a:t> = pulse duration </a:t>
            </a:r>
          </a:p>
        </p:txBody>
      </p:sp>
    </p:spTree>
    <p:extLst>
      <p:ext uri="{BB962C8B-B14F-4D97-AF65-F5344CB8AC3E}">
        <p14:creationId xmlns:p14="http://schemas.microsoft.com/office/powerpoint/2010/main" val="1659004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Flip-flops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1005969" cy="4351338"/>
          </a:xfrm>
        </p:spPr>
        <p:txBody>
          <a:bodyPr/>
          <a:lstStyle/>
          <a:p>
            <a:pPr algn="just"/>
            <a:r>
              <a:rPr lang="en-US" b="1" dirty="0"/>
              <a:t>Memory elements </a:t>
            </a:r>
            <a:r>
              <a:rPr lang="en-US" dirty="0"/>
              <a:t>in clocked sequential circuit </a:t>
            </a:r>
          </a:p>
          <a:p>
            <a:pPr algn="just"/>
            <a:r>
              <a:rPr lang="en-US" dirty="0"/>
              <a:t>A binary/digital memory cell  that stores one bit of information</a:t>
            </a:r>
          </a:p>
          <a:p>
            <a:pPr algn="just"/>
            <a:r>
              <a:rPr lang="en-US" b="1" dirty="0"/>
              <a:t>Number of inputs – </a:t>
            </a:r>
            <a:r>
              <a:rPr lang="en-US" b="1" dirty="0">
                <a:solidFill>
                  <a:srgbClr val="FF0000"/>
                </a:solidFill>
              </a:rPr>
              <a:t>One</a:t>
            </a:r>
            <a:r>
              <a:rPr lang="en-US" b="1" dirty="0"/>
              <a:t> or </a:t>
            </a:r>
            <a:r>
              <a:rPr lang="en-US" b="1" dirty="0">
                <a:solidFill>
                  <a:srgbClr val="FF0000"/>
                </a:solidFill>
              </a:rPr>
              <a:t>more </a:t>
            </a:r>
          </a:p>
          <a:p>
            <a:pPr algn="just"/>
            <a:r>
              <a:rPr lang="en-US" b="1" dirty="0"/>
              <a:t>Two outputs </a:t>
            </a:r>
            <a:r>
              <a:rPr lang="en-US" dirty="0"/>
              <a:t>– </a:t>
            </a:r>
            <a:r>
              <a:rPr lang="en-US" b="1" dirty="0">
                <a:solidFill>
                  <a:srgbClr val="FF0000"/>
                </a:solidFill>
              </a:rPr>
              <a:t>normal (Q) </a:t>
            </a:r>
            <a:r>
              <a:rPr lang="en-US" dirty="0"/>
              <a:t>and </a:t>
            </a:r>
            <a:r>
              <a:rPr lang="en-US" b="1" dirty="0">
                <a:solidFill>
                  <a:srgbClr val="FF0000"/>
                </a:solidFill>
              </a:rPr>
              <a:t>complement (Q’) </a:t>
            </a:r>
            <a:r>
              <a:rPr lang="en-US" dirty="0"/>
              <a:t>value of the bit stored</a:t>
            </a:r>
          </a:p>
          <a:p>
            <a:pPr lvl="1" algn="just"/>
            <a:r>
              <a:rPr lang="en-US" sz="2400" dirty="0"/>
              <a:t>Q=1, Q’=0 : </a:t>
            </a:r>
            <a:r>
              <a:rPr lang="en-US" sz="2400" b="1" dirty="0"/>
              <a:t>set (1) </a:t>
            </a:r>
            <a:r>
              <a:rPr lang="en-US" sz="2400" dirty="0"/>
              <a:t>state and Q=0, Q’=1 : </a:t>
            </a:r>
            <a:r>
              <a:rPr lang="en-US" sz="2400" b="1" dirty="0"/>
              <a:t>reset (0) </a:t>
            </a:r>
            <a:r>
              <a:rPr lang="en-US" sz="2400" dirty="0"/>
              <a:t>state </a:t>
            </a:r>
            <a:endParaRPr lang="en-US" dirty="0"/>
          </a:p>
          <a:p>
            <a:pPr lvl="1" algn="just"/>
            <a:r>
              <a:rPr lang="en-US" dirty="0"/>
              <a:t>Q and Q’ can’t be same state at a time </a:t>
            </a:r>
          </a:p>
          <a:p>
            <a:pPr lvl="1" algn="just"/>
            <a:r>
              <a:rPr lang="en-US" dirty="0"/>
              <a:t>If it happens, it goes to </a:t>
            </a:r>
            <a:r>
              <a:rPr lang="en-US" b="1" dirty="0"/>
              <a:t>undefined state </a:t>
            </a:r>
          </a:p>
          <a:p>
            <a:r>
              <a:rPr lang="en-US" dirty="0"/>
              <a:t>Also known as a </a:t>
            </a:r>
            <a:r>
              <a:rPr lang="en-US" b="1" dirty="0"/>
              <a:t>bistable multivibrator 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13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540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Flip-flops…</a:t>
            </a:r>
            <a:endParaRPr lang="en-US" sz="39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CC2461-3DBC-4156-BD0D-3B19944B54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87"/>
          <a:stretch/>
        </p:blipFill>
        <p:spPr>
          <a:xfrm>
            <a:off x="646639" y="3042087"/>
            <a:ext cx="5357036" cy="1566578"/>
          </a:xfr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14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E99D9C-0A29-499B-94E8-BD736D395F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4"/>
          <a:stretch/>
        </p:blipFill>
        <p:spPr>
          <a:xfrm>
            <a:off x="7227718" y="2347258"/>
            <a:ext cx="3964717" cy="27531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3B1549C-45F3-4786-BB34-B0C9D8AB8FAE}"/>
              </a:ext>
            </a:extLst>
          </p:cNvPr>
          <p:cNvSpPr txBox="1"/>
          <p:nvPr/>
        </p:nvSpPr>
        <p:spPr>
          <a:xfrm>
            <a:off x="1850315" y="5211524"/>
            <a:ext cx="2742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Block diagram of a flip-flop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E05975-4A34-413C-A10C-5DF3E11A775D}"/>
              </a:ext>
            </a:extLst>
          </p:cNvPr>
          <p:cNvSpPr txBox="1"/>
          <p:nvPr/>
        </p:nvSpPr>
        <p:spPr>
          <a:xfrm>
            <a:off x="7598883" y="5211524"/>
            <a:ext cx="2994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Bistable Multivibrator Circuit </a:t>
            </a:r>
          </a:p>
        </p:txBody>
      </p:sp>
    </p:spTree>
    <p:extLst>
      <p:ext uri="{BB962C8B-B14F-4D97-AF65-F5344CB8AC3E}">
        <p14:creationId xmlns:p14="http://schemas.microsoft.com/office/powerpoint/2010/main" val="3047387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Flip-flops…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Implemented with </a:t>
            </a:r>
            <a:r>
              <a:rPr lang="en-US" b="1" dirty="0"/>
              <a:t>NAND or NOR </a:t>
            </a:r>
            <a:r>
              <a:rPr lang="en-US" dirty="0"/>
              <a:t>gates </a:t>
            </a:r>
            <a:r>
              <a:rPr lang="en-US" b="1" dirty="0"/>
              <a:t> </a:t>
            </a:r>
            <a:endParaRPr lang="en-US" dirty="0"/>
          </a:p>
          <a:p>
            <a:r>
              <a:rPr lang="en-US" dirty="0"/>
              <a:t>Differences in types of flip-flops:</a:t>
            </a:r>
          </a:p>
          <a:p>
            <a:pPr lvl="1"/>
            <a:r>
              <a:rPr lang="en-US" dirty="0"/>
              <a:t>Based on number of inputs and the manner in which the inputs affect the binary state</a:t>
            </a:r>
          </a:p>
          <a:p>
            <a:r>
              <a:rPr lang="en-US" b="1" dirty="0"/>
              <a:t>Edge triggered </a:t>
            </a:r>
            <a:r>
              <a:rPr lang="en-US" dirty="0"/>
              <a:t>device 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15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2B4ACBB-37D4-4BF8-A28E-8892250567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1302" y="3993178"/>
            <a:ext cx="3861098" cy="272829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B738E28-3998-4C1F-9944-1C39DC12DB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113" y="4291172"/>
            <a:ext cx="4600574" cy="220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647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Latch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It has two stable states </a:t>
            </a:r>
          </a:p>
          <a:p>
            <a:pPr algn="just"/>
            <a:r>
              <a:rPr lang="en-US" dirty="0"/>
              <a:t>Used to store binary information</a:t>
            </a:r>
          </a:p>
          <a:p>
            <a:pPr lvl="1" algn="just"/>
            <a:r>
              <a:rPr lang="en-US" dirty="0"/>
              <a:t>Binary memory element </a:t>
            </a:r>
          </a:p>
          <a:p>
            <a:pPr algn="just"/>
            <a:r>
              <a:rPr lang="en-US" dirty="0"/>
              <a:t>Latches are basic storage elements that operate with signal levels (rather than signal transitions).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</a:rPr>
              <a:t>Level triggered </a:t>
            </a:r>
            <a:r>
              <a:rPr lang="en-US" dirty="0"/>
              <a:t>device </a:t>
            </a:r>
          </a:p>
          <a:p>
            <a:pPr algn="just"/>
            <a:r>
              <a:rPr lang="en-US" dirty="0"/>
              <a:t>It is </a:t>
            </a:r>
            <a:r>
              <a:rPr lang="en-US" b="1" dirty="0"/>
              <a:t>not synchronized </a:t>
            </a:r>
            <a:r>
              <a:rPr lang="en-US" dirty="0"/>
              <a:t>with clock pulses 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16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DB9E53-3DC3-4998-8E08-C088954CD7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2695" y="3867830"/>
            <a:ext cx="3722145" cy="28536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D52A52-21D5-403C-8E71-813721F720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0358" y="882380"/>
            <a:ext cx="2797578" cy="181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136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rgbClr val="FF0000"/>
                </a:solidFill>
                <a:latin typeface="Calibri" panose="020F0502020204030204"/>
              </a:rPr>
              <a:t>Latch vs Flip-flop</a:t>
            </a:r>
            <a:endParaRPr lang="en-US" sz="39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state of </a:t>
            </a:r>
            <a:r>
              <a:rPr lang="en-US" b="1" dirty="0"/>
              <a:t>flip-flop</a:t>
            </a:r>
            <a:r>
              <a:rPr lang="en-US" dirty="0"/>
              <a:t> changes at active state of clock pulses and remains unaffected when the clock pulse is not active.</a:t>
            </a:r>
          </a:p>
          <a:p>
            <a:pPr lvl="1" algn="just"/>
            <a:r>
              <a:rPr lang="en-US" sz="2200" dirty="0"/>
              <a:t>It serves as a memory element in </a:t>
            </a:r>
            <a:r>
              <a:rPr lang="en-US" sz="2200" b="0" i="0" dirty="0">
                <a:solidFill>
                  <a:srgbClr val="273239"/>
                </a:solidFill>
                <a:effectLst/>
                <a:latin typeface="urw-din"/>
              </a:rPr>
              <a:t>synchronous sequential circuits</a:t>
            </a:r>
          </a:p>
          <a:p>
            <a:pPr lvl="1" algn="just"/>
            <a:r>
              <a:rPr lang="en-US" sz="2200" dirty="0">
                <a:solidFill>
                  <a:srgbClr val="273239"/>
                </a:solidFill>
                <a:latin typeface="urw-din"/>
              </a:rPr>
              <a:t>It is applied with </a:t>
            </a:r>
            <a:r>
              <a:rPr lang="en-US" sz="2200" b="1" dirty="0">
                <a:solidFill>
                  <a:srgbClr val="FF0000"/>
                </a:solidFill>
                <a:latin typeface="urw-din"/>
              </a:rPr>
              <a:t>clock pulses</a:t>
            </a:r>
            <a:endParaRPr lang="en-US" sz="2200" b="1" dirty="0">
              <a:solidFill>
                <a:srgbClr val="FF0000"/>
              </a:solidFill>
            </a:endParaRPr>
          </a:p>
          <a:p>
            <a:pPr algn="just"/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In particular, the unclocked </a:t>
            </a:r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flip-flops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 (i.e., latches) changes its states of the output immediately based on the applied input</a:t>
            </a:r>
          </a:p>
          <a:p>
            <a:pPr lvl="1" algn="just"/>
            <a:r>
              <a:rPr lang="en-US" sz="2200" dirty="0">
                <a:solidFill>
                  <a:srgbClr val="273239"/>
                </a:solidFill>
                <a:latin typeface="urw-din"/>
              </a:rPr>
              <a:t>It </a:t>
            </a:r>
            <a:r>
              <a:rPr lang="en-US" sz="2200" b="0" i="0" dirty="0">
                <a:solidFill>
                  <a:srgbClr val="273239"/>
                </a:solidFill>
                <a:effectLst/>
                <a:latin typeface="urw-din"/>
              </a:rPr>
              <a:t>serves as memory elements in asynchronous sequential circuits.</a:t>
            </a:r>
          </a:p>
          <a:p>
            <a:pPr lvl="1" algn="just"/>
            <a:r>
              <a:rPr lang="en-US" sz="2200" dirty="0">
                <a:solidFill>
                  <a:srgbClr val="273239"/>
                </a:solidFill>
                <a:latin typeface="urw-din"/>
              </a:rPr>
              <a:t>Sometimes it is applied </a:t>
            </a:r>
            <a:r>
              <a:rPr lang="en-US" sz="2200" b="1" dirty="0">
                <a:solidFill>
                  <a:srgbClr val="FF0000"/>
                </a:solidFill>
                <a:latin typeface="urw-din"/>
              </a:rPr>
              <a:t>enable input </a:t>
            </a:r>
            <a:endParaRPr lang="en-US" sz="2200" b="1" dirty="0">
              <a:solidFill>
                <a:srgbClr val="FF0000"/>
              </a:solidFill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17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534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672" y="365125"/>
            <a:ext cx="10876128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Types of Flip-flops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672" y="1825625"/>
            <a:ext cx="11197168" cy="4351338"/>
          </a:xfrm>
        </p:spPr>
        <p:txBody>
          <a:bodyPr/>
          <a:lstStyle/>
          <a:p>
            <a:r>
              <a:rPr lang="en-US" dirty="0"/>
              <a:t>Based on how the inputs and clock pulses cause transition between two states: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S-R </a:t>
            </a:r>
            <a:r>
              <a:rPr lang="en-US" dirty="0"/>
              <a:t>(Set-Reset) flip-flop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D</a:t>
            </a:r>
            <a:r>
              <a:rPr lang="en-US" dirty="0"/>
              <a:t> (Data) flip-flop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J-K </a:t>
            </a:r>
            <a:r>
              <a:rPr lang="en-US" dirty="0"/>
              <a:t>(J: set, K: reset) flip-flop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T </a:t>
            </a:r>
            <a:r>
              <a:rPr lang="en-US" dirty="0"/>
              <a:t>(Toggle) flip-flop</a:t>
            </a:r>
          </a:p>
          <a:p>
            <a:pPr lvl="1"/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18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70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16739"/>
            <a:ext cx="105156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S-R (Set-Reset) flip-flop</a:t>
            </a:r>
            <a:endParaRPr lang="en-US" sz="3900" dirty="0">
              <a:latin typeface="+mn-lt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19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978B6E5-58BF-4022-9D32-DFBEAD6C8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977"/>
            <a:ext cx="10836640" cy="4351338"/>
          </a:xfrm>
        </p:spPr>
        <p:txBody>
          <a:bodyPr>
            <a:normAutofit/>
          </a:bodyPr>
          <a:lstStyle/>
          <a:p>
            <a:r>
              <a:rPr lang="en-US" dirty="0"/>
              <a:t>Two inputs – Set (S) and Reset (R)</a:t>
            </a:r>
          </a:p>
          <a:p>
            <a:r>
              <a:rPr lang="en-US" dirty="0"/>
              <a:t>Two outputs – Q and Q’ (complement to each other)</a:t>
            </a:r>
          </a:p>
          <a:p>
            <a:r>
              <a:rPr lang="en-US" dirty="0"/>
              <a:t>Made of </a:t>
            </a:r>
            <a:r>
              <a:rPr lang="en-US" b="1" dirty="0">
                <a:solidFill>
                  <a:srgbClr val="FF0000"/>
                </a:solidFill>
              </a:rPr>
              <a:t>cross-coupled connection </a:t>
            </a:r>
            <a:r>
              <a:rPr lang="en-US" dirty="0"/>
              <a:t>from output to input constituting a </a:t>
            </a:r>
            <a:r>
              <a:rPr lang="en-US" b="1" dirty="0"/>
              <a:t>feedback path 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2F73532-70EA-446F-BD47-B3D467D455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9132" y="3987646"/>
            <a:ext cx="3045520" cy="157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795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S-R (Set-Reset) </a:t>
            </a:r>
            <a:r>
              <a:rPr lang="en-US" b="1" i="1" dirty="0">
                <a:solidFill>
                  <a:srgbClr val="FF0000"/>
                </a:solidFill>
                <a:latin typeface="+mn-lt"/>
              </a:rPr>
              <a:t>Latch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– with NOR Gates 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lang="en-US" sz="2000" b="1" i="1" dirty="0">
                <a:solidFill>
                  <a:srgbClr val="FF0000"/>
                </a:solidFill>
                <a:latin typeface="+mn-lt"/>
              </a:rPr>
              <a:t>Level triggered device </a:t>
            </a:r>
            <a:endParaRPr lang="en-US" sz="20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E854D52-0EB5-4E2F-8611-D63CA953B0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739" y="3590016"/>
            <a:ext cx="2814808" cy="1887577"/>
          </a:xfr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20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BFDFE70-678F-4DE7-94AF-1C2EB01336CE}"/>
              </a:ext>
            </a:extLst>
          </p:cNvPr>
          <p:cNvSpPr txBox="1">
            <a:spLocks/>
          </p:cNvSpPr>
          <p:nvPr/>
        </p:nvSpPr>
        <p:spPr>
          <a:xfrm>
            <a:off x="477672" y="1825625"/>
            <a:ext cx="111971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Not clocked or synchronized</a:t>
            </a:r>
          </a:p>
          <a:p>
            <a:pPr lvl="1"/>
            <a:r>
              <a:rPr lang="en-US" dirty="0"/>
              <a:t>Level triggered </a:t>
            </a:r>
          </a:p>
          <a:p>
            <a:pPr lvl="1"/>
            <a:r>
              <a:rPr lang="en-US" dirty="0"/>
              <a:t>Asynchronous sequential circuit </a:t>
            </a:r>
          </a:p>
          <a:p>
            <a:pPr lvl="1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F3E68CD-3918-4396-A16D-38D806E717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736" y="3510103"/>
            <a:ext cx="5165648" cy="199445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912ADB7-D764-49B5-8DE8-F585E9825937}"/>
              </a:ext>
            </a:extLst>
          </p:cNvPr>
          <p:cNvSpPr txBox="1"/>
          <p:nvPr/>
        </p:nvSpPr>
        <p:spPr>
          <a:xfrm>
            <a:off x="1373168" y="5897325"/>
            <a:ext cx="9445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Note: </a:t>
            </a:r>
            <a:r>
              <a:rPr lang="en-US" dirty="0"/>
              <a:t>The output of a NOR gate is zero (0) if any of the inputs are 1, irrespective of the other input.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217D7B-64CA-47A6-A1CF-AF8A9E8BF6F3}"/>
              </a:ext>
            </a:extLst>
          </p:cNvPr>
          <p:cNvSpPr txBox="1"/>
          <p:nvPr/>
        </p:nvSpPr>
        <p:spPr>
          <a:xfrm>
            <a:off x="10182230" y="5156066"/>
            <a:ext cx="18085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(after an undefined occurrence)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9CC9C3-B47F-4209-A9C4-93F74CA07181}"/>
              </a:ext>
            </a:extLst>
          </p:cNvPr>
          <p:cNvSpPr txBox="1"/>
          <p:nvPr/>
        </p:nvSpPr>
        <p:spPr>
          <a:xfrm>
            <a:off x="9508551" y="4625280"/>
            <a:ext cx="7344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(Set state)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E4726A-52FC-462D-A553-661BA5E4C2E2}"/>
              </a:ext>
            </a:extLst>
          </p:cNvPr>
          <p:cNvSpPr txBox="1"/>
          <p:nvPr/>
        </p:nvSpPr>
        <p:spPr>
          <a:xfrm>
            <a:off x="9646512" y="4368301"/>
            <a:ext cx="8242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(Reset state)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990FE2-F7CD-4FF6-A368-1094217E8318}"/>
              </a:ext>
            </a:extLst>
          </p:cNvPr>
          <p:cNvSpPr txBox="1"/>
          <p:nvPr/>
        </p:nvSpPr>
        <p:spPr>
          <a:xfrm>
            <a:off x="9959880" y="4111322"/>
            <a:ext cx="9813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(Memory state)</a:t>
            </a:r>
          </a:p>
        </p:txBody>
      </p:sp>
    </p:spTree>
    <p:extLst>
      <p:ext uri="{BB962C8B-B14F-4D97-AF65-F5344CB8AC3E}">
        <p14:creationId xmlns:p14="http://schemas.microsoft.com/office/powerpoint/2010/main" val="3671345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S’-R’ </a:t>
            </a:r>
            <a:r>
              <a:rPr lang="en-US" b="1" i="1" dirty="0">
                <a:solidFill>
                  <a:srgbClr val="FF0000"/>
                </a:solidFill>
                <a:latin typeface="+mn-lt"/>
              </a:rPr>
              <a:t>Latch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– with </a:t>
            </a:r>
            <a:r>
              <a:rPr lang="en-US" b="1" i="1" dirty="0">
                <a:solidFill>
                  <a:srgbClr val="00B050"/>
                </a:solidFill>
                <a:latin typeface="+mn-lt"/>
              </a:rPr>
              <a:t>NAND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Gates 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lang="en-US" sz="2000" b="1" i="1" dirty="0">
                <a:solidFill>
                  <a:srgbClr val="FF0000"/>
                </a:solidFill>
                <a:latin typeface="+mn-lt"/>
              </a:rPr>
              <a:t>Level triggered device </a:t>
            </a:r>
            <a:endParaRPr lang="en-US" sz="2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21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BFDFE70-678F-4DE7-94AF-1C2EB01336CE}"/>
              </a:ext>
            </a:extLst>
          </p:cNvPr>
          <p:cNvSpPr txBox="1">
            <a:spLocks/>
          </p:cNvSpPr>
          <p:nvPr/>
        </p:nvSpPr>
        <p:spPr>
          <a:xfrm>
            <a:off x="477672" y="1825625"/>
            <a:ext cx="111971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Also, not clocked or synchronized</a:t>
            </a:r>
          </a:p>
          <a:p>
            <a:pPr lvl="1"/>
            <a:r>
              <a:rPr lang="en-US" dirty="0"/>
              <a:t>Level triggered and asynchronous sequential circuit </a:t>
            </a:r>
          </a:p>
          <a:p>
            <a:pPr lvl="1"/>
            <a:r>
              <a:rPr lang="en-US" dirty="0"/>
              <a:t>Operationally similar as </a:t>
            </a:r>
            <a:r>
              <a:rPr lang="en-US" b="1" dirty="0"/>
              <a:t>NOR based </a:t>
            </a:r>
            <a:r>
              <a:rPr lang="en-US" dirty="0"/>
              <a:t>S-R flip-flop </a:t>
            </a:r>
          </a:p>
          <a:p>
            <a:pPr lvl="1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12ADB7-D764-49B5-8DE8-F585E9825937}"/>
              </a:ext>
            </a:extLst>
          </p:cNvPr>
          <p:cNvSpPr txBox="1"/>
          <p:nvPr/>
        </p:nvSpPr>
        <p:spPr>
          <a:xfrm>
            <a:off x="1373168" y="5897325"/>
            <a:ext cx="9597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Note: </a:t>
            </a:r>
            <a:r>
              <a:rPr lang="en-US" dirty="0"/>
              <a:t>The output of a NAND gate is one (1) if any of the inputs are 0, irrespective of the other input.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A5507C8-7665-4E7B-B6BE-D7825B0F77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1" y="3352615"/>
            <a:ext cx="3012199" cy="1962867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FE48C2F-33C3-4298-9563-23448DE867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863" y="3468029"/>
            <a:ext cx="4896533" cy="186716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F217D7B-64CA-47A6-A1CF-AF8A9E8BF6F3}"/>
              </a:ext>
            </a:extLst>
          </p:cNvPr>
          <p:cNvSpPr txBox="1"/>
          <p:nvPr/>
        </p:nvSpPr>
        <p:spPr>
          <a:xfrm>
            <a:off x="9887847" y="5032188"/>
            <a:ext cx="14766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(after an undefined state)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9F4908-91B4-4DE6-925D-8BC7AB961499}"/>
              </a:ext>
            </a:extLst>
          </p:cNvPr>
          <p:cNvSpPr txBox="1"/>
          <p:nvPr/>
        </p:nvSpPr>
        <p:spPr>
          <a:xfrm>
            <a:off x="9151439" y="4539361"/>
            <a:ext cx="7024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(Set state)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5C2A1B-E5D3-4FAE-9310-2FBF370A3950}"/>
              </a:ext>
            </a:extLst>
          </p:cNvPr>
          <p:cNvSpPr txBox="1"/>
          <p:nvPr/>
        </p:nvSpPr>
        <p:spPr>
          <a:xfrm>
            <a:off x="9278642" y="4282382"/>
            <a:ext cx="8242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(Reset state)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0BEEF0-B265-4984-9D0C-5928C516A678}"/>
              </a:ext>
            </a:extLst>
          </p:cNvPr>
          <p:cNvSpPr txBox="1"/>
          <p:nvPr/>
        </p:nvSpPr>
        <p:spPr>
          <a:xfrm>
            <a:off x="9624284" y="4036161"/>
            <a:ext cx="9813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(Memory state)</a:t>
            </a:r>
          </a:p>
        </p:txBody>
      </p:sp>
    </p:spTree>
    <p:extLst>
      <p:ext uri="{BB962C8B-B14F-4D97-AF65-F5344CB8AC3E}">
        <p14:creationId xmlns:p14="http://schemas.microsoft.com/office/powerpoint/2010/main" val="3194386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Comparing S-R and S’-R’ </a:t>
            </a:r>
            <a:r>
              <a:rPr lang="en-US" b="1" i="1" dirty="0">
                <a:solidFill>
                  <a:srgbClr val="FF0000"/>
                </a:solidFill>
                <a:latin typeface="+mn-lt"/>
              </a:rPr>
              <a:t>Latch</a:t>
            </a:r>
            <a:endParaRPr lang="en-US" sz="2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22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BFDFE70-678F-4DE7-94AF-1C2EB01336CE}"/>
              </a:ext>
            </a:extLst>
          </p:cNvPr>
          <p:cNvSpPr txBox="1">
            <a:spLocks/>
          </p:cNvSpPr>
          <p:nvPr/>
        </p:nvSpPr>
        <p:spPr>
          <a:xfrm>
            <a:off x="477672" y="1825625"/>
            <a:ext cx="111971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BB4B2B-7387-4E8C-B079-EC1226613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76128" cy="4351338"/>
          </a:xfrm>
        </p:spPr>
        <p:txBody>
          <a:bodyPr/>
          <a:lstStyle/>
          <a:p>
            <a:r>
              <a:rPr lang="en-US" dirty="0"/>
              <a:t>They just operate in a complement fashion of each other </a:t>
            </a:r>
          </a:p>
          <a:p>
            <a:r>
              <a:rPr lang="en-US" dirty="0"/>
              <a:t>To convert a NAND-based S’-R’ latch to NOR-based S-R latch, an inverter at each input of the latch should be placed </a:t>
            </a:r>
          </a:p>
          <a:p>
            <a:pPr lvl="1"/>
            <a:r>
              <a:rPr lang="en-US" dirty="0"/>
              <a:t>This change will make the </a:t>
            </a:r>
            <a:r>
              <a:rPr lang="en-US" b="1" dirty="0"/>
              <a:t>truth tables </a:t>
            </a:r>
            <a:r>
              <a:rPr lang="en-US" dirty="0"/>
              <a:t>and </a:t>
            </a:r>
            <a:r>
              <a:rPr lang="en-US" b="1" dirty="0"/>
              <a:t>circuits </a:t>
            </a:r>
            <a:r>
              <a:rPr lang="en-US" b="1" dirty="0">
                <a:solidFill>
                  <a:srgbClr val="FF0000"/>
                </a:solidFill>
              </a:rPr>
              <a:t>similar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FE9362-8A92-45B7-8879-7672FBD0AB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327" y="4192269"/>
            <a:ext cx="4137858" cy="207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064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Clocked S-R Flip-Flop </a:t>
            </a:r>
            <a:endParaRPr lang="en-US" sz="2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23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BFDFE70-678F-4DE7-94AF-1C2EB01336CE}"/>
              </a:ext>
            </a:extLst>
          </p:cNvPr>
          <p:cNvSpPr txBox="1">
            <a:spLocks/>
          </p:cNvSpPr>
          <p:nvPr/>
        </p:nvSpPr>
        <p:spPr>
          <a:xfrm>
            <a:off x="477672" y="1825625"/>
            <a:ext cx="111971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BB4B2B-7387-4E8C-B079-EC1226613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76128" cy="4351338"/>
          </a:xfrm>
        </p:spPr>
        <p:txBody>
          <a:bodyPr/>
          <a:lstStyle/>
          <a:p>
            <a:r>
              <a:rPr lang="en-US" dirty="0"/>
              <a:t>Synchronous circuit </a:t>
            </a:r>
          </a:p>
          <a:p>
            <a:pPr lvl="1"/>
            <a:r>
              <a:rPr lang="en-US" dirty="0"/>
              <a:t>Activated during a clock pulse is present </a:t>
            </a:r>
          </a:p>
          <a:p>
            <a:r>
              <a:rPr lang="en-US" dirty="0"/>
              <a:t>From a latch, a </a:t>
            </a:r>
            <a:r>
              <a:rPr lang="en-US" b="1" dirty="0"/>
              <a:t>flip-flop</a:t>
            </a:r>
            <a:r>
              <a:rPr lang="en-US" dirty="0"/>
              <a:t> can be produced including an additional input to control the behavior of the circuit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511489-8AFB-4E71-86C9-7E632252F231}"/>
              </a:ext>
            </a:extLst>
          </p:cNvPr>
          <p:cNvGrpSpPr/>
          <p:nvPr/>
        </p:nvGrpSpPr>
        <p:grpSpPr>
          <a:xfrm>
            <a:off x="1386620" y="3769100"/>
            <a:ext cx="4889644" cy="2244426"/>
            <a:chOff x="3319944" y="3779857"/>
            <a:chExt cx="4889644" cy="224442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D9B5049-61BC-4A2A-BE69-8DD94F0B13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19944" y="3779857"/>
              <a:ext cx="4889644" cy="224442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6F3F5FB-EE21-49EB-8AE6-E3E7B1EAABCF}"/>
                </a:ext>
              </a:extLst>
            </p:cNvPr>
            <p:cNvSpPr txBox="1"/>
            <p:nvPr/>
          </p:nvSpPr>
          <p:spPr>
            <a:xfrm>
              <a:off x="6486861" y="4740487"/>
              <a:ext cx="556563" cy="3231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latch</a:t>
              </a: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4E089A17-8918-46C5-8618-1E84227028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684" y="3886009"/>
            <a:ext cx="4717008" cy="2127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8561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Clocked </a:t>
            </a:r>
            <a:r>
              <a:rPr lang="en-US" b="1" i="1" dirty="0">
                <a:solidFill>
                  <a:srgbClr val="FF0000"/>
                </a:solidFill>
                <a:latin typeface="+mn-lt"/>
              </a:rPr>
              <a:t>S’-R’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Flip-Flop</a:t>
            </a:r>
            <a:endParaRPr lang="en-US" sz="2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24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BFDFE70-678F-4DE7-94AF-1C2EB01336CE}"/>
              </a:ext>
            </a:extLst>
          </p:cNvPr>
          <p:cNvSpPr txBox="1">
            <a:spLocks/>
          </p:cNvSpPr>
          <p:nvPr/>
        </p:nvSpPr>
        <p:spPr>
          <a:xfrm>
            <a:off x="477672" y="1825625"/>
            <a:ext cx="111971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BB4B2B-7387-4E8C-B079-EC1226613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76128" cy="4351338"/>
          </a:xfrm>
        </p:spPr>
        <p:txBody>
          <a:bodyPr/>
          <a:lstStyle/>
          <a:p>
            <a:r>
              <a:rPr lang="en-US" dirty="0"/>
              <a:t>Constructed with NAND gates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899AE9-7E35-45FB-9B3C-76040598EA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3178" y="3295488"/>
            <a:ext cx="3866673" cy="232000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D034812-92B0-468B-B1E4-D81A5F4FEF70}"/>
              </a:ext>
            </a:extLst>
          </p:cNvPr>
          <p:cNvSpPr/>
          <p:nvPr/>
        </p:nvSpPr>
        <p:spPr>
          <a:xfrm>
            <a:off x="5292762" y="3130475"/>
            <a:ext cx="1968650" cy="25925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705B79-A3EE-46A7-8FD7-9AF050D471D1}"/>
              </a:ext>
            </a:extLst>
          </p:cNvPr>
          <p:cNvSpPr txBox="1"/>
          <p:nvPr/>
        </p:nvSpPr>
        <p:spPr>
          <a:xfrm>
            <a:off x="5884300" y="5707586"/>
            <a:ext cx="1160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S’-R’ latch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AD52B2-6572-4C68-B587-D5B790AF3093}"/>
              </a:ext>
            </a:extLst>
          </p:cNvPr>
          <p:cNvSpPr/>
          <p:nvPr/>
        </p:nvSpPr>
        <p:spPr>
          <a:xfrm>
            <a:off x="3065929" y="2840020"/>
            <a:ext cx="4367605" cy="3336944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744862-31AD-479C-9701-E7BA7E347827}"/>
              </a:ext>
            </a:extLst>
          </p:cNvPr>
          <p:cNvSpPr txBox="1"/>
          <p:nvPr/>
        </p:nvSpPr>
        <p:spPr>
          <a:xfrm>
            <a:off x="3182673" y="6164865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S-R Flip-Flop  </a:t>
            </a:r>
          </a:p>
        </p:txBody>
      </p:sp>
    </p:spTree>
    <p:extLst>
      <p:ext uri="{BB962C8B-B14F-4D97-AF65-F5344CB8AC3E}">
        <p14:creationId xmlns:p14="http://schemas.microsoft.com/office/powerpoint/2010/main" val="35515086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S-R Flip-Flop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lang="en-US" sz="2000" b="1" i="1" dirty="0">
                <a:solidFill>
                  <a:srgbClr val="FF0000"/>
                </a:solidFill>
                <a:latin typeface="+mn-lt"/>
              </a:rPr>
              <a:t>[Final version]</a:t>
            </a:r>
            <a:endParaRPr lang="en-US" sz="2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25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BFDFE70-678F-4DE7-94AF-1C2EB01336CE}"/>
              </a:ext>
            </a:extLst>
          </p:cNvPr>
          <p:cNvSpPr txBox="1">
            <a:spLocks/>
          </p:cNvSpPr>
          <p:nvPr/>
        </p:nvSpPr>
        <p:spPr>
          <a:xfrm>
            <a:off x="477672" y="1825625"/>
            <a:ext cx="111971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BB4B2B-7387-4E8C-B079-EC1226613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76128" cy="4351338"/>
          </a:xfrm>
        </p:spPr>
        <p:txBody>
          <a:bodyPr/>
          <a:lstStyle/>
          <a:p>
            <a:r>
              <a:rPr lang="en-US" dirty="0"/>
              <a:t>Logic symbol and truth table </a:t>
            </a:r>
          </a:p>
          <a:p>
            <a:r>
              <a:rPr lang="en-US" dirty="0"/>
              <a:t>Three inputs – S, R and CLK</a:t>
            </a:r>
          </a:p>
          <a:p>
            <a:pPr lvl="1"/>
            <a:r>
              <a:rPr lang="en-US" dirty="0"/>
              <a:t>The clock input is marked with a triangle denoting edge triggered flip-flop </a:t>
            </a:r>
          </a:p>
          <a:p>
            <a:r>
              <a:rPr lang="en-US" dirty="0" err="1"/>
              <a:t>Q</a:t>
            </a:r>
            <a:r>
              <a:rPr lang="en-US" baseline="-25000" dirty="0" err="1"/>
              <a:t>n</a:t>
            </a:r>
            <a:r>
              <a:rPr lang="en-US" dirty="0"/>
              <a:t> denotes output at n</a:t>
            </a:r>
            <a:r>
              <a:rPr lang="en-US" baseline="30000" dirty="0"/>
              <a:t>th</a:t>
            </a:r>
            <a:r>
              <a:rPr lang="en-US" dirty="0"/>
              <a:t> time and Q</a:t>
            </a:r>
            <a:r>
              <a:rPr lang="en-US" baseline="-25000" dirty="0"/>
              <a:t>n+1 </a:t>
            </a:r>
            <a:r>
              <a:rPr lang="en-US" dirty="0"/>
              <a:t>denotes output at (n+1)</a:t>
            </a:r>
            <a:r>
              <a:rPr lang="en-US" baseline="30000" dirty="0" err="1"/>
              <a:t>th</a:t>
            </a:r>
            <a:r>
              <a:rPr lang="en-US" dirty="0"/>
              <a:t> time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C2EF75-E0E5-47DF-93D4-538B74794C1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70"/>
          <a:stretch/>
        </p:blipFill>
        <p:spPr>
          <a:xfrm>
            <a:off x="2076820" y="3982916"/>
            <a:ext cx="3240595" cy="18392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D2ECF9-E8BC-4E7A-80D4-B66195B130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1718" y="3974939"/>
            <a:ext cx="4205946" cy="216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73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Characteristic Table and Truth Table</a:t>
            </a:r>
            <a:endParaRPr lang="en-US" sz="2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26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BFDFE70-678F-4DE7-94AF-1C2EB01336CE}"/>
              </a:ext>
            </a:extLst>
          </p:cNvPr>
          <p:cNvSpPr txBox="1">
            <a:spLocks/>
          </p:cNvSpPr>
          <p:nvPr/>
        </p:nvSpPr>
        <p:spPr>
          <a:xfrm>
            <a:off x="477672" y="1825625"/>
            <a:ext cx="111971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BB4B2B-7387-4E8C-B079-EC1226613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76128" cy="4351338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Characteristic table </a:t>
            </a:r>
            <a:r>
              <a:rPr lang="en-US" dirty="0"/>
              <a:t>and </a:t>
            </a:r>
            <a:r>
              <a:rPr lang="en-US" b="1" dirty="0">
                <a:solidFill>
                  <a:srgbClr val="FF0000"/>
                </a:solidFill>
              </a:rPr>
              <a:t>truth table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Truth table </a:t>
            </a:r>
            <a:r>
              <a:rPr lang="en-US" dirty="0"/>
              <a:t>with </a:t>
            </a:r>
            <a:r>
              <a:rPr lang="en-US" b="1" dirty="0">
                <a:solidFill>
                  <a:srgbClr val="0070C0"/>
                </a:solidFill>
              </a:rPr>
              <a:t>present input(s) </a:t>
            </a:r>
            <a:r>
              <a:rPr lang="en-US" dirty="0"/>
              <a:t>and </a:t>
            </a:r>
            <a:r>
              <a:rPr lang="en-US" b="1" dirty="0">
                <a:solidFill>
                  <a:srgbClr val="7030A0"/>
                </a:solidFill>
              </a:rPr>
              <a:t>present state(s) </a:t>
            </a:r>
            <a:r>
              <a:rPr lang="en-US" dirty="0"/>
              <a:t>as input column and </a:t>
            </a:r>
            <a:r>
              <a:rPr lang="en-US" b="1" dirty="0">
                <a:solidFill>
                  <a:srgbClr val="00B050"/>
                </a:solidFill>
              </a:rPr>
              <a:t>next state(s) </a:t>
            </a:r>
            <a:r>
              <a:rPr lang="en-US" dirty="0"/>
              <a:t>as output column refers to a </a:t>
            </a:r>
            <a:r>
              <a:rPr lang="en-US" b="1" dirty="0"/>
              <a:t>characteristic table </a:t>
            </a:r>
          </a:p>
          <a:p>
            <a:pPr lvl="1"/>
            <a:r>
              <a:rPr lang="en-US" dirty="0"/>
              <a:t>It refers to the </a:t>
            </a:r>
            <a:r>
              <a:rPr lang="en-US" b="1" dirty="0"/>
              <a:t>operational characteristics </a:t>
            </a:r>
            <a:r>
              <a:rPr lang="en-US" dirty="0"/>
              <a:t>of the flip-flop</a:t>
            </a:r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80096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S-R Flip-Flop - Characteristic table </a:t>
            </a:r>
            <a:endParaRPr lang="en-US" sz="2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27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BFDFE70-678F-4DE7-94AF-1C2EB01336CE}"/>
              </a:ext>
            </a:extLst>
          </p:cNvPr>
          <p:cNvSpPr txBox="1">
            <a:spLocks/>
          </p:cNvSpPr>
          <p:nvPr/>
        </p:nvSpPr>
        <p:spPr>
          <a:xfrm>
            <a:off x="477672" y="1825625"/>
            <a:ext cx="111971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BB4B2B-7387-4E8C-B079-EC1226613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76128" cy="4351338"/>
          </a:xfrm>
        </p:spPr>
        <p:txBody>
          <a:bodyPr/>
          <a:lstStyle/>
          <a:p>
            <a:r>
              <a:rPr lang="en-US" b="1" dirty="0"/>
              <a:t>Characteristic table </a:t>
            </a:r>
            <a:r>
              <a:rPr lang="en-US" dirty="0"/>
              <a:t>and </a:t>
            </a:r>
            <a:r>
              <a:rPr lang="en-US" b="1" dirty="0"/>
              <a:t>Characteristic equation </a:t>
            </a:r>
            <a:r>
              <a:rPr lang="en-US" dirty="0"/>
              <a:t>of S-R flip flop</a:t>
            </a:r>
          </a:p>
          <a:p>
            <a:pPr lvl="1"/>
            <a:r>
              <a:rPr lang="en-US" u="sng" dirty="0"/>
              <a:t>From book [page 224-225]</a:t>
            </a:r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947788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Preset and Clear Inputs</a:t>
            </a:r>
            <a:endParaRPr lang="en-US" sz="2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28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BFDFE70-678F-4DE7-94AF-1C2EB01336CE}"/>
              </a:ext>
            </a:extLst>
          </p:cNvPr>
          <p:cNvSpPr txBox="1">
            <a:spLocks/>
          </p:cNvSpPr>
          <p:nvPr/>
        </p:nvSpPr>
        <p:spPr>
          <a:xfrm>
            <a:off x="477672" y="1825625"/>
            <a:ext cx="111971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BB4B2B-7387-4E8C-B079-EC1226613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97168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Initially, a circuit is </a:t>
            </a:r>
            <a:r>
              <a:rPr lang="en-US" b="1" dirty="0"/>
              <a:t>uncertain </a:t>
            </a:r>
            <a:r>
              <a:rPr lang="en-US" dirty="0"/>
              <a:t>with Q and Q’ states </a:t>
            </a:r>
          </a:p>
          <a:p>
            <a:r>
              <a:rPr lang="en-US" dirty="0"/>
              <a:t>They should be assigned with either </a:t>
            </a:r>
            <a:r>
              <a:rPr lang="en-US" b="1" i="1" dirty="0"/>
              <a:t>set </a:t>
            </a:r>
            <a:r>
              <a:rPr lang="en-US" dirty="0"/>
              <a:t>or </a:t>
            </a:r>
            <a:r>
              <a:rPr lang="en-US" b="1" i="1" dirty="0"/>
              <a:t>reset </a:t>
            </a:r>
            <a:r>
              <a:rPr lang="en-US" dirty="0"/>
              <a:t>state with direct or asynchronous inputs </a:t>
            </a:r>
          </a:p>
          <a:p>
            <a:pPr lvl="1"/>
            <a:r>
              <a:rPr lang="en-US" dirty="0"/>
              <a:t>Also, called as </a:t>
            </a:r>
            <a:r>
              <a:rPr lang="en-US" b="1" dirty="0"/>
              <a:t>overriding </a:t>
            </a:r>
            <a:r>
              <a:rPr lang="en-US" dirty="0"/>
              <a:t>inputs </a:t>
            </a:r>
          </a:p>
          <a:p>
            <a:pPr lvl="1"/>
            <a:r>
              <a:rPr lang="en-US" dirty="0"/>
              <a:t>These inputs are individually named as </a:t>
            </a:r>
            <a:r>
              <a:rPr lang="en-US" b="1" i="1" dirty="0"/>
              <a:t>preset (</a:t>
            </a:r>
            <a:r>
              <a:rPr lang="en-US" b="1" i="1" dirty="0" err="1"/>
              <a:t>Pr</a:t>
            </a:r>
            <a:r>
              <a:rPr lang="en-US" b="1" i="1" dirty="0"/>
              <a:t>) </a:t>
            </a:r>
            <a:r>
              <a:rPr lang="en-US" dirty="0"/>
              <a:t>and </a:t>
            </a:r>
            <a:r>
              <a:rPr lang="en-US" b="1" i="1" dirty="0"/>
              <a:t>clear (Cr)</a:t>
            </a:r>
          </a:p>
          <a:p>
            <a:r>
              <a:rPr lang="en-US" dirty="0"/>
              <a:t>These inputs are not synchronized with clock </a:t>
            </a:r>
          </a:p>
          <a:p>
            <a:pPr lvl="1"/>
            <a:r>
              <a:rPr lang="en-US" dirty="0"/>
              <a:t>They can be applied at any time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CLK = 0 or 1, doesn’t care at all [but, preferred to be applied when clock is inactive]</a:t>
            </a:r>
          </a:p>
          <a:p>
            <a:r>
              <a:rPr lang="en-US" b="1" i="1" dirty="0" err="1"/>
              <a:t>Pr</a:t>
            </a:r>
            <a:r>
              <a:rPr lang="en-US" b="1" i="1" dirty="0"/>
              <a:t>=0</a:t>
            </a:r>
            <a:r>
              <a:rPr lang="en-US" dirty="0"/>
              <a:t> and </a:t>
            </a:r>
            <a:r>
              <a:rPr lang="en-US" b="1" i="1" dirty="0"/>
              <a:t>Cr=0</a:t>
            </a:r>
            <a:r>
              <a:rPr lang="en-US" dirty="0"/>
              <a:t> must not be applied, as it leads to an uncertain state </a:t>
            </a:r>
          </a:p>
          <a:p>
            <a:r>
              <a:rPr lang="en-US" b="1" i="1" dirty="0" err="1"/>
              <a:t>Pr</a:t>
            </a:r>
            <a:r>
              <a:rPr lang="en-US" b="1" i="1" dirty="0"/>
              <a:t> </a:t>
            </a:r>
            <a:r>
              <a:rPr lang="en-US" dirty="0"/>
              <a:t>and </a:t>
            </a:r>
            <a:r>
              <a:rPr lang="en-US" b="1" i="1" dirty="0"/>
              <a:t>Cr </a:t>
            </a:r>
            <a:r>
              <a:rPr lang="en-US" dirty="0"/>
              <a:t>inputs are used with bubbles considering them </a:t>
            </a:r>
            <a:r>
              <a:rPr lang="en-US" b="1" dirty="0">
                <a:solidFill>
                  <a:srgbClr val="FF0000"/>
                </a:solidFill>
              </a:rPr>
              <a:t>active low</a:t>
            </a:r>
          </a:p>
        </p:txBody>
      </p:sp>
    </p:spTree>
    <p:extLst>
      <p:ext uri="{BB962C8B-B14F-4D97-AF65-F5344CB8AC3E}">
        <p14:creationId xmlns:p14="http://schemas.microsoft.com/office/powerpoint/2010/main" val="9741178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Preset and Clear Inputs…</a:t>
            </a:r>
            <a:endParaRPr lang="en-US" sz="2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29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BFDFE70-678F-4DE7-94AF-1C2EB01336CE}"/>
              </a:ext>
            </a:extLst>
          </p:cNvPr>
          <p:cNvSpPr txBox="1">
            <a:spLocks/>
          </p:cNvSpPr>
          <p:nvPr/>
        </p:nvSpPr>
        <p:spPr>
          <a:xfrm>
            <a:off x="477672" y="1825625"/>
            <a:ext cx="111971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BB4B2B-7387-4E8C-B079-EC1226613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97168" cy="4351338"/>
          </a:xfrm>
        </p:spPr>
        <p:txBody>
          <a:bodyPr>
            <a:normAutofit/>
          </a:bodyPr>
          <a:lstStyle/>
          <a:p>
            <a:r>
              <a:rPr lang="en-US" u="sng" dirty="0"/>
              <a:t>More from book [page 223-224]</a:t>
            </a:r>
          </a:p>
          <a:p>
            <a:pPr lvl="1"/>
            <a:r>
              <a:rPr lang="en-US" b="1" i="1" dirty="0"/>
              <a:t>Preset </a:t>
            </a:r>
            <a:r>
              <a:rPr lang="en-US" dirty="0"/>
              <a:t>and </a:t>
            </a:r>
            <a:r>
              <a:rPr lang="en-US" b="1" i="1" dirty="0"/>
              <a:t>clear</a:t>
            </a:r>
            <a:r>
              <a:rPr lang="en-US" dirty="0"/>
              <a:t> inputs with S-R flip-flop</a:t>
            </a:r>
          </a:p>
          <a:p>
            <a:pPr lvl="1"/>
            <a:r>
              <a:rPr lang="en-US" dirty="0"/>
              <a:t>Block diagram of an S-R flip-flop with </a:t>
            </a:r>
            <a:r>
              <a:rPr lang="en-US" b="1" i="1" dirty="0"/>
              <a:t>preset </a:t>
            </a:r>
            <a:r>
              <a:rPr lang="en-US" dirty="0"/>
              <a:t>and </a:t>
            </a:r>
            <a:r>
              <a:rPr lang="en-US" b="1" i="1" dirty="0"/>
              <a:t>clear </a:t>
            </a:r>
            <a:r>
              <a:rPr lang="en-US" dirty="0"/>
              <a:t>inputs </a:t>
            </a:r>
          </a:p>
          <a:p>
            <a:pPr lvl="1"/>
            <a:r>
              <a:rPr lang="en-US" dirty="0"/>
              <a:t>Truth table with </a:t>
            </a:r>
            <a:r>
              <a:rPr lang="en-US" b="1" i="1" dirty="0"/>
              <a:t>preset </a:t>
            </a:r>
            <a:r>
              <a:rPr lang="en-US" dirty="0"/>
              <a:t>and </a:t>
            </a:r>
            <a:r>
              <a:rPr lang="en-US" b="1" i="1" dirty="0"/>
              <a:t>clear </a:t>
            </a:r>
            <a:r>
              <a:rPr lang="en-US" dirty="0"/>
              <a:t>inputs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9070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 Flip-Flop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lang="en-US" sz="2000" b="1" i="1" u="sng" dirty="0">
                <a:solidFill>
                  <a:srgbClr val="FF0000"/>
                </a:solidFill>
                <a:latin typeface="+mn-lt"/>
              </a:rPr>
              <a:t>From Book [page 225-227]</a:t>
            </a:r>
            <a:endParaRPr lang="en-US" sz="2000" u="sng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30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BFDFE70-678F-4DE7-94AF-1C2EB01336CE}"/>
              </a:ext>
            </a:extLst>
          </p:cNvPr>
          <p:cNvSpPr txBox="1">
            <a:spLocks/>
          </p:cNvSpPr>
          <p:nvPr/>
        </p:nvSpPr>
        <p:spPr>
          <a:xfrm>
            <a:off x="477672" y="1825625"/>
            <a:ext cx="111971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BB4B2B-7387-4E8C-B079-EC1226613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76128" cy="4351338"/>
          </a:xfrm>
        </p:spPr>
        <p:txBody>
          <a:bodyPr/>
          <a:lstStyle/>
          <a:p>
            <a:r>
              <a:rPr lang="en-US" dirty="0"/>
              <a:t>Derivation from S-R flip-flop</a:t>
            </a:r>
          </a:p>
          <a:p>
            <a:r>
              <a:rPr lang="en-US" b="1" dirty="0"/>
              <a:t>Truth table </a:t>
            </a:r>
            <a:r>
              <a:rPr lang="en-US" dirty="0"/>
              <a:t>and </a:t>
            </a:r>
            <a:r>
              <a:rPr lang="en-US" b="1" dirty="0"/>
              <a:t>all cases </a:t>
            </a:r>
            <a:r>
              <a:rPr lang="en-US" dirty="0"/>
              <a:t>of D flip-flop</a:t>
            </a:r>
          </a:p>
          <a:p>
            <a:r>
              <a:rPr lang="en-US" b="1" dirty="0"/>
              <a:t>Block diagram </a:t>
            </a:r>
            <a:r>
              <a:rPr lang="en-US" dirty="0"/>
              <a:t>of D flip-flop</a:t>
            </a:r>
          </a:p>
          <a:p>
            <a:r>
              <a:rPr lang="en-US" dirty="0"/>
              <a:t>D flip-flop with </a:t>
            </a:r>
            <a:r>
              <a:rPr lang="en-US" b="1" i="1" dirty="0" err="1"/>
              <a:t>Pr</a:t>
            </a:r>
            <a:r>
              <a:rPr lang="en-US" b="1" i="1" dirty="0"/>
              <a:t> </a:t>
            </a:r>
            <a:r>
              <a:rPr lang="en-US" dirty="0"/>
              <a:t>and </a:t>
            </a:r>
            <a:r>
              <a:rPr lang="en-US" b="1" i="1" dirty="0"/>
              <a:t>Cr </a:t>
            </a:r>
            <a:r>
              <a:rPr lang="en-US" dirty="0"/>
              <a:t>inputs </a:t>
            </a:r>
          </a:p>
          <a:p>
            <a:r>
              <a:rPr lang="en-US" b="1" dirty="0"/>
              <a:t>Characteristic table </a:t>
            </a:r>
            <a:r>
              <a:rPr lang="en-US" dirty="0"/>
              <a:t>and </a:t>
            </a:r>
            <a:r>
              <a:rPr lang="en-US" b="1" dirty="0"/>
              <a:t>equation </a:t>
            </a:r>
            <a:r>
              <a:rPr lang="en-US" dirty="0"/>
              <a:t>of D flip-flop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616096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J-K Flip-Flop</a:t>
            </a:r>
            <a:endParaRPr lang="en-US" sz="2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31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BFDFE70-678F-4DE7-94AF-1C2EB01336CE}"/>
              </a:ext>
            </a:extLst>
          </p:cNvPr>
          <p:cNvSpPr txBox="1">
            <a:spLocks/>
          </p:cNvSpPr>
          <p:nvPr/>
        </p:nvSpPr>
        <p:spPr>
          <a:xfrm>
            <a:off x="477672" y="1825625"/>
            <a:ext cx="111971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BB4B2B-7387-4E8C-B079-EC1226613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76128" cy="4351338"/>
          </a:xfrm>
        </p:spPr>
        <p:txBody>
          <a:bodyPr/>
          <a:lstStyle/>
          <a:p>
            <a:r>
              <a:rPr lang="en-US" dirty="0"/>
              <a:t>Very similar to an S-R flip-flop </a:t>
            </a:r>
          </a:p>
          <a:p>
            <a:pPr lvl="1"/>
            <a:r>
              <a:rPr lang="en-US" b="1" dirty="0"/>
              <a:t>J and K </a:t>
            </a:r>
            <a:r>
              <a:rPr lang="en-US" dirty="0"/>
              <a:t>behave like inputs </a:t>
            </a:r>
            <a:r>
              <a:rPr lang="en-US" b="1" dirty="0"/>
              <a:t>S and R </a:t>
            </a:r>
            <a:r>
              <a:rPr lang="en-US" dirty="0"/>
              <a:t>to set and reset the flip-flop  </a:t>
            </a:r>
          </a:p>
          <a:p>
            <a:r>
              <a:rPr lang="en-US" dirty="0"/>
              <a:t>Only difference is </a:t>
            </a:r>
            <a:r>
              <a:rPr lang="en-US" b="1" dirty="0">
                <a:solidFill>
                  <a:srgbClr val="FF0000"/>
                </a:solidFill>
              </a:rPr>
              <a:t>eliminating</a:t>
            </a:r>
            <a:r>
              <a:rPr lang="en-US" dirty="0"/>
              <a:t> the </a:t>
            </a:r>
            <a:r>
              <a:rPr lang="en-US" b="1" dirty="0"/>
              <a:t>undefined condition </a:t>
            </a:r>
            <a:r>
              <a:rPr lang="en-US" dirty="0"/>
              <a:t>of an S-R flip-flop</a:t>
            </a:r>
          </a:p>
          <a:p>
            <a:pPr lvl="1"/>
            <a:r>
              <a:rPr lang="en-US" dirty="0"/>
              <a:t>When J=K=1, the flip-flop is said to be in a </a:t>
            </a:r>
            <a:r>
              <a:rPr lang="en-US" b="1" i="1" dirty="0"/>
              <a:t>toggle state </a:t>
            </a:r>
          </a:p>
          <a:p>
            <a:pPr lvl="1"/>
            <a:r>
              <a:rPr lang="en-US" b="1" i="1" dirty="0"/>
              <a:t>Toggling </a:t>
            </a:r>
            <a:r>
              <a:rPr lang="en-US" dirty="0"/>
              <a:t>means complementing the state in each clock pulse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4553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J-K Flip-Flop – Implementation </a:t>
            </a:r>
            <a:endParaRPr lang="en-US" sz="2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32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BFDFE70-678F-4DE7-94AF-1C2EB01336CE}"/>
              </a:ext>
            </a:extLst>
          </p:cNvPr>
          <p:cNvSpPr txBox="1">
            <a:spLocks/>
          </p:cNvSpPr>
          <p:nvPr/>
        </p:nvSpPr>
        <p:spPr>
          <a:xfrm>
            <a:off x="477672" y="1825625"/>
            <a:ext cx="111971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BB4B2B-7387-4E8C-B079-EC1226613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76128" cy="4351338"/>
          </a:xfrm>
        </p:spPr>
        <p:txBody>
          <a:bodyPr/>
          <a:lstStyle/>
          <a:p>
            <a:r>
              <a:rPr lang="en-US" dirty="0"/>
              <a:t>Implementation </a:t>
            </a:r>
            <a:r>
              <a:rPr lang="en-US" b="1" dirty="0"/>
              <a:t>from S-R flip flop</a:t>
            </a:r>
          </a:p>
          <a:p>
            <a:pPr lvl="1"/>
            <a:r>
              <a:rPr lang="en-US" dirty="0"/>
              <a:t>Another </a:t>
            </a:r>
            <a:r>
              <a:rPr lang="en-US" b="1" dirty="0"/>
              <a:t>level of feedback </a:t>
            </a:r>
            <a:r>
              <a:rPr lang="en-US" dirty="0"/>
              <a:t>path is included</a:t>
            </a:r>
          </a:p>
          <a:p>
            <a:pPr lvl="1"/>
            <a:r>
              <a:rPr lang="en-US" dirty="0"/>
              <a:t>Inputs </a:t>
            </a:r>
            <a:r>
              <a:rPr lang="en-US" b="1" dirty="0"/>
              <a:t>J and K </a:t>
            </a:r>
            <a:r>
              <a:rPr lang="en-US" dirty="0"/>
              <a:t>of J-K flip-flop are ANDed with </a:t>
            </a:r>
            <a:r>
              <a:rPr lang="en-US" b="1" dirty="0"/>
              <a:t>Q’ and Q </a:t>
            </a:r>
            <a:r>
              <a:rPr lang="en-US" dirty="0"/>
              <a:t>respectively to obtain the inputs, S and R for S-R flip-flop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7C3477-DB59-4B58-948C-23613EDB20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928" y="4001294"/>
            <a:ext cx="4182059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9941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J-K Flip-Flop – Implementation… </a:t>
            </a:r>
            <a:endParaRPr lang="en-US" sz="2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33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BFDFE70-678F-4DE7-94AF-1C2EB01336CE}"/>
              </a:ext>
            </a:extLst>
          </p:cNvPr>
          <p:cNvSpPr txBox="1">
            <a:spLocks/>
          </p:cNvSpPr>
          <p:nvPr/>
        </p:nvSpPr>
        <p:spPr>
          <a:xfrm>
            <a:off x="477672" y="1825625"/>
            <a:ext cx="111971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BB4B2B-7387-4E8C-B079-EC1226613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76128" cy="4351338"/>
          </a:xfrm>
        </p:spPr>
        <p:txBody>
          <a:bodyPr/>
          <a:lstStyle/>
          <a:p>
            <a:r>
              <a:rPr lang="en-US" dirty="0"/>
              <a:t>Circuit diagram and block diagram of a J-K flip flop with NAND gates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2F62FC-89A4-416A-9E6C-9133B9F033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91" y="2954986"/>
            <a:ext cx="4378106" cy="22219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7E07E4-4EE0-4008-9158-56FC851C6B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4488" y="3008439"/>
            <a:ext cx="2657846" cy="206721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D9FA291-4B02-4AB3-A315-BA3A5AF288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2652" y="3091800"/>
            <a:ext cx="3430387" cy="190577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8467B6B-A282-4711-B1F5-33EEBC0CBC1A}"/>
              </a:ext>
            </a:extLst>
          </p:cNvPr>
          <p:cNvSpPr txBox="1"/>
          <p:nvPr/>
        </p:nvSpPr>
        <p:spPr>
          <a:xfrm>
            <a:off x="4855778" y="4992291"/>
            <a:ext cx="4418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Same circuit diagram in different orientation </a:t>
            </a:r>
          </a:p>
        </p:txBody>
      </p:sp>
    </p:spTree>
    <p:extLst>
      <p:ext uri="{BB962C8B-B14F-4D97-AF65-F5344CB8AC3E}">
        <p14:creationId xmlns:p14="http://schemas.microsoft.com/office/powerpoint/2010/main" val="3288628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J-K Flip-Flop – Truth Table 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Truth table of J-K flip-flop – </a:t>
            </a:r>
            <a:r>
              <a:rPr lang="en-US" u="sng" dirty="0"/>
              <a:t>From book [page-230]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J-K inputs with S-R inputs of S-R flip-flop to derive the next state 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It is assumed that inputs will not be changed any more during a clock pulse</a:t>
            </a:r>
          </a:p>
          <a:p>
            <a:pPr lvl="1"/>
            <a:r>
              <a:rPr lang="en-US" dirty="0"/>
              <a:t>Concise truth table (final version) for J-K flip-flop 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34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5635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J-K Flip-Flop – Characteristic Table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Characteristic table and characteristic equation for J-K flip-flop</a:t>
            </a:r>
          </a:p>
          <a:p>
            <a:pPr lvl="1"/>
            <a:r>
              <a:rPr lang="en-US" u="sng" dirty="0"/>
              <a:t>More from book [page 231]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35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417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03C90E-196F-449F-8318-317868CB64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8131" y="3011360"/>
            <a:ext cx="3858921" cy="14047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J-K Flip-Flop – Race Around Condition  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Assumption for basic J-K flip-flop: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The inputs will not be changed any more during a clock pulse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But, it is not true because of the feedback connections </a:t>
            </a:r>
          </a:p>
          <a:p>
            <a:r>
              <a:rPr lang="en-US" dirty="0">
                <a:solidFill>
                  <a:srgbClr val="FF0000"/>
                </a:solidFill>
              </a:rPr>
              <a:t>Consider the scenario: </a:t>
            </a:r>
            <a:r>
              <a:rPr lang="en-US" b="1" dirty="0">
                <a:solidFill>
                  <a:srgbClr val="FF0000"/>
                </a:solidFill>
              </a:rPr>
              <a:t>J=K=1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If Q=1, after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△</a:t>
            </a:r>
            <a:r>
              <a:rPr lang="en-US" b="1" dirty="0"/>
              <a:t>t time</a:t>
            </a:r>
            <a:r>
              <a:rPr lang="en-US" dirty="0">
                <a:solidFill>
                  <a:srgbClr val="FF0000"/>
                </a:solidFill>
              </a:rPr>
              <a:t>, it will be Q=0</a:t>
            </a:r>
            <a:r>
              <a:rPr lang="en-US" b="1" dirty="0">
                <a:solidFill>
                  <a:srgbClr val="FF0000"/>
                </a:solidFill>
              </a:rPr>
              <a:t>  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Next, if Q=0, after another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△</a:t>
            </a:r>
            <a:r>
              <a:rPr lang="en-US" b="1" dirty="0"/>
              <a:t>t time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it will be Q=1</a:t>
            </a:r>
            <a:r>
              <a:rPr lang="en-US" b="1" dirty="0">
                <a:solidFill>
                  <a:srgbClr val="FF0000"/>
                </a:solidFill>
              </a:rPr>
              <a:t> 	</a:t>
            </a:r>
          </a:p>
          <a:p>
            <a:pPr lvl="1"/>
            <a:r>
              <a:rPr lang="en-US" sz="2000" dirty="0"/>
              <a:t>So, basically, </a:t>
            </a:r>
            <a:r>
              <a:rPr lang="en-US" sz="2000" b="1" dirty="0"/>
              <a:t>during</a:t>
            </a:r>
            <a:r>
              <a:rPr lang="en-US" sz="2000" dirty="0"/>
              <a:t> </a:t>
            </a:r>
            <a:r>
              <a:rPr lang="en-US" sz="2000" b="1" dirty="0" err="1">
                <a:solidFill>
                  <a:srgbClr val="0070C0"/>
                </a:solidFill>
              </a:rPr>
              <a:t>t</a:t>
            </a:r>
            <a:r>
              <a:rPr lang="en-US" sz="2000" b="1" baseline="-25000" dirty="0" err="1">
                <a:solidFill>
                  <a:srgbClr val="0070C0"/>
                </a:solidFill>
              </a:rPr>
              <a:t>p</a:t>
            </a:r>
            <a:r>
              <a:rPr lang="en-US" sz="2000" b="1" baseline="-25000" dirty="0">
                <a:solidFill>
                  <a:srgbClr val="0070C0"/>
                </a:solidFill>
              </a:rPr>
              <a:t> </a:t>
            </a:r>
            <a:r>
              <a:rPr lang="en-US" sz="2000" b="1" dirty="0">
                <a:solidFill>
                  <a:srgbClr val="0070C0"/>
                </a:solidFill>
              </a:rPr>
              <a:t>time</a:t>
            </a:r>
            <a:r>
              <a:rPr lang="en-US" sz="2000" dirty="0"/>
              <a:t>, the output Q will oscillate between 0 and 1</a:t>
            </a:r>
          </a:p>
          <a:p>
            <a:pPr lvl="1"/>
            <a:r>
              <a:rPr lang="en-US" sz="2000" dirty="0"/>
              <a:t>And, </a:t>
            </a:r>
            <a:r>
              <a:rPr lang="en-US" sz="2000" b="1" dirty="0"/>
              <a:t>after </a:t>
            </a:r>
            <a:r>
              <a:rPr lang="en-US" sz="2000" b="1" dirty="0" err="1">
                <a:solidFill>
                  <a:srgbClr val="0070C0"/>
                </a:solidFill>
              </a:rPr>
              <a:t>t</a:t>
            </a:r>
            <a:r>
              <a:rPr lang="en-US" sz="2000" b="1" baseline="-25000" dirty="0" err="1">
                <a:solidFill>
                  <a:srgbClr val="0070C0"/>
                </a:solidFill>
              </a:rPr>
              <a:t>p</a:t>
            </a:r>
            <a:r>
              <a:rPr lang="en-US" sz="2000" b="1" baseline="-25000" dirty="0">
                <a:solidFill>
                  <a:srgbClr val="0070C0"/>
                </a:solidFill>
              </a:rPr>
              <a:t> </a:t>
            </a:r>
            <a:r>
              <a:rPr lang="en-US" sz="2000" b="1" dirty="0">
                <a:solidFill>
                  <a:srgbClr val="0070C0"/>
                </a:solidFill>
              </a:rPr>
              <a:t>time,</a:t>
            </a:r>
            <a:r>
              <a:rPr lang="en-US" sz="2000" dirty="0"/>
              <a:t> the output Q is not certain.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This situation is called “</a:t>
            </a:r>
            <a:r>
              <a:rPr lang="en-US" sz="2500" b="1" i="1" dirty="0">
                <a:solidFill>
                  <a:srgbClr val="7030A0"/>
                </a:solidFill>
              </a:rPr>
              <a:t>Race-Around Condition</a:t>
            </a:r>
            <a:r>
              <a:rPr lang="en-US" sz="2000" dirty="0">
                <a:solidFill>
                  <a:srgbClr val="FF0000"/>
                </a:solidFill>
              </a:rPr>
              <a:t>”</a:t>
            </a:r>
          </a:p>
          <a:p>
            <a:pPr lvl="1"/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36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610689-0D62-4F77-91CB-0D744D68A2EF}"/>
              </a:ext>
            </a:extLst>
          </p:cNvPr>
          <p:cNvSpPr txBox="1"/>
          <p:nvPr/>
        </p:nvSpPr>
        <p:spPr>
          <a:xfrm>
            <a:off x="9218407" y="4517240"/>
            <a:ext cx="2034852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5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△</a:t>
            </a:r>
            <a:r>
              <a:rPr lang="en-US" sz="1500" b="1" dirty="0"/>
              <a:t>t = propagation delay</a:t>
            </a:r>
          </a:p>
          <a:p>
            <a:r>
              <a:rPr lang="en-US" sz="1500" b="1" dirty="0"/>
              <a:t>  </a:t>
            </a:r>
            <a:r>
              <a:rPr lang="en-US" sz="1500" b="1" dirty="0" err="1"/>
              <a:t>t</a:t>
            </a:r>
            <a:r>
              <a:rPr lang="en-US" sz="1500" b="1" baseline="-25000" dirty="0" err="1"/>
              <a:t>p</a:t>
            </a:r>
            <a:r>
              <a:rPr lang="en-US" sz="1500" b="1" dirty="0"/>
              <a:t> = pulse duration </a:t>
            </a:r>
          </a:p>
        </p:txBody>
      </p:sp>
    </p:spTree>
    <p:extLst>
      <p:ext uri="{BB962C8B-B14F-4D97-AF65-F5344CB8AC3E}">
        <p14:creationId xmlns:p14="http://schemas.microsoft.com/office/powerpoint/2010/main" val="5842909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Race Around Condition – Solutions 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178092" cy="4351338"/>
          </a:xfrm>
        </p:spPr>
        <p:txBody>
          <a:bodyPr/>
          <a:lstStyle/>
          <a:p>
            <a:r>
              <a:rPr lang="en-US" sz="2800" dirty="0"/>
              <a:t>If </a:t>
            </a: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△</a:t>
            </a:r>
            <a:r>
              <a:rPr lang="en-US" sz="2800" dirty="0"/>
              <a:t>t is in nanoseconds and </a:t>
            </a:r>
            <a:r>
              <a:rPr lang="en-US" sz="2800" dirty="0" err="1"/>
              <a:t>t</a:t>
            </a:r>
            <a:r>
              <a:rPr lang="en-US" sz="2800" baseline="-25000" dirty="0" err="1"/>
              <a:t>p</a:t>
            </a:r>
            <a:r>
              <a:rPr lang="en-US" sz="2800" baseline="-25000" dirty="0"/>
              <a:t> </a:t>
            </a:r>
            <a:r>
              <a:rPr lang="en-US" sz="2800" dirty="0"/>
              <a:t>in microseconds, output will be changed thousands of times within a clock pulse</a:t>
            </a:r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If </a:t>
            </a:r>
            <a:r>
              <a:rPr lang="en-US" b="1" dirty="0" err="1">
                <a:solidFill>
                  <a:srgbClr val="00B050"/>
                </a:solidFill>
              </a:rPr>
              <a:t>t</a:t>
            </a:r>
            <a:r>
              <a:rPr lang="en-US" b="1" baseline="-25000" dirty="0" err="1">
                <a:solidFill>
                  <a:srgbClr val="00B050"/>
                </a:solidFill>
              </a:rPr>
              <a:t>p</a:t>
            </a:r>
            <a:r>
              <a:rPr lang="en-US" b="1" baseline="-25000" dirty="0">
                <a:solidFill>
                  <a:srgbClr val="00B050"/>
                </a:solidFill>
              </a:rPr>
              <a:t>  </a:t>
            </a:r>
            <a:r>
              <a:rPr lang="en-US" b="1" dirty="0">
                <a:solidFill>
                  <a:srgbClr val="00B050"/>
                </a:solidFill>
              </a:rPr>
              <a:t>&lt; </a:t>
            </a:r>
            <a:r>
              <a:rPr lang="en-US" b="1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△</a:t>
            </a:r>
            <a:r>
              <a:rPr lang="en-US" b="1" dirty="0">
                <a:solidFill>
                  <a:srgbClr val="00B050"/>
                </a:solidFill>
              </a:rPr>
              <a:t>t  &lt; T, this race around condition could be avoided </a:t>
            </a:r>
          </a:p>
          <a:p>
            <a:pPr lvl="1"/>
            <a:r>
              <a:rPr lang="en-US" b="1" dirty="0"/>
              <a:t>But, this small propagation delay is very difficult to achieve due to hardware limitation </a:t>
            </a:r>
          </a:p>
          <a:p>
            <a:r>
              <a:rPr lang="en-US" dirty="0"/>
              <a:t>Master-Slave (M-S) flip-flop</a:t>
            </a:r>
          </a:p>
          <a:p>
            <a:r>
              <a:rPr lang="en-US" dirty="0"/>
              <a:t>Edge triggered flip-flop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37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4246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178092" cy="1325563"/>
          </a:xfrm>
        </p:spPr>
        <p:txBody>
          <a:bodyPr>
            <a:normAutofit/>
          </a:bodyPr>
          <a:lstStyle/>
          <a:p>
            <a:r>
              <a:rPr lang="en-US" sz="4000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Race Around Condition – Master-Slave J-K Flip-Flop</a:t>
            </a:r>
            <a:endParaRPr lang="en-US" sz="40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93840" cy="4351338"/>
          </a:xfrm>
        </p:spPr>
        <p:txBody>
          <a:bodyPr/>
          <a:lstStyle/>
          <a:p>
            <a:r>
              <a:rPr lang="en-US" sz="2800" dirty="0"/>
              <a:t>A system of two flip-flops – master and slave flip-flops </a:t>
            </a:r>
          </a:p>
          <a:p>
            <a:r>
              <a:rPr lang="en-US" dirty="0"/>
              <a:t>A </a:t>
            </a:r>
            <a:r>
              <a:rPr lang="en-US" b="1" dirty="0"/>
              <a:t>clock pulse </a:t>
            </a:r>
            <a:r>
              <a:rPr lang="en-US" dirty="0"/>
              <a:t>is applied to </a:t>
            </a:r>
            <a:r>
              <a:rPr lang="en-US" b="1" dirty="0">
                <a:solidFill>
                  <a:srgbClr val="FF0000"/>
                </a:solidFill>
              </a:rPr>
              <a:t>master</a:t>
            </a:r>
            <a:r>
              <a:rPr lang="en-US" dirty="0"/>
              <a:t> and the </a:t>
            </a:r>
            <a:r>
              <a:rPr lang="en-US" b="1" dirty="0"/>
              <a:t>inverted form of the same clock </a:t>
            </a:r>
            <a:r>
              <a:rPr lang="en-US" dirty="0"/>
              <a:t>is applied to the </a:t>
            </a:r>
            <a:r>
              <a:rPr lang="en-US" b="1" dirty="0">
                <a:solidFill>
                  <a:srgbClr val="FF0000"/>
                </a:solidFill>
              </a:rPr>
              <a:t>slave</a:t>
            </a:r>
            <a:r>
              <a:rPr lang="en-US" dirty="0"/>
              <a:t> </a:t>
            </a:r>
          </a:p>
          <a:p>
            <a:r>
              <a:rPr lang="en-US" b="1" dirty="0"/>
              <a:t>How to solve RAC problem?</a:t>
            </a:r>
          </a:p>
          <a:p>
            <a:pPr lvl="1"/>
            <a:r>
              <a:rPr lang="en-US" dirty="0"/>
              <a:t>When CLK=1, gates 5 and 6 will not respond. Output Q and Q’ will only change when CLK=0. 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38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DAA2E7-5238-4095-B221-D4601983FF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4466" y="4165600"/>
            <a:ext cx="5477288" cy="2692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E94DA5-64F1-4DDB-8AC9-941A9FED5C50}"/>
              </a:ext>
            </a:extLst>
          </p:cNvPr>
          <p:cNvSpPr txBox="1"/>
          <p:nvPr/>
        </p:nvSpPr>
        <p:spPr>
          <a:xfrm>
            <a:off x="3763945" y="5659877"/>
            <a:ext cx="27465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40477446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178092" cy="1325563"/>
          </a:xfrm>
        </p:spPr>
        <p:txBody>
          <a:bodyPr>
            <a:normAutofit/>
          </a:bodyPr>
          <a:lstStyle/>
          <a:p>
            <a:r>
              <a:rPr lang="en-US" sz="4000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Master-Slave J-K Flip-Flop…</a:t>
            </a:r>
            <a:endParaRPr lang="en-US" sz="40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91" y="1825625"/>
            <a:ext cx="11607501" cy="4351338"/>
          </a:xfrm>
        </p:spPr>
        <p:txBody>
          <a:bodyPr/>
          <a:lstStyle/>
          <a:p>
            <a:pPr lvl="1"/>
            <a:r>
              <a:rPr lang="en-US" dirty="0"/>
              <a:t>When CLK=1, the master is enabled. </a:t>
            </a:r>
            <a:r>
              <a:rPr lang="en-US" dirty="0" err="1"/>
              <a:t>Q</a:t>
            </a:r>
            <a:r>
              <a:rPr lang="en-US" baseline="-25000" dirty="0" err="1"/>
              <a:t>m</a:t>
            </a:r>
            <a:r>
              <a:rPr lang="en-US" dirty="0"/>
              <a:t> output will respond the inputs J and K</a:t>
            </a:r>
          </a:p>
          <a:p>
            <a:pPr lvl="2"/>
            <a:r>
              <a:rPr lang="en-US" dirty="0"/>
              <a:t>Slave is disabled </a:t>
            </a:r>
          </a:p>
          <a:p>
            <a:pPr lvl="1"/>
            <a:r>
              <a:rPr lang="en-US" dirty="0"/>
              <a:t>When CLK=0, the slave is enabled. Q output will respond the outputs </a:t>
            </a:r>
            <a:r>
              <a:rPr lang="en-US" dirty="0" err="1"/>
              <a:t>Q</a:t>
            </a:r>
            <a:r>
              <a:rPr lang="en-US" baseline="-25000" dirty="0" err="1"/>
              <a:t>m</a:t>
            </a:r>
            <a:r>
              <a:rPr lang="en-US" dirty="0"/>
              <a:t> and </a:t>
            </a:r>
            <a:r>
              <a:rPr lang="en-US" dirty="0" err="1"/>
              <a:t>Q’</a:t>
            </a:r>
            <a:r>
              <a:rPr lang="en-US" baseline="-25000" dirty="0" err="1"/>
              <a:t>m</a:t>
            </a:r>
            <a:endParaRPr lang="en-US" b="1" dirty="0"/>
          </a:p>
          <a:p>
            <a:pPr lvl="2"/>
            <a:r>
              <a:rPr lang="en-US" dirty="0"/>
              <a:t>Master is disabled </a:t>
            </a:r>
          </a:p>
          <a:p>
            <a:pPr lvl="2"/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39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DAA2E7-5238-4095-B221-D4601983FF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723" y="3417609"/>
            <a:ext cx="6558554" cy="32239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B4B862-5213-438E-B741-272F04D13C67}"/>
              </a:ext>
            </a:extLst>
          </p:cNvPr>
          <p:cNvSpPr txBox="1"/>
          <p:nvPr/>
        </p:nvSpPr>
        <p:spPr>
          <a:xfrm>
            <a:off x="3382050" y="5283359"/>
            <a:ext cx="27465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32182151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178092" cy="1325563"/>
          </a:xfrm>
        </p:spPr>
        <p:txBody>
          <a:bodyPr>
            <a:normAutofit/>
          </a:bodyPr>
          <a:lstStyle/>
          <a:p>
            <a:r>
              <a:rPr lang="en-US" sz="4000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Master-Slave Flip-Flop – More </a:t>
            </a:r>
            <a:endParaRPr lang="en-US" sz="40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178092" cy="4351338"/>
          </a:xfrm>
        </p:spPr>
        <p:txBody>
          <a:bodyPr/>
          <a:lstStyle/>
          <a:p>
            <a:r>
              <a:rPr lang="en-US" dirty="0"/>
              <a:t>The system of M-S flip-flop is </a:t>
            </a:r>
            <a:r>
              <a:rPr lang="en-US" b="1" dirty="0">
                <a:solidFill>
                  <a:srgbClr val="FF0000"/>
                </a:solidFill>
              </a:rPr>
              <a:t>not restricted </a:t>
            </a:r>
            <a:r>
              <a:rPr lang="en-US" dirty="0"/>
              <a:t>to </a:t>
            </a:r>
            <a:r>
              <a:rPr lang="en-US" b="1" dirty="0"/>
              <a:t>J-K M-S flip-flop </a:t>
            </a:r>
            <a:r>
              <a:rPr lang="en-US" dirty="0"/>
              <a:t>only </a:t>
            </a:r>
          </a:p>
          <a:p>
            <a:pPr lvl="1"/>
            <a:r>
              <a:rPr lang="en-US" dirty="0"/>
              <a:t>Also,</a:t>
            </a:r>
            <a:r>
              <a:rPr lang="en-US" b="1" dirty="0"/>
              <a:t> S-R </a:t>
            </a:r>
            <a:r>
              <a:rPr lang="en-US" dirty="0"/>
              <a:t>and </a:t>
            </a:r>
            <a:r>
              <a:rPr lang="en-US" b="1" dirty="0"/>
              <a:t>D </a:t>
            </a:r>
            <a:r>
              <a:rPr lang="en-US" dirty="0"/>
              <a:t>M-S flip-flops are possible </a:t>
            </a:r>
          </a:p>
          <a:p>
            <a:pPr lvl="1"/>
            <a:r>
              <a:rPr lang="en-US" dirty="0"/>
              <a:t>In all of these cases, the </a:t>
            </a:r>
            <a:r>
              <a:rPr lang="en-US" b="1" dirty="0"/>
              <a:t>slave</a:t>
            </a:r>
            <a:r>
              <a:rPr lang="en-US" dirty="0"/>
              <a:t> is an </a:t>
            </a:r>
            <a:r>
              <a:rPr lang="en-US" b="1" dirty="0">
                <a:solidFill>
                  <a:srgbClr val="FF0000"/>
                </a:solidFill>
              </a:rPr>
              <a:t>S-R flip-flop </a:t>
            </a:r>
            <a:r>
              <a:rPr lang="en-US" dirty="0"/>
              <a:t>whereas the </a:t>
            </a:r>
            <a:r>
              <a:rPr lang="en-US" b="1" dirty="0"/>
              <a:t>master</a:t>
            </a:r>
            <a:r>
              <a:rPr lang="en-US" dirty="0"/>
              <a:t> changes to </a:t>
            </a:r>
            <a:r>
              <a:rPr lang="en-US" b="1" dirty="0">
                <a:solidFill>
                  <a:srgbClr val="FF0000"/>
                </a:solidFill>
              </a:rPr>
              <a:t>J-K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S-R </a:t>
            </a:r>
            <a:r>
              <a:rPr lang="en-US" dirty="0"/>
              <a:t>or </a:t>
            </a:r>
            <a:r>
              <a:rPr lang="en-US" b="1" dirty="0">
                <a:solidFill>
                  <a:srgbClr val="FF0000"/>
                </a:solidFill>
              </a:rPr>
              <a:t>D </a:t>
            </a:r>
            <a:r>
              <a:rPr lang="en-US" dirty="0"/>
              <a:t>flip-flops 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40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5614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178092" cy="1325563"/>
          </a:xfrm>
        </p:spPr>
        <p:txBody>
          <a:bodyPr>
            <a:normAutofit/>
          </a:bodyPr>
          <a:lstStyle/>
          <a:p>
            <a:r>
              <a:rPr lang="en-US" sz="4000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Race Around Condition – Edge Triggered Flip-Flop</a:t>
            </a:r>
            <a:endParaRPr lang="en-US" sz="40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5625"/>
            <a:ext cx="11101892" cy="4351338"/>
          </a:xfrm>
        </p:spPr>
        <p:txBody>
          <a:bodyPr/>
          <a:lstStyle/>
          <a:p>
            <a:r>
              <a:rPr lang="en-US" dirty="0"/>
              <a:t>The circuit has </a:t>
            </a:r>
            <a:r>
              <a:rPr lang="en-US" b="1" dirty="0"/>
              <a:t>only single chance </a:t>
            </a:r>
            <a:r>
              <a:rPr lang="en-US" dirty="0"/>
              <a:t>to accept inputs (e.g., J and K)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During:</a:t>
            </a:r>
          </a:p>
          <a:p>
            <a:pPr lvl="2"/>
            <a:r>
              <a:rPr lang="en-US" b="1" dirty="0"/>
              <a:t>Negative transition </a:t>
            </a:r>
            <a:r>
              <a:rPr lang="en-US" dirty="0"/>
              <a:t>of the clock pulse – negative edge triggered J-K flip-flop </a:t>
            </a:r>
          </a:p>
          <a:p>
            <a:pPr lvl="3"/>
            <a:r>
              <a:rPr lang="en-US" dirty="0"/>
              <a:t>Outputs are same M-S flip-flop </a:t>
            </a:r>
          </a:p>
          <a:p>
            <a:pPr lvl="2"/>
            <a:r>
              <a:rPr lang="en-US" b="1" dirty="0"/>
              <a:t>Positive transition </a:t>
            </a:r>
            <a:r>
              <a:rPr lang="en-US" dirty="0"/>
              <a:t>of the clock pulse – positive edge triggered J-K flip-flop  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41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3C79D0-FFE3-4AA0-9C0E-E085F96712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273" y="4013994"/>
            <a:ext cx="3111454" cy="2602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52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 Flip-Flop 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dirty="0"/>
              <a:t>A slight modification of the J-K flip-flop</a:t>
            </a:r>
          </a:p>
          <a:p>
            <a:pPr lvl="1"/>
            <a:r>
              <a:rPr lang="en-US" dirty="0"/>
              <a:t>J and K inputs are tied together – </a:t>
            </a:r>
            <a:r>
              <a:rPr lang="en-US" b="1" dirty="0">
                <a:solidFill>
                  <a:srgbClr val="FF0000"/>
                </a:solidFill>
              </a:rPr>
              <a:t>have same input</a:t>
            </a:r>
          </a:p>
          <a:p>
            <a:pPr lvl="1"/>
            <a:r>
              <a:rPr lang="en-US" dirty="0"/>
              <a:t>Referred as </a:t>
            </a:r>
            <a:r>
              <a:rPr lang="en-US" sz="3000" b="1" dirty="0"/>
              <a:t>T flip-flop </a:t>
            </a:r>
          </a:p>
          <a:p>
            <a:pPr lvl="2"/>
            <a:r>
              <a:rPr lang="en-US" sz="2500" b="1" dirty="0"/>
              <a:t>It has the ability to toggle </a:t>
            </a:r>
          </a:p>
          <a:p>
            <a:r>
              <a:rPr lang="en-US" dirty="0"/>
              <a:t>One input (</a:t>
            </a:r>
            <a:r>
              <a:rPr lang="en-US" b="1" dirty="0"/>
              <a:t>T</a:t>
            </a:r>
            <a:r>
              <a:rPr lang="en-US" dirty="0"/>
              <a:t>) and two outputs </a:t>
            </a:r>
            <a:r>
              <a:rPr lang="en-US" b="1" dirty="0"/>
              <a:t>Q </a:t>
            </a:r>
            <a:r>
              <a:rPr lang="en-US" dirty="0"/>
              <a:t>and </a:t>
            </a:r>
            <a:r>
              <a:rPr lang="en-US" b="1" dirty="0"/>
              <a:t>Q’</a:t>
            </a:r>
          </a:p>
          <a:p>
            <a:r>
              <a:rPr lang="en-US" dirty="0"/>
              <a:t>Two states – </a:t>
            </a:r>
            <a:r>
              <a:rPr lang="en-US" b="1" dirty="0">
                <a:solidFill>
                  <a:srgbClr val="00B050"/>
                </a:solidFill>
              </a:rPr>
              <a:t>toggle </a:t>
            </a:r>
            <a:r>
              <a:rPr lang="en-US" b="1" dirty="0">
                <a:solidFill>
                  <a:srgbClr val="FF0000"/>
                </a:solidFill>
              </a:rPr>
              <a:t>(T=1)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00B050"/>
                </a:solidFill>
              </a:rPr>
              <a:t>memory </a:t>
            </a:r>
            <a:r>
              <a:rPr lang="en-US" b="1" dirty="0">
                <a:solidFill>
                  <a:srgbClr val="FF0000"/>
                </a:solidFill>
              </a:rPr>
              <a:t>(T=0)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dirty="0"/>
              <a:t>states </a:t>
            </a:r>
          </a:p>
          <a:p>
            <a:r>
              <a:rPr lang="en-US" b="1" dirty="0"/>
              <a:t>Usage:</a:t>
            </a:r>
            <a:r>
              <a:rPr lang="en-US" dirty="0"/>
              <a:t> Counter, switching circuits  </a:t>
            </a:r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42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761578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 Flip-Flop 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lang="en-US" sz="2000" b="1" i="1" u="sng" dirty="0">
                <a:solidFill>
                  <a:srgbClr val="FF0000"/>
                </a:solidFill>
                <a:latin typeface="+mn-lt"/>
              </a:rPr>
              <a:t>From Book [page 233-235]</a:t>
            </a:r>
            <a:endParaRPr lang="en-US" sz="20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b="1" dirty="0"/>
              <a:t>Truth table </a:t>
            </a:r>
            <a:r>
              <a:rPr lang="en-US" dirty="0"/>
              <a:t>of T flip-flop</a:t>
            </a:r>
          </a:p>
          <a:p>
            <a:pPr lvl="1"/>
            <a:r>
              <a:rPr lang="en-US" dirty="0"/>
              <a:t>Try all cases </a:t>
            </a:r>
          </a:p>
          <a:p>
            <a:r>
              <a:rPr lang="en-US" dirty="0"/>
              <a:t>T flip-flop with </a:t>
            </a:r>
            <a:r>
              <a:rPr lang="en-US" b="1" dirty="0"/>
              <a:t>preset and clear </a:t>
            </a:r>
            <a:r>
              <a:rPr lang="en-US" dirty="0"/>
              <a:t>inputs</a:t>
            </a:r>
          </a:p>
          <a:p>
            <a:r>
              <a:rPr lang="en-US" b="1" dirty="0"/>
              <a:t>Block diagram </a:t>
            </a:r>
            <a:r>
              <a:rPr lang="en-US" dirty="0"/>
              <a:t>of T flip-flop</a:t>
            </a:r>
          </a:p>
          <a:p>
            <a:pPr lvl="1"/>
            <a:r>
              <a:rPr lang="en-US" dirty="0"/>
              <a:t>Also, from J-K flip-flop </a:t>
            </a:r>
          </a:p>
          <a:p>
            <a:r>
              <a:rPr lang="en-US" b="1" dirty="0"/>
              <a:t>Characteristic table and characteristic equation 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43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856189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Toggle Mode – S-R flip-flop 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dirty="0"/>
              <a:t>Outputs (Q and Q’) are </a:t>
            </a:r>
            <a:r>
              <a:rPr lang="en-US" b="1" dirty="0"/>
              <a:t>cross-coupled</a:t>
            </a:r>
            <a:r>
              <a:rPr lang="en-US" dirty="0"/>
              <a:t> with inputs (S and R)</a:t>
            </a:r>
          </a:p>
          <a:p>
            <a:pPr lvl="1"/>
            <a:r>
              <a:rPr lang="en-US" dirty="0"/>
              <a:t>Here,</a:t>
            </a:r>
            <a:r>
              <a:rPr lang="en-US" b="1" dirty="0"/>
              <a:t> S=R=1 </a:t>
            </a:r>
            <a:r>
              <a:rPr lang="en-US" dirty="0"/>
              <a:t>is not possible to be applied, as it is an </a:t>
            </a:r>
            <a:r>
              <a:rPr lang="en-US" b="1" dirty="0">
                <a:solidFill>
                  <a:srgbClr val="FF0000"/>
                </a:solidFill>
              </a:rPr>
              <a:t>undefined state </a:t>
            </a:r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44</a:t>
            </a:fld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A46C8-1A6C-46E7-916F-53E027E22CB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51"/>
          <a:stretch/>
        </p:blipFill>
        <p:spPr>
          <a:xfrm>
            <a:off x="4260085" y="3162747"/>
            <a:ext cx="3671829" cy="231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214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Toggle Mode – D flip-flop 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dirty="0"/>
              <a:t>Output Q’ is </a:t>
            </a:r>
            <a:r>
              <a:rPr lang="en-US" b="1" dirty="0"/>
              <a:t>cross-coupled </a:t>
            </a:r>
            <a:r>
              <a:rPr lang="en-US" dirty="0"/>
              <a:t>with input D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45</a:t>
            </a:fld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28EC47-BA38-4AE5-B5A1-2BD59CAABD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780" y="2660315"/>
            <a:ext cx="3985480" cy="268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0958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900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Triggering </a:t>
            </a:r>
            <a:r>
              <a:rPr lang="en-US" sz="3900" b="1" i="1">
                <a:solidFill>
                  <a:schemeClr val="accent5">
                    <a:lumMod val="75000"/>
                  </a:schemeClr>
                </a:solidFill>
                <a:latin typeface="+mn-lt"/>
              </a:rPr>
              <a:t>of Flip-flops 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dirty="0"/>
              <a:t>Level Triggering </a:t>
            </a:r>
          </a:p>
          <a:p>
            <a:r>
              <a:rPr lang="en-US" dirty="0"/>
              <a:t>Edge Triggering </a:t>
            </a:r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46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620099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Excitation Table 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tabulation</a:t>
            </a:r>
            <a:r>
              <a:rPr lang="en-US" dirty="0"/>
              <a:t> to figure out </a:t>
            </a:r>
            <a:r>
              <a:rPr lang="en-US" b="1" dirty="0">
                <a:solidFill>
                  <a:srgbClr val="FF0000"/>
                </a:solidFill>
              </a:rPr>
              <a:t>all possible input conditions </a:t>
            </a:r>
            <a:r>
              <a:rPr lang="en-US" dirty="0"/>
              <a:t>to obtain the </a:t>
            </a:r>
            <a:r>
              <a:rPr lang="en-US" b="1" dirty="0">
                <a:solidFill>
                  <a:srgbClr val="00B050"/>
                </a:solidFill>
              </a:rPr>
              <a:t>desired output condition </a:t>
            </a:r>
          </a:p>
          <a:p>
            <a:pPr lvl="1"/>
            <a:r>
              <a:rPr lang="en-US" dirty="0"/>
              <a:t>It is required to </a:t>
            </a:r>
            <a:r>
              <a:rPr lang="en-US" b="1" dirty="0"/>
              <a:t>design</a:t>
            </a:r>
            <a:r>
              <a:rPr lang="en-US" dirty="0"/>
              <a:t> </a:t>
            </a:r>
            <a:r>
              <a:rPr lang="en-US" b="1" i="1" dirty="0">
                <a:solidFill>
                  <a:srgbClr val="00B050"/>
                </a:solidFill>
              </a:rPr>
              <a:t>a sequential circuit </a:t>
            </a:r>
            <a:r>
              <a:rPr lang="en-US" dirty="0"/>
              <a:t>when present state and next state of the flip-flop is specified </a:t>
            </a:r>
          </a:p>
          <a:p>
            <a:pPr lvl="2"/>
            <a:r>
              <a:rPr lang="en-US" dirty="0"/>
              <a:t>Based on that we need to find out all possible input conditions </a:t>
            </a:r>
          </a:p>
          <a:p>
            <a:pPr lvl="2"/>
            <a:r>
              <a:rPr lang="en-US" dirty="0"/>
              <a:t>Present and next states are meant the </a:t>
            </a:r>
            <a:r>
              <a:rPr lang="en-US" b="1" dirty="0"/>
              <a:t>conditions </a:t>
            </a:r>
            <a:r>
              <a:rPr lang="en-US" b="1" dirty="0">
                <a:solidFill>
                  <a:srgbClr val="FF0000"/>
                </a:solidFill>
              </a:rPr>
              <a:t>before</a:t>
            </a:r>
            <a:r>
              <a:rPr lang="en-US" dirty="0"/>
              <a:t> and </a:t>
            </a:r>
            <a:r>
              <a:rPr lang="en-US" b="1" dirty="0">
                <a:solidFill>
                  <a:srgbClr val="FF0000"/>
                </a:solidFill>
              </a:rPr>
              <a:t>afte</a:t>
            </a:r>
            <a:r>
              <a:rPr lang="en-US" dirty="0"/>
              <a:t>r applying the clock pulse respectively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47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516764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Excitation Table of all Flip-Flops</a:t>
            </a:r>
            <a:endParaRPr lang="en-US" sz="39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A4A915-6C59-4D80-BCC7-DE56B0DB41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317" y="2422093"/>
            <a:ext cx="10755365" cy="2816882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48</a:t>
            </a:fld>
            <a:endParaRPr lang="en-US" sz="1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CACB9BE-369D-4A75-A1FD-5A35B96FBBF9}"/>
              </a:ext>
            </a:extLst>
          </p:cNvPr>
          <p:cNvCxnSpPr/>
          <p:nvPr/>
        </p:nvCxnSpPr>
        <p:spPr>
          <a:xfrm>
            <a:off x="7024744" y="2560319"/>
            <a:ext cx="0" cy="3657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D9616FC-C19D-4C4C-A819-6DDCD778F4B7}"/>
              </a:ext>
            </a:extLst>
          </p:cNvPr>
          <p:cNvCxnSpPr/>
          <p:nvPr/>
        </p:nvCxnSpPr>
        <p:spPr>
          <a:xfrm>
            <a:off x="10322019" y="2569829"/>
            <a:ext cx="0" cy="3657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27580D2-7F4D-4AAA-82B1-0C346ADACE1B}"/>
              </a:ext>
            </a:extLst>
          </p:cNvPr>
          <p:cNvCxnSpPr/>
          <p:nvPr/>
        </p:nvCxnSpPr>
        <p:spPr>
          <a:xfrm>
            <a:off x="8124383" y="2563898"/>
            <a:ext cx="0" cy="3657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1487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Interconversion of Flip-flops </a:t>
            </a:r>
            <a:endParaRPr lang="en-US" sz="3900" dirty="0">
              <a:latin typeface="+mn-lt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FF62658-5997-4A25-8361-86BF92583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825625"/>
            <a:ext cx="11201400" cy="4181475"/>
          </a:xfrm>
        </p:spPr>
        <p:txBody>
          <a:bodyPr/>
          <a:lstStyle/>
          <a:p>
            <a:r>
              <a:rPr lang="en-US" sz="2600" dirty="0"/>
              <a:t>A </a:t>
            </a:r>
            <a:r>
              <a:rPr lang="en-US" sz="2600" b="1" dirty="0"/>
              <a:t>conversion logic </a:t>
            </a:r>
            <a:r>
              <a:rPr lang="en-US" sz="2600" dirty="0"/>
              <a:t>is required to be designed for such conversions of flip-flops </a:t>
            </a:r>
          </a:p>
          <a:p>
            <a:r>
              <a:rPr lang="en-US" dirty="0"/>
              <a:t>Steps: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Produce the characteristic table of the required Flip-flop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Produce the excitation table of the given Flip-flop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Combine those tables make a final table including </a:t>
            </a:r>
            <a:r>
              <a:rPr lang="en-US" b="1" u="sng" dirty="0"/>
              <a:t>data input(s) of desired flip-flop </a:t>
            </a:r>
            <a:r>
              <a:rPr lang="en-US" u="sng" dirty="0"/>
              <a:t>and </a:t>
            </a:r>
            <a:r>
              <a:rPr lang="en-US" b="1" u="sng" dirty="0"/>
              <a:t>Q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as the inputs </a:t>
            </a:r>
            <a:r>
              <a:rPr lang="en-US" dirty="0"/>
              <a:t>and </a:t>
            </a:r>
            <a:r>
              <a:rPr lang="en-US" b="1" u="sng" dirty="0"/>
              <a:t>the input(s) of the given flip-flop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as the outputs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49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1FB5A1-27DF-4A5A-BF6B-C5ACAE6D552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4799" y="4420909"/>
            <a:ext cx="7366001" cy="2300566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2A8ED4B-C3E2-4536-8B15-23FF058EF0BE}"/>
              </a:ext>
            </a:extLst>
          </p:cNvPr>
          <p:cNvSpPr txBox="1"/>
          <p:nvPr/>
        </p:nvSpPr>
        <p:spPr>
          <a:xfrm>
            <a:off x="2184400" y="5138360"/>
            <a:ext cx="899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Desired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7A8DC6CA-C9B3-44F7-AF47-2DAB8DCD123D}"/>
              </a:ext>
            </a:extLst>
          </p:cNvPr>
          <p:cNvSpPr/>
          <p:nvPr/>
        </p:nvSpPr>
        <p:spPr>
          <a:xfrm>
            <a:off x="3942847" y="5161686"/>
            <a:ext cx="449451" cy="819011"/>
          </a:xfrm>
          <a:prstGeom prst="rightBrace">
            <a:avLst>
              <a:gd name="adj1" fmla="val 33764"/>
              <a:gd name="adj2" fmla="val 46899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28575">
                <a:solidFill>
                  <a:schemeClr val="tx1"/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011360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Interconversion of Flip-flops: Example 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b="1" dirty="0"/>
              <a:t>Example: </a:t>
            </a:r>
            <a:r>
              <a:rPr lang="en-US" dirty="0"/>
              <a:t>From an </a:t>
            </a:r>
            <a:r>
              <a:rPr lang="en-US" b="1" dirty="0"/>
              <a:t>S-R</a:t>
            </a:r>
            <a:r>
              <a:rPr lang="en-US" dirty="0"/>
              <a:t> flip-flop to a </a:t>
            </a:r>
            <a:r>
              <a:rPr lang="en-US" b="1" dirty="0"/>
              <a:t>D</a:t>
            </a:r>
            <a:r>
              <a:rPr lang="en-US" dirty="0"/>
              <a:t> flip-flop</a:t>
            </a:r>
          </a:p>
          <a:p>
            <a:pPr lvl="1"/>
            <a:r>
              <a:rPr lang="en-US" u="sng" dirty="0"/>
              <a:t>From Book [page 241-247]</a:t>
            </a:r>
            <a:r>
              <a:rPr lang="en-US" dirty="0"/>
              <a:t> </a:t>
            </a:r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50</a:t>
            </a:fld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DE0672-7F0E-4AEC-B505-9D1B032A7F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839344"/>
            <a:ext cx="4407167" cy="18513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D2EC04-206F-4419-857C-6615FF3D3E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807145"/>
            <a:ext cx="4407166" cy="19143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613D1F-D035-4C0F-871E-2B70A337FF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660" y="2773072"/>
            <a:ext cx="4407167" cy="19222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0654F2D-B76B-4655-9CD4-FCC920FB52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248" y="5013498"/>
            <a:ext cx="3780952" cy="1590476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93EAEFB-9599-467F-B3B1-EDF80C8AE60B}"/>
              </a:ext>
            </a:extLst>
          </p:cNvPr>
          <p:cNvCxnSpPr/>
          <p:nvPr/>
        </p:nvCxnSpPr>
        <p:spPr>
          <a:xfrm>
            <a:off x="5180818" y="4873214"/>
            <a:ext cx="0" cy="2470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9283884-EBD9-4D50-B4F3-9347BA42480B}"/>
                  </a:ext>
                </a:extLst>
              </p:cNvPr>
              <p:cNvSpPr txBox="1"/>
              <p:nvPr/>
            </p:nvSpPr>
            <p:spPr>
              <a:xfrm>
                <a:off x="10208459" y="5620325"/>
                <a:ext cx="904735" cy="6463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9283884-EBD9-4D50-B4F3-9347BA424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8459" y="5620325"/>
                <a:ext cx="904735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A8B8A37-AEEE-41A2-8F1D-131BA4DD9231}"/>
              </a:ext>
            </a:extLst>
          </p:cNvPr>
          <p:cNvSpPr txBox="1"/>
          <p:nvPr/>
        </p:nvSpPr>
        <p:spPr>
          <a:xfrm>
            <a:off x="0" y="2791681"/>
            <a:ext cx="843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Step 1: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9A17C1-4791-43AD-9C87-1E234D324213}"/>
              </a:ext>
            </a:extLst>
          </p:cNvPr>
          <p:cNvSpPr txBox="1"/>
          <p:nvPr/>
        </p:nvSpPr>
        <p:spPr>
          <a:xfrm>
            <a:off x="0" y="4738379"/>
            <a:ext cx="843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Step 2: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E7FFA1-783C-4966-B60D-48D69F9A10AE}"/>
              </a:ext>
            </a:extLst>
          </p:cNvPr>
          <p:cNvSpPr txBox="1"/>
          <p:nvPr/>
        </p:nvSpPr>
        <p:spPr>
          <a:xfrm>
            <a:off x="5454752" y="2791681"/>
            <a:ext cx="843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Step 3:</a:t>
            </a:r>
          </a:p>
        </p:txBody>
      </p:sp>
    </p:spTree>
    <p:extLst>
      <p:ext uri="{BB962C8B-B14F-4D97-AF65-F5344CB8AC3E}">
        <p14:creationId xmlns:p14="http://schemas.microsoft.com/office/powerpoint/2010/main" val="28838994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Interconversion of Flip-flops: Example …</a:t>
            </a:r>
            <a:endParaRPr lang="en-US" sz="39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F8F529-CE26-4D58-8C46-FCD6C26B06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996" y="2494934"/>
            <a:ext cx="5970008" cy="2324492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51</a:t>
            </a:fld>
            <a:endParaRPr lang="en-US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44DE58-EEAB-41C0-9140-2190F06564A7}"/>
              </a:ext>
            </a:extLst>
          </p:cNvPr>
          <p:cNvSpPr txBox="1"/>
          <p:nvPr/>
        </p:nvSpPr>
        <p:spPr>
          <a:xfrm>
            <a:off x="838200" y="1908145"/>
            <a:ext cx="2076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Converted Flip-flop:</a:t>
            </a:r>
          </a:p>
        </p:txBody>
      </p:sp>
    </p:spTree>
    <p:extLst>
      <p:ext uri="{BB962C8B-B14F-4D97-AF65-F5344CB8AC3E}">
        <p14:creationId xmlns:p14="http://schemas.microsoft.com/office/powerpoint/2010/main" val="3845126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9834</TotalTime>
  <Words>3482</Words>
  <Application>Microsoft Office PowerPoint</Application>
  <PresentationFormat>Widescreen</PresentationFormat>
  <Paragraphs>552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51</vt:i4>
      </vt:variant>
    </vt:vector>
  </HeadingPairs>
  <TitlesOfParts>
    <vt:vector size="59" baseType="lpstr">
      <vt:lpstr>Arial</vt:lpstr>
      <vt:lpstr>Calibri</vt:lpstr>
      <vt:lpstr>Calibri Light</vt:lpstr>
      <vt:lpstr>Cambria Math</vt:lpstr>
      <vt:lpstr>Times New Roman</vt:lpstr>
      <vt:lpstr>urw-din</vt:lpstr>
      <vt:lpstr>Office Theme</vt:lpstr>
      <vt:lpstr>1_Office Theme</vt:lpstr>
      <vt:lpstr>Sequential Logic</vt:lpstr>
      <vt:lpstr>Remaining to Add</vt:lpstr>
      <vt:lpstr>Introduction – Combinational Circuit </vt:lpstr>
      <vt:lpstr>Introduction – Memory </vt:lpstr>
      <vt:lpstr>Sequential Circuit</vt:lpstr>
      <vt:lpstr>Sequential Circuit – A closer Look</vt:lpstr>
      <vt:lpstr>Time Sequence</vt:lpstr>
      <vt:lpstr>Classification of Sequential Circuit </vt:lpstr>
      <vt:lpstr>Asynchronous Sequential Circuit</vt:lpstr>
      <vt:lpstr>Synchronous Sequential Circuit</vt:lpstr>
      <vt:lpstr>Clocked Sequential Circuit</vt:lpstr>
      <vt:lpstr>Clock</vt:lpstr>
      <vt:lpstr>Flip-flops</vt:lpstr>
      <vt:lpstr>Flip-flops…</vt:lpstr>
      <vt:lpstr>Flip-flops…</vt:lpstr>
      <vt:lpstr>Latch</vt:lpstr>
      <vt:lpstr>Latch vs Flip-flop</vt:lpstr>
      <vt:lpstr>Types of Flip-flops</vt:lpstr>
      <vt:lpstr>S-R (Set-Reset) flip-flop</vt:lpstr>
      <vt:lpstr>S-R (Set-Reset) Latch – with NOR Gates  Level triggered device </vt:lpstr>
      <vt:lpstr>S’-R’ Latch – with NAND Gates  Level triggered device </vt:lpstr>
      <vt:lpstr>Comparing S-R and S’-R’ Latch</vt:lpstr>
      <vt:lpstr>Clocked S-R Flip-Flop </vt:lpstr>
      <vt:lpstr>Clocked S’-R’ Flip-Flop</vt:lpstr>
      <vt:lpstr>S-R Flip-Flop [Final version]</vt:lpstr>
      <vt:lpstr>Characteristic Table and Truth Table</vt:lpstr>
      <vt:lpstr>S-R Flip-Flop - Characteristic table </vt:lpstr>
      <vt:lpstr>Preset and Clear Inputs</vt:lpstr>
      <vt:lpstr>Preset and Clear Inputs…</vt:lpstr>
      <vt:lpstr>D Flip-Flop From Book [page 225-227]</vt:lpstr>
      <vt:lpstr>J-K Flip-Flop</vt:lpstr>
      <vt:lpstr>J-K Flip-Flop – Implementation </vt:lpstr>
      <vt:lpstr>J-K Flip-Flop – Implementation… </vt:lpstr>
      <vt:lpstr>J-K Flip-Flop – Truth Table </vt:lpstr>
      <vt:lpstr>J-K Flip-Flop – Characteristic Table</vt:lpstr>
      <vt:lpstr>J-K Flip-Flop – Race Around Condition  </vt:lpstr>
      <vt:lpstr>Race Around Condition – Solutions </vt:lpstr>
      <vt:lpstr>Race Around Condition – Master-Slave J-K Flip-Flop</vt:lpstr>
      <vt:lpstr>Master-Slave J-K Flip-Flop…</vt:lpstr>
      <vt:lpstr>Master-Slave Flip-Flop – More </vt:lpstr>
      <vt:lpstr>Race Around Condition – Edge Triggered Flip-Flop</vt:lpstr>
      <vt:lpstr>T Flip-Flop </vt:lpstr>
      <vt:lpstr>T Flip-Flop  From Book [page 233-235]</vt:lpstr>
      <vt:lpstr>Toggle Mode – S-R flip-flop </vt:lpstr>
      <vt:lpstr>Toggle Mode – D flip-flop </vt:lpstr>
      <vt:lpstr>Triggering of Flip-flops </vt:lpstr>
      <vt:lpstr>Excitation Table </vt:lpstr>
      <vt:lpstr>Excitation Table of all Flip-Flops</vt:lpstr>
      <vt:lpstr>Interconversion of Flip-flops </vt:lpstr>
      <vt:lpstr>Interconversion of Flip-flops: Example </vt:lpstr>
      <vt:lpstr>Interconversion of Flip-flops: Example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4205 Digital Logic Design</dc:title>
  <dc:creator>Admin</dc:creator>
  <cp:lastModifiedBy>Md. Hamjajul Ashmafee , Lecturer,CSE</cp:lastModifiedBy>
  <cp:revision>173</cp:revision>
  <dcterms:created xsi:type="dcterms:W3CDTF">2018-06-27T14:59:12Z</dcterms:created>
  <dcterms:modified xsi:type="dcterms:W3CDTF">2022-03-01T16:41:58Z</dcterms:modified>
</cp:coreProperties>
</file>